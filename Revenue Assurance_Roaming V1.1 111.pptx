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710" r:id="rId2"/>
  </p:sldMasterIdLst>
  <p:notesMasterIdLst>
    <p:notesMasterId r:id="rId33"/>
  </p:notesMasterIdLst>
  <p:handoutMasterIdLst>
    <p:handoutMasterId r:id="rId34"/>
  </p:handoutMasterIdLst>
  <p:sldIdLst>
    <p:sldId id="259" r:id="rId3"/>
    <p:sldId id="452" r:id="rId4"/>
    <p:sldId id="453" r:id="rId5"/>
    <p:sldId id="439" r:id="rId6"/>
    <p:sldId id="467" r:id="rId7"/>
    <p:sldId id="468" r:id="rId8"/>
    <p:sldId id="469" r:id="rId9"/>
    <p:sldId id="470" r:id="rId10"/>
    <p:sldId id="478" r:id="rId11"/>
    <p:sldId id="454" r:id="rId12"/>
    <p:sldId id="427" r:id="rId13"/>
    <p:sldId id="455" r:id="rId14"/>
    <p:sldId id="457" r:id="rId15"/>
    <p:sldId id="456" r:id="rId16"/>
    <p:sldId id="458" r:id="rId17"/>
    <p:sldId id="461" r:id="rId18"/>
    <p:sldId id="460" r:id="rId19"/>
    <p:sldId id="462" r:id="rId20"/>
    <p:sldId id="463" r:id="rId21"/>
    <p:sldId id="465" r:id="rId22"/>
    <p:sldId id="466" r:id="rId23"/>
    <p:sldId id="477" r:id="rId24"/>
    <p:sldId id="479" r:id="rId25"/>
    <p:sldId id="472" r:id="rId26"/>
    <p:sldId id="471" r:id="rId27"/>
    <p:sldId id="473" r:id="rId28"/>
    <p:sldId id="474" r:id="rId29"/>
    <p:sldId id="476" r:id="rId30"/>
    <p:sldId id="475" r:id="rId31"/>
    <p:sldId id="563" r:id="rId32"/>
  </p:sldIdLst>
  <p:sldSz cx="9144000" cy="6858000" type="screen4x3"/>
  <p:notesSz cx="6645275" cy="9777413"/>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4176">
          <p15:clr>
            <a:srgbClr val="A4A3A4"/>
          </p15:clr>
        </p15:guide>
        <p15:guide id="2" orient="horz" pos="3936">
          <p15:clr>
            <a:srgbClr val="A4A3A4"/>
          </p15:clr>
        </p15:guide>
        <p15:guide id="3" pos="5472">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D200"/>
    <a:srgbClr val="000000"/>
    <a:srgbClr val="F1F1F1"/>
    <a:srgbClr val="B4B4B4"/>
    <a:srgbClr val="007635"/>
    <a:srgbClr val="FAE600"/>
    <a:srgbClr val="646464"/>
    <a:srgbClr val="8080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413" autoAdjust="0"/>
    <p:restoredTop sz="93562" autoAdjust="0"/>
  </p:normalViewPr>
  <p:slideViewPr>
    <p:cSldViewPr>
      <p:cViewPr varScale="1">
        <p:scale>
          <a:sx n="62" d="100"/>
          <a:sy n="62" d="100"/>
        </p:scale>
        <p:origin x="1520" y="52"/>
      </p:cViewPr>
      <p:guideLst>
        <p:guide orient="horz" pos="4176"/>
        <p:guide orient="horz" pos="3936"/>
        <p:guide pos="5472"/>
      </p:guideLst>
    </p:cSldViewPr>
  </p:slideViewPr>
  <p:notesTextViewPr>
    <p:cViewPr>
      <p:scale>
        <a:sx n="100" d="100"/>
        <a:sy n="100" d="100"/>
      </p:scale>
      <p:origin x="0" y="0"/>
    </p:cViewPr>
  </p:notesTextViewPr>
  <p:sorterViewPr>
    <p:cViewPr>
      <p:scale>
        <a:sx n="60" d="100"/>
        <a:sy n="60" d="100"/>
      </p:scale>
      <p:origin x="0" y="11202"/>
    </p:cViewPr>
  </p:sorterViewPr>
  <p:notesViewPr>
    <p:cSldViewPr>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microsoft.com/office/2016/11/relationships/changesInfo" Target="changesInfos/changesInfo1.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handoutMaster" Target="handoutMasters/handout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kanksha Misra" userId="714c08b7-429c-4d48-84de-b2e56a2313d3" providerId="ADAL" clId="{AB2DB018-D127-4824-81E9-E1E9EE20C7C0}"/>
    <pc:docChg chg="delSld modSld">
      <pc:chgData name="Akanksha Misra" userId="714c08b7-429c-4d48-84de-b2e56a2313d3" providerId="ADAL" clId="{AB2DB018-D127-4824-81E9-E1E9EE20C7C0}" dt="2022-01-27T05:18:33.187" v="1" actId="1076"/>
      <pc:docMkLst>
        <pc:docMk/>
      </pc:docMkLst>
      <pc:sldChg chg="del">
        <pc:chgData name="Akanksha Misra" userId="714c08b7-429c-4d48-84de-b2e56a2313d3" providerId="ADAL" clId="{AB2DB018-D127-4824-81E9-E1E9EE20C7C0}" dt="2022-01-24T05:23:49.725" v="0" actId="47"/>
        <pc:sldMkLst>
          <pc:docMk/>
          <pc:sldMk cId="0" sldId="464"/>
        </pc:sldMkLst>
      </pc:sldChg>
      <pc:sldChg chg="modSp mod">
        <pc:chgData name="Akanksha Misra" userId="714c08b7-429c-4d48-84de-b2e56a2313d3" providerId="ADAL" clId="{AB2DB018-D127-4824-81E9-E1E9EE20C7C0}" dt="2022-01-27T05:18:33.187" v="1" actId="1076"/>
        <pc:sldMkLst>
          <pc:docMk/>
          <pc:sldMk cId="0" sldId="470"/>
        </pc:sldMkLst>
        <pc:spChg chg="mod">
          <ac:chgData name="Akanksha Misra" userId="714c08b7-429c-4d48-84de-b2e56a2313d3" providerId="ADAL" clId="{AB2DB018-D127-4824-81E9-E1E9EE20C7C0}" dt="2022-01-27T05:18:33.187" v="1" actId="1076"/>
          <ac:spMkLst>
            <pc:docMk/>
            <pc:sldMk cId="0" sldId="470"/>
            <ac:spMk id="32" creationId="{00000000-0000-0000-0000-000000000000}"/>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033E812-348D-41F6-B363-B733FBFB26CB}" type="doc">
      <dgm:prSet loTypeId="urn:microsoft.com/office/officeart/2005/8/layout/lProcess1" loCatId="process" qsTypeId="urn:microsoft.com/office/officeart/2005/8/quickstyle/simple1" qsCatId="simple" csTypeId="urn:microsoft.com/office/officeart/2005/8/colors/accent1_2" csCatId="accent1" phldr="1"/>
      <dgm:spPr/>
    </dgm:pt>
    <dgm:pt modelId="{9CB7A601-336D-4CD2-B0C7-B9B6CDC9B0B7}">
      <dgm:prSet phldrT="[Text]" custT="1"/>
      <dgm:spPr/>
      <dgm:t>
        <a:bodyPr/>
        <a:lstStyle/>
        <a:p>
          <a:r>
            <a:rPr lang="en-US" sz="1600" dirty="0">
              <a:latin typeface="EYInterstate" pitchFamily="2" charset="0"/>
            </a:rPr>
            <a:t>Commercial Agreement</a:t>
          </a:r>
        </a:p>
      </dgm:t>
    </dgm:pt>
    <dgm:pt modelId="{BC89ED06-8DEA-4657-955C-C82562888948}" type="parTrans" cxnId="{BE3D9BC8-6021-49EF-97D8-88283349490C}">
      <dgm:prSet/>
      <dgm:spPr/>
      <dgm:t>
        <a:bodyPr/>
        <a:lstStyle/>
        <a:p>
          <a:endParaRPr lang="en-US" sz="1050">
            <a:latin typeface="EYInterstate" pitchFamily="2" charset="0"/>
          </a:endParaRPr>
        </a:p>
      </dgm:t>
    </dgm:pt>
    <dgm:pt modelId="{35BF0686-BF7E-4FB2-A03F-C35A97C37BCB}" type="sibTrans" cxnId="{BE3D9BC8-6021-49EF-97D8-88283349490C}">
      <dgm:prSet custT="1"/>
      <dgm:spPr/>
      <dgm:t>
        <a:bodyPr/>
        <a:lstStyle/>
        <a:p>
          <a:endParaRPr lang="en-US" sz="1100">
            <a:latin typeface="EYInterstate" pitchFamily="2" charset="0"/>
          </a:endParaRPr>
        </a:p>
      </dgm:t>
    </dgm:pt>
    <dgm:pt modelId="{9FE779B5-E253-4A91-96B1-90A07DCCB89A}">
      <dgm:prSet phldrT="[Text]" custT="1"/>
      <dgm:spPr/>
      <dgm:t>
        <a:bodyPr/>
        <a:lstStyle/>
        <a:p>
          <a:r>
            <a:rPr lang="en-US" sz="1600" dirty="0">
              <a:latin typeface="EYInterstate" pitchFamily="2" charset="0"/>
            </a:rPr>
            <a:t>Partner Provisioning</a:t>
          </a:r>
        </a:p>
      </dgm:t>
    </dgm:pt>
    <dgm:pt modelId="{06B77A9B-668E-466B-8CC6-46E989BFCC01}" type="parTrans" cxnId="{D69E7DC9-0B33-471A-B0A2-B99DA8C73696}">
      <dgm:prSet/>
      <dgm:spPr/>
      <dgm:t>
        <a:bodyPr/>
        <a:lstStyle/>
        <a:p>
          <a:endParaRPr lang="en-US" sz="1050">
            <a:latin typeface="EYInterstate" pitchFamily="2" charset="0"/>
          </a:endParaRPr>
        </a:p>
      </dgm:t>
    </dgm:pt>
    <dgm:pt modelId="{8D99165D-604F-4067-9C5C-0D3F7F92887F}" type="sibTrans" cxnId="{D69E7DC9-0B33-471A-B0A2-B99DA8C73696}">
      <dgm:prSet custT="1"/>
      <dgm:spPr/>
      <dgm:t>
        <a:bodyPr/>
        <a:lstStyle/>
        <a:p>
          <a:endParaRPr lang="en-US" sz="1100">
            <a:latin typeface="EYInterstate" pitchFamily="2" charset="0"/>
          </a:endParaRPr>
        </a:p>
      </dgm:t>
    </dgm:pt>
    <dgm:pt modelId="{6953F76B-AC07-4003-95B8-889BD81F1FCA}">
      <dgm:prSet phldrT="[Text]" custT="1"/>
      <dgm:spPr/>
      <dgm:t>
        <a:bodyPr/>
        <a:lstStyle/>
        <a:p>
          <a:r>
            <a:rPr lang="en-US" sz="1600" dirty="0">
              <a:latin typeface="EYInterstate" pitchFamily="2" charset="0"/>
            </a:rPr>
            <a:t>Subscriber Provisioning</a:t>
          </a:r>
        </a:p>
      </dgm:t>
    </dgm:pt>
    <dgm:pt modelId="{A224E3CB-44AA-49F2-833B-41817D3FCDE9}" type="parTrans" cxnId="{E0395D6F-476A-49AF-8CA2-0A1053BA2033}">
      <dgm:prSet/>
      <dgm:spPr/>
      <dgm:t>
        <a:bodyPr/>
        <a:lstStyle/>
        <a:p>
          <a:endParaRPr lang="en-US" sz="1050">
            <a:latin typeface="EYInterstate" pitchFamily="2" charset="0"/>
          </a:endParaRPr>
        </a:p>
      </dgm:t>
    </dgm:pt>
    <dgm:pt modelId="{2F47F044-3E03-48FD-BFBB-15D74EFBE880}" type="sibTrans" cxnId="{E0395D6F-476A-49AF-8CA2-0A1053BA2033}">
      <dgm:prSet custT="1"/>
      <dgm:spPr/>
      <dgm:t>
        <a:bodyPr/>
        <a:lstStyle/>
        <a:p>
          <a:endParaRPr lang="en-US" sz="1100">
            <a:latin typeface="EYInterstate" pitchFamily="2" charset="0"/>
          </a:endParaRPr>
        </a:p>
      </dgm:t>
    </dgm:pt>
    <dgm:pt modelId="{302903CA-36C0-48B7-B18B-698A6EBF3BD6}">
      <dgm:prSet custT="1"/>
      <dgm:spPr/>
      <dgm:t>
        <a:bodyPr/>
        <a:lstStyle/>
        <a:p>
          <a:r>
            <a:rPr lang="en-US" sz="1600" dirty="0">
              <a:latin typeface="EYInterstate" pitchFamily="2" charset="0"/>
            </a:rPr>
            <a:t>Rating &amp; Billing</a:t>
          </a:r>
        </a:p>
      </dgm:t>
    </dgm:pt>
    <dgm:pt modelId="{D2815C6B-9747-45CF-9930-E5655F85A570}" type="parTrans" cxnId="{C02F6A23-3971-4C0C-8429-64482710A7E1}">
      <dgm:prSet/>
      <dgm:spPr/>
      <dgm:t>
        <a:bodyPr/>
        <a:lstStyle/>
        <a:p>
          <a:endParaRPr lang="en-US" sz="1050">
            <a:latin typeface="EYInterstate" pitchFamily="2" charset="0"/>
          </a:endParaRPr>
        </a:p>
      </dgm:t>
    </dgm:pt>
    <dgm:pt modelId="{73107EA8-147A-4CAE-B8AA-10EE68C76416}" type="sibTrans" cxnId="{C02F6A23-3971-4C0C-8429-64482710A7E1}">
      <dgm:prSet/>
      <dgm:spPr/>
      <dgm:t>
        <a:bodyPr/>
        <a:lstStyle/>
        <a:p>
          <a:endParaRPr lang="en-US" sz="1050">
            <a:latin typeface="EYInterstate" pitchFamily="2" charset="0"/>
          </a:endParaRPr>
        </a:p>
      </dgm:t>
    </dgm:pt>
    <dgm:pt modelId="{740F560E-4D25-4CE7-8C92-FD0575857565}">
      <dgm:prSet custT="1"/>
      <dgm:spPr/>
      <dgm:t>
        <a:bodyPr/>
        <a:lstStyle/>
        <a:p>
          <a:r>
            <a:rPr lang="en-US" sz="1200" dirty="0"/>
            <a:t>Signing of document like AA12,13, &amp; 14</a:t>
          </a:r>
        </a:p>
      </dgm:t>
    </dgm:pt>
    <dgm:pt modelId="{73E04AA5-0949-4E43-82D4-B899EC2157FC}" type="parTrans" cxnId="{0323499C-860B-418F-92B6-5EBE24C3F637}">
      <dgm:prSet/>
      <dgm:spPr/>
      <dgm:t>
        <a:bodyPr/>
        <a:lstStyle/>
        <a:p>
          <a:endParaRPr lang="en-US"/>
        </a:p>
      </dgm:t>
    </dgm:pt>
    <dgm:pt modelId="{6EBB22FA-A08C-40D4-AB47-6CD3A99B10DC}" type="sibTrans" cxnId="{0323499C-860B-418F-92B6-5EBE24C3F637}">
      <dgm:prSet/>
      <dgm:spPr/>
      <dgm:t>
        <a:bodyPr/>
        <a:lstStyle/>
        <a:p>
          <a:endParaRPr lang="en-US"/>
        </a:p>
      </dgm:t>
    </dgm:pt>
    <dgm:pt modelId="{6D331453-7CA4-4536-851B-4F32A48CF778}">
      <dgm:prSet custT="1"/>
      <dgm:spPr/>
      <dgm:t>
        <a:bodyPr/>
        <a:lstStyle/>
        <a:p>
          <a:r>
            <a:rPr lang="en-US" sz="1200" dirty="0"/>
            <a:t>IREG &amp; TADIG Testing</a:t>
          </a:r>
        </a:p>
      </dgm:t>
    </dgm:pt>
    <dgm:pt modelId="{D97E3640-E308-465F-817E-CAC228463378}" type="parTrans" cxnId="{8BC351EC-DFC7-4EB9-92DD-7BD6E451D845}">
      <dgm:prSet/>
      <dgm:spPr/>
      <dgm:t>
        <a:bodyPr/>
        <a:lstStyle/>
        <a:p>
          <a:endParaRPr lang="en-US"/>
        </a:p>
      </dgm:t>
    </dgm:pt>
    <dgm:pt modelId="{BA1E22D3-6759-41DE-8FBD-A6A6A01C43C0}" type="sibTrans" cxnId="{8BC351EC-DFC7-4EB9-92DD-7BD6E451D845}">
      <dgm:prSet/>
      <dgm:spPr/>
      <dgm:t>
        <a:bodyPr/>
        <a:lstStyle/>
        <a:p>
          <a:endParaRPr lang="en-US"/>
        </a:p>
      </dgm:t>
    </dgm:pt>
    <dgm:pt modelId="{1445A153-A546-4C2B-9713-F02A1341FECB}">
      <dgm:prSet custT="1"/>
      <dgm:spPr/>
      <dgm:t>
        <a:bodyPr/>
        <a:lstStyle/>
        <a:p>
          <a:r>
            <a:rPr lang="en-US" sz="1200" dirty="0"/>
            <a:t>Configuration at HLR ,VLR &amp; IN</a:t>
          </a:r>
        </a:p>
      </dgm:t>
    </dgm:pt>
    <dgm:pt modelId="{4FEAE115-1F5A-44C0-971A-766F4D2BF1A9}" type="parTrans" cxnId="{D920996D-BA3D-42B1-8DB0-57E2347F54B6}">
      <dgm:prSet/>
      <dgm:spPr/>
      <dgm:t>
        <a:bodyPr/>
        <a:lstStyle/>
        <a:p>
          <a:endParaRPr lang="en-US"/>
        </a:p>
      </dgm:t>
    </dgm:pt>
    <dgm:pt modelId="{A2B8CD96-A718-4A0A-920A-0CB840A515BB}" type="sibTrans" cxnId="{D920996D-BA3D-42B1-8DB0-57E2347F54B6}">
      <dgm:prSet/>
      <dgm:spPr/>
      <dgm:t>
        <a:bodyPr/>
        <a:lstStyle/>
        <a:p>
          <a:endParaRPr lang="en-US"/>
        </a:p>
      </dgm:t>
    </dgm:pt>
    <dgm:pt modelId="{3BFC5D44-E2BF-4B11-832F-9B0430BF8276}">
      <dgm:prSet custT="1"/>
      <dgm:spPr/>
      <dgm:t>
        <a:bodyPr/>
        <a:lstStyle/>
        <a:p>
          <a:r>
            <a:rPr lang="en-US" sz="1200" dirty="0"/>
            <a:t>TAP exchange, rating subscriber billing &amp; prepaid charging</a:t>
          </a:r>
        </a:p>
      </dgm:t>
    </dgm:pt>
    <dgm:pt modelId="{5C78E7E7-662D-4E7D-AA92-2AEC7CC640F2}" type="parTrans" cxnId="{BE74604D-8C4E-4E5D-B03D-AA51DB4EBE5C}">
      <dgm:prSet/>
      <dgm:spPr/>
      <dgm:t>
        <a:bodyPr/>
        <a:lstStyle/>
        <a:p>
          <a:endParaRPr lang="en-US"/>
        </a:p>
      </dgm:t>
    </dgm:pt>
    <dgm:pt modelId="{5E18B9C3-6CC7-4380-8A34-43968568867E}" type="sibTrans" cxnId="{BE74604D-8C4E-4E5D-B03D-AA51DB4EBE5C}">
      <dgm:prSet/>
      <dgm:spPr/>
      <dgm:t>
        <a:bodyPr/>
        <a:lstStyle/>
        <a:p>
          <a:endParaRPr lang="en-US"/>
        </a:p>
      </dgm:t>
    </dgm:pt>
    <dgm:pt modelId="{E2B84708-2607-4309-85AE-6D2365B31874}" type="pres">
      <dgm:prSet presAssocID="{4033E812-348D-41F6-B363-B733FBFB26CB}" presName="Name0" presStyleCnt="0">
        <dgm:presLayoutVars>
          <dgm:dir/>
          <dgm:animLvl val="lvl"/>
          <dgm:resizeHandles val="exact"/>
        </dgm:presLayoutVars>
      </dgm:prSet>
      <dgm:spPr/>
    </dgm:pt>
    <dgm:pt modelId="{2491D83D-F8BF-4653-B332-8EAE52EF83D9}" type="pres">
      <dgm:prSet presAssocID="{9CB7A601-336D-4CD2-B0C7-B9B6CDC9B0B7}" presName="vertFlow" presStyleCnt="0"/>
      <dgm:spPr/>
    </dgm:pt>
    <dgm:pt modelId="{48FB2631-CA29-4D80-93BC-712AC19C0A16}" type="pres">
      <dgm:prSet presAssocID="{9CB7A601-336D-4CD2-B0C7-B9B6CDC9B0B7}" presName="header" presStyleLbl="node1" presStyleIdx="0" presStyleCnt="4" custScaleY="258017"/>
      <dgm:spPr/>
    </dgm:pt>
    <dgm:pt modelId="{DFA6BDD3-42BF-4445-A619-DED58BE07B9C}" type="pres">
      <dgm:prSet presAssocID="{73E04AA5-0949-4E43-82D4-B899EC2157FC}" presName="parTrans" presStyleLbl="sibTrans2D1" presStyleIdx="0" presStyleCnt="4"/>
      <dgm:spPr/>
    </dgm:pt>
    <dgm:pt modelId="{4AB40256-2086-4D33-93CA-628163134BB9}" type="pres">
      <dgm:prSet presAssocID="{740F560E-4D25-4CE7-8C92-FD0575857565}" presName="child" presStyleLbl="alignAccFollowNode1" presStyleIdx="0" presStyleCnt="4" custScaleY="164853">
        <dgm:presLayoutVars>
          <dgm:chMax val="0"/>
          <dgm:bulletEnabled val="1"/>
        </dgm:presLayoutVars>
      </dgm:prSet>
      <dgm:spPr/>
    </dgm:pt>
    <dgm:pt modelId="{94104413-FC9B-405B-96DC-2BAB380DBDA8}" type="pres">
      <dgm:prSet presAssocID="{9CB7A601-336D-4CD2-B0C7-B9B6CDC9B0B7}" presName="hSp" presStyleCnt="0"/>
      <dgm:spPr/>
    </dgm:pt>
    <dgm:pt modelId="{D2F8C529-EF3A-4FA1-8A54-116A60812DDD}" type="pres">
      <dgm:prSet presAssocID="{9FE779B5-E253-4A91-96B1-90A07DCCB89A}" presName="vertFlow" presStyleCnt="0"/>
      <dgm:spPr/>
    </dgm:pt>
    <dgm:pt modelId="{B2534B75-C139-4466-B4DC-BCD2328C0E86}" type="pres">
      <dgm:prSet presAssocID="{9FE779B5-E253-4A91-96B1-90A07DCCB89A}" presName="header" presStyleLbl="node1" presStyleIdx="1" presStyleCnt="4" custScaleY="258017"/>
      <dgm:spPr/>
    </dgm:pt>
    <dgm:pt modelId="{4ED27C60-9035-43E8-A4F1-808F0338CEAC}" type="pres">
      <dgm:prSet presAssocID="{D97E3640-E308-465F-817E-CAC228463378}" presName="parTrans" presStyleLbl="sibTrans2D1" presStyleIdx="1" presStyleCnt="4"/>
      <dgm:spPr/>
    </dgm:pt>
    <dgm:pt modelId="{ECFECD9E-375C-4211-BED3-16D628659756}" type="pres">
      <dgm:prSet presAssocID="{6D331453-7CA4-4536-851B-4F32A48CF778}" presName="child" presStyleLbl="alignAccFollowNode1" presStyleIdx="1" presStyleCnt="4" custScaleY="164853">
        <dgm:presLayoutVars>
          <dgm:chMax val="0"/>
          <dgm:bulletEnabled val="1"/>
        </dgm:presLayoutVars>
      </dgm:prSet>
      <dgm:spPr/>
    </dgm:pt>
    <dgm:pt modelId="{A03DA2B4-1672-45B7-B13F-F678BD53D192}" type="pres">
      <dgm:prSet presAssocID="{9FE779B5-E253-4A91-96B1-90A07DCCB89A}" presName="hSp" presStyleCnt="0"/>
      <dgm:spPr/>
    </dgm:pt>
    <dgm:pt modelId="{F487EE68-8CEE-43B4-BA6F-989FAA235C96}" type="pres">
      <dgm:prSet presAssocID="{6953F76B-AC07-4003-95B8-889BD81F1FCA}" presName="vertFlow" presStyleCnt="0"/>
      <dgm:spPr/>
    </dgm:pt>
    <dgm:pt modelId="{AACC7CDB-211A-4318-9248-FAF5013ED5DE}" type="pres">
      <dgm:prSet presAssocID="{6953F76B-AC07-4003-95B8-889BD81F1FCA}" presName="header" presStyleLbl="node1" presStyleIdx="2" presStyleCnt="4" custScaleY="258017"/>
      <dgm:spPr/>
    </dgm:pt>
    <dgm:pt modelId="{5E10FB02-320F-431D-B666-AECEF32B1859}" type="pres">
      <dgm:prSet presAssocID="{4FEAE115-1F5A-44C0-971A-766F4D2BF1A9}" presName="parTrans" presStyleLbl="sibTrans2D1" presStyleIdx="2" presStyleCnt="4"/>
      <dgm:spPr/>
    </dgm:pt>
    <dgm:pt modelId="{F8E9AF90-74D6-4CB6-A57B-9E958E3B9B89}" type="pres">
      <dgm:prSet presAssocID="{1445A153-A546-4C2B-9713-F02A1341FECB}" presName="child" presStyleLbl="alignAccFollowNode1" presStyleIdx="2" presStyleCnt="4" custScaleY="164853">
        <dgm:presLayoutVars>
          <dgm:chMax val="0"/>
          <dgm:bulletEnabled val="1"/>
        </dgm:presLayoutVars>
      </dgm:prSet>
      <dgm:spPr/>
    </dgm:pt>
    <dgm:pt modelId="{74B2746A-38ED-42F8-9FC4-4E8DE1F341E0}" type="pres">
      <dgm:prSet presAssocID="{6953F76B-AC07-4003-95B8-889BD81F1FCA}" presName="hSp" presStyleCnt="0"/>
      <dgm:spPr/>
    </dgm:pt>
    <dgm:pt modelId="{F0BEA512-297E-4A1D-B460-CD6A749A9D62}" type="pres">
      <dgm:prSet presAssocID="{302903CA-36C0-48B7-B18B-698A6EBF3BD6}" presName="vertFlow" presStyleCnt="0"/>
      <dgm:spPr/>
    </dgm:pt>
    <dgm:pt modelId="{199449A2-40A5-47A6-B902-CA30FDAF79D5}" type="pres">
      <dgm:prSet presAssocID="{302903CA-36C0-48B7-B18B-698A6EBF3BD6}" presName="header" presStyleLbl="node1" presStyleIdx="3" presStyleCnt="4" custScaleY="258017"/>
      <dgm:spPr/>
    </dgm:pt>
    <dgm:pt modelId="{46A9DAD1-10FA-4448-BB21-D749B091FD05}" type="pres">
      <dgm:prSet presAssocID="{5C78E7E7-662D-4E7D-AA92-2AEC7CC640F2}" presName="parTrans" presStyleLbl="sibTrans2D1" presStyleIdx="3" presStyleCnt="4"/>
      <dgm:spPr/>
    </dgm:pt>
    <dgm:pt modelId="{4B1FEB3E-A9CD-485C-A677-5DD0A96F684A}" type="pres">
      <dgm:prSet presAssocID="{3BFC5D44-E2BF-4B11-832F-9B0430BF8276}" presName="child" presStyleLbl="alignAccFollowNode1" presStyleIdx="3" presStyleCnt="4" custScaleY="164853">
        <dgm:presLayoutVars>
          <dgm:chMax val="0"/>
          <dgm:bulletEnabled val="1"/>
        </dgm:presLayoutVars>
      </dgm:prSet>
      <dgm:spPr/>
    </dgm:pt>
  </dgm:ptLst>
  <dgm:cxnLst>
    <dgm:cxn modelId="{93DB9C17-4395-4877-944A-877192F2E19B}" type="presOf" srcId="{9FE779B5-E253-4A91-96B1-90A07DCCB89A}" destId="{B2534B75-C139-4466-B4DC-BCD2328C0E86}" srcOrd="0" destOrd="0" presId="urn:microsoft.com/office/officeart/2005/8/layout/lProcess1"/>
    <dgm:cxn modelId="{C02F6A23-3971-4C0C-8429-64482710A7E1}" srcId="{4033E812-348D-41F6-B363-B733FBFB26CB}" destId="{302903CA-36C0-48B7-B18B-698A6EBF3BD6}" srcOrd="3" destOrd="0" parTransId="{D2815C6B-9747-45CF-9930-E5655F85A570}" sibTransId="{73107EA8-147A-4CAE-B8AA-10EE68C76416}"/>
    <dgm:cxn modelId="{EDD65726-DDFF-4A7A-ADC2-BA2402E7FCE9}" type="presOf" srcId="{D97E3640-E308-465F-817E-CAC228463378}" destId="{4ED27C60-9035-43E8-A4F1-808F0338CEAC}" srcOrd="0" destOrd="0" presId="urn:microsoft.com/office/officeart/2005/8/layout/lProcess1"/>
    <dgm:cxn modelId="{AE67FE2A-F246-4099-863C-F9F91D67E39E}" type="presOf" srcId="{3BFC5D44-E2BF-4B11-832F-9B0430BF8276}" destId="{4B1FEB3E-A9CD-485C-A677-5DD0A96F684A}" srcOrd="0" destOrd="0" presId="urn:microsoft.com/office/officeart/2005/8/layout/lProcess1"/>
    <dgm:cxn modelId="{B76EC834-EB57-446E-ACA7-54C269E57FDD}" type="presOf" srcId="{6D331453-7CA4-4536-851B-4F32A48CF778}" destId="{ECFECD9E-375C-4211-BED3-16D628659756}" srcOrd="0" destOrd="0" presId="urn:microsoft.com/office/officeart/2005/8/layout/lProcess1"/>
    <dgm:cxn modelId="{5AF73A39-9CFF-45B5-B2B7-908135F2CECF}" type="presOf" srcId="{5C78E7E7-662D-4E7D-AA92-2AEC7CC640F2}" destId="{46A9DAD1-10FA-4448-BB21-D749B091FD05}" srcOrd="0" destOrd="0" presId="urn:microsoft.com/office/officeart/2005/8/layout/lProcess1"/>
    <dgm:cxn modelId="{ED85703D-B459-4D19-84BE-9084DADF4291}" type="presOf" srcId="{73E04AA5-0949-4E43-82D4-B899EC2157FC}" destId="{DFA6BDD3-42BF-4445-A619-DED58BE07B9C}" srcOrd="0" destOrd="0" presId="urn:microsoft.com/office/officeart/2005/8/layout/lProcess1"/>
    <dgm:cxn modelId="{BE74604D-8C4E-4E5D-B03D-AA51DB4EBE5C}" srcId="{302903CA-36C0-48B7-B18B-698A6EBF3BD6}" destId="{3BFC5D44-E2BF-4B11-832F-9B0430BF8276}" srcOrd="0" destOrd="0" parTransId="{5C78E7E7-662D-4E7D-AA92-2AEC7CC640F2}" sibTransId="{5E18B9C3-6CC7-4380-8A34-43968568867E}"/>
    <dgm:cxn modelId="{D920996D-BA3D-42B1-8DB0-57E2347F54B6}" srcId="{6953F76B-AC07-4003-95B8-889BD81F1FCA}" destId="{1445A153-A546-4C2B-9713-F02A1341FECB}" srcOrd="0" destOrd="0" parTransId="{4FEAE115-1F5A-44C0-971A-766F4D2BF1A9}" sibTransId="{A2B8CD96-A718-4A0A-920A-0CB840A515BB}"/>
    <dgm:cxn modelId="{E0395D6F-476A-49AF-8CA2-0A1053BA2033}" srcId="{4033E812-348D-41F6-B363-B733FBFB26CB}" destId="{6953F76B-AC07-4003-95B8-889BD81F1FCA}" srcOrd="2" destOrd="0" parTransId="{A224E3CB-44AA-49F2-833B-41817D3FCDE9}" sibTransId="{2F47F044-3E03-48FD-BFBB-15D74EFBE880}"/>
    <dgm:cxn modelId="{AB89BA57-25AF-41A0-A1E5-89A297933896}" type="presOf" srcId="{6953F76B-AC07-4003-95B8-889BD81F1FCA}" destId="{AACC7CDB-211A-4318-9248-FAF5013ED5DE}" srcOrd="0" destOrd="0" presId="urn:microsoft.com/office/officeart/2005/8/layout/lProcess1"/>
    <dgm:cxn modelId="{0323499C-860B-418F-92B6-5EBE24C3F637}" srcId="{9CB7A601-336D-4CD2-B0C7-B9B6CDC9B0B7}" destId="{740F560E-4D25-4CE7-8C92-FD0575857565}" srcOrd="0" destOrd="0" parTransId="{73E04AA5-0949-4E43-82D4-B899EC2157FC}" sibTransId="{6EBB22FA-A08C-40D4-AB47-6CD3A99B10DC}"/>
    <dgm:cxn modelId="{BE3D9BC8-6021-49EF-97D8-88283349490C}" srcId="{4033E812-348D-41F6-B363-B733FBFB26CB}" destId="{9CB7A601-336D-4CD2-B0C7-B9B6CDC9B0B7}" srcOrd="0" destOrd="0" parTransId="{BC89ED06-8DEA-4657-955C-C82562888948}" sibTransId="{35BF0686-BF7E-4FB2-A03F-C35A97C37BCB}"/>
    <dgm:cxn modelId="{D69E7DC9-0B33-471A-B0A2-B99DA8C73696}" srcId="{4033E812-348D-41F6-B363-B733FBFB26CB}" destId="{9FE779B5-E253-4A91-96B1-90A07DCCB89A}" srcOrd="1" destOrd="0" parTransId="{06B77A9B-668E-466B-8CC6-46E989BFCC01}" sibTransId="{8D99165D-604F-4067-9C5C-0D3F7F92887F}"/>
    <dgm:cxn modelId="{06C284D1-55ED-4AAB-A773-DC2F9CC05043}" type="presOf" srcId="{4FEAE115-1F5A-44C0-971A-766F4D2BF1A9}" destId="{5E10FB02-320F-431D-B666-AECEF32B1859}" srcOrd="0" destOrd="0" presId="urn:microsoft.com/office/officeart/2005/8/layout/lProcess1"/>
    <dgm:cxn modelId="{67456AD4-93EE-4B7B-85A1-64C597648692}" type="presOf" srcId="{302903CA-36C0-48B7-B18B-698A6EBF3BD6}" destId="{199449A2-40A5-47A6-B902-CA30FDAF79D5}" srcOrd="0" destOrd="0" presId="urn:microsoft.com/office/officeart/2005/8/layout/lProcess1"/>
    <dgm:cxn modelId="{28DA39E5-8A92-455F-B1F5-8B3DFBAA32AC}" type="presOf" srcId="{740F560E-4D25-4CE7-8C92-FD0575857565}" destId="{4AB40256-2086-4D33-93CA-628163134BB9}" srcOrd="0" destOrd="0" presId="urn:microsoft.com/office/officeart/2005/8/layout/lProcess1"/>
    <dgm:cxn modelId="{6E2150E7-2CA7-4264-AE4A-53391BBF9F71}" type="presOf" srcId="{4033E812-348D-41F6-B363-B733FBFB26CB}" destId="{E2B84708-2607-4309-85AE-6D2365B31874}" srcOrd="0" destOrd="0" presId="urn:microsoft.com/office/officeart/2005/8/layout/lProcess1"/>
    <dgm:cxn modelId="{8BC351EC-DFC7-4EB9-92DD-7BD6E451D845}" srcId="{9FE779B5-E253-4A91-96B1-90A07DCCB89A}" destId="{6D331453-7CA4-4536-851B-4F32A48CF778}" srcOrd="0" destOrd="0" parTransId="{D97E3640-E308-465F-817E-CAC228463378}" sibTransId="{BA1E22D3-6759-41DE-8FBD-A6A6A01C43C0}"/>
    <dgm:cxn modelId="{E316CCEE-D668-4E50-BF64-BB87E89D0BEF}" type="presOf" srcId="{1445A153-A546-4C2B-9713-F02A1341FECB}" destId="{F8E9AF90-74D6-4CB6-A57B-9E958E3B9B89}" srcOrd="0" destOrd="0" presId="urn:microsoft.com/office/officeart/2005/8/layout/lProcess1"/>
    <dgm:cxn modelId="{B4E169F5-46B4-40E3-9520-68F11420BDF5}" type="presOf" srcId="{9CB7A601-336D-4CD2-B0C7-B9B6CDC9B0B7}" destId="{48FB2631-CA29-4D80-93BC-712AC19C0A16}" srcOrd="0" destOrd="0" presId="urn:microsoft.com/office/officeart/2005/8/layout/lProcess1"/>
    <dgm:cxn modelId="{B80E00E4-7A98-49DD-BD83-D79AF916DF00}" type="presParOf" srcId="{E2B84708-2607-4309-85AE-6D2365B31874}" destId="{2491D83D-F8BF-4653-B332-8EAE52EF83D9}" srcOrd="0" destOrd="0" presId="urn:microsoft.com/office/officeart/2005/8/layout/lProcess1"/>
    <dgm:cxn modelId="{4171EAA2-052B-4D4E-BA4A-FB942AF552FD}" type="presParOf" srcId="{2491D83D-F8BF-4653-B332-8EAE52EF83D9}" destId="{48FB2631-CA29-4D80-93BC-712AC19C0A16}" srcOrd="0" destOrd="0" presId="urn:microsoft.com/office/officeart/2005/8/layout/lProcess1"/>
    <dgm:cxn modelId="{967CEE7A-E268-4D8F-AEB2-1239591DB5FE}" type="presParOf" srcId="{2491D83D-F8BF-4653-B332-8EAE52EF83D9}" destId="{DFA6BDD3-42BF-4445-A619-DED58BE07B9C}" srcOrd="1" destOrd="0" presId="urn:microsoft.com/office/officeart/2005/8/layout/lProcess1"/>
    <dgm:cxn modelId="{0AC2D5F2-83FB-403F-962A-33525F8495E0}" type="presParOf" srcId="{2491D83D-F8BF-4653-B332-8EAE52EF83D9}" destId="{4AB40256-2086-4D33-93CA-628163134BB9}" srcOrd="2" destOrd="0" presId="urn:microsoft.com/office/officeart/2005/8/layout/lProcess1"/>
    <dgm:cxn modelId="{A2288886-3D99-47C8-9701-DEDFD0DF05C8}" type="presParOf" srcId="{E2B84708-2607-4309-85AE-6D2365B31874}" destId="{94104413-FC9B-405B-96DC-2BAB380DBDA8}" srcOrd="1" destOrd="0" presId="urn:microsoft.com/office/officeart/2005/8/layout/lProcess1"/>
    <dgm:cxn modelId="{5877E0F1-C836-4E95-BF9B-A3615BDCB9E9}" type="presParOf" srcId="{E2B84708-2607-4309-85AE-6D2365B31874}" destId="{D2F8C529-EF3A-4FA1-8A54-116A60812DDD}" srcOrd="2" destOrd="0" presId="urn:microsoft.com/office/officeart/2005/8/layout/lProcess1"/>
    <dgm:cxn modelId="{856E50BD-9E0D-4C23-8847-7D63E489554A}" type="presParOf" srcId="{D2F8C529-EF3A-4FA1-8A54-116A60812DDD}" destId="{B2534B75-C139-4466-B4DC-BCD2328C0E86}" srcOrd="0" destOrd="0" presId="urn:microsoft.com/office/officeart/2005/8/layout/lProcess1"/>
    <dgm:cxn modelId="{EAC3A7A2-414A-45ED-8E7C-FB3ADBFFE29F}" type="presParOf" srcId="{D2F8C529-EF3A-4FA1-8A54-116A60812DDD}" destId="{4ED27C60-9035-43E8-A4F1-808F0338CEAC}" srcOrd="1" destOrd="0" presId="urn:microsoft.com/office/officeart/2005/8/layout/lProcess1"/>
    <dgm:cxn modelId="{305FDAC7-FE53-41D8-AB67-299C4DFFCFBE}" type="presParOf" srcId="{D2F8C529-EF3A-4FA1-8A54-116A60812DDD}" destId="{ECFECD9E-375C-4211-BED3-16D628659756}" srcOrd="2" destOrd="0" presId="urn:microsoft.com/office/officeart/2005/8/layout/lProcess1"/>
    <dgm:cxn modelId="{5A1D3E45-B441-4373-B19C-CFC4228F6573}" type="presParOf" srcId="{E2B84708-2607-4309-85AE-6D2365B31874}" destId="{A03DA2B4-1672-45B7-B13F-F678BD53D192}" srcOrd="3" destOrd="0" presId="urn:microsoft.com/office/officeart/2005/8/layout/lProcess1"/>
    <dgm:cxn modelId="{A5B5DD1F-992D-44C3-983C-067A056DC4E0}" type="presParOf" srcId="{E2B84708-2607-4309-85AE-6D2365B31874}" destId="{F487EE68-8CEE-43B4-BA6F-989FAA235C96}" srcOrd="4" destOrd="0" presId="urn:microsoft.com/office/officeart/2005/8/layout/lProcess1"/>
    <dgm:cxn modelId="{B5A86D58-FD78-4D94-AE4E-C7D544743524}" type="presParOf" srcId="{F487EE68-8CEE-43B4-BA6F-989FAA235C96}" destId="{AACC7CDB-211A-4318-9248-FAF5013ED5DE}" srcOrd="0" destOrd="0" presId="urn:microsoft.com/office/officeart/2005/8/layout/lProcess1"/>
    <dgm:cxn modelId="{C18575AE-7FB4-4D8E-AD04-1ED5A9AFFC9A}" type="presParOf" srcId="{F487EE68-8CEE-43B4-BA6F-989FAA235C96}" destId="{5E10FB02-320F-431D-B666-AECEF32B1859}" srcOrd="1" destOrd="0" presId="urn:microsoft.com/office/officeart/2005/8/layout/lProcess1"/>
    <dgm:cxn modelId="{34058749-6492-43DC-B9D1-9120E65CB3C0}" type="presParOf" srcId="{F487EE68-8CEE-43B4-BA6F-989FAA235C96}" destId="{F8E9AF90-74D6-4CB6-A57B-9E958E3B9B89}" srcOrd="2" destOrd="0" presId="urn:microsoft.com/office/officeart/2005/8/layout/lProcess1"/>
    <dgm:cxn modelId="{D3B614E8-84E0-487E-A43D-8AB2B9D380EC}" type="presParOf" srcId="{E2B84708-2607-4309-85AE-6D2365B31874}" destId="{74B2746A-38ED-42F8-9FC4-4E8DE1F341E0}" srcOrd="5" destOrd="0" presId="urn:microsoft.com/office/officeart/2005/8/layout/lProcess1"/>
    <dgm:cxn modelId="{2559DF52-262F-44BC-BCF8-B6F26639F705}" type="presParOf" srcId="{E2B84708-2607-4309-85AE-6D2365B31874}" destId="{F0BEA512-297E-4A1D-B460-CD6A749A9D62}" srcOrd="6" destOrd="0" presId="urn:microsoft.com/office/officeart/2005/8/layout/lProcess1"/>
    <dgm:cxn modelId="{430A3E75-A252-4D9C-BC92-411953263593}" type="presParOf" srcId="{F0BEA512-297E-4A1D-B460-CD6A749A9D62}" destId="{199449A2-40A5-47A6-B902-CA30FDAF79D5}" srcOrd="0" destOrd="0" presId="urn:microsoft.com/office/officeart/2005/8/layout/lProcess1"/>
    <dgm:cxn modelId="{E3ABE2B2-157E-41C6-9CE8-B9CCE7F09D5C}" type="presParOf" srcId="{F0BEA512-297E-4A1D-B460-CD6A749A9D62}" destId="{46A9DAD1-10FA-4448-BB21-D749B091FD05}" srcOrd="1" destOrd="0" presId="urn:microsoft.com/office/officeart/2005/8/layout/lProcess1"/>
    <dgm:cxn modelId="{11984C4D-9B31-48E8-9213-76457946B1F9}" type="presParOf" srcId="{F0BEA512-297E-4A1D-B460-CD6A749A9D62}" destId="{4B1FEB3E-A9CD-485C-A677-5DD0A96F684A}" srcOrd="2" destOrd="0" presId="urn:microsoft.com/office/officeart/2005/8/layout/l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033E812-348D-41F6-B363-B733FBFB26CB}" type="doc">
      <dgm:prSet loTypeId="urn:microsoft.com/office/officeart/2005/8/layout/lProcess1" loCatId="process" qsTypeId="urn:microsoft.com/office/officeart/2005/8/quickstyle/simple1" qsCatId="simple" csTypeId="urn:microsoft.com/office/officeart/2005/8/colors/accent1_2" csCatId="accent1" phldr="1"/>
      <dgm:spPr/>
    </dgm:pt>
    <dgm:pt modelId="{9CB7A601-336D-4CD2-B0C7-B9B6CDC9B0B7}">
      <dgm:prSet phldrT="[Text]" custT="1"/>
      <dgm:spPr>
        <a:solidFill>
          <a:srgbClr val="FFC000"/>
        </a:solidFill>
      </dgm:spPr>
      <dgm:t>
        <a:bodyPr/>
        <a:lstStyle/>
        <a:p>
          <a:r>
            <a:rPr lang="en-US" sz="900" dirty="0">
              <a:latin typeface="EYInterstate" pitchFamily="2" charset="0"/>
            </a:rPr>
            <a:t>Commercial Agreement</a:t>
          </a:r>
        </a:p>
      </dgm:t>
    </dgm:pt>
    <dgm:pt modelId="{BC89ED06-8DEA-4657-955C-C82562888948}" type="parTrans" cxnId="{BE3D9BC8-6021-49EF-97D8-88283349490C}">
      <dgm:prSet/>
      <dgm:spPr/>
      <dgm:t>
        <a:bodyPr/>
        <a:lstStyle/>
        <a:p>
          <a:endParaRPr lang="en-US" sz="700">
            <a:latin typeface="EYInterstate" pitchFamily="2" charset="0"/>
          </a:endParaRPr>
        </a:p>
      </dgm:t>
    </dgm:pt>
    <dgm:pt modelId="{35BF0686-BF7E-4FB2-A03F-C35A97C37BCB}" type="sibTrans" cxnId="{BE3D9BC8-6021-49EF-97D8-88283349490C}">
      <dgm:prSet custT="1"/>
      <dgm:spPr/>
      <dgm:t>
        <a:bodyPr/>
        <a:lstStyle/>
        <a:p>
          <a:endParaRPr lang="en-US" sz="800">
            <a:latin typeface="EYInterstate" pitchFamily="2" charset="0"/>
          </a:endParaRPr>
        </a:p>
      </dgm:t>
    </dgm:pt>
    <dgm:pt modelId="{9FE779B5-E253-4A91-96B1-90A07DCCB89A}">
      <dgm:prSet phldrT="[Text]" custT="1"/>
      <dgm:spPr/>
      <dgm:t>
        <a:bodyPr/>
        <a:lstStyle/>
        <a:p>
          <a:r>
            <a:rPr lang="en-US" sz="900" dirty="0">
              <a:latin typeface="EYInterstate" pitchFamily="2" charset="0"/>
            </a:rPr>
            <a:t>Partner Provisioning</a:t>
          </a:r>
        </a:p>
      </dgm:t>
    </dgm:pt>
    <dgm:pt modelId="{06B77A9B-668E-466B-8CC6-46E989BFCC01}" type="parTrans" cxnId="{D69E7DC9-0B33-471A-B0A2-B99DA8C73696}">
      <dgm:prSet/>
      <dgm:spPr/>
      <dgm:t>
        <a:bodyPr/>
        <a:lstStyle/>
        <a:p>
          <a:endParaRPr lang="en-US" sz="700">
            <a:latin typeface="EYInterstate" pitchFamily="2" charset="0"/>
          </a:endParaRPr>
        </a:p>
      </dgm:t>
    </dgm:pt>
    <dgm:pt modelId="{8D99165D-604F-4067-9C5C-0D3F7F92887F}" type="sibTrans" cxnId="{D69E7DC9-0B33-471A-B0A2-B99DA8C73696}">
      <dgm:prSet custT="1"/>
      <dgm:spPr/>
      <dgm:t>
        <a:bodyPr/>
        <a:lstStyle/>
        <a:p>
          <a:endParaRPr lang="en-US" sz="800">
            <a:latin typeface="EYInterstate" pitchFamily="2" charset="0"/>
          </a:endParaRPr>
        </a:p>
      </dgm:t>
    </dgm:pt>
    <dgm:pt modelId="{6953F76B-AC07-4003-95B8-889BD81F1FCA}">
      <dgm:prSet phldrT="[Text]" custT="1"/>
      <dgm:spPr/>
      <dgm:t>
        <a:bodyPr/>
        <a:lstStyle/>
        <a:p>
          <a:r>
            <a:rPr lang="en-US" sz="900" dirty="0">
              <a:latin typeface="EYInterstate" pitchFamily="2" charset="0"/>
            </a:rPr>
            <a:t>Subscriber Provisioning</a:t>
          </a:r>
        </a:p>
      </dgm:t>
    </dgm:pt>
    <dgm:pt modelId="{A224E3CB-44AA-49F2-833B-41817D3FCDE9}" type="parTrans" cxnId="{E0395D6F-476A-49AF-8CA2-0A1053BA2033}">
      <dgm:prSet/>
      <dgm:spPr/>
      <dgm:t>
        <a:bodyPr/>
        <a:lstStyle/>
        <a:p>
          <a:endParaRPr lang="en-US" sz="700">
            <a:latin typeface="EYInterstate" pitchFamily="2" charset="0"/>
          </a:endParaRPr>
        </a:p>
      </dgm:t>
    </dgm:pt>
    <dgm:pt modelId="{2F47F044-3E03-48FD-BFBB-15D74EFBE880}" type="sibTrans" cxnId="{E0395D6F-476A-49AF-8CA2-0A1053BA2033}">
      <dgm:prSet custT="1"/>
      <dgm:spPr/>
      <dgm:t>
        <a:bodyPr/>
        <a:lstStyle/>
        <a:p>
          <a:endParaRPr lang="en-US" sz="800">
            <a:latin typeface="EYInterstate" pitchFamily="2" charset="0"/>
          </a:endParaRPr>
        </a:p>
      </dgm:t>
    </dgm:pt>
    <dgm:pt modelId="{302903CA-36C0-48B7-B18B-698A6EBF3BD6}">
      <dgm:prSet custT="1"/>
      <dgm:spPr/>
      <dgm:t>
        <a:bodyPr/>
        <a:lstStyle/>
        <a:p>
          <a:r>
            <a:rPr lang="en-US" sz="900" dirty="0">
              <a:latin typeface="EYInterstate" pitchFamily="2" charset="0"/>
            </a:rPr>
            <a:t>Rating &amp; Billing</a:t>
          </a:r>
        </a:p>
      </dgm:t>
    </dgm:pt>
    <dgm:pt modelId="{D2815C6B-9747-45CF-9930-E5655F85A570}" type="parTrans" cxnId="{C02F6A23-3971-4C0C-8429-64482710A7E1}">
      <dgm:prSet/>
      <dgm:spPr/>
      <dgm:t>
        <a:bodyPr/>
        <a:lstStyle/>
        <a:p>
          <a:endParaRPr lang="en-US" sz="700">
            <a:latin typeface="EYInterstate" pitchFamily="2" charset="0"/>
          </a:endParaRPr>
        </a:p>
      </dgm:t>
    </dgm:pt>
    <dgm:pt modelId="{73107EA8-147A-4CAE-B8AA-10EE68C76416}" type="sibTrans" cxnId="{C02F6A23-3971-4C0C-8429-64482710A7E1}">
      <dgm:prSet/>
      <dgm:spPr/>
      <dgm:t>
        <a:bodyPr/>
        <a:lstStyle/>
        <a:p>
          <a:endParaRPr lang="en-US" sz="700">
            <a:latin typeface="EYInterstate" pitchFamily="2" charset="0"/>
          </a:endParaRPr>
        </a:p>
      </dgm:t>
    </dgm:pt>
    <dgm:pt modelId="{740F560E-4D25-4CE7-8C92-FD0575857565}">
      <dgm:prSet custT="1"/>
      <dgm:spPr>
        <a:solidFill>
          <a:srgbClr val="FFC000">
            <a:alpha val="90000"/>
          </a:srgbClr>
        </a:solidFill>
        <a:ln>
          <a:solidFill>
            <a:srgbClr val="FFC000">
              <a:alpha val="90000"/>
            </a:srgbClr>
          </a:solidFill>
        </a:ln>
      </dgm:spPr>
      <dgm:t>
        <a:bodyPr/>
        <a:lstStyle/>
        <a:p>
          <a:r>
            <a:rPr lang="en-US" sz="500" dirty="0"/>
            <a:t>Signing of document like AA12,13, &amp; 14</a:t>
          </a:r>
        </a:p>
      </dgm:t>
    </dgm:pt>
    <dgm:pt modelId="{73E04AA5-0949-4E43-82D4-B899EC2157FC}" type="parTrans" cxnId="{0323499C-860B-418F-92B6-5EBE24C3F637}">
      <dgm:prSet/>
      <dgm:spPr/>
      <dgm:t>
        <a:bodyPr/>
        <a:lstStyle/>
        <a:p>
          <a:endParaRPr lang="en-US" sz="1100"/>
        </a:p>
      </dgm:t>
    </dgm:pt>
    <dgm:pt modelId="{6EBB22FA-A08C-40D4-AB47-6CD3A99B10DC}" type="sibTrans" cxnId="{0323499C-860B-418F-92B6-5EBE24C3F637}">
      <dgm:prSet/>
      <dgm:spPr/>
      <dgm:t>
        <a:bodyPr/>
        <a:lstStyle/>
        <a:p>
          <a:endParaRPr lang="en-US" sz="1100"/>
        </a:p>
      </dgm:t>
    </dgm:pt>
    <dgm:pt modelId="{6D331453-7CA4-4536-851B-4F32A48CF778}">
      <dgm:prSet custT="1"/>
      <dgm:spPr/>
      <dgm:t>
        <a:bodyPr/>
        <a:lstStyle/>
        <a:p>
          <a:r>
            <a:rPr lang="en-US" sz="500" dirty="0"/>
            <a:t>IREG &amp; TADIG Testing</a:t>
          </a:r>
        </a:p>
      </dgm:t>
    </dgm:pt>
    <dgm:pt modelId="{D97E3640-E308-465F-817E-CAC228463378}" type="parTrans" cxnId="{8BC351EC-DFC7-4EB9-92DD-7BD6E451D845}">
      <dgm:prSet/>
      <dgm:spPr/>
      <dgm:t>
        <a:bodyPr/>
        <a:lstStyle/>
        <a:p>
          <a:endParaRPr lang="en-US" sz="1100"/>
        </a:p>
      </dgm:t>
    </dgm:pt>
    <dgm:pt modelId="{BA1E22D3-6759-41DE-8FBD-A6A6A01C43C0}" type="sibTrans" cxnId="{8BC351EC-DFC7-4EB9-92DD-7BD6E451D845}">
      <dgm:prSet/>
      <dgm:spPr/>
      <dgm:t>
        <a:bodyPr/>
        <a:lstStyle/>
        <a:p>
          <a:endParaRPr lang="en-US" sz="1100"/>
        </a:p>
      </dgm:t>
    </dgm:pt>
    <dgm:pt modelId="{1445A153-A546-4C2B-9713-F02A1341FECB}">
      <dgm:prSet custT="1"/>
      <dgm:spPr/>
      <dgm:t>
        <a:bodyPr/>
        <a:lstStyle/>
        <a:p>
          <a:r>
            <a:rPr lang="en-US" sz="500" dirty="0"/>
            <a:t>Configuration at HLR ,VLR &amp; IN</a:t>
          </a:r>
        </a:p>
      </dgm:t>
    </dgm:pt>
    <dgm:pt modelId="{4FEAE115-1F5A-44C0-971A-766F4D2BF1A9}" type="parTrans" cxnId="{D920996D-BA3D-42B1-8DB0-57E2347F54B6}">
      <dgm:prSet/>
      <dgm:spPr/>
      <dgm:t>
        <a:bodyPr/>
        <a:lstStyle/>
        <a:p>
          <a:endParaRPr lang="en-US" sz="1100"/>
        </a:p>
      </dgm:t>
    </dgm:pt>
    <dgm:pt modelId="{A2B8CD96-A718-4A0A-920A-0CB840A515BB}" type="sibTrans" cxnId="{D920996D-BA3D-42B1-8DB0-57E2347F54B6}">
      <dgm:prSet/>
      <dgm:spPr/>
      <dgm:t>
        <a:bodyPr/>
        <a:lstStyle/>
        <a:p>
          <a:endParaRPr lang="en-US" sz="1100"/>
        </a:p>
      </dgm:t>
    </dgm:pt>
    <dgm:pt modelId="{3BFC5D44-E2BF-4B11-832F-9B0430BF8276}">
      <dgm:prSet custT="1"/>
      <dgm:spPr/>
      <dgm:t>
        <a:bodyPr/>
        <a:lstStyle/>
        <a:p>
          <a:r>
            <a:rPr lang="en-US" sz="500" dirty="0"/>
            <a:t>TAP exchange, rating subscriber billing &amp; prepaid charging</a:t>
          </a:r>
        </a:p>
      </dgm:t>
    </dgm:pt>
    <dgm:pt modelId="{5C78E7E7-662D-4E7D-AA92-2AEC7CC640F2}" type="parTrans" cxnId="{BE74604D-8C4E-4E5D-B03D-AA51DB4EBE5C}">
      <dgm:prSet/>
      <dgm:spPr/>
      <dgm:t>
        <a:bodyPr/>
        <a:lstStyle/>
        <a:p>
          <a:endParaRPr lang="en-US" sz="1100"/>
        </a:p>
      </dgm:t>
    </dgm:pt>
    <dgm:pt modelId="{5E18B9C3-6CC7-4380-8A34-43968568867E}" type="sibTrans" cxnId="{BE74604D-8C4E-4E5D-B03D-AA51DB4EBE5C}">
      <dgm:prSet/>
      <dgm:spPr/>
      <dgm:t>
        <a:bodyPr/>
        <a:lstStyle/>
        <a:p>
          <a:endParaRPr lang="en-US" sz="1100"/>
        </a:p>
      </dgm:t>
    </dgm:pt>
    <dgm:pt modelId="{E2B84708-2607-4309-85AE-6D2365B31874}" type="pres">
      <dgm:prSet presAssocID="{4033E812-348D-41F6-B363-B733FBFB26CB}" presName="Name0" presStyleCnt="0">
        <dgm:presLayoutVars>
          <dgm:dir/>
          <dgm:animLvl val="lvl"/>
          <dgm:resizeHandles val="exact"/>
        </dgm:presLayoutVars>
      </dgm:prSet>
      <dgm:spPr/>
    </dgm:pt>
    <dgm:pt modelId="{2491D83D-F8BF-4653-B332-8EAE52EF83D9}" type="pres">
      <dgm:prSet presAssocID="{9CB7A601-336D-4CD2-B0C7-B9B6CDC9B0B7}" presName="vertFlow" presStyleCnt="0"/>
      <dgm:spPr/>
    </dgm:pt>
    <dgm:pt modelId="{48FB2631-CA29-4D80-93BC-712AC19C0A16}" type="pres">
      <dgm:prSet presAssocID="{9CB7A601-336D-4CD2-B0C7-B9B6CDC9B0B7}" presName="header" presStyleLbl="node1" presStyleIdx="0" presStyleCnt="4" custScaleY="258017"/>
      <dgm:spPr/>
    </dgm:pt>
    <dgm:pt modelId="{DFA6BDD3-42BF-4445-A619-DED58BE07B9C}" type="pres">
      <dgm:prSet presAssocID="{73E04AA5-0949-4E43-82D4-B899EC2157FC}" presName="parTrans" presStyleLbl="sibTrans2D1" presStyleIdx="0" presStyleCnt="4"/>
      <dgm:spPr/>
    </dgm:pt>
    <dgm:pt modelId="{4AB40256-2086-4D33-93CA-628163134BB9}" type="pres">
      <dgm:prSet presAssocID="{740F560E-4D25-4CE7-8C92-FD0575857565}" presName="child" presStyleLbl="alignAccFollowNode1" presStyleIdx="0" presStyleCnt="4" custScaleY="164853">
        <dgm:presLayoutVars>
          <dgm:chMax val="0"/>
          <dgm:bulletEnabled val="1"/>
        </dgm:presLayoutVars>
      </dgm:prSet>
      <dgm:spPr/>
    </dgm:pt>
    <dgm:pt modelId="{94104413-FC9B-405B-96DC-2BAB380DBDA8}" type="pres">
      <dgm:prSet presAssocID="{9CB7A601-336D-4CD2-B0C7-B9B6CDC9B0B7}" presName="hSp" presStyleCnt="0"/>
      <dgm:spPr/>
    </dgm:pt>
    <dgm:pt modelId="{D2F8C529-EF3A-4FA1-8A54-116A60812DDD}" type="pres">
      <dgm:prSet presAssocID="{9FE779B5-E253-4A91-96B1-90A07DCCB89A}" presName="vertFlow" presStyleCnt="0"/>
      <dgm:spPr/>
    </dgm:pt>
    <dgm:pt modelId="{B2534B75-C139-4466-B4DC-BCD2328C0E86}" type="pres">
      <dgm:prSet presAssocID="{9FE779B5-E253-4A91-96B1-90A07DCCB89A}" presName="header" presStyleLbl="node1" presStyleIdx="1" presStyleCnt="4" custScaleY="258017"/>
      <dgm:spPr/>
    </dgm:pt>
    <dgm:pt modelId="{4ED27C60-9035-43E8-A4F1-808F0338CEAC}" type="pres">
      <dgm:prSet presAssocID="{D97E3640-E308-465F-817E-CAC228463378}" presName="parTrans" presStyleLbl="sibTrans2D1" presStyleIdx="1" presStyleCnt="4"/>
      <dgm:spPr/>
    </dgm:pt>
    <dgm:pt modelId="{ECFECD9E-375C-4211-BED3-16D628659756}" type="pres">
      <dgm:prSet presAssocID="{6D331453-7CA4-4536-851B-4F32A48CF778}" presName="child" presStyleLbl="alignAccFollowNode1" presStyleIdx="1" presStyleCnt="4" custScaleY="164853">
        <dgm:presLayoutVars>
          <dgm:chMax val="0"/>
          <dgm:bulletEnabled val="1"/>
        </dgm:presLayoutVars>
      </dgm:prSet>
      <dgm:spPr/>
    </dgm:pt>
    <dgm:pt modelId="{A03DA2B4-1672-45B7-B13F-F678BD53D192}" type="pres">
      <dgm:prSet presAssocID="{9FE779B5-E253-4A91-96B1-90A07DCCB89A}" presName="hSp" presStyleCnt="0"/>
      <dgm:spPr/>
    </dgm:pt>
    <dgm:pt modelId="{F487EE68-8CEE-43B4-BA6F-989FAA235C96}" type="pres">
      <dgm:prSet presAssocID="{6953F76B-AC07-4003-95B8-889BD81F1FCA}" presName="vertFlow" presStyleCnt="0"/>
      <dgm:spPr/>
    </dgm:pt>
    <dgm:pt modelId="{AACC7CDB-211A-4318-9248-FAF5013ED5DE}" type="pres">
      <dgm:prSet presAssocID="{6953F76B-AC07-4003-95B8-889BD81F1FCA}" presName="header" presStyleLbl="node1" presStyleIdx="2" presStyleCnt="4" custScaleY="258017"/>
      <dgm:spPr/>
    </dgm:pt>
    <dgm:pt modelId="{5E10FB02-320F-431D-B666-AECEF32B1859}" type="pres">
      <dgm:prSet presAssocID="{4FEAE115-1F5A-44C0-971A-766F4D2BF1A9}" presName="parTrans" presStyleLbl="sibTrans2D1" presStyleIdx="2" presStyleCnt="4"/>
      <dgm:spPr/>
    </dgm:pt>
    <dgm:pt modelId="{F8E9AF90-74D6-4CB6-A57B-9E958E3B9B89}" type="pres">
      <dgm:prSet presAssocID="{1445A153-A546-4C2B-9713-F02A1341FECB}" presName="child" presStyleLbl="alignAccFollowNode1" presStyleIdx="2" presStyleCnt="4" custScaleY="164853">
        <dgm:presLayoutVars>
          <dgm:chMax val="0"/>
          <dgm:bulletEnabled val="1"/>
        </dgm:presLayoutVars>
      </dgm:prSet>
      <dgm:spPr/>
    </dgm:pt>
    <dgm:pt modelId="{74B2746A-38ED-42F8-9FC4-4E8DE1F341E0}" type="pres">
      <dgm:prSet presAssocID="{6953F76B-AC07-4003-95B8-889BD81F1FCA}" presName="hSp" presStyleCnt="0"/>
      <dgm:spPr/>
    </dgm:pt>
    <dgm:pt modelId="{F0BEA512-297E-4A1D-B460-CD6A749A9D62}" type="pres">
      <dgm:prSet presAssocID="{302903CA-36C0-48B7-B18B-698A6EBF3BD6}" presName="vertFlow" presStyleCnt="0"/>
      <dgm:spPr/>
    </dgm:pt>
    <dgm:pt modelId="{199449A2-40A5-47A6-B902-CA30FDAF79D5}" type="pres">
      <dgm:prSet presAssocID="{302903CA-36C0-48B7-B18B-698A6EBF3BD6}" presName="header" presStyleLbl="node1" presStyleIdx="3" presStyleCnt="4" custScaleY="258017"/>
      <dgm:spPr/>
    </dgm:pt>
    <dgm:pt modelId="{46A9DAD1-10FA-4448-BB21-D749B091FD05}" type="pres">
      <dgm:prSet presAssocID="{5C78E7E7-662D-4E7D-AA92-2AEC7CC640F2}" presName="parTrans" presStyleLbl="sibTrans2D1" presStyleIdx="3" presStyleCnt="4"/>
      <dgm:spPr/>
    </dgm:pt>
    <dgm:pt modelId="{4B1FEB3E-A9CD-485C-A677-5DD0A96F684A}" type="pres">
      <dgm:prSet presAssocID="{3BFC5D44-E2BF-4B11-832F-9B0430BF8276}" presName="child" presStyleLbl="alignAccFollowNode1" presStyleIdx="3" presStyleCnt="4" custScaleY="164853">
        <dgm:presLayoutVars>
          <dgm:chMax val="0"/>
          <dgm:bulletEnabled val="1"/>
        </dgm:presLayoutVars>
      </dgm:prSet>
      <dgm:spPr/>
    </dgm:pt>
  </dgm:ptLst>
  <dgm:cxnLst>
    <dgm:cxn modelId="{D7309907-CD2B-4F30-9AA1-9393E6910B97}" type="presOf" srcId="{6953F76B-AC07-4003-95B8-889BD81F1FCA}" destId="{AACC7CDB-211A-4318-9248-FAF5013ED5DE}" srcOrd="0" destOrd="0" presId="urn:microsoft.com/office/officeart/2005/8/layout/lProcess1"/>
    <dgm:cxn modelId="{C02F6A23-3971-4C0C-8429-64482710A7E1}" srcId="{4033E812-348D-41F6-B363-B733FBFB26CB}" destId="{302903CA-36C0-48B7-B18B-698A6EBF3BD6}" srcOrd="3" destOrd="0" parTransId="{D2815C6B-9747-45CF-9930-E5655F85A570}" sibTransId="{73107EA8-147A-4CAE-B8AA-10EE68C76416}"/>
    <dgm:cxn modelId="{55B3AF28-8142-4550-9F87-AC3623902F1F}" type="presOf" srcId="{740F560E-4D25-4CE7-8C92-FD0575857565}" destId="{4AB40256-2086-4D33-93CA-628163134BB9}" srcOrd="0" destOrd="0" presId="urn:microsoft.com/office/officeart/2005/8/layout/lProcess1"/>
    <dgm:cxn modelId="{3CE1A230-1EAC-4652-815B-FE209FB7B723}" type="presOf" srcId="{73E04AA5-0949-4E43-82D4-B899EC2157FC}" destId="{DFA6BDD3-42BF-4445-A619-DED58BE07B9C}" srcOrd="0" destOrd="0" presId="urn:microsoft.com/office/officeart/2005/8/layout/lProcess1"/>
    <dgm:cxn modelId="{26F9623B-7326-44F1-B04E-F1BE273422D7}" type="presOf" srcId="{302903CA-36C0-48B7-B18B-698A6EBF3BD6}" destId="{199449A2-40A5-47A6-B902-CA30FDAF79D5}" srcOrd="0" destOrd="0" presId="urn:microsoft.com/office/officeart/2005/8/layout/lProcess1"/>
    <dgm:cxn modelId="{BE74604D-8C4E-4E5D-B03D-AA51DB4EBE5C}" srcId="{302903CA-36C0-48B7-B18B-698A6EBF3BD6}" destId="{3BFC5D44-E2BF-4B11-832F-9B0430BF8276}" srcOrd="0" destOrd="0" parTransId="{5C78E7E7-662D-4E7D-AA92-2AEC7CC640F2}" sibTransId="{5E18B9C3-6CC7-4380-8A34-43968568867E}"/>
    <dgm:cxn modelId="{D920996D-BA3D-42B1-8DB0-57E2347F54B6}" srcId="{6953F76B-AC07-4003-95B8-889BD81F1FCA}" destId="{1445A153-A546-4C2B-9713-F02A1341FECB}" srcOrd="0" destOrd="0" parTransId="{4FEAE115-1F5A-44C0-971A-766F4D2BF1A9}" sibTransId="{A2B8CD96-A718-4A0A-920A-0CB840A515BB}"/>
    <dgm:cxn modelId="{E0395D6F-476A-49AF-8CA2-0A1053BA2033}" srcId="{4033E812-348D-41F6-B363-B733FBFB26CB}" destId="{6953F76B-AC07-4003-95B8-889BD81F1FCA}" srcOrd="2" destOrd="0" parTransId="{A224E3CB-44AA-49F2-833B-41817D3FCDE9}" sibTransId="{2F47F044-3E03-48FD-BFBB-15D74EFBE880}"/>
    <dgm:cxn modelId="{E2092056-8ED4-459E-8EB3-C08B3F89444D}" type="presOf" srcId="{D97E3640-E308-465F-817E-CAC228463378}" destId="{4ED27C60-9035-43E8-A4F1-808F0338CEAC}" srcOrd="0" destOrd="0" presId="urn:microsoft.com/office/officeart/2005/8/layout/lProcess1"/>
    <dgm:cxn modelId="{979DE75A-C9C0-43DA-923A-E38E45543B98}" type="presOf" srcId="{6D331453-7CA4-4536-851B-4F32A48CF778}" destId="{ECFECD9E-375C-4211-BED3-16D628659756}" srcOrd="0" destOrd="0" presId="urn:microsoft.com/office/officeart/2005/8/layout/lProcess1"/>
    <dgm:cxn modelId="{34D2A17D-3379-4AAA-B511-F59BAE2CCEDB}" type="presOf" srcId="{4033E812-348D-41F6-B363-B733FBFB26CB}" destId="{E2B84708-2607-4309-85AE-6D2365B31874}" srcOrd="0" destOrd="0" presId="urn:microsoft.com/office/officeart/2005/8/layout/lProcess1"/>
    <dgm:cxn modelId="{75E3F682-1D29-4E18-A1AD-8D84A597626E}" type="presOf" srcId="{5C78E7E7-662D-4E7D-AA92-2AEC7CC640F2}" destId="{46A9DAD1-10FA-4448-BB21-D749B091FD05}" srcOrd="0" destOrd="0" presId="urn:microsoft.com/office/officeart/2005/8/layout/lProcess1"/>
    <dgm:cxn modelId="{D755BC99-1349-431F-996E-9A693AC56482}" type="presOf" srcId="{1445A153-A546-4C2B-9713-F02A1341FECB}" destId="{F8E9AF90-74D6-4CB6-A57B-9E958E3B9B89}" srcOrd="0" destOrd="0" presId="urn:microsoft.com/office/officeart/2005/8/layout/lProcess1"/>
    <dgm:cxn modelId="{0323499C-860B-418F-92B6-5EBE24C3F637}" srcId="{9CB7A601-336D-4CD2-B0C7-B9B6CDC9B0B7}" destId="{740F560E-4D25-4CE7-8C92-FD0575857565}" srcOrd="0" destOrd="0" parTransId="{73E04AA5-0949-4E43-82D4-B899EC2157FC}" sibTransId="{6EBB22FA-A08C-40D4-AB47-6CD3A99B10DC}"/>
    <dgm:cxn modelId="{5096CEC6-3DF1-4033-BB87-E5879BAA3AAB}" type="presOf" srcId="{4FEAE115-1F5A-44C0-971A-766F4D2BF1A9}" destId="{5E10FB02-320F-431D-B666-AECEF32B1859}" srcOrd="0" destOrd="0" presId="urn:microsoft.com/office/officeart/2005/8/layout/lProcess1"/>
    <dgm:cxn modelId="{BE3D9BC8-6021-49EF-97D8-88283349490C}" srcId="{4033E812-348D-41F6-B363-B733FBFB26CB}" destId="{9CB7A601-336D-4CD2-B0C7-B9B6CDC9B0B7}" srcOrd="0" destOrd="0" parTransId="{BC89ED06-8DEA-4657-955C-C82562888948}" sibTransId="{35BF0686-BF7E-4FB2-A03F-C35A97C37BCB}"/>
    <dgm:cxn modelId="{D69E7DC9-0B33-471A-B0A2-B99DA8C73696}" srcId="{4033E812-348D-41F6-B363-B733FBFB26CB}" destId="{9FE779B5-E253-4A91-96B1-90A07DCCB89A}" srcOrd="1" destOrd="0" parTransId="{06B77A9B-668E-466B-8CC6-46E989BFCC01}" sibTransId="{8D99165D-604F-4067-9C5C-0D3F7F92887F}"/>
    <dgm:cxn modelId="{90B4F5D6-07F4-4C0E-9637-4F5009A0527B}" type="presOf" srcId="{9FE779B5-E253-4A91-96B1-90A07DCCB89A}" destId="{B2534B75-C139-4466-B4DC-BCD2328C0E86}" srcOrd="0" destOrd="0" presId="urn:microsoft.com/office/officeart/2005/8/layout/lProcess1"/>
    <dgm:cxn modelId="{036696E2-B4D5-4268-914B-42CEA920B072}" type="presOf" srcId="{3BFC5D44-E2BF-4B11-832F-9B0430BF8276}" destId="{4B1FEB3E-A9CD-485C-A677-5DD0A96F684A}" srcOrd="0" destOrd="0" presId="urn:microsoft.com/office/officeart/2005/8/layout/lProcess1"/>
    <dgm:cxn modelId="{8BC351EC-DFC7-4EB9-92DD-7BD6E451D845}" srcId="{9FE779B5-E253-4A91-96B1-90A07DCCB89A}" destId="{6D331453-7CA4-4536-851B-4F32A48CF778}" srcOrd="0" destOrd="0" parTransId="{D97E3640-E308-465F-817E-CAC228463378}" sibTransId="{BA1E22D3-6759-41DE-8FBD-A6A6A01C43C0}"/>
    <dgm:cxn modelId="{1265EAEF-59E8-494E-9201-EBD6C664C9EC}" type="presOf" srcId="{9CB7A601-336D-4CD2-B0C7-B9B6CDC9B0B7}" destId="{48FB2631-CA29-4D80-93BC-712AC19C0A16}" srcOrd="0" destOrd="0" presId="urn:microsoft.com/office/officeart/2005/8/layout/lProcess1"/>
    <dgm:cxn modelId="{1B094071-303F-457F-BBF3-3908FFE5CBA5}" type="presParOf" srcId="{E2B84708-2607-4309-85AE-6D2365B31874}" destId="{2491D83D-F8BF-4653-B332-8EAE52EF83D9}" srcOrd="0" destOrd="0" presId="urn:microsoft.com/office/officeart/2005/8/layout/lProcess1"/>
    <dgm:cxn modelId="{3D1B8F8B-A036-4CAD-AC4E-8216D721AB60}" type="presParOf" srcId="{2491D83D-F8BF-4653-B332-8EAE52EF83D9}" destId="{48FB2631-CA29-4D80-93BC-712AC19C0A16}" srcOrd="0" destOrd="0" presId="urn:microsoft.com/office/officeart/2005/8/layout/lProcess1"/>
    <dgm:cxn modelId="{87E45983-973C-43D7-BAE5-941D8BFD56AE}" type="presParOf" srcId="{2491D83D-F8BF-4653-B332-8EAE52EF83D9}" destId="{DFA6BDD3-42BF-4445-A619-DED58BE07B9C}" srcOrd="1" destOrd="0" presId="urn:microsoft.com/office/officeart/2005/8/layout/lProcess1"/>
    <dgm:cxn modelId="{9CE6967B-07DF-4E80-AA21-7F01BCA68A15}" type="presParOf" srcId="{2491D83D-F8BF-4653-B332-8EAE52EF83D9}" destId="{4AB40256-2086-4D33-93CA-628163134BB9}" srcOrd="2" destOrd="0" presId="urn:microsoft.com/office/officeart/2005/8/layout/lProcess1"/>
    <dgm:cxn modelId="{6B6DA928-3BED-4E98-A6A5-48BD798C9994}" type="presParOf" srcId="{E2B84708-2607-4309-85AE-6D2365B31874}" destId="{94104413-FC9B-405B-96DC-2BAB380DBDA8}" srcOrd="1" destOrd="0" presId="urn:microsoft.com/office/officeart/2005/8/layout/lProcess1"/>
    <dgm:cxn modelId="{7D9C27EE-45CC-4EE4-86A1-80F5D61056BE}" type="presParOf" srcId="{E2B84708-2607-4309-85AE-6D2365B31874}" destId="{D2F8C529-EF3A-4FA1-8A54-116A60812DDD}" srcOrd="2" destOrd="0" presId="urn:microsoft.com/office/officeart/2005/8/layout/lProcess1"/>
    <dgm:cxn modelId="{3769DE1D-1062-4D6C-8808-BDAFC2E82394}" type="presParOf" srcId="{D2F8C529-EF3A-4FA1-8A54-116A60812DDD}" destId="{B2534B75-C139-4466-B4DC-BCD2328C0E86}" srcOrd="0" destOrd="0" presId="urn:microsoft.com/office/officeart/2005/8/layout/lProcess1"/>
    <dgm:cxn modelId="{D92CA57D-1418-480D-9481-98CBF288CCE9}" type="presParOf" srcId="{D2F8C529-EF3A-4FA1-8A54-116A60812DDD}" destId="{4ED27C60-9035-43E8-A4F1-808F0338CEAC}" srcOrd="1" destOrd="0" presId="urn:microsoft.com/office/officeart/2005/8/layout/lProcess1"/>
    <dgm:cxn modelId="{627627E9-3B21-4C5D-81F2-496C4D934D03}" type="presParOf" srcId="{D2F8C529-EF3A-4FA1-8A54-116A60812DDD}" destId="{ECFECD9E-375C-4211-BED3-16D628659756}" srcOrd="2" destOrd="0" presId="urn:microsoft.com/office/officeart/2005/8/layout/lProcess1"/>
    <dgm:cxn modelId="{12091190-2739-4D4E-8BCB-60E3AD2ADF46}" type="presParOf" srcId="{E2B84708-2607-4309-85AE-6D2365B31874}" destId="{A03DA2B4-1672-45B7-B13F-F678BD53D192}" srcOrd="3" destOrd="0" presId="urn:microsoft.com/office/officeart/2005/8/layout/lProcess1"/>
    <dgm:cxn modelId="{3CF601B8-2592-4522-AC58-B40AE367021B}" type="presParOf" srcId="{E2B84708-2607-4309-85AE-6D2365B31874}" destId="{F487EE68-8CEE-43B4-BA6F-989FAA235C96}" srcOrd="4" destOrd="0" presId="urn:microsoft.com/office/officeart/2005/8/layout/lProcess1"/>
    <dgm:cxn modelId="{A6EF5474-AEC5-45E1-9D4C-41BE90F4157C}" type="presParOf" srcId="{F487EE68-8CEE-43B4-BA6F-989FAA235C96}" destId="{AACC7CDB-211A-4318-9248-FAF5013ED5DE}" srcOrd="0" destOrd="0" presId="urn:microsoft.com/office/officeart/2005/8/layout/lProcess1"/>
    <dgm:cxn modelId="{E49CAC41-317F-48CA-B245-F1C402A15464}" type="presParOf" srcId="{F487EE68-8CEE-43B4-BA6F-989FAA235C96}" destId="{5E10FB02-320F-431D-B666-AECEF32B1859}" srcOrd="1" destOrd="0" presId="urn:microsoft.com/office/officeart/2005/8/layout/lProcess1"/>
    <dgm:cxn modelId="{332DA76F-6D81-4301-AF8B-A85E670C082A}" type="presParOf" srcId="{F487EE68-8CEE-43B4-BA6F-989FAA235C96}" destId="{F8E9AF90-74D6-4CB6-A57B-9E958E3B9B89}" srcOrd="2" destOrd="0" presId="urn:microsoft.com/office/officeart/2005/8/layout/lProcess1"/>
    <dgm:cxn modelId="{9755713D-903A-4263-877C-9D1137602688}" type="presParOf" srcId="{E2B84708-2607-4309-85AE-6D2365B31874}" destId="{74B2746A-38ED-42F8-9FC4-4E8DE1F341E0}" srcOrd="5" destOrd="0" presId="urn:microsoft.com/office/officeart/2005/8/layout/lProcess1"/>
    <dgm:cxn modelId="{8CA47654-BD8C-479D-803D-C064899817C1}" type="presParOf" srcId="{E2B84708-2607-4309-85AE-6D2365B31874}" destId="{F0BEA512-297E-4A1D-B460-CD6A749A9D62}" srcOrd="6" destOrd="0" presId="urn:microsoft.com/office/officeart/2005/8/layout/lProcess1"/>
    <dgm:cxn modelId="{374947DB-5A50-4654-B3E4-8EA419B5A402}" type="presParOf" srcId="{F0BEA512-297E-4A1D-B460-CD6A749A9D62}" destId="{199449A2-40A5-47A6-B902-CA30FDAF79D5}" srcOrd="0" destOrd="0" presId="urn:microsoft.com/office/officeart/2005/8/layout/lProcess1"/>
    <dgm:cxn modelId="{A78886AF-FE52-4E4A-83F2-268F6BD5B2B5}" type="presParOf" srcId="{F0BEA512-297E-4A1D-B460-CD6A749A9D62}" destId="{46A9DAD1-10FA-4448-BB21-D749B091FD05}" srcOrd="1" destOrd="0" presId="urn:microsoft.com/office/officeart/2005/8/layout/lProcess1"/>
    <dgm:cxn modelId="{75C7A59B-DD4B-4F90-B6E8-8976D680F310}" type="presParOf" srcId="{F0BEA512-297E-4A1D-B460-CD6A749A9D62}" destId="{4B1FEB3E-A9CD-485C-A677-5DD0A96F684A}" srcOrd="2" destOrd="0" presId="urn:microsoft.com/office/officeart/2005/8/layout/l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033E812-348D-41F6-B363-B733FBFB26CB}" type="doc">
      <dgm:prSet loTypeId="urn:microsoft.com/office/officeart/2005/8/layout/lProcess1" loCatId="process" qsTypeId="urn:microsoft.com/office/officeart/2005/8/quickstyle/simple1" qsCatId="simple" csTypeId="urn:microsoft.com/office/officeart/2005/8/colors/accent1_2" csCatId="accent1" phldr="1"/>
      <dgm:spPr/>
    </dgm:pt>
    <dgm:pt modelId="{9CB7A601-336D-4CD2-B0C7-B9B6CDC9B0B7}">
      <dgm:prSet phldrT="[Text]" custT="1"/>
      <dgm:spPr>
        <a:solidFill>
          <a:schemeClr val="bg1">
            <a:lumMod val="50000"/>
          </a:schemeClr>
        </a:solidFill>
      </dgm:spPr>
      <dgm:t>
        <a:bodyPr/>
        <a:lstStyle/>
        <a:p>
          <a:r>
            <a:rPr lang="en-US" sz="900" dirty="0">
              <a:latin typeface="EYInterstate" pitchFamily="2" charset="0"/>
            </a:rPr>
            <a:t>Commercial Agreement</a:t>
          </a:r>
        </a:p>
      </dgm:t>
    </dgm:pt>
    <dgm:pt modelId="{BC89ED06-8DEA-4657-955C-C82562888948}" type="parTrans" cxnId="{BE3D9BC8-6021-49EF-97D8-88283349490C}">
      <dgm:prSet/>
      <dgm:spPr/>
      <dgm:t>
        <a:bodyPr/>
        <a:lstStyle/>
        <a:p>
          <a:endParaRPr lang="en-US" sz="700">
            <a:latin typeface="EYInterstate" pitchFamily="2" charset="0"/>
          </a:endParaRPr>
        </a:p>
      </dgm:t>
    </dgm:pt>
    <dgm:pt modelId="{35BF0686-BF7E-4FB2-A03F-C35A97C37BCB}" type="sibTrans" cxnId="{BE3D9BC8-6021-49EF-97D8-88283349490C}">
      <dgm:prSet custT="1"/>
      <dgm:spPr/>
      <dgm:t>
        <a:bodyPr/>
        <a:lstStyle/>
        <a:p>
          <a:endParaRPr lang="en-US" sz="800">
            <a:latin typeface="EYInterstate" pitchFamily="2" charset="0"/>
          </a:endParaRPr>
        </a:p>
      </dgm:t>
    </dgm:pt>
    <dgm:pt modelId="{9FE779B5-E253-4A91-96B1-90A07DCCB89A}">
      <dgm:prSet phldrT="[Text]" custT="1"/>
      <dgm:spPr>
        <a:solidFill>
          <a:srgbClr val="FFC000"/>
        </a:solidFill>
      </dgm:spPr>
      <dgm:t>
        <a:bodyPr/>
        <a:lstStyle/>
        <a:p>
          <a:r>
            <a:rPr lang="en-US" sz="900" dirty="0">
              <a:latin typeface="EYInterstate" pitchFamily="2" charset="0"/>
            </a:rPr>
            <a:t>Partner Provisioning</a:t>
          </a:r>
        </a:p>
      </dgm:t>
    </dgm:pt>
    <dgm:pt modelId="{06B77A9B-668E-466B-8CC6-46E989BFCC01}" type="parTrans" cxnId="{D69E7DC9-0B33-471A-B0A2-B99DA8C73696}">
      <dgm:prSet/>
      <dgm:spPr/>
      <dgm:t>
        <a:bodyPr/>
        <a:lstStyle/>
        <a:p>
          <a:endParaRPr lang="en-US" sz="700">
            <a:latin typeface="EYInterstate" pitchFamily="2" charset="0"/>
          </a:endParaRPr>
        </a:p>
      </dgm:t>
    </dgm:pt>
    <dgm:pt modelId="{8D99165D-604F-4067-9C5C-0D3F7F92887F}" type="sibTrans" cxnId="{D69E7DC9-0B33-471A-B0A2-B99DA8C73696}">
      <dgm:prSet custT="1"/>
      <dgm:spPr/>
      <dgm:t>
        <a:bodyPr/>
        <a:lstStyle/>
        <a:p>
          <a:endParaRPr lang="en-US" sz="800">
            <a:latin typeface="EYInterstate" pitchFamily="2" charset="0"/>
          </a:endParaRPr>
        </a:p>
      </dgm:t>
    </dgm:pt>
    <dgm:pt modelId="{6953F76B-AC07-4003-95B8-889BD81F1FCA}">
      <dgm:prSet phldrT="[Text]" custT="1"/>
      <dgm:spPr/>
      <dgm:t>
        <a:bodyPr/>
        <a:lstStyle/>
        <a:p>
          <a:r>
            <a:rPr lang="en-US" sz="900" dirty="0">
              <a:latin typeface="EYInterstate" pitchFamily="2" charset="0"/>
            </a:rPr>
            <a:t>Subscriber Provisioning</a:t>
          </a:r>
        </a:p>
      </dgm:t>
    </dgm:pt>
    <dgm:pt modelId="{A224E3CB-44AA-49F2-833B-41817D3FCDE9}" type="parTrans" cxnId="{E0395D6F-476A-49AF-8CA2-0A1053BA2033}">
      <dgm:prSet/>
      <dgm:spPr/>
      <dgm:t>
        <a:bodyPr/>
        <a:lstStyle/>
        <a:p>
          <a:endParaRPr lang="en-US" sz="700">
            <a:latin typeface="EYInterstate" pitchFamily="2" charset="0"/>
          </a:endParaRPr>
        </a:p>
      </dgm:t>
    </dgm:pt>
    <dgm:pt modelId="{2F47F044-3E03-48FD-BFBB-15D74EFBE880}" type="sibTrans" cxnId="{E0395D6F-476A-49AF-8CA2-0A1053BA2033}">
      <dgm:prSet custT="1"/>
      <dgm:spPr/>
      <dgm:t>
        <a:bodyPr/>
        <a:lstStyle/>
        <a:p>
          <a:endParaRPr lang="en-US" sz="800">
            <a:latin typeface="EYInterstate" pitchFamily="2" charset="0"/>
          </a:endParaRPr>
        </a:p>
      </dgm:t>
    </dgm:pt>
    <dgm:pt modelId="{302903CA-36C0-48B7-B18B-698A6EBF3BD6}">
      <dgm:prSet custT="1"/>
      <dgm:spPr/>
      <dgm:t>
        <a:bodyPr/>
        <a:lstStyle/>
        <a:p>
          <a:r>
            <a:rPr lang="en-US" sz="900" dirty="0">
              <a:latin typeface="EYInterstate" pitchFamily="2" charset="0"/>
            </a:rPr>
            <a:t>Rating &amp; Billing</a:t>
          </a:r>
        </a:p>
      </dgm:t>
    </dgm:pt>
    <dgm:pt modelId="{D2815C6B-9747-45CF-9930-E5655F85A570}" type="parTrans" cxnId="{C02F6A23-3971-4C0C-8429-64482710A7E1}">
      <dgm:prSet/>
      <dgm:spPr/>
      <dgm:t>
        <a:bodyPr/>
        <a:lstStyle/>
        <a:p>
          <a:endParaRPr lang="en-US" sz="700">
            <a:latin typeface="EYInterstate" pitchFamily="2" charset="0"/>
          </a:endParaRPr>
        </a:p>
      </dgm:t>
    </dgm:pt>
    <dgm:pt modelId="{73107EA8-147A-4CAE-B8AA-10EE68C76416}" type="sibTrans" cxnId="{C02F6A23-3971-4C0C-8429-64482710A7E1}">
      <dgm:prSet/>
      <dgm:spPr/>
      <dgm:t>
        <a:bodyPr/>
        <a:lstStyle/>
        <a:p>
          <a:endParaRPr lang="en-US" sz="700">
            <a:latin typeface="EYInterstate" pitchFamily="2" charset="0"/>
          </a:endParaRPr>
        </a:p>
      </dgm:t>
    </dgm:pt>
    <dgm:pt modelId="{740F560E-4D25-4CE7-8C92-FD0575857565}">
      <dgm:prSet custT="1"/>
      <dgm:spPr/>
      <dgm:t>
        <a:bodyPr/>
        <a:lstStyle/>
        <a:p>
          <a:r>
            <a:rPr lang="en-US" sz="500" dirty="0"/>
            <a:t>Signing of document like AA12,13, &amp; 14</a:t>
          </a:r>
        </a:p>
      </dgm:t>
    </dgm:pt>
    <dgm:pt modelId="{73E04AA5-0949-4E43-82D4-B899EC2157FC}" type="parTrans" cxnId="{0323499C-860B-418F-92B6-5EBE24C3F637}">
      <dgm:prSet/>
      <dgm:spPr/>
      <dgm:t>
        <a:bodyPr/>
        <a:lstStyle/>
        <a:p>
          <a:endParaRPr lang="en-US" sz="1100"/>
        </a:p>
      </dgm:t>
    </dgm:pt>
    <dgm:pt modelId="{6EBB22FA-A08C-40D4-AB47-6CD3A99B10DC}" type="sibTrans" cxnId="{0323499C-860B-418F-92B6-5EBE24C3F637}">
      <dgm:prSet/>
      <dgm:spPr/>
      <dgm:t>
        <a:bodyPr/>
        <a:lstStyle/>
        <a:p>
          <a:endParaRPr lang="en-US" sz="1100"/>
        </a:p>
      </dgm:t>
    </dgm:pt>
    <dgm:pt modelId="{6D331453-7CA4-4536-851B-4F32A48CF778}">
      <dgm:prSet custT="1"/>
      <dgm:spPr>
        <a:solidFill>
          <a:srgbClr val="FFC000">
            <a:alpha val="90000"/>
          </a:srgbClr>
        </a:solidFill>
        <a:ln>
          <a:solidFill>
            <a:srgbClr val="FFC000">
              <a:alpha val="90000"/>
            </a:srgbClr>
          </a:solidFill>
        </a:ln>
      </dgm:spPr>
      <dgm:t>
        <a:bodyPr/>
        <a:lstStyle/>
        <a:p>
          <a:r>
            <a:rPr lang="en-US" sz="500" dirty="0"/>
            <a:t>IREG &amp; TADIG Testing</a:t>
          </a:r>
        </a:p>
      </dgm:t>
    </dgm:pt>
    <dgm:pt modelId="{D97E3640-E308-465F-817E-CAC228463378}" type="parTrans" cxnId="{8BC351EC-DFC7-4EB9-92DD-7BD6E451D845}">
      <dgm:prSet/>
      <dgm:spPr/>
      <dgm:t>
        <a:bodyPr/>
        <a:lstStyle/>
        <a:p>
          <a:endParaRPr lang="en-US" sz="1100"/>
        </a:p>
      </dgm:t>
    </dgm:pt>
    <dgm:pt modelId="{BA1E22D3-6759-41DE-8FBD-A6A6A01C43C0}" type="sibTrans" cxnId="{8BC351EC-DFC7-4EB9-92DD-7BD6E451D845}">
      <dgm:prSet/>
      <dgm:spPr/>
      <dgm:t>
        <a:bodyPr/>
        <a:lstStyle/>
        <a:p>
          <a:endParaRPr lang="en-US" sz="1100"/>
        </a:p>
      </dgm:t>
    </dgm:pt>
    <dgm:pt modelId="{1445A153-A546-4C2B-9713-F02A1341FECB}">
      <dgm:prSet custT="1"/>
      <dgm:spPr/>
      <dgm:t>
        <a:bodyPr/>
        <a:lstStyle/>
        <a:p>
          <a:r>
            <a:rPr lang="en-US" sz="500" dirty="0"/>
            <a:t>Configuration at HLR ,VLR &amp; IN</a:t>
          </a:r>
        </a:p>
      </dgm:t>
    </dgm:pt>
    <dgm:pt modelId="{4FEAE115-1F5A-44C0-971A-766F4D2BF1A9}" type="parTrans" cxnId="{D920996D-BA3D-42B1-8DB0-57E2347F54B6}">
      <dgm:prSet/>
      <dgm:spPr/>
      <dgm:t>
        <a:bodyPr/>
        <a:lstStyle/>
        <a:p>
          <a:endParaRPr lang="en-US" sz="1100"/>
        </a:p>
      </dgm:t>
    </dgm:pt>
    <dgm:pt modelId="{A2B8CD96-A718-4A0A-920A-0CB840A515BB}" type="sibTrans" cxnId="{D920996D-BA3D-42B1-8DB0-57E2347F54B6}">
      <dgm:prSet/>
      <dgm:spPr/>
      <dgm:t>
        <a:bodyPr/>
        <a:lstStyle/>
        <a:p>
          <a:endParaRPr lang="en-US" sz="1100"/>
        </a:p>
      </dgm:t>
    </dgm:pt>
    <dgm:pt modelId="{3BFC5D44-E2BF-4B11-832F-9B0430BF8276}">
      <dgm:prSet custT="1"/>
      <dgm:spPr/>
      <dgm:t>
        <a:bodyPr/>
        <a:lstStyle/>
        <a:p>
          <a:r>
            <a:rPr lang="en-US" sz="500" dirty="0"/>
            <a:t>TAP exchange, rating subscriber billing &amp; prepaid charging</a:t>
          </a:r>
        </a:p>
      </dgm:t>
    </dgm:pt>
    <dgm:pt modelId="{5C78E7E7-662D-4E7D-AA92-2AEC7CC640F2}" type="parTrans" cxnId="{BE74604D-8C4E-4E5D-B03D-AA51DB4EBE5C}">
      <dgm:prSet/>
      <dgm:spPr/>
      <dgm:t>
        <a:bodyPr/>
        <a:lstStyle/>
        <a:p>
          <a:endParaRPr lang="en-US" sz="1100"/>
        </a:p>
      </dgm:t>
    </dgm:pt>
    <dgm:pt modelId="{5E18B9C3-6CC7-4380-8A34-43968568867E}" type="sibTrans" cxnId="{BE74604D-8C4E-4E5D-B03D-AA51DB4EBE5C}">
      <dgm:prSet/>
      <dgm:spPr/>
      <dgm:t>
        <a:bodyPr/>
        <a:lstStyle/>
        <a:p>
          <a:endParaRPr lang="en-US" sz="1100"/>
        </a:p>
      </dgm:t>
    </dgm:pt>
    <dgm:pt modelId="{E2B84708-2607-4309-85AE-6D2365B31874}" type="pres">
      <dgm:prSet presAssocID="{4033E812-348D-41F6-B363-B733FBFB26CB}" presName="Name0" presStyleCnt="0">
        <dgm:presLayoutVars>
          <dgm:dir/>
          <dgm:animLvl val="lvl"/>
          <dgm:resizeHandles val="exact"/>
        </dgm:presLayoutVars>
      </dgm:prSet>
      <dgm:spPr/>
    </dgm:pt>
    <dgm:pt modelId="{2491D83D-F8BF-4653-B332-8EAE52EF83D9}" type="pres">
      <dgm:prSet presAssocID="{9CB7A601-336D-4CD2-B0C7-B9B6CDC9B0B7}" presName="vertFlow" presStyleCnt="0"/>
      <dgm:spPr/>
    </dgm:pt>
    <dgm:pt modelId="{48FB2631-CA29-4D80-93BC-712AC19C0A16}" type="pres">
      <dgm:prSet presAssocID="{9CB7A601-336D-4CD2-B0C7-B9B6CDC9B0B7}" presName="header" presStyleLbl="node1" presStyleIdx="0" presStyleCnt="4" custScaleY="258017"/>
      <dgm:spPr/>
    </dgm:pt>
    <dgm:pt modelId="{DFA6BDD3-42BF-4445-A619-DED58BE07B9C}" type="pres">
      <dgm:prSet presAssocID="{73E04AA5-0949-4E43-82D4-B899EC2157FC}" presName="parTrans" presStyleLbl="sibTrans2D1" presStyleIdx="0" presStyleCnt="4"/>
      <dgm:spPr/>
    </dgm:pt>
    <dgm:pt modelId="{4AB40256-2086-4D33-93CA-628163134BB9}" type="pres">
      <dgm:prSet presAssocID="{740F560E-4D25-4CE7-8C92-FD0575857565}" presName="child" presStyleLbl="alignAccFollowNode1" presStyleIdx="0" presStyleCnt="4" custScaleY="164853">
        <dgm:presLayoutVars>
          <dgm:chMax val="0"/>
          <dgm:bulletEnabled val="1"/>
        </dgm:presLayoutVars>
      </dgm:prSet>
      <dgm:spPr/>
    </dgm:pt>
    <dgm:pt modelId="{94104413-FC9B-405B-96DC-2BAB380DBDA8}" type="pres">
      <dgm:prSet presAssocID="{9CB7A601-336D-4CD2-B0C7-B9B6CDC9B0B7}" presName="hSp" presStyleCnt="0"/>
      <dgm:spPr/>
    </dgm:pt>
    <dgm:pt modelId="{D2F8C529-EF3A-4FA1-8A54-116A60812DDD}" type="pres">
      <dgm:prSet presAssocID="{9FE779B5-E253-4A91-96B1-90A07DCCB89A}" presName="vertFlow" presStyleCnt="0"/>
      <dgm:spPr/>
    </dgm:pt>
    <dgm:pt modelId="{B2534B75-C139-4466-B4DC-BCD2328C0E86}" type="pres">
      <dgm:prSet presAssocID="{9FE779B5-E253-4A91-96B1-90A07DCCB89A}" presName="header" presStyleLbl="node1" presStyleIdx="1" presStyleCnt="4" custScaleY="258017"/>
      <dgm:spPr/>
    </dgm:pt>
    <dgm:pt modelId="{4ED27C60-9035-43E8-A4F1-808F0338CEAC}" type="pres">
      <dgm:prSet presAssocID="{D97E3640-E308-465F-817E-CAC228463378}" presName="parTrans" presStyleLbl="sibTrans2D1" presStyleIdx="1" presStyleCnt="4"/>
      <dgm:spPr/>
    </dgm:pt>
    <dgm:pt modelId="{ECFECD9E-375C-4211-BED3-16D628659756}" type="pres">
      <dgm:prSet presAssocID="{6D331453-7CA4-4536-851B-4F32A48CF778}" presName="child" presStyleLbl="alignAccFollowNode1" presStyleIdx="1" presStyleCnt="4" custScaleY="164853">
        <dgm:presLayoutVars>
          <dgm:chMax val="0"/>
          <dgm:bulletEnabled val="1"/>
        </dgm:presLayoutVars>
      </dgm:prSet>
      <dgm:spPr/>
    </dgm:pt>
    <dgm:pt modelId="{A03DA2B4-1672-45B7-B13F-F678BD53D192}" type="pres">
      <dgm:prSet presAssocID="{9FE779B5-E253-4A91-96B1-90A07DCCB89A}" presName="hSp" presStyleCnt="0"/>
      <dgm:spPr/>
    </dgm:pt>
    <dgm:pt modelId="{F487EE68-8CEE-43B4-BA6F-989FAA235C96}" type="pres">
      <dgm:prSet presAssocID="{6953F76B-AC07-4003-95B8-889BD81F1FCA}" presName="vertFlow" presStyleCnt="0"/>
      <dgm:spPr/>
    </dgm:pt>
    <dgm:pt modelId="{AACC7CDB-211A-4318-9248-FAF5013ED5DE}" type="pres">
      <dgm:prSet presAssocID="{6953F76B-AC07-4003-95B8-889BD81F1FCA}" presName="header" presStyleLbl="node1" presStyleIdx="2" presStyleCnt="4" custScaleY="258017"/>
      <dgm:spPr/>
    </dgm:pt>
    <dgm:pt modelId="{5E10FB02-320F-431D-B666-AECEF32B1859}" type="pres">
      <dgm:prSet presAssocID="{4FEAE115-1F5A-44C0-971A-766F4D2BF1A9}" presName="parTrans" presStyleLbl="sibTrans2D1" presStyleIdx="2" presStyleCnt="4"/>
      <dgm:spPr/>
    </dgm:pt>
    <dgm:pt modelId="{F8E9AF90-74D6-4CB6-A57B-9E958E3B9B89}" type="pres">
      <dgm:prSet presAssocID="{1445A153-A546-4C2B-9713-F02A1341FECB}" presName="child" presStyleLbl="alignAccFollowNode1" presStyleIdx="2" presStyleCnt="4" custScaleY="164853">
        <dgm:presLayoutVars>
          <dgm:chMax val="0"/>
          <dgm:bulletEnabled val="1"/>
        </dgm:presLayoutVars>
      </dgm:prSet>
      <dgm:spPr/>
    </dgm:pt>
    <dgm:pt modelId="{74B2746A-38ED-42F8-9FC4-4E8DE1F341E0}" type="pres">
      <dgm:prSet presAssocID="{6953F76B-AC07-4003-95B8-889BD81F1FCA}" presName="hSp" presStyleCnt="0"/>
      <dgm:spPr/>
    </dgm:pt>
    <dgm:pt modelId="{F0BEA512-297E-4A1D-B460-CD6A749A9D62}" type="pres">
      <dgm:prSet presAssocID="{302903CA-36C0-48B7-B18B-698A6EBF3BD6}" presName="vertFlow" presStyleCnt="0"/>
      <dgm:spPr/>
    </dgm:pt>
    <dgm:pt modelId="{199449A2-40A5-47A6-B902-CA30FDAF79D5}" type="pres">
      <dgm:prSet presAssocID="{302903CA-36C0-48B7-B18B-698A6EBF3BD6}" presName="header" presStyleLbl="node1" presStyleIdx="3" presStyleCnt="4" custScaleY="258017"/>
      <dgm:spPr/>
    </dgm:pt>
    <dgm:pt modelId="{46A9DAD1-10FA-4448-BB21-D749B091FD05}" type="pres">
      <dgm:prSet presAssocID="{5C78E7E7-662D-4E7D-AA92-2AEC7CC640F2}" presName="parTrans" presStyleLbl="sibTrans2D1" presStyleIdx="3" presStyleCnt="4"/>
      <dgm:spPr/>
    </dgm:pt>
    <dgm:pt modelId="{4B1FEB3E-A9CD-485C-A677-5DD0A96F684A}" type="pres">
      <dgm:prSet presAssocID="{3BFC5D44-E2BF-4B11-832F-9B0430BF8276}" presName="child" presStyleLbl="alignAccFollowNode1" presStyleIdx="3" presStyleCnt="4" custScaleY="164853">
        <dgm:presLayoutVars>
          <dgm:chMax val="0"/>
          <dgm:bulletEnabled val="1"/>
        </dgm:presLayoutVars>
      </dgm:prSet>
      <dgm:spPr/>
    </dgm:pt>
  </dgm:ptLst>
  <dgm:cxnLst>
    <dgm:cxn modelId="{8899141E-7AA9-4BF1-AB97-4A452B38A83F}" type="presOf" srcId="{740F560E-4D25-4CE7-8C92-FD0575857565}" destId="{4AB40256-2086-4D33-93CA-628163134BB9}" srcOrd="0" destOrd="0" presId="urn:microsoft.com/office/officeart/2005/8/layout/lProcess1"/>
    <dgm:cxn modelId="{C02F6A23-3971-4C0C-8429-64482710A7E1}" srcId="{4033E812-348D-41F6-B363-B733FBFB26CB}" destId="{302903CA-36C0-48B7-B18B-698A6EBF3BD6}" srcOrd="3" destOrd="0" parTransId="{D2815C6B-9747-45CF-9930-E5655F85A570}" sibTransId="{73107EA8-147A-4CAE-B8AA-10EE68C76416}"/>
    <dgm:cxn modelId="{5023DC31-983E-40BD-80AD-768841BC2107}" type="presOf" srcId="{73E04AA5-0949-4E43-82D4-B899EC2157FC}" destId="{DFA6BDD3-42BF-4445-A619-DED58BE07B9C}" srcOrd="0" destOrd="0" presId="urn:microsoft.com/office/officeart/2005/8/layout/lProcess1"/>
    <dgm:cxn modelId="{F655D532-CB41-43AD-AF60-2D94E38A1B60}" type="presOf" srcId="{9FE779B5-E253-4A91-96B1-90A07DCCB89A}" destId="{B2534B75-C139-4466-B4DC-BCD2328C0E86}" srcOrd="0" destOrd="0" presId="urn:microsoft.com/office/officeart/2005/8/layout/lProcess1"/>
    <dgm:cxn modelId="{B0A7A55B-861C-49A1-B453-C2295108D555}" type="presOf" srcId="{5C78E7E7-662D-4E7D-AA92-2AEC7CC640F2}" destId="{46A9DAD1-10FA-4448-BB21-D749B091FD05}" srcOrd="0" destOrd="0" presId="urn:microsoft.com/office/officeart/2005/8/layout/lProcess1"/>
    <dgm:cxn modelId="{0155E35C-6CAC-4594-80A2-B5B1D32D4D96}" type="presOf" srcId="{6D331453-7CA4-4536-851B-4F32A48CF778}" destId="{ECFECD9E-375C-4211-BED3-16D628659756}" srcOrd="0" destOrd="0" presId="urn:microsoft.com/office/officeart/2005/8/layout/lProcess1"/>
    <dgm:cxn modelId="{BE74604D-8C4E-4E5D-B03D-AA51DB4EBE5C}" srcId="{302903CA-36C0-48B7-B18B-698A6EBF3BD6}" destId="{3BFC5D44-E2BF-4B11-832F-9B0430BF8276}" srcOrd="0" destOrd="0" parTransId="{5C78E7E7-662D-4E7D-AA92-2AEC7CC640F2}" sibTransId="{5E18B9C3-6CC7-4380-8A34-43968568867E}"/>
    <dgm:cxn modelId="{D920996D-BA3D-42B1-8DB0-57E2347F54B6}" srcId="{6953F76B-AC07-4003-95B8-889BD81F1FCA}" destId="{1445A153-A546-4C2B-9713-F02A1341FECB}" srcOrd="0" destOrd="0" parTransId="{4FEAE115-1F5A-44C0-971A-766F4D2BF1A9}" sibTransId="{A2B8CD96-A718-4A0A-920A-0CB840A515BB}"/>
    <dgm:cxn modelId="{4A56AC6E-FD79-4C0D-BBBC-4554EB5E0E16}" type="presOf" srcId="{D97E3640-E308-465F-817E-CAC228463378}" destId="{4ED27C60-9035-43E8-A4F1-808F0338CEAC}" srcOrd="0" destOrd="0" presId="urn:microsoft.com/office/officeart/2005/8/layout/lProcess1"/>
    <dgm:cxn modelId="{E0395D6F-476A-49AF-8CA2-0A1053BA2033}" srcId="{4033E812-348D-41F6-B363-B733FBFB26CB}" destId="{6953F76B-AC07-4003-95B8-889BD81F1FCA}" srcOrd="2" destOrd="0" parTransId="{A224E3CB-44AA-49F2-833B-41817D3FCDE9}" sibTransId="{2F47F044-3E03-48FD-BFBB-15D74EFBE880}"/>
    <dgm:cxn modelId="{515E8454-8F73-43E5-A6B8-3693C0D59BFD}" type="presOf" srcId="{302903CA-36C0-48B7-B18B-698A6EBF3BD6}" destId="{199449A2-40A5-47A6-B902-CA30FDAF79D5}" srcOrd="0" destOrd="0" presId="urn:microsoft.com/office/officeart/2005/8/layout/lProcess1"/>
    <dgm:cxn modelId="{58DFBF7C-7EE2-4575-9566-70AC1AB6A98E}" type="presOf" srcId="{3BFC5D44-E2BF-4B11-832F-9B0430BF8276}" destId="{4B1FEB3E-A9CD-485C-A677-5DD0A96F684A}" srcOrd="0" destOrd="0" presId="urn:microsoft.com/office/officeart/2005/8/layout/lProcess1"/>
    <dgm:cxn modelId="{7AF31893-0F43-4451-89DD-5BD8536A781D}" type="presOf" srcId="{4FEAE115-1F5A-44C0-971A-766F4D2BF1A9}" destId="{5E10FB02-320F-431D-B666-AECEF32B1859}" srcOrd="0" destOrd="0" presId="urn:microsoft.com/office/officeart/2005/8/layout/lProcess1"/>
    <dgm:cxn modelId="{0323499C-860B-418F-92B6-5EBE24C3F637}" srcId="{9CB7A601-336D-4CD2-B0C7-B9B6CDC9B0B7}" destId="{740F560E-4D25-4CE7-8C92-FD0575857565}" srcOrd="0" destOrd="0" parTransId="{73E04AA5-0949-4E43-82D4-B899EC2157FC}" sibTransId="{6EBB22FA-A08C-40D4-AB47-6CD3A99B10DC}"/>
    <dgm:cxn modelId="{FE88E4B0-631F-4BBA-A701-19EA6D6A90F5}" type="presOf" srcId="{1445A153-A546-4C2B-9713-F02A1341FECB}" destId="{F8E9AF90-74D6-4CB6-A57B-9E958E3B9B89}" srcOrd="0" destOrd="0" presId="urn:microsoft.com/office/officeart/2005/8/layout/lProcess1"/>
    <dgm:cxn modelId="{BE3D9BC8-6021-49EF-97D8-88283349490C}" srcId="{4033E812-348D-41F6-B363-B733FBFB26CB}" destId="{9CB7A601-336D-4CD2-B0C7-B9B6CDC9B0B7}" srcOrd="0" destOrd="0" parTransId="{BC89ED06-8DEA-4657-955C-C82562888948}" sibTransId="{35BF0686-BF7E-4FB2-A03F-C35A97C37BCB}"/>
    <dgm:cxn modelId="{D69E7DC9-0B33-471A-B0A2-B99DA8C73696}" srcId="{4033E812-348D-41F6-B363-B733FBFB26CB}" destId="{9FE779B5-E253-4A91-96B1-90A07DCCB89A}" srcOrd="1" destOrd="0" parTransId="{06B77A9B-668E-466B-8CC6-46E989BFCC01}" sibTransId="{8D99165D-604F-4067-9C5C-0D3F7F92887F}"/>
    <dgm:cxn modelId="{8584ABCB-1612-4738-82CA-193866642B55}" type="presOf" srcId="{4033E812-348D-41F6-B363-B733FBFB26CB}" destId="{E2B84708-2607-4309-85AE-6D2365B31874}" srcOrd="0" destOrd="0" presId="urn:microsoft.com/office/officeart/2005/8/layout/lProcess1"/>
    <dgm:cxn modelId="{162C23D8-8EC2-4BBA-9E64-2AB7FCFA18FC}" type="presOf" srcId="{9CB7A601-336D-4CD2-B0C7-B9B6CDC9B0B7}" destId="{48FB2631-CA29-4D80-93BC-712AC19C0A16}" srcOrd="0" destOrd="0" presId="urn:microsoft.com/office/officeart/2005/8/layout/lProcess1"/>
    <dgm:cxn modelId="{DAC8E0E7-2220-403F-9654-D31961D28FF4}" type="presOf" srcId="{6953F76B-AC07-4003-95B8-889BD81F1FCA}" destId="{AACC7CDB-211A-4318-9248-FAF5013ED5DE}" srcOrd="0" destOrd="0" presId="urn:microsoft.com/office/officeart/2005/8/layout/lProcess1"/>
    <dgm:cxn modelId="{8BC351EC-DFC7-4EB9-92DD-7BD6E451D845}" srcId="{9FE779B5-E253-4A91-96B1-90A07DCCB89A}" destId="{6D331453-7CA4-4536-851B-4F32A48CF778}" srcOrd="0" destOrd="0" parTransId="{D97E3640-E308-465F-817E-CAC228463378}" sibTransId="{BA1E22D3-6759-41DE-8FBD-A6A6A01C43C0}"/>
    <dgm:cxn modelId="{8AC963F8-BA8B-4A51-A358-952A29420435}" type="presParOf" srcId="{E2B84708-2607-4309-85AE-6D2365B31874}" destId="{2491D83D-F8BF-4653-B332-8EAE52EF83D9}" srcOrd="0" destOrd="0" presId="urn:microsoft.com/office/officeart/2005/8/layout/lProcess1"/>
    <dgm:cxn modelId="{5E78416F-886C-4B92-B243-78B2C57948EE}" type="presParOf" srcId="{2491D83D-F8BF-4653-B332-8EAE52EF83D9}" destId="{48FB2631-CA29-4D80-93BC-712AC19C0A16}" srcOrd="0" destOrd="0" presId="urn:microsoft.com/office/officeart/2005/8/layout/lProcess1"/>
    <dgm:cxn modelId="{FAAA8E22-776C-4962-8F19-CD5BD3BF52F4}" type="presParOf" srcId="{2491D83D-F8BF-4653-B332-8EAE52EF83D9}" destId="{DFA6BDD3-42BF-4445-A619-DED58BE07B9C}" srcOrd="1" destOrd="0" presId="urn:microsoft.com/office/officeart/2005/8/layout/lProcess1"/>
    <dgm:cxn modelId="{C0C9255F-F7EC-48E6-B55C-FDC3899560E3}" type="presParOf" srcId="{2491D83D-F8BF-4653-B332-8EAE52EF83D9}" destId="{4AB40256-2086-4D33-93CA-628163134BB9}" srcOrd="2" destOrd="0" presId="urn:microsoft.com/office/officeart/2005/8/layout/lProcess1"/>
    <dgm:cxn modelId="{CE1F1ECB-D311-40FF-89D8-24656A25181A}" type="presParOf" srcId="{E2B84708-2607-4309-85AE-6D2365B31874}" destId="{94104413-FC9B-405B-96DC-2BAB380DBDA8}" srcOrd="1" destOrd="0" presId="urn:microsoft.com/office/officeart/2005/8/layout/lProcess1"/>
    <dgm:cxn modelId="{D4E54F85-7F97-4210-A5F2-19F4A411400F}" type="presParOf" srcId="{E2B84708-2607-4309-85AE-6D2365B31874}" destId="{D2F8C529-EF3A-4FA1-8A54-116A60812DDD}" srcOrd="2" destOrd="0" presId="urn:microsoft.com/office/officeart/2005/8/layout/lProcess1"/>
    <dgm:cxn modelId="{CEB74489-8FBB-47DA-BDEE-231771CE3CFC}" type="presParOf" srcId="{D2F8C529-EF3A-4FA1-8A54-116A60812DDD}" destId="{B2534B75-C139-4466-B4DC-BCD2328C0E86}" srcOrd="0" destOrd="0" presId="urn:microsoft.com/office/officeart/2005/8/layout/lProcess1"/>
    <dgm:cxn modelId="{FE42950B-04A0-4338-A123-4E6E53C7A4FD}" type="presParOf" srcId="{D2F8C529-EF3A-4FA1-8A54-116A60812DDD}" destId="{4ED27C60-9035-43E8-A4F1-808F0338CEAC}" srcOrd="1" destOrd="0" presId="urn:microsoft.com/office/officeart/2005/8/layout/lProcess1"/>
    <dgm:cxn modelId="{83784506-600C-4E70-A9A5-C14BA728A766}" type="presParOf" srcId="{D2F8C529-EF3A-4FA1-8A54-116A60812DDD}" destId="{ECFECD9E-375C-4211-BED3-16D628659756}" srcOrd="2" destOrd="0" presId="urn:microsoft.com/office/officeart/2005/8/layout/lProcess1"/>
    <dgm:cxn modelId="{4B07AE79-218B-43C2-AFCD-ABF876F0DF9C}" type="presParOf" srcId="{E2B84708-2607-4309-85AE-6D2365B31874}" destId="{A03DA2B4-1672-45B7-B13F-F678BD53D192}" srcOrd="3" destOrd="0" presId="urn:microsoft.com/office/officeart/2005/8/layout/lProcess1"/>
    <dgm:cxn modelId="{C321C0B2-4BF7-45B8-AF08-93F6AB049D68}" type="presParOf" srcId="{E2B84708-2607-4309-85AE-6D2365B31874}" destId="{F487EE68-8CEE-43B4-BA6F-989FAA235C96}" srcOrd="4" destOrd="0" presId="urn:microsoft.com/office/officeart/2005/8/layout/lProcess1"/>
    <dgm:cxn modelId="{8824D00E-65B4-40E5-A4A1-A4369E28A5BB}" type="presParOf" srcId="{F487EE68-8CEE-43B4-BA6F-989FAA235C96}" destId="{AACC7CDB-211A-4318-9248-FAF5013ED5DE}" srcOrd="0" destOrd="0" presId="urn:microsoft.com/office/officeart/2005/8/layout/lProcess1"/>
    <dgm:cxn modelId="{406FFFE9-6BB5-4147-910C-D9CB05705681}" type="presParOf" srcId="{F487EE68-8CEE-43B4-BA6F-989FAA235C96}" destId="{5E10FB02-320F-431D-B666-AECEF32B1859}" srcOrd="1" destOrd="0" presId="urn:microsoft.com/office/officeart/2005/8/layout/lProcess1"/>
    <dgm:cxn modelId="{4921E3E1-67A2-41DE-A316-B6307329F1DD}" type="presParOf" srcId="{F487EE68-8CEE-43B4-BA6F-989FAA235C96}" destId="{F8E9AF90-74D6-4CB6-A57B-9E958E3B9B89}" srcOrd="2" destOrd="0" presId="urn:microsoft.com/office/officeart/2005/8/layout/lProcess1"/>
    <dgm:cxn modelId="{3AD80863-2E54-4F0E-8547-D4C460683678}" type="presParOf" srcId="{E2B84708-2607-4309-85AE-6D2365B31874}" destId="{74B2746A-38ED-42F8-9FC4-4E8DE1F341E0}" srcOrd="5" destOrd="0" presId="urn:microsoft.com/office/officeart/2005/8/layout/lProcess1"/>
    <dgm:cxn modelId="{AFB5515F-480C-413E-95E6-2CA9151ED712}" type="presParOf" srcId="{E2B84708-2607-4309-85AE-6D2365B31874}" destId="{F0BEA512-297E-4A1D-B460-CD6A749A9D62}" srcOrd="6" destOrd="0" presId="urn:microsoft.com/office/officeart/2005/8/layout/lProcess1"/>
    <dgm:cxn modelId="{2772FF26-8F3B-483D-B97E-CDE6F6D56675}" type="presParOf" srcId="{F0BEA512-297E-4A1D-B460-CD6A749A9D62}" destId="{199449A2-40A5-47A6-B902-CA30FDAF79D5}" srcOrd="0" destOrd="0" presId="urn:microsoft.com/office/officeart/2005/8/layout/lProcess1"/>
    <dgm:cxn modelId="{A436119C-4B8C-481C-B38E-8592C4E2D3F8}" type="presParOf" srcId="{F0BEA512-297E-4A1D-B460-CD6A749A9D62}" destId="{46A9DAD1-10FA-4448-BB21-D749B091FD05}" srcOrd="1" destOrd="0" presId="urn:microsoft.com/office/officeart/2005/8/layout/lProcess1"/>
    <dgm:cxn modelId="{9FAF8AFC-6474-4A9B-8E4E-C7D0F8AEC632}" type="presParOf" srcId="{F0BEA512-297E-4A1D-B460-CD6A749A9D62}" destId="{4B1FEB3E-A9CD-485C-A677-5DD0A96F684A}" srcOrd="2" destOrd="0" presId="urn:microsoft.com/office/officeart/2005/8/layout/l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033E812-348D-41F6-B363-B733FBFB26CB}" type="doc">
      <dgm:prSet loTypeId="urn:microsoft.com/office/officeart/2005/8/layout/lProcess1" loCatId="process" qsTypeId="urn:microsoft.com/office/officeart/2005/8/quickstyle/simple1" qsCatId="simple" csTypeId="urn:microsoft.com/office/officeart/2005/8/colors/accent1_2" csCatId="accent1" phldr="1"/>
      <dgm:spPr/>
    </dgm:pt>
    <dgm:pt modelId="{9CB7A601-336D-4CD2-B0C7-B9B6CDC9B0B7}">
      <dgm:prSet phldrT="[Text]" custT="1"/>
      <dgm:spPr>
        <a:solidFill>
          <a:schemeClr val="bg1">
            <a:lumMod val="50000"/>
          </a:schemeClr>
        </a:solidFill>
      </dgm:spPr>
      <dgm:t>
        <a:bodyPr/>
        <a:lstStyle/>
        <a:p>
          <a:r>
            <a:rPr lang="en-US" sz="900" dirty="0">
              <a:latin typeface="EYInterstate" pitchFamily="2" charset="0"/>
            </a:rPr>
            <a:t>Commercial Agreement</a:t>
          </a:r>
        </a:p>
      </dgm:t>
    </dgm:pt>
    <dgm:pt modelId="{BC89ED06-8DEA-4657-955C-C82562888948}" type="parTrans" cxnId="{BE3D9BC8-6021-49EF-97D8-88283349490C}">
      <dgm:prSet/>
      <dgm:spPr/>
      <dgm:t>
        <a:bodyPr/>
        <a:lstStyle/>
        <a:p>
          <a:endParaRPr lang="en-US" sz="700">
            <a:latin typeface="EYInterstate" pitchFamily="2" charset="0"/>
          </a:endParaRPr>
        </a:p>
      </dgm:t>
    </dgm:pt>
    <dgm:pt modelId="{35BF0686-BF7E-4FB2-A03F-C35A97C37BCB}" type="sibTrans" cxnId="{BE3D9BC8-6021-49EF-97D8-88283349490C}">
      <dgm:prSet custT="1"/>
      <dgm:spPr/>
      <dgm:t>
        <a:bodyPr/>
        <a:lstStyle/>
        <a:p>
          <a:endParaRPr lang="en-US" sz="800">
            <a:latin typeface="EYInterstate" pitchFamily="2" charset="0"/>
          </a:endParaRPr>
        </a:p>
      </dgm:t>
    </dgm:pt>
    <dgm:pt modelId="{9FE779B5-E253-4A91-96B1-90A07DCCB89A}">
      <dgm:prSet phldrT="[Text]" custT="1"/>
      <dgm:spPr>
        <a:solidFill>
          <a:schemeClr val="bg1">
            <a:lumMod val="50000"/>
          </a:schemeClr>
        </a:solidFill>
      </dgm:spPr>
      <dgm:t>
        <a:bodyPr/>
        <a:lstStyle/>
        <a:p>
          <a:r>
            <a:rPr lang="en-US" sz="900" dirty="0">
              <a:latin typeface="EYInterstate" pitchFamily="2" charset="0"/>
            </a:rPr>
            <a:t>Partner Provisioning</a:t>
          </a:r>
        </a:p>
      </dgm:t>
    </dgm:pt>
    <dgm:pt modelId="{06B77A9B-668E-466B-8CC6-46E989BFCC01}" type="parTrans" cxnId="{D69E7DC9-0B33-471A-B0A2-B99DA8C73696}">
      <dgm:prSet/>
      <dgm:spPr/>
      <dgm:t>
        <a:bodyPr/>
        <a:lstStyle/>
        <a:p>
          <a:endParaRPr lang="en-US" sz="700">
            <a:latin typeface="EYInterstate" pitchFamily="2" charset="0"/>
          </a:endParaRPr>
        </a:p>
      </dgm:t>
    </dgm:pt>
    <dgm:pt modelId="{8D99165D-604F-4067-9C5C-0D3F7F92887F}" type="sibTrans" cxnId="{D69E7DC9-0B33-471A-B0A2-B99DA8C73696}">
      <dgm:prSet custT="1"/>
      <dgm:spPr/>
      <dgm:t>
        <a:bodyPr/>
        <a:lstStyle/>
        <a:p>
          <a:endParaRPr lang="en-US" sz="800">
            <a:latin typeface="EYInterstate" pitchFamily="2" charset="0"/>
          </a:endParaRPr>
        </a:p>
      </dgm:t>
    </dgm:pt>
    <dgm:pt modelId="{6953F76B-AC07-4003-95B8-889BD81F1FCA}">
      <dgm:prSet phldrT="[Text]" custT="1"/>
      <dgm:spPr>
        <a:solidFill>
          <a:srgbClr val="FFC000"/>
        </a:solidFill>
      </dgm:spPr>
      <dgm:t>
        <a:bodyPr/>
        <a:lstStyle/>
        <a:p>
          <a:r>
            <a:rPr lang="en-US" sz="900" dirty="0">
              <a:latin typeface="EYInterstate" pitchFamily="2" charset="0"/>
            </a:rPr>
            <a:t>Subscriber Provisioning</a:t>
          </a:r>
        </a:p>
      </dgm:t>
    </dgm:pt>
    <dgm:pt modelId="{A224E3CB-44AA-49F2-833B-41817D3FCDE9}" type="parTrans" cxnId="{E0395D6F-476A-49AF-8CA2-0A1053BA2033}">
      <dgm:prSet/>
      <dgm:spPr/>
      <dgm:t>
        <a:bodyPr/>
        <a:lstStyle/>
        <a:p>
          <a:endParaRPr lang="en-US" sz="700">
            <a:latin typeface="EYInterstate" pitchFamily="2" charset="0"/>
          </a:endParaRPr>
        </a:p>
      </dgm:t>
    </dgm:pt>
    <dgm:pt modelId="{2F47F044-3E03-48FD-BFBB-15D74EFBE880}" type="sibTrans" cxnId="{E0395D6F-476A-49AF-8CA2-0A1053BA2033}">
      <dgm:prSet custT="1"/>
      <dgm:spPr/>
      <dgm:t>
        <a:bodyPr/>
        <a:lstStyle/>
        <a:p>
          <a:endParaRPr lang="en-US" sz="800">
            <a:latin typeface="EYInterstate" pitchFamily="2" charset="0"/>
          </a:endParaRPr>
        </a:p>
      </dgm:t>
    </dgm:pt>
    <dgm:pt modelId="{302903CA-36C0-48B7-B18B-698A6EBF3BD6}">
      <dgm:prSet custT="1"/>
      <dgm:spPr/>
      <dgm:t>
        <a:bodyPr/>
        <a:lstStyle/>
        <a:p>
          <a:r>
            <a:rPr lang="en-US" sz="900" dirty="0">
              <a:latin typeface="EYInterstate" pitchFamily="2" charset="0"/>
            </a:rPr>
            <a:t>Rating &amp; Billing</a:t>
          </a:r>
        </a:p>
      </dgm:t>
    </dgm:pt>
    <dgm:pt modelId="{D2815C6B-9747-45CF-9930-E5655F85A570}" type="parTrans" cxnId="{C02F6A23-3971-4C0C-8429-64482710A7E1}">
      <dgm:prSet/>
      <dgm:spPr/>
      <dgm:t>
        <a:bodyPr/>
        <a:lstStyle/>
        <a:p>
          <a:endParaRPr lang="en-US" sz="700">
            <a:latin typeface="EYInterstate" pitchFamily="2" charset="0"/>
          </a:endParaRPr>
        </a:p>
      </dgm:t>
    </dgm:pt>
    <dgm:pt modelId="{73107EA8-147A-4CAE-B8AA-10EE68C76416}" type="sibTrans" cxnId="{C02F6A23-3971-4C0C-8429-64482710A7E1}">
      <dgm:prSet/>
      <dgm:spPr/>
      <dgm:t>
        <a:bodyPr/>
        <a:lstStyle/>
        <a:p>
          <a:endParaRPr lang="en-US" sz="700">
            <a:latin typeface="EYInterstate" pitchFamily="2" charset="0"/>
          </a:endParaRPr>
        </a:p>
      </dgm:t>
    </dgm:pt>
    <dgm:pt modelId="{740F560E-4D25-4CE7-8C92-FD0575857565}">
      <dgm:prSet custT="1"/>
      <dgm:spPr/>
      <dgm:t>
        <a:bodyPr/>
        <a:lstStyle/>
        <a:p>
          <a:r>
            <a:rPr lang="en-US" sz="500" dirty="0"/>
            <a:t>Signing of document like AA12,13, &amp; 14</a:t>
          </a:r>
        </a:p>
      </dgm:t>
    </dgm:pt>
    <dgm:pt modelId="{73E04AA5-0949-4E43-82D4-B899EC2157FC}" type="parTrans" cxnId="{0323499C-860B-418F-92B6-5EBE24C3F637}">
      <dgm:prSet/>
      <dgm:spPr/>
      <dgm:t>
        <a:bodyPr/>
        <a:lstStyle/>
        <a:p>
          <a:endParaRPr lang="en-US" sz="1100"/>
        </a:p>
      </dgm:t>
    </dgm:pt>
    <dgm:pt modelId="{6EBB22FA-A08C-40D4-AB47-6CD3A99B10DC}" type="sibTrans" cxnId="{0323499C-860B-418F-92B6-5EBE24C3F637}">
      <dgm:prSet/>
      <dgm:spPr/>
      <dgm:t>
        <a:bodyPr/>
        <a:lstStyle/>
        <a:p>
          <a:endParaRPr lang="en-US" sz="1100"/>
        </a:p>
      </dgm:t>
    </dgm:pt>
    <dgm:pt modelId="{6D331453-7CA4-4536-851B-4F32A48CF778}">
      <dgm:prSet custT="1"/>
      <dgm:spPr/>
      <dgm:t>
        <a:bodyPr/>
        <a:lstStyle/>
        <a:p>
          <a:r>
            <a:rPr lang="en-US" sz="500" dirty="0"/>
            <a:t>IREG &amp; TADIG Testing</a:t>
          </a:r>
        </a:p>
      </dgm:t>
    </dgm:pt>
    <dgm:pt modelId="{D97E3640-E308-465F-817E-CAC228463378}" type="parTrans" cxnId="{8BC351EC-DFC7-4EB9-92DD-7BD6E451D845}">
      <dgm:prSet/>
      <dgm:spPr/>
      <dgm:t>
        <a:bodyPr/>
        <a:lstStyle/>
        <a:p>
          <a:endParaRPr lang="en-US" sz="1100"/>
        </a:p>
      </dgm:t>
    </dgm:pt>
    <dgm:pt modelId="{BA1E22D3-6759-41DE-8FBD-A6A6A01C43C0}" type="sibTrans" cxnId="{8BC351EC-DFC7-4EB9-92DD-7BD6E451D845}">
      <dgm:prSet/>
      <dgm:spPr/>
      <dgm:t>
        <a:bodyPr/>
        <a:lstStyle/>
        <a:p>
          <a:endParaRPr lang="en-US" sz="1100"/>
        </a:p>
      </dgm:t>
    </dgm:pt>
    <dgm:pt modelId="{1445A153-A546-4C2B-9713-F02A1341FECB}">
      <dgm:prSet custT="1"/>
      <dgm:spPr>
        <a:solidFill>
          <a:srgbClr val="FFC000">
            <a:alpha val="90000"/>
          </a:srgbClr>
        </a:solidFill>
        <a:ln>
          <a:solidFill>
            <a:srgbClr val="FFC000">
              <a:alpha val="90000"/>
            </a:srgbClr>
          </a:solidFill>
        </a:ln>
      </dgm:spPr>
      <dgm:t>
        <a:bodyPr/>
        <a:lstStyle/>
        <a:p>
          <a:r>
            <a:rPr lang="en-US" sz="500" dirty="0"/>
            <a:t>Configuration at HLR ,VLR &amp; IN</a:t>
          </a:r>
        </a:p>
      </dgm:t>
    </dgm:pt>
    <dgm:pt modelId="{4FEAE115-1F5A-44C0-971A-766F4D2BF1A9}" type="parTrans" cxnId="{D920996D-BA3D-42B1-8DB0-57E2347F54B6}">
      <dgm:prSet/>
      <dgm:spPr/>
      <dgm:t>
        <a:bodyPr/>
        <a:lstStyle/>
        <a:p>
          <a:endParaRPr lang="en-US" sz="1100"/>
        </a:p>
      </dgm:t>
    </dgm:pt>
    <dgm:pt modelId="{A2B8CD96-A718-4A0A-920A-0CB840A515BB}" type="sibTrans" cxnId="{D920996D-BA3D-42B1-8DB0-57E2347F54B6}">
      <dgm:prSet/>
      <dgm:spPr/>
      <dgm:t>
        <a:bodyPr/>
        <a:lstStyle/>
        <a:p>
          <a:endParaRPr lang="en-US" sz="1100"/>
        </a:p>
      </dgm:t>
    </dgm:pt>
    <dgm:pt modelId="{3BFC5D44-E2BF-4B11-832F-9B0430BF8276}">
      <dgm:prSet custT="1"/>
      <dgm:spPr/>
      <dgm:t>
        <a:bodyPr/>
        <a:lstStyle/>
        <a:p>
          <a:r>
            <a:rPr lang="en-US" sz="500" dirty="0"/>
            <a:t>TAP exchange, rating subscriber billing &amp; prepaid charging</a:t>
          </a:r>
        </a:p>
      </dgm:t>
    </dgm:pt>
    <dgm:pt modelId="{5C78E7E7-662D-4E7D-AA92-2AEC7CC640F2}" type="parTrans" cxnId="{BE74604D-8C4E-4E5D-B03D-AA51DB4EBE5C}">
      <dgm:prSet/>
      <dgm:spPr/>
      <dgm:t>
        <a:bodyPr/>
        <a:lstStyle/>
        <a:p>
          <a:endParaRPr lang="en-US" sz="1100"/>
        </a:p>
      </dgm:t>
    </dgm:pt>
    <dgm:pt modelId="{5E18B9C3-6CC7-4380-8A34-43968568867E}" type="sibTrans" cxnId="{BE74604D-8C4E-4E5D-B03D-AA51DB4EBE5C}">
      <dgm:prSet/>
      <dgm:spPr/>
      <dgm:t>
        <a:bodyPr/>
        <a:lstStyle/>
        <a:p>
          <a:endParaRPr lang="en-US" sz="1100"/>
        </a:p>
      </dgm:t>
    </dgm:pt>
    <dgm:pt modelId="{E2B84708-2607-4309-85AE-6D2365B31874}" type="pres">
      <dgm:prSet presAssocID="{4033E812-348D-41F6-B363-B733FBFB26CB}" presName="Name0" presStyleCnt="0">
        <dgm:presLayoutVars>
          <dgm:dir/>
          <dgm:animLvl val="lvl"/>
          <dgm:resizeHandles val="exact"/>
        </dgm:presLayoutVars>
      </dgm:prSet>
      <dgm:spPr/>
    </dgm:pt>
    <dgm:pt modelId="{2491D83D-F8BF-4653-B332-8EAE52EF83D9}" type="pres">
      <dgm:prSet presAssocID="{9CB7A601-336D-4CD2-B0C7-B9B6CDC9B0B7}" presName="vertFlow" presStyleCnt="0"/>
      <dgm:spPr/>
    </dgm:pt>
    <dgm:pt modelId="{48FB2631-CA29-4D80-93BC-712AC19C0A16}" type="pres">
      <dgm:prSet presAssocID="{9CB7A601-336D-4CD2-B0C7-B9B6CDC9B0B7}" presName="header" presStyleLbl="node1" presStyleIdx="0" presStyleCnt="4" custScaleY="258017"/>
      <dgm:spPr/>
    </dgm:pt>
    <dgm:pt modelId="{DFA6BDD3-42BF-4445-A619-DED58BE07B9C}" type="pres">
      <dgm:prSet presAssocID="{73E04AA5-0949-4E43-82D4-B899EC2157FC}" presName="parTrans" presStyleLbl="sibTrans2D1" presStyleIdx="0" presStyleCnt="4"/>
      <dgm:spPr/>
    </dgm:pt>
    <dgm:pt modelId="{4AB40256-2086-4D33-93CA-628163134BB9}" type="pres">
      <dgm:prSet presAssocID="{740F560E-4D25-4CE7-8C92-FD0575857565}" presName="child" presStyleLbl="alignAccFollowNode1" presStyleIdx="0" presStyleCnt="4" custScaleY="164853">
        <dgm:presLayoutVars>
          <dgm:chMax val="0"/>
          <dgm:bulletEnabled val="1"/>
        </dgm:presLayoutVars>
      </dgm:prSet>
      <dgm:spPr/>
    </dgm:pt>
    <dgm:pt modelId="{94104413-FC9B-405B-96DC-2BAB380DBDA8}" type="pres">
      <dgm:prSet presAssocID="{9CB7A601-336D-4CD2-B0C7-B9B6CDC9B0B7}" presName="hSp" presStyleCnt="0"/>
      <dgm:spPr/>
    </dgm:pt>
    <dgm:pt modelId="{D2F8C529-EF3A-4FA1-8A54-116A60812DDD}" type="pres">
      <dgm:prSet presAssocID="{9FE779B5-E253-4A91-96B1-90A07DCCB89A}" presName="vertFlow" presStyleCnt="0"/>
      <dgm:spPr/>
    </dgm:pt>
    <dgm:pt modelId="{B2534B75-C139-4466-B4DC-BCD2328C0E86}" type="pres">
      <dgm:prSet presAssocID="{9FE779B5-E253-4A91-96B1-90A07DCCB89A}" presName="header" presStyleLbl="node1" presStyleIdx="1" presStyleCnt="4" custScaleY="258017"/>
      <dgm:spPr/>
    </dgm:pt>
    <dgm:pt modelId="{4ED27C60-9035-43E8-A4F1-808F0338CEAC}" type="pres">
      <dgm:prSet presAssocID="{D97E3640-E308-465F-817E-CAC228463378}" presName="parTrans" presStyleLbl="sibTrans2D1" presStyleIdx="1" presStyleCnt="4"/>
      <dgm:spPr/>
    </dgm:pt>
    <dgm:pt modelId="{ECFECD9E-375C-4211-BED3-16D628659756}" type="pres">
      <dgm:prSet presAssocID="{6D331453-7CA4-4536-851B-4F32A48CF778}" presName="child" presStyleLbl="alignAccFollowNode1" presStyleIdx="1" presStyleCnt="4" custScaleY="164853">
        <dgm:presLayoutVars>
          <dgm:chMax val="0"/>
          <dgm:bulletEnabled val="1"/>
        </dgm:presLayoutVars>
      </dgm:prSet>
      <dgm:spPr/>
    </dgm:pt>
    <dgm:pt modelId="{A03DA2B4-1672-45B7-B13F-F678BD53D192}" type="pres">
      <dgm:prSet presAssocID="{9FE779B5-E253-4A91-96B1-90A07DCCB89A}" presName="hSp" presStyleCnt="0"/>
      <dgm:spPr/>
    </dgm:pt>
    <dgm:pt modelId="{F487EE68-8CEE-43B4-BA6F-989FAA235C96}" type="pres">
      <dgm:prSet presAssocID="{6953F76B-AC07-4003-95B8-889BD81F1FCA}" presName="vertFlow" presStyleCnt="0"/>
      <dgm:spPr/>
    </dgm:pt>
    <dgm:pt modelId="{AACC7CDB-211A-4318-9248-FAF5013ED5DE}" type="pres">
      <dgm:prSet presAssocID="{6953F76B-AC07-4003-95B8-889BD81F1FCA}" presName="header" presStyleLbl="node1" presStyleIdx="2" presStyleCnt="4" custScaleY="258017"/>
      <dgm:spPr/>
    </dgm:pt>
    <dgm:pt modelId="{5E10FB02-320F-431D-B666-AECEF32B1859}" type="pres">
      <dgm:prSet presAssocID="{4FEAE115-1F5A-44C0-971A-766F4D2BF1A9}" presName="parTrans" presStyleLbl="sibTrans2D1" presStyleIdx="2" presStyleCnt="4"/>
      <dgm:spPr/>
    </dgm:pt>
    <dgm:pt modelId="{F8E9AF90-74D6-4CB6-A57B-9E958E3B9B89}" type="pres">
      <dgm:prSet presAssocID="{1445A153-A546-4C2B-9713-F02A1341FECB}" presName="child" presStyleLbl="alignAccFollowNode1" presStyleIdx="2" presStyleCnt="4" custScaleY="164853">
        <dgm:presLayoutVars>
          <dgm:chMax val="0"/>
          <dgm:bulletEnabled val="1"/>
        </dgm:presLayoutVars>
      </dgm:prSet>
      <dgm:spPr/>
    </dgm:pt>
    <dgm:pt modelId="{74B2746A-38ED-42F8-9FC4-4E8DE1F341E0}" type="pres">
      <dgm:prSet presAssocID="{6953F76B-AC07-4003-95B8-889BD81F1FCA}" presName="hSp" presStyleCnt="0"/>
      <dgm:spPr/>
    </dgm:pt>
    <dgm:pt modelId="{F0BEA512-297E-4A1D-B460-CD6A749A9D62}" type="pres">
      <dgm:prSet presAssocID="{302903CA-36C0-48B7-B18B-698A6EBF3BD6}" presName="vertFlow" presStyleCnt="0"/>
      <dgm:spPr/>
    </dgm:pt>
    <dgm:pt modelId="{199449A2-40A5-47A6-B902-CA30FDAF79D5}" type="pres">
      <dgm:prSet presAssocID="{302903CA-36C0-48B7-B18B-698A6EBF3BD6}" presName="header" presStyleLbl="node1" presStyleIdx="3" presStyleCnt="4" custScaleY="258017"/>
      <dgm:spPr/>
    </dgm:pt>
    <dgm:pt modelId="{46A9DAD1-10FA-4448-BB21-D749B091FD05}" type="pres">
      <dgm:prSet presAssocID="{5C78E7E7-662D-4E7D-AA92-2AEC7CC640F2}" presName="parTrans" presStyleLbl="sibTrans2D1" presStyleIdx="3" presStyleCnt="4"/>
      <dgm:spPr/>
    </dgm:pt>
    <dgm:pt modelId="{4B1FEB3E-A9CD-485C-A677-5DD0A96F684A}" type="pres">
      <dgm:prSet presAssocID="{3BFC5D44-E2BF-4B11-832F-9B0430BF8276}" presName="child" presStyleLbl="alignAccFollowNode1" presStyleIdx="3" presStyleCnt="4" custScaleY="164853">
        <dgm:presLayoutVars>
          <dgm:chMax val="0"/>
          <dgm:bulletEnabled val="1"/>
        </dgm:presLayoutVars>
      </dgm:prSet>
      <dgm:spPr/>
    </dgm:pt>
  </dgm:ptLst>
  <dgm:cxnLst>
    <dgm:cxn modelId="{BA87C802-E1EE-4498-8DA9-B101E32D5A5F}" type="presOf" srcId="{3BFC5D44-E2BF-4B11-832F-9B0430BF8276}" destId="{4B1FEB3E-A9CD-485C-A677-5DD0A96F684A}" srcOrd="0" destOrd="0" presId="urn:microsoft.com/office/officeart/2005/8/layout/lProcess1"/>
    <dgm:cxn modelId="{D55DF30E-507B-4FDB-AA15-9B040C14C5AB}" type="presOf" srcId="{73E04AA5-0949-4E43-82D4-B899EC2157FC}" destId="{DFA6BDD3-42BF-4445-A619-DED58BE07B9C}" srcOrd="0" destOrd="0" presId="urn:microsoft.com/office/officeart/2005/8/layout/lProcess1"/>
    <dgm:cxn modelId="{C02F6A23-3971-4C0C-8429-64482710A7E1}" srcId="{4033E812-348D-41F6-B363-B733FBFB26CB}" destId="{302903CA-36C0-48B7-B18B-698A6EBF3BD6}" srcOrd="3" destOrd="0" parTransId="{D2815C6B-9747-45CF-9930-E5655F85A570}" sibTransId="{73107EA8-147A-4CAE-B8AA-10EE68C76416}"/>
    <dgm:cxn modelId="{1790DD37-2417-41EF-9F51-531E0E804086}" type="presOf" srcId="{5C78E7E7-662D-4E7D-AA92-2AEC7CC640F2}" destId="{46A9DAD1-10FA-4448-BB21-D749B091FD05}" srcOrd="0" destOrd="0" presId="urn:microsoft.com/office/officeart/2005/8/layout/lProcess1"/>
    <dgm:cxn modelId="{F2F9C240-87FA-4B8E-B889-62D3496CB25F}" type="presOf" srcId="{4033E812-348D-41F6-B363-B733FBFB26CB}" destId="{E2B84708-2607-4309-85AE-6D2365B31874}" srcOrd="0" destOrd="0" presId="urn:microsoft.com/office/officeart/2005/8/layout/lProcess1"/>
    <dgm:cxn modelId="{CCA2044C-3D4F-4110-8231-D8D01332EA04}" type="presOf" srcId="{9FE779B5-E253-4A91-96B1-90A07DCCB89A}" destId="{B2534B75-C139-4466-B4DC-BCD2328C0E86}" srcOrd="0" destOrd="0" presId="urn:microsoft.com/office/officeart/2005/8/layout/lProcess1"/>
    <dgm:cxn modelId="{BE74604D-8C4E-4E5D-B03D-AA51DB4EBE5C}" srcId="{302903CA-36C0-48B7-B18B-698A6EBF3BD6}" destId="{3BFC5D44-E2BF-4B11-832F-9B0430BF8276}" srcOrd="0" destOrd="0" parTransId="{5C78E7E7-662D-4E7D-AA92-2AEC7CC640F2}" sibTransId="{5E18B9C3-6CC7-4380-8A34-43968568867E}"/>
    <dgm:cxn modelId="{D920996D-BA3D-42B1-8DB0-57E2347F54B6}" srcId="{6953F76B-AC07-4003-95B8-889BD81F1FCA}" destId="{1445A153-A546-4C2B-9713-F02A1341FECB}" srcOrd="0" destOrd="0" parTransId="{4FEAE115-1F5A-44C0-971A-766F4D2BF1A9}" sibTransId="{A2B8CD96-A718-4A0A-920A-0CB840A515BB}"/>
    <dgm:cxn modelId="{96B0EA6D-19AE-43F6-92A9-2A6F25DCC085}" type="presOf" srcId="{6953F76B-AC07-4003-95B8-889BD81F1FCA}" destId="{AACC7CDB-211A-4318-9248-FAF5013ED5DE}" srcOrd="0" destOrd="0" presId="urn:microsoft.com/office/officeart/2005/8/layout/lProcess1"/>
    <dgm:cxn modelId="{E0395D6F-476A-49AF-8CA2-0A1053BA2033}" srcId="{4033E812-348D-41F6-B363-B733FBFB26CB}" destId="{6953F76B-AC07-4003-95B8-889BD81F1FCA}" srcOrd="2" destOrd="0" parTransId="{A224E3CB-44AA-49F2-833B-41817D3FCDE9}" sibTransId="{2F47F044-3E03-48FD-BFBB-15D74EFBE880}"/>
    <dgm:cxn modelId="{B287FC70-C4F5-4CE3-90AE-9F6CBBC8406E}" type="presOf" srcId="{9CB7A601-336D-4CD2-B0C7-B9B6CDC9B0B7}" destId="{48FB2631-CA29-4D80-93BC-712AC19C0A16}" srcOrd="0" destOrd="0" presId="urn:microsoft.com/office/officeart/2005/8/layout/lProcess1"/>
    <dgm:cxn modelId="{A9DF5655-47E5-4C2D-B81A-8F8B923AD2E6}" type="presOf" srcId="{6D331453-7CA4-4536-851B-4F32A48CF778}" destId="{ECFECD9E-375C-4211-BED3-16D628659756}" srcOrd="0" destOrd="0" presId="urn:microsoft.com/office/officeart/2005/8/layout/lProcess1"/>
    <dgm:cxn modelId="{0985A776-B9AA-4300-A46E-75AA211A9F6A}" type="presOf" srcId="{1445A153-A546-4C2B-9713-F02A1341FECB}" destId="{F8E9AF90-74D6-4CB6-A57B-9E958E3B9B89}" srcOrd="0" destOrd="0" presId="urn:microsoft.com/office/officeart/2005/8/layout/lProcess1"/>
    <dgm:cxn modelId="{7D147F7B-7946-4832-965A-DB0C6E4F383B}" type="presOf" srcId="{D97E3640-E308-465F-817E-CAC228463378}" destId="{4ED27C60-9035-43E8-A4F1-808F0338CEAC}" srcOrd="0" destOrd="0" presId="urn:microsoft.com/office/officeart/2005/8/layout/lProcess1"/>
    <dgm:cxn modelId="{0323499C-860B-418F-92B6-5EBE24C3F637}" srcId="{9CB7A601-336D-4CD2-B0C7-B9B6CDC9B0B7}" destId="{740F560E-4D25-4CE7-8C92-FD0575857565}" srcOrd="0" destOrd="0" parTransId="{73E04AA5-0949-4E43-82D4-B899EC2157FC}" sibTransId="{6EBB22FA-A08C-40D4-AB47-6CD3A99B10DC}"/>
    <dgm:cxn modelId="{15C469AC-66AD-45B3-916D-CCAC180A334A}" type="presOf" srcId="{4FEAE115-1F5A-44C0-971A-766F4D2BF1A9}" destId="{5E10FB02-320F-431D-B666-AECEF32B1859}" srcOrd="0" destOrd="0" presId="urn:microsoft.com/office/officeart/2005/8/layout/lProcess1"/>
    <dgm:cxn modelId="{537AFCC1-2C37-44C4-96D0-42874C1E014A}" type="presOf" srcId="{740F560E-4D25-4CE7-8C92-FD0575857565}" destId="{4AB40256-2086-4D33-93CA-628163134BB9}" srcOrd="0" destOrd="0" presId="urn:microsoft.com/office/officeart/2005/8/layout/lProcess1"/>
    <dgm:cxn modelId="{BE3D9BC8-6021-49EF-97D8-88283349490C}" srcId="{4033E812-348D-41F6-B363-B733FBFB26CB}" destId="{9CB7A601-336D-4CD2-B0C7-B9B6CDC9B0B7}" srcOrd="0" destOrd="0" parTransId="{BC89ED06-8DEA-4657-955C-C82562888948}" sibTransId="{35BF0686-BF7E-4FB2-A03F-C35A97C37BCB}"/>
    <dgm:cxn modelId="{D69E7DC9-0B33-471A-B0A2-B99DA8C73696}" srcId="{4033E812-348D-41F6-B363-B733FBFB26CB}" destId="{9FE779B5-E253-4A91-96B1-90A07DCCB89A}" srcOrd="1" destOrd="0" parTransId="{06B77A9B-668E-466B-8CC6-46E989BFCC01}" sibTransId="{8D99165D-604F-4067-9C5C-0D3F7F92887F}"/>
    <dgm:cxn modelId="{8BC351EC-DFC7-4EB9-92DD-7BD6E451D845}" srcId="{9FE779B5-E253-4A91-96B1-90A07DCCB89A}" destId="{6D331453-7CA4-4536-851B-4F32A48CF778}" srcOrd="0" destOrd="0" parTransId="{D97E3640-E308-465F-817E-CAC228463378}" sibTransId="{BA1E22D3-6759-41DE-8FBD-A6A6A01C43C0}"/>
    <dgm:cxn modelId="{D39A32F6-2864-4BB0-AAC0-F86C7DD67E4E}" type="presOf" srcId="{302903CA-36C0-48B7-B18B-698A6EBF3BD6}" destId="{199449A2-40A5-47A6-B902-CA30FDAF79D5}" srcOrd="0" destOrd="0" presId="urn:microsoft.com/office/officeart/2005/8/layout/lProcess1"/>
    <dgm:cxn modelId="{79FA046C-197D-411C-A69C-D14A19E85D79}" type="presParOf" srcId="{E2B84708-2607-4309-85AE-6D2365B31874}" destId="{2491D83D-F8BF-4653-B332-8EAE52EF83D9}" srcOrd="0" destOrd="0" presId="urn:microsoft.com/office/officeart/2005/8/layout/lProcess1"/>
    <dgm:cxn modelId="{BC812DB8-FC57-437C-AB94-3E9754C72721}" type="presParOf" srcId="{2491D83D-F8BF-4653-B332-8EAE52EF83D9}" destId="{48FB2631-CA29-4D80-93BC-712AC19C0A16}" srcOrd="0" destOrd="0" presId="urn:microsoft.com/office/officeart/2005/8/layout/lProcess1"/>
    <dgm:cxn modelId="{65236793-3C48-4F96-BFAE-E6CB402CE01A}" type="presParOf" srcId="{2491D83D-F8BF-4653-B332-8EAE52EF83D9}" destId="{DFA6BDD3-42BF-4445-A619-DED58BE07B9C}" srcOrd="1" destOrd="0" presId="urn:microsoft.com/office/officeart/2005/8/layout/lProcess1"/>
    <dgm:cxn modelId="{DF3B61AD-7FDD-4100-9EBA-F8D93124B349}" type="presParOf" srcId="{2491D83D-F8BF-4653-B332-8EAE52EF83D9}" destId="{4AB40256-2086-4D33-93CA-628163134BB9}" srcOrd="2" destOrd="0" presId="urn:microsoft.com/office/officeart/2005/8/layout/lProcess1"/>
    <dgm:cxn modelId="{21D8F1FC-B014-4A63-B70B-386F8FEB3F3C}" type="presParOf" srcId="{E2B84708-2607-4309-85AE-6D2365B31874}" destId="{94104413-FC9B-405B-96DC-2BAB380DBDA8}" srcOrd="1" destOrd="0" presId="urn:microsoft.com/office/officeart/2005/8/layout/lProcess1"/>
    <dgm:cxn modelId="{101EF501-4793-4099-A4D6-233E3B65D8BC}" type="presParOf" srcId="{E2B84708-2607-4309-85AE-6D2365B31874}" destId="{D2F8C529-EF3A-4FA1-8A54-116A60812DDD}" srcOrd="2" destOrd="0" presId="urn:microsoft.com/office/officeart/2005/8/layout/lProcess1"/>
    <dgm:cxn modelId="{9CE7676F-E928-439A-B2AE-CF7B83699E87}" type="presParOf" srcId="{D2F8C529-EF3A-4FA1-8A54-116A60812DDD}" destId="{B2534B75-C139-4466-B4DC-BCD2328C0E86}" srcOrd="0" destOrd="0" presId="urn:microsoft.com/office/officeart/2005/8/layout/lProcess1"/>
    <dgm:cxn modelId="{07B5365F-106D-4670-85A1-CBD15422F882}" type="presParOf" srcId="{D2F8C529-EF3A-4FA1-8A54-116A60812DDD}" destId="{4ED27C60-9035-43E8-A4F1-808F0338CEAC}" srcOrd="1" destOrd="0" presId="urn:microsoft.com/office/officeart/2005/8/layout/lProcess1"/>
    <dgm:cxn modelId="{9AF76012-D56F-408D-8120-B8A954A3A7D4}" type="presParOf" srcId="{D2F8C529-EF3A-4FA1-8A54-116A60812DDD}" destId="{ECFECD9E-375C-4211-BED3-16D628659756}" srcOrd="2" destOrd="0" presId="urn:microsoft.com/office/officeart/2005/8/layout/lProcess1"/>
    <dgm:cxn modelId="{9ABDB587-4E85-449B-BF62-A375C0BB6C6F}" type="presParOf" srcId="{E2B84708-2607-4309-85AE-6D2365B31874}" destId="{A03DA2B4-1672-45B7-B13F-F678BD53D192}" srcOrd="3" destOrd="0" presId="urn:microsoft.com/office/officeart/2005/8/layout/lProcess1"/>
    <dgm:cxn modelId="{EAF6EC60-3990-4A33-AF50-781B5AA2D69B}" type="presParOf" srcId="{E2B84708-2607-4309-85AE-6D2365B31874}" destId="{F487EE68-8CEE-43B4-BA6F-989FAA235C96}" srcOrd="4" destOrd="0" presId="urn:microsoft.com/office/officeart/2005/8/layout/lProcess1"/>
    <dgm:cxn modelId="{E25A7FA3-848F-4B46-921A-3565D02439ED}" type="presParOf" srcId="{F487EE68-8CEE-43B4-BA6F-989FAA235C96}" destId="{AACC7CDB-211A-4318-9248-FAF5013ED5DE}" srcOrd="0" destOrd="0" presId="urn:microsoft.com/office/officeart/2005/8/layout/lProcess1"/>
    <dgm:cxn modelId="{4D5BF407-0F70-45E7-AC86-A040D307C20C}" type="presParOf" srcId="{F487EE68-8CEE-43B4-BA6F-989FAA235C96}" destId="{5E10FB02-320F-431D-B666-AECEF32B1859}" srcOrd="1" destOrd="0" presId="urn:microsoft.com/office/officeart/2005/8/layout/lProcess1"/>
    <dgm:cxn modelId="{F533AF02-6AE4-4A04-9EB0-524685F6A1F1}" type="presParOf" srcId="{F487EE68-8CEE-43B4-BA6F-989FAA235C96}" destId="{F8E9AF90-74D6-4CB6-A57B-9E958E3B9B89}" srcOrd="2" destOrd="0" presId="urn:microsoft.com/office/officeart/2005/8/layout/lProcess1"/>
    <dgm:cxn modelId="{C685D8A3-D7EB-49E3-B4EE-1E2C3291C090}" type="presParOf" srcId="{E2B84708-2607-4309-85AE-6D2365B31874}" destId="{74B2746A-38ED-42F8-9FC4-4E8DE1F341E0}" srcOrd="5" destOrd="0" presId="urn:microsoft.com/office/officeart/2005/8/layout/lProcess1"/>
    <dgm:cxn modelId="{6BE5F43D-7709-4A91-9D8F-75D129BF7C98}" type="presParOf" srcId="{E2B84708-2607-4309-85AE-6D2365B31874}" destId="{F0BEA512-297E-4A1D-B460-CD6A749A9D62}" srcOrd="6" destOrd="0" presId="urn:microsoft.com/office/officeart/2005/8/layout/lProcess1"/>
    <dgm:cxn modelId="{667DFB08-9717-46DB-8C1B-C594A669A220}" type="presParOf" srcId="{F0BEA512-297E-4A1D-B460-CD6A749A9D62}" destId="{199449A2-40A5-47A6-B902-CA30FDAF79D5}" srcOrd="0" destOrd="0" presId="urn:microsoft.com/office/officeart/2005/8/layout/lProcess1"/>
    <dgm:cxn modelId="{14C910DE-0BB2-4943-A828-EEAEF9315A87}" type="presParOf" srcId="{F0BEA512-297E-4A1D-B460-CD6A749A9D62}" destId="{46A9DAD1-10FA-4448-BB21-D749B091FD05}" srcOrd="1" destOrd="0" presId="urn:microsoft.com/office/officeart/2005/8/layout/lProcess1"/>
    <dgm:cxn modelId="{36B79D8A-1F9A-40AD-B12B-F965A4489993}" type="presParOf" srcId="{F0BEA512-297E-4A1D-B460-CD6A749A9D62}" destId="{4B1FEB3E-A9CD-485C-A677-5DD0A96F684A}" srcOrd="2" destOrd="0" presId="urn:microsoft.com/office/officeart/2005/8/layout/l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4033E812-348D-41F6-B363-B733FBFB26CB}" type="doc">
      <dgm:prSet loTypeId="urn:microsoft.com/office/officeart/2005/8/layout/lProcess1" loCatId="process" qsTypeId="urn:microsoft.com/office/officeart/2005/8/quickstyle/simple1" qsCatId="simple" csTypeId="urn:microsoft.com/office/officeart/2005/8/colors/accent1_2" csCatId="accent1" phldr="1"/>
      <dgm:spPr/>
    </dgm:pt>
    <dgm:pt modelId="{9CB7A601-336D-4CD2-B0C7-B9B6CDC9B0B7}">
      <dgm:prSet phldrT="[Text]" custT="1"/>
      <dgm:spPr>
        <a:solidFill>
          <a:schemeClr val="bg1">
            <a:lumMod val="50000"/>
          </a:schemeClr>
        </a:solidFill>
      </dgm:spPr>
      <dgm:t>
        <a:bodyPr/>
        <a:lstStyle/>
        <a:p>
          <a:r>
            <a:rPr lang="en-US" sz="900" dirty="0">
              <a:latin typeface="EYInterstate" pitchFamily="2" charset="0"/>
            </a:rPr>
            <a:t>Commercial Agreement</a:t>
          </a:r>
        </a:p>
      </dgm:t>
    </dgm:pt>
    <dgm:pt modelId="{BC89ED06-8DEA-4657-955C-C82562888948}" type="parTrans" cxnId="{BE3D9BC8-6021-49EF-97D8-88283349490C}">
      <dgm:prSet/>
      <dgm:spPr/>
      <dgm:t>
        <a:bodyPr/>
        <a:lstStyle/>
        <a:p>
          <a:endParaRPr lang="en-US" sz="700">
            <a:latin typeface="EYInterstate" pitchFamily="2" charset="0"/>
          </a:endParaRPr>
        </a:p>
      </dgm:t>
    </dgm:pt>
    <dgm:pt modelId="{35BF0686-BF7E-4FB2-A03F-C35A97C37BCB}" type="sibTrans" cxnId="{BE3D9BC8-6021-49EF-97D8-88283349490C}">
      <dgm:prSet custT="1"/>
      <dgm:spPr/>
      <dgm:t>
        <a:bodyPr/>
        <a:lstStyle/>
        <a:p>
          <a:endParaRPr lang="en-US" sz="800">
            <a:latin typeface="EYInterstate" pitchFamily="2" charset="0"/>
          </a:endParaRPr>
        </a:p>
      </dgm:t>
    </dgm:pt>
    <dgm:pt modelId="{9FE779B5-E253-4A91-96B1-90A07DCCB89A}">
      <dgm:prSet phldrT="[Text]" custT="1"/>
      <dgm:spPr>
        <a:solidFill>
          <a:schemeClr val="bg1">
            <a:lumMod val="50000"/>
          </a:schemeClr>
        </a:solidFill>
      </dgm:spPr>
      <dgm:t>
        <a:bodyPr/>
        <a:lstStyle/>
        <a:p>
          <a:r>
            <a:rPr lang="en-US" sz="900" dirty="0">
              <a:latin typeface="EYInterstate" pitchFamily="2" charset="0"/>
            </a:rPr>
            <a:t>Partner Provisioning</a:t>
          </a:r>
        </a:p>
      </dgm:t>
    </dgm:pt>
    <dgm:pt modelId="{06B77A9B-668E-466B-8CC6-46E989BFCC01}" type="parTrans" cxnId="{D69E7DC9-0B33-471A-B0A2-B99DA8C73696}">
      <dgm:prSet/>
      <dgm:spPr/>
      <dgm:t>
        <a:bodyPr/>
        <a:lstStyle/>
        <a:p>
          <a:endParaRPr lang="en-US" sz="700">
            <a:latin typeface="EYInterstate" pitchFamily="2" charset="0"/>
          </a:endParaRPr>
        </a:p>
      </dgm:t>
    </dgm:pt>
    <dgm:pt modelId="{8D99165D-604F-4067-9C5C-0D3F7F92887F}" type="sibTrans" cxnId="{D69E7DC9-0B33-471A-B0A2-B99DA8C73696}">
      <dgm:prSet custT="1"/>
      <dgm:spPr/>
      <dgm:t>
        <a:bodyPr/>
        <a:lstStyle/>
        <a:p>
          <a:endParaRPr lang="en-US" sz="800">
            <a:latin typeface="EYInterstate" pitchFamily="2" charset="0"/>
          </a:endParaRPr>
        </a:p>
      </dgm:t>
    </dgm:pt>
    <dgm:pt modelId="{6953F76B-AC07-4003-95B8-889BD81F1FCA}">
      <dgm:prSet phldrT="[Text]" custT="1"/>
      <dgm:spPr>
        <a:solidFill>
          <a:schemeClr val="bg1">
            <a:lumMod val="50000"/>
          </a:schemeClr>
        </a:solidFill>
      </dgm:spPr>
      <dgm:t>
        <a:bodyPr/>
        <a:lstStyle/>
        <a:p>
          <a:r>
            <a:rPr lang="en-US" sz="900" dirty="0">
              <a:latin typeface="EYInterstate" pitchFamily="2" charset="0"/>
            </a:rPr>
            <a:t>Subscriber Provisioning</a:t>
          </a:r>
        </a:p>
      </dgm:t>
    </dgm:pt>
    <dgm:pt modelId="{A224E3CB-44AA-49F2-833B-41817D3FCDE9}" type="parTrans" cxnId="{E0395D6F-476A-49AF-8CA2-0A1053BA2033}">
      <dgm:prSet/>
      <dgm:spPr/>
      <dgm:t>
        <a:bodyPr/>
        <a:lstStyle/>
        <a:p>
          <a:endParaRPr lang="en-US" sz="700">
            <a:latin typeface="EYInterstate" pitchFamily="2" charset="0"/>
          </a:endParaRPr>
        </a:p>
      </dgm:t>
    </dgm:pt>
    <dgm:pt modelId="{2F47F044-3E03-48FD-BFBB-15D74EFBE880}" type="sibTrans" cxnId="{E0395D6F-476A-49AF-8CA2-0A1053BA2033}">
      <dgm:prSet custT="1"/>
      <dgm:spPr/>
      <dgm:t>
        <a:bodyPr/>
        <a:lstStyle/>
        <a:p>
          <a:endParaRPr lang="en-US" sz="800">
            <a:latin typeface="EYInterstate" pitchFamily="2" charset="0"/>
          </a:endParaRPr>
        </a:p>
      </dgm:t>
    </dgm:pt>
    <dgm:pt modelId="{302903CA-36C0-48B7-B18B-698A6EBF3BD6}">
      <dgm:prSet custT="1"/>
      <dgm:spPr>
        <a:solidFill>
          <a:srgbClr val="FFC000"/>
        </a:solidFill>
      </dgm:spPr>
      <dgm:t>
        <a:bodyPr/>
        <a:lstStyle/>
        <a:p>
          <a:r>
            <a:rPr lang="en-US" sz="900" dirty="0">
              <a:latin typeface="EYInterstate" pitchFamily="2" charset="0"/>
            </a:rPr>
            <a:t>Rating &amp; Billing</a:t>
          </a:r>
        </a:p>
      </dgm:t>
    </dgm:pt>
    <dgm:pt modelId="{D2815C6B-9747-45CF-9930-E5655F85A570}" type="parTrans" cxnId="{C02F6A23-3971-4C0C-8429-64482710A7E1}">
      <dgm:prSet/>
      <dgm:spPr/>
      <dgm:t>
        <a:bodyPr/>
        <a:lstStyle/>
        <a:p>
          <a:endParaRPr lang="en-US" sz="700">
            <a:latin typeface="EYInterstate" pitchFamily="2" charset="0"/>
          </a:endParaRPr>
        </a:p>
      </dgm:t>
    </dgm:pt>
    <dgm:pt modelId="{73107EA8-147A-4CAE-B8AA-10EE68C76416}" type="sibTrans" cxnId="{C02F6A23-3971-4C0C-8429-64482710A7E1}">
      <dgm:prSet/>
      <dgm:spPr/>
      <dgm:t>
        <a:bodyPr/>
        <a:lstStyle/>
        <a:p>
          <a:endParaRPr lang="en-US" sz="700">
            <a:latin typeface="EYInterstate" pitchFamily="2" charset="0"/>
          </a:endParaRPr>
        </a:p>
      </dgm:t>
    </dgm:pt>
    <dgm:pt modelId="{740F560E-4D25-4CE7-8C92-FD0575857565}">
      <dgm:prSet custT="1"/>
      <dgm:spPr/>
      <dgm:t>
        <a:bodyPr/>
        <a:lstStyle/>
        <a:p>
          <a:r>
            <a:rPr lang="en-US" sz="500" dirty="0"/>
            <a:t>Signing of document like AA12,13, &amp; 14</a:t>
          </a:r>
        </a:p>
      </dgm:t>
    </dgm:pt>
    <dgm:pt modelId="{73E04AA5-0949-4E43-82D4-B899EC2157FC}" type="parTrans" cxnId="{0323499C-860B-418F-92B6-5EBE24C3F637}">
      <dgm:prSet/>
      <dgm:spPr/>
      <dgm:t>
        <a:bodyPr/>
        <a:lstStyle/>
        <a:p>
          <a:endParaRPr lang="en-US" sz="1100"/>
        </a:p>
      </dgm:t>
    </dgm:pt>
    <dgm:pt modelId="{6EBB22FA-A08C-40D4-AB47-6CD3A99B10DC}" type="sibTrans" cxnId="{0323499C-860B-418F-92B6-5EBE24C3F637}">
      <dgm:prSet/>
      <dgm:spPr/>
      <dgm:t>
        <a:bodyPr/>
        <a:lstStyle/>
        <a:p>
          <a:endParaRPr lang="en-US" sz="1100"/>
        </a:p>
      </dgm:t>
    </dgm:pt>
    <dgm:pt modelId="{6D331453-7CA4-4536-851B-4F32A48CF778}">
      <dgm:prSet custT="1"/>
      <dgm:spPr/>
      <dgm:t>
        <a:bodyPr/>
        <a:lstStyle/>
        <a:p>
          <a:r>
            <a:rPr lang="en-US" sz="500" dirty="0"/>
            <a:t>IREG &amp; TADIG Testing</a:t>
          </a:r>
        </a:p>
      </dgm:t>
    </dgm:pt>
    <dgm:pt modelId="{D97E3640-E308-465F-817E-CAC228463378}" type="parTrans" cxnId="{8BC351EC-DFC7-4EB9-92DD-7BD6E451D845}">
      <dgm:prSet/>
      <dgm:spPr/>
      <dgm:t>
        <a:bodyPr/>
        <a:lstStyle/>
        <a:p>
          <a:endParaRPr lang="en-US" sz="1100"/>
        </a:p>
      </dgm:t>
    </dgm:pt>
    <dgm:pt modelId="{BA1E22D3-6759-41DE-8FBD-A6A6A01C43C0}" type="sibTrans" cxnId="{8BC351EC-DFC7-4EB9-92DD-7BD6E451D845}">
      <dgm:prSet/>
      <dgm:spPr/>
      <dgm:t>
        <a:bodyPr/>
        <a:lstStyle/>
        <a:p>
          <a:endParaRPr lang="en-US" sz="1100"/>
        </a:p>
      </dgm:t>
    </dgm:pt>
    <dgm:pt modelId="{1445A153-A546-4C2B-9713-F02A1341FECB}">
      <dgm:prSet custT="1"/>
      <dgm:spPr>
        <a:solidFill>
          <a:schemeClr val="bg1">
            <a:lumMod val="50000"/>
            <a:alpha val="90000"/>
          </a:schemeClr>
        </a:solidFill>
        <a:ln>
          <a:solidFill>
            <a:schemeClr val="bg1">
              <a:lumMod val="50000"/>
              <a:alpha val="90000"/>
            </a:schemeClr>
          </a:solidFill>
        </a:ln>
      </dgm:spPr>
      <dgm:t>
        <a:bodyPr/>
        <a:lstStyle/>
        <a:p>
          <a:r>
            <a:rPr lang="en-US" sz="500" dirty="0"/>
            <a:t>Configuration at HLR ,VLR &amp; IN</a:t>
          </a:r>
        </a:p>
      </dgm:t>
    </dgm:pt>
    <dgm:pt modelId="{4FEAE115-1F5A-44C0-971A-766F4D2BF1A9}" type="parTrans" cxnId="{D920996D-BA3D-42B1-8DB0-57E2347F54B6}">
      <dgm:prSet/>
      <dgm:spPr/>
      <dgm:t>
        <a:bodyPr/>
        <a:lstStyle/>
        <a:p>
          <a:endParaRPr lang="en-US" sz="1100"/>
        </a:p>
      </dgm:t>
    </dgm:pt>
    <dgm:pt modelId="{A2B8CD96-A718-4A0A-920A-0CB840A515BB}" type="sibTrans" cxnId="{D920996D-BA3D-42B1-8DB0-57E2347F54B6}">
      <dgm:prSet/>
      <dgm:spPr/>
      <dgm:t>
        <a:bodyPr/>
        <a:lstStyle/>
        <a:p>
          <a:endParaRPr lang="en-US" sz="1100"/>
        </a:p>
      </dgm:t>
    </dgm:pt>
    <dgm:pt modelId="{3BFC5D44-E2BF-4B11-832F-9B0430BF8276}">
      <dgm:prSet custT="1"/>
      <dgm:spPr>
        <a:solidFill>
          <a:srgbClr val="FFC000">
            <a:alpha val="90000"/>
          </a:srgbClr>
        </a:solidFill>
        <a:ln>
          <a:solidFill>
            <a:srgbClr val="FFC000">
              <a:alpha val="90000"/>
            </a:srgbClr>
          </a:solidFill>
        </a:ln>
      </dgm:spPr>
      <dgm:t>
        <a:bodyPr/>
        <a:lstStyle/>
        <a:p>
          <a:r>
            <a:rPr lang="en-US" sz="500" dirty="0"/>
            <a:t>TAP exchange, rating subscriber billing &amp; prepaid charging</a:t>
          </a:r>
        </a:p>
      </dgm:t>
    </dgm:pt>
    <dgm:pt modelId="{5C78E7E7-662D-4E7D-AA92-2AEC7CC640F2}" type="parTrans" cxnId="{BE74604D-8C4E-4E5D-B03D-AA51DB4EBE5C}">
      <dgm:prSet/>
      <dgm:spPr/>
      <dgm:t>
        <a:bodyPr/>
        <a:lstStyle/>
        <a:p>
          <a:endParaRPr lang="en-US" sz="1100"/>
        </a:p>
      </dgm:t>
    </dgm:pt>
    <dgm:pt modelId="{5E18B9C3-6CC7-4380-8A34-43968568867E}" type="sibTrans" cxnId="{BE74604D-8C4E-4E5D-B03D-AA51DB4EBE5C}">
      <dgm:prSet/>
      <dgm:spPr/>
      <dgm:t>
        <a:bodyPr/>
        <a:lstStyle/>
        <a:p>
          <a:endParaRPr lang="en-US" sz="1100"/>
        </a:p>
      </dgm:t>
    </dgm:pt>
    <dgm:pt modelId="{E2B84708-2607-4309-85AE-6D2365B31874}" type="pres">
      <dgm:prSet presAssocID="{4033E812-348D-41F6-B363-B733FBFB26CB}" presName="Name0" presStyleCnt="0">
        <dgm:presLayoutVars>
          <dgm:dir/>
          <dgm:animLvl val="lvl"/>
          <dgm:resizeHandles val="exact"/>
        </dgm:presLayoutVars>
      </dgm:prSet>
      <dgm:spPr/>
    </dgm:pt>
    <dgm:pt modelId="{2491D83D-F8BF-4653-B332-8EAE52EF83D9}" type="pres">
      <dgm:prSet presAssocID="{9CB7A601-336D-4CD2-B0C7-B9B6CDC9B0B7}" presName="vertFlow" presStyleCnt="0"/>
      <dgm:spPr/>
    </dgm:pt>
    <dgm:pt modelId="{48FB2631-CA29-4D80-93BC-712AC19C0A16}" type="pres">
      <dgm:prSet presAssocID="{9CB7A601-336D-4CD2-B0C7-B9B6CDC9B0B7}" presName="header" presStyleLbl="node1" presStyleIdx="0" presStyleCnt="4" custScaleY="258017"/>
      <dgm:spPr/>
    </dgm:pt>
    <dgm:pt modelId="{DFA6BDD3-42BF-4445-A619-DED58BE07B9C}" type="pres">
      <dgm:prSet presAssocID="{73E04AA5-0949-4E43-82D4-B899EC2157FC}" presName="parTrans" presStyleLbl="sibTrans2D1" presStyleIdx="0" presStyleCnt="4"/>
      <dgm:spPr/>
    </dgm:pt>
    <dgm:pt modelId="{4AB40256-2086-4D33-93CA-628163134BB9}" type="pres">
      <dgm:prSet presAssocID="{740F560E-4D25-4CE7-8C92-FD0575857565}" presName="child" presStyleLbl="alignAccFollowNode1" presStyleIdx="0" presStyleCnt="4" custScaleY="164853">
        <dgm:presLayoutVars>
          <dgm:chMax val="0"/>
          <dgm:bulletEnabled val="1"/>
        </dgm:presLayoutVars>
      </dgm:prSet>
      <dgm:spPr/>
    </dgm:pt>
    <dgm:pt modelId="{94104413-FC9B-405B-96DC-2BAB380DBDA8}" type="pres">
      <dgm:prSet presAssocID="{9CB7A601-336D-4CD2-B0C7-B9B6CDC9B0B7}" presName="hSp" presStyleCnt="0"/>
      <dgm:spPr/>
    </dgm:pt>
    <dgm:pt modelId="{D2F8C529-EF3A-4FA1-8A54-116A60812DDD}" type="pres">
      <dgm:prSet presAssocID="{9FE779B5-E253-4A91-96B1-90A07DCCB89A}" presName="vertFlow" presStyleCnt="0"/>
      <dgm:spPr/>
    </dgm:pt>
    <dgm:pt modelId="{B2534B75-C139-4466-B4DC-BCD2328C0E86}" type="pres">
      <dgm:prSet presAssocID="{9FE779B5-E253-4A91-96B1-90A07DCCB89A}" presName="header" presStyleLbl="node1" presStyleIdx="1" presStyleCnt="4" custScaleY="258017"/>
      <dgm:spPr/>
    </dgm:pt>
    <dgm:pt modelId="{4ED27C60-9035-43E8-A4F1-808F0338CEAC}" type="pres">
      <dgm:prSet presAssocID="{D97E3640-E308-465F-817E-CAC228463378}" presName="parTrans" presStyleLbl="sibTrans2D1" presStyleIdx="1" presStyleCnt="4"/>
      <dgm:spPr/>
    </dgm:pt>
    <dgm:pt modelId="{ECFECD9E-375C-4211-BED3-16D628659756}" type="pres">
      <dgm:prSet presAssocID="{6D331453-7CA4-4536-851B-4F32A48CF778}" presName="child" presStyleLbl="alignAccFollowNode1" presStyleIdx="1" presStyleCnt="4" custScaleY="164853">
        <dgm:presLayoutVars>
          <dgm:chMax val="0"/>
          <dgm:bulletEnabled val="1"/>
        </dgm:presLayoutVars>
      </dgm:prSet>
      <dgm:spPr/>
    </dgm:pt>
    <dgm:pt modelId="{A03DA2B4-1672-45B7-B13F-F678BD53D192}" type="pres">
      <dgm:prSet presAssocID="{9FE779B5-E253-4A91-96B1-90A07DCCB89A}" presName="hSp" presStyleCnt="0"/>
      <dgm:spPr/>
    </dgm:pt>
    <dgm:pt modelId="{F487EE68-8CEE-43B4-BA6F-989FAA235C96}" type="pres">
      <dgm:prSet presAssocID="{6953F76B-AC07-4003-95B8-889BD81F1FCA}" presName="vertFlow" presStyleCnt="0"/>
      <dgm:spPr/>
    </dgm:pt>
    <dgm:pt modelId="{AACC7CDB-211A-4318-9248-FAF5013ED5DE}" type="pres">
      <dgm:prSet presAssocID="{6953F76B-AC07-4003-95B8-889BD81F1FCA}" presName="header" presStyleLbl="node1" presStyleIdx="2" presStyleCnt="4" custScaleY="258017"/>
      <dgm:spPr/>
    </dgm:pt>
    <dgm:pt modelId="{5E10FB02-320F-431D-B666-AECEF32B1859}" type="pres">
      <dgm:prSet presAssocID="{4FEAE115-1F5A-44C0-971A-766F4D2BF1A9}" presName="parTrans" presStyleLbl="sibTrans2D1" presStyleIdx="2" presStyleCnt="4"/>
      <dgm:spPr/>
    </dgm:pt>
    <dgm:pt modelId="{F8E9AF90-74D6-4CB6-A57B-9E958E3B9B89}" type="pres">
      <dgm:prSet presAssocID="{1445A153-A546-4C2B-9713-F02A1341FECB}" presName="child" presStyleLbl="alignAccFollowNode1" presStyleIdx="2" presStyleCnt="4" custScaleY="164853">
        <dgm:presLayoutVars>
          <dgm:chMax val="0"/>
          <dgm:bulletEnabled val="1"/>
        </dgm:presLayoutVars>
      </dgm:prSet>
      <dgm:spPr/>
    </dgm:pt>
    <dgm:pt modelId="{74B2746A-38ED-42F8-9FC4-4E8DE1F341E0}" type="pres">
      <dgm:prSet presAssocID="{6953F76B-AC07-4003-95B8-889BD81F1FCA}" presName="hSp" presStyleCnt="0"/>
      <dgm:spPr/>
    </dgm:pt>
    <dgm:pt modelId="{F0BEA512-297E-4A1D-B460-CD6A749A9D62}" type="pres">
      <dgm:prSet presAssocID="{302903CA-36C0-48B7-B18B-698A6EBF3BD6}" presName="vertFlow" presStyleCnt="0"/>
      <dgm:spPr/>
    </dgm:pt>
    <dgm:pt modelId="{199449A2-40A5-47A6-B902-CA30FDAF79D5}" type="pres">
      <dgm:prSet presAssocID="{302903CA-36C0-48B7-B18B-698A6EBF3BD6}" presName="header" presStyleLbl="node1" presStyleIdx="3" presStyleCnt="4" custScaleY="258017"/>
      <dgm:spPr/>
    </dgm:pt>
    <dgm:pt modelId="{46A9DAD1-10FA-4448-BB21-D749B091FD05}" type="pres">
      <dgm:prSet presAssocID="{5C78E7E7-662D-4E7D-AA92-2AEC7CC640F2}" presName="parTrans" presStyleLbl="sibTrans2D1" presStyleIdx="3" presStyleCnt="4"/>
      <dgm:spPr/>
    </dgm:pt>
    <dgm:pt modelId="{4B1FEB3E-A9CD-485C-A677-5DD0A96F684A}" type="pres">
      <dgm:prSet presAssocID="{3BFC5D44-E2BF-4B11-832F-9B0430BF8276}" presName="child" presStyleLbl="alignAccFollowNode1" presStyleIdx="3" presStyleCnt="4" custScaleY="164853">
        <dgm:presLayoutVars>
          <dgm:chMax val="0"/>
          <dgm:bulletEnabled val="1"/>
        </dgm:presLayoutVars>
      </dgm:prSet>
      <dgm:spPr/>
    </dgm:pt>
  </dgm:ptLst>
  <dgm:cxnLst>
    <dgm:cxn modelId="{0F71C102-271F-41FE-8703-2D3461A8B10B}" type="presOf" srcId="{4FEAE115-1F5A-44C0-971A-766F4D2BF1A9}" destId="{5E10FB02-320F-431D-B666-AECEF32B1859}" srcOrd="0" destOrd="0" presId="urn:microsoft.com/office/officeart/2005/8/layout/lProcess1"/>
    <dgm:cxn modelId="{FEED910C-9E1E-440A-B65D-A3376565F50A}" type="presOf" srcId="{6D331453-7CA4-4536-851B-4F32A48CF778}" destId="{ECFECD9E-375C-4211-BED3-16D628659756}" srcOrd="0" destOrd="0" presId="urn:microsoft.com/office/officeart/2005/8/layout/lProcess1"/>
    <dgm:cxn modelId="{B4E74919-376B-47C0-BFC7-539568802CA4}" type="presOf" srcId="{5C78E7E7-662D-4E7D-AA92-2AEC7CC640F2}" destId="{46A9DAD1-10FA-4448-BB21-D749B091FD05}" srcOrd="0" destOrd="0" presId="urn:microsoft.com/office/officeart/2005/8/layout/lProcess1"/>
    <dgm:cxn modelId="{C02F6A23-3971-4C0C-8429-64482710A7E1}" srcId="{4033E812-348D-41F6-B363-B733FBFB26CB}" destId="{302903CA-36C0-48B7-B18B-698A6EBF3BD6}" srcOrd="3" destOrd="0" parTransId="{D2815C6B-9747-45CF-9930-E5655F85A570}" sibTransId="{73107EA8-147A-4CAE-B8AA-10EE68C76416}"/>
    <dgm:cxn modelId="{4A6AFD27-92FA-4775-9215-026668BDE254}" type="presOf" srcId="{3BFC5D44-E2BF-4B11-832F-9B0430BF8276}" destId="{4B1FEB3E-A9CD-485C-A677-5DD0A96F684A}" srcOrd="0" destOrd="0" presId="urn:microsoft.com/office/officeart/2005/8/layout/lProcess1"/>
    <dgm:cxn modelId="{CCDB603C-173D-44B1-8D35-07C88D5D19C5}" type="presOf" srcId="{9FE779B5-E253-4A91-96B1-90A07DCCB89A}" destId="{B2534B75-C139-4466-B4DC-BCD2328C0E86}" srcOrd="0" destOrd="0" presId="urn:microsoft.com/office/officeart/2005/8/layout/lProcess1"/>
    <dgm:cxn modelId="{91ADE840-51B3-4E1A-B9E0-C0BA58FC3B0F}" type="presOf" srcId="{1445A153-A546-4C2B-9713-F02A1341FECB}" destId="{F8E9AF90-74D6-4CB6-A57B-9E958E3B9B89}" srcOrd="0" destOrd="0" presId="urn:microsoft.com/office/officeart/2005/8/layout/lProcess1"/>
    <dgm:cxn modelId="{BE74604D-8C4E-4E5D-B03D-AA51DB4EBE5C}" srcId="{302903CA-36C0-48B7-B18B-698A6EBF3BD6}" destId="{3BFC5D44-E2BF-4B11-832F-9B0430BF8276}" srcOrd="0" destOrd="0" parTransId="{5C78E7E7-662D-4E7D-AA92-2AEC7CC640F2}" sibTransId="{5E18B9C3-6CC7-4380-8A34-43968568867E}"/>
    <dgm:cxn modelId="{D920996D-BA3D-42B1-8DB0-57E2347F54B6}" srcId="{6953F76B-AC07-4003-95B8-889BD81F1FCA}" destId="{1445A153-A546-4C2B-9713-F02A1341FECB}" srcOrd="0" destOrd="0" parTransId="{4FEAE115-1F5A-44C0-971A-766F4D2BF1A9}" sibTransId="{A2B8CD96-A718-4A0A-920A-0CB840A515BB}"/>
    <dgm:cxn modelId="{E0395D6F-476A-49AF-8CA2-0A1053BA2033}" srcId="{4033E812-348D-41F6-B363-B733FBFB26CB}" destId="{6953F76B-AC07-4003-95B8-889BD81F1FCA}" srcOrd="2" destOrd="0" parTransId="{A224E3CB-44AA-49F2-833B-41817D3FCDE9}" sibTransId="{2F47F044-3E03-48FD-BFBB-15D74EFBE880}"/>
    <dgm:cxn modelId="{AA975750-AF3E-40E3-B4C2-BD7D670C2F5C}" type="presOf" srcId="{302903CA-36C0-48B7-B18B-698A6EBF3BD6}" destId="{199449A2-40A5-47A6-B902-CA30FDAF79D5}" srcOrd="0" destOrd="0" presId="urn:microsoft.com/office/officeart/2005/8/layout/lProcess1"/>
    <dgm:cxn modelId="{DB724871-6E0B-4D2E-96D3-581799814129}" type="presOf" srcId="{9CB7A601-336D-4CD2-B0C7-B9B6CDC9B0B7}" destId="{48FB2631-CA29-4D80-93BC-712AC19C0A16}" srcOrd="0" destOrd="0" presId="urn:microsoft.com/office/officeart/2005/8/layout/lProcess1"/>
    <dgm:cxn modelId="{3FBCA55A-ED48-4F4A-A4F4-7411B95C3FB5}" type="presOf" srcId="{4033E812-348D-41F6-B363-B733FBFB26CB}" destId="{E2B84708-2607-4309-85AE-6D2365B31874}" srcOrd="0" destOrd="0" presId="urn:microsoft.com/office/officeart/2005/8/layout/lProcess1"/>
    <dgm:cxn modelId="{4DEF177B-5C24-4B80-8803-E889DFA2C28F}" type="presOf" srcId="{740F560E-4D25-4CE7-8C92-FD0575857565}" destId="{4AB40256-2086-4D33-93CA-628163134BB9}" srcOrd="0" destOrd="0" presId="urn:microsoft.com/office/officeart/2005/8/layout/lProcess1"/>
    <dgm:cxn modelId="{0323499C-860B-418F-92B6-5EBE24C3F637}" srcId="{9CB7A601-336D-4CD2-B0C7-B9B6CDC9B0B7}" destId="{740F560E-4D25-4CE7-8C92-FD0575857565}" srcOrd="0" destOrd="0" parTransId="{73E04AA5-0949-4E43-82D4-B899EC2157FC}" sibTransId="{6EBB22FA-A08C-40D4-AB47-6CD3A99B10DC}"/>
    <dgm:cxn modelId="{61BD3FC1-CF17-4580-9DC7-71B452B8BE99}" type="presOf" srcId="{D97E3640-E308-465F-817E-CAC228463378}" destId="{4ED27C60-9035-43E8-A4F1-808F0338CEAC}" srcOrd="0" destOrd="0" presId="urn:microsoft.com/office/officeart/2005/8/layout/lProcess1"/>
    <dgm:cxn modelId="{BE3D9BC8-6021-49EF-97D8-88283349490C}" srcId="{4033E812-348D-41F6-B363-B733FBFB26CB}" destId="{9CB7A601-336D-4CD2-B0C7-B9B6CDC9B0B7}" srcOrd="0" destOrd="0" parTransId="{BC89ED06-8DEA-4657-955C-C82562888948}" sibTransId="{35BF0686-BF7E-4FB2-A03F-C35A97C37BCB}"/>
    <dgm:cxn modelId="{D69E7DC9-0B33-471A-B0A2-B99DA8C73696}" srcId="{4033E812-348D-41F6-B363-B733FBFB26CB}" destId="{9FE779B5-E253-4A91-96B1-90A07DCCB89A}" srcOrd="1" destOrd="0" parTransId="{06B77A9B-668E-466B-8CC6-46E989BFCC01}" sibTransId="{8D99165D-604F-4067-9C5C-0D3F7F92887F}"/>
    <dgm:cxn modelId="{599F40D4-5941-4023-BF72-80B2B1EAD5F7}" type="presOf" srcId="{6953F76B-AC07-4003-95B8-889BD81F1FCA}" destId="{AACC7CDB-211A-4318-9248-FAF5013ED5DE}" srcOrd="0" destOrd="0" presId="urn:microsoft.com/office/officeart/2005/8/layout/lProcess1"/>
    <dgm:cxn modelId="{8BC351EC-DFC7-4EB9-92DD-7BD6E451D845}" srcId="{9FE779B5-E253-4A91-96B1-90A07DCCB89A}" destId="{6D331453-7CA4-4536-851B-4F32A48CF778}" srcOrd="0" destOrd="0" parTransId="{D97E3640-E308-465F-817E-CAC228463378}" sibTransId="{BA1E22D3-6759-41DE-8FBD-A6A6A01C43C0}"/>
    <dgm:cxn modelId="{BE4CD9FC-E557-496C-9957-8A3E6D4A1935}" type="presOf" srcId="{73E04AA5-0949-4E43-82D4-B899EC2157FC}" destId="{DFA6BDD3-42BF-4445-A619-DED58BE07B9C}" srcOrd="0" destOrd="0" presId="urn:microsoft.com/office/officeart/2005/8/layout/lProcess1"/>
    <dgm:cxn modelId="{0149B7EB-64E5-456C-9EC6-8147FD8D0FBC}" type="presParOf" srcId="{E2B84708-2607-4309-85AE-6D2365B31874}" destId="{2491D83D-F8BF-4653-B332-8EAE52EF83D9}" srcOrd="0" destOrd="0" presId="urn:microsoft.com/office/officeart/2005/8/layout/lProcess1"/>
    <dgm:cxn modelId="{BB373668-57C4-4F6D-A2B0-958905E5E6C3}" type="presParOf" srcId="{2491D83D-F8BF-4653-B332-8EAE52EF83D9}" destId="{48FB2631-CA29-4D80-93BC-712AC19C0A16}" srcOrd="0" destOrd="0" presId="urn:microsoft.com/office/officeart/2005/8/layout/lProcess1"/>
    <dgm:cxn modelId="{230B1C38-3C50-44B9-9F5D-729E41AFE31F}" type="presParOf" srcId="{2491D83D-F8BF-4653-B332-8EAE52EF83D9}" destId="{DFA6BDD3-42BF-4445-A619-DED58BE07B9C}" srcOrd="1" destOrd="0" presId="urn:microsoft.com/office/officeart/2005/8/layout/lProcess1"/>
    <dgm:cxn modelId="{FDAD182D-2117-47F4-8D92-607937D4ABA0}" type="presParOf" srcId="{2491D83D-F8BF-4653-B332-8EAE52EF83D9}" destId="{4AB40256-2086-4D33-93CA-628163134BB9}" srcOrd="2" destOrd="0" presId="urn:microsoft.com/office/officeart/2005/8/layout/lProcess1"/>
    <dgm:cxn modelId="{CC9C56F5-7EE9-4433-81D1-E82D60B1686A}" type="presParOf" srcId="{E2B84708-2607-4309-85AE-6D2365B31874}" destId="{94104413-FC9B-405B-96DC-2BAB380DBDA8}" srcOrd="1" destOrd="0" presId="urn:microsoft.com/office/officeart/2005/8/layout/lProcess1"/>
    <dgm:cxn modelId="{C28F93F2-B817-4BEF-9947-E9957D7E7584}" type="presParOf" srcId="{E2B84708-2607-4309-85AE-6D2365B31874}" destId="{D2F8C529-EF3A-4FA1-8A54-116A60812DDD}" srcOrd="2" destOrd="0" presId="urn:microsoft.com/office/officeart/2005/8/layout/lProcess1"/>
    <dgm:cxn modelId="{0340617A-A284-4DC3-854F-70408C0E2275}" type="presParOf" srcId="{D2F8C529-EF3A-4FA1-8A54-116A60812DDD}" destId="{B2534B75-C139-4466-B4DC-BCD2328C0E86}" srcOrd="0" destOrd="0" presId="urn:microsoft.com/office/officeart/2005/8/layout/lProcess1"/>
    <dgm:cxn modelId="{FE94DA65-29C6-4221-A362-DE2E3C41E315}" type="presParOf" srcId="{D2F8C529-EF3A-4FA1-8A54-116A60812DDD}" destId="{4ED27C60-9035-43E8-A4F1-808F0338CEAC}" srcOrd="1" destOrd="0" presId="urn:microsoft.com/office/officeart/2005/8/layout/lProcess1"/>
    <dgm:cxn modelId="{9581ECEE-27BE-4C0B-BF42-8C380AA837EF}" type="presParOf" srcId="{D2F8C529-EF3A-4FA1-8A54-116A60812DDD}" destId="{ECFECD9E-375C-4211-BED3-16D628659756}" srcOrd="2" destOrd="0" presId="urn:microsoft.com/office/officeart/2005/8/layout/lProcess1"/>
    <dgm:cxn modelId="{23DA754C-EEDE-4CE1-8BAC-CD56A47DC1A0}" type="presParOf" srcId="{E2B84708-2607-4309-85AE-6D2365B31874}" destId="{A03DA2B4-1672-45B7-B13F-F678BD53D192}" srcOrd="3" destOrd="0" presId="urn:microsoft.com/office/officeart/2005/8/layout/lProcess1"/>
    <dgm:cxn modelId="{A0253402-2599-4696-B448-AAC0213E35FE}" type="presParOf" srcId="{E2B84708-2607-4309-85AE-6D2365B31874}" destId="{F487EE68-8CEE-43B4-BA6F-989FAA235C96}" srcOrd="4" destOrd="0" presId="urn:microsoft.com/office/officeart/2005/8/layout/lProcess1"/>
    <dgm:cxn modelId="{51BFF740-86E8-43BD-8AF4-C5DA1AA1A01E}" type="presParOf" srcId="{F487EE68-8CEE-43B4-BA6F-989FAA235C96}" destId="{AACC7CDB-211A-4318-9248-FAF5013ED5DE}" srcOrd="0" destOrd="0" presId="urn:microsoft.com/office/officeart/2005/8/layout/lProcess1"/>
    <dgm:cxn modelId="{4F300972-41FE-461A-A4D0-EB01A401CC70}" type="presParOf" srcId="{F487EE68-8CEE-43B4-BA6F-989FAA235C96}" destId="{5E10FB02-320F-431D-B666-AECEF32B1859}" srcOrd="1" destOrd="0" presId="urn:microsoft.com/office/officeart/2005/8/layout/lProcess1"/>
    <dgm:cxn modelId="{5792AB18-C52A-4A47-B6FE-B9B7F3815D0C}" type="presParOf" srcId="{F487EE68-8CEE-43B4-BA6F-989FAA235C96}" destId="{F8E9AF90-74D6-4CB6-A57B-9E958E3B9B89}" srcOrd="2" destOrd="0" presId="urn:microsoft.com/office/officeart/2005/8/layout/lProcess1"/>
    <dgm:cxn modelId="{EE497F5D-F1DA-4333-B5BC-A67AE53D8F5B}" type="presParOf" srcId="{E2B84708-2607-4309-85AE-6D2365B31874}" destId="{74B2746A-38ED-42F8-9FC4-4E8DE1F341E0}" srcOrd="5" destOrd="0" presId="urn:microsoft.com/office/officeart/2005/8/layout/lProcess1"/>
    <dgm:cxn modelId="{83FCCF97-25A6-4092-ADB7-92AD7E866272}" type="presParOf" srcId="{E2B84708-2607-4309-85AE-6D2365B31874}" destId="{F0BEA512-297E-4A1D-B460-CD6A749A9D62}" srcOrd="6" destOrd="0" presId="urn:microsoft.com/office/officeart/2005/8/layout/lProcess1"/>
    <dgm:cxn modelId="{0F648352-EF36-4CEB-9A2B-5456F53C0392}" type="presParOf" srcId="{F0BEA512-297E-4A1D-B460-CD6A749A9D62}" destId="{199449A2-40A5-47A6-B902-CA30FDAF79D5}" srcOrd="0" destOrd="0" presId="urn:microsoft.com/office/officeart/2005/8/layout/lProcess1"/>
    <dgm:cxn modelId="{CD965D97-8F25-4BEA-A8C1-89C15C127F18}" type="presParOf" srcId="{F0BEA512-297E-4A1D-B460-CD6A749A9D62}" destId="{46A9DAD1-10FA-4448-BB21-D749B091FD05}" srcOrd="1" destOrd="0" presId="urn:microsoft.com/office/officeart/2005/8/layout/lProcess1"/>
    <dgm:cxn modelId="{CD088AC1-4789-4C42-A02D-EB942D6397FC}" type="presParOf" srcId="{F0BEA512-297E-4A1D-B460-CD6A749A9D62}" destId="{4B1FEB3E-A9CD-485C-A677-5DD0A96F684A}" srcOrd="2" destOrd="0" presId="urn:microsoft.com/office/officeart/2005/8/layout/l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FB2631-CA29-4D80-93BC-712AC19C0A16}">
      <dsp:nvSpPr>
        <dsp:cNvPr id="0" name=""/>
        <dsp:cNvSpPr/>
      </dsp:nvSpPr>
      <dsp:spPr>
        <a:xfrm>
          <a:off x="6436" y="533398"/>
          <a:ext cx="1841748" cy="118800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EYInterstate" pitchFamily="2" charset="0"/>
            </a:rPr>
            <a:t>Commercial Agreement</a:t>
          </a:r>
        </a:p>
      </dsp:txBody>
      <dsp:txXfrm>
        <a:off x="41231" y="568193"/>
        <a:ext cx="1772158" cy="1118415"/>
      </dsp:txXfrm>
    </dsp:sp>
    <dsp:sp modelId="{DFA6BDD3-42BF-4445-A619-DED58BE07B9C}">
      <dsp:nvSpPr>
        <dsp:cNvPr id="0" name=""/>
        <dsp:cNvSpPr/>
      </dsp:nvSpPr>
      <dsp:spPr>
        <a:xfrm rot="5400000">
          <a:off x="887022" y="1761692"/>
          <a:ext cx="80576" cy="80576"/>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AB40256-2086-4D33-93CA-628163134BB9}">
      <dsp:nvSpPr>
        <dsp:cNvPr id="0" name=""/>
        <dsp:cNvSpPr/>
      </dsp:nvSpPr>
      <dsp:spPr>
        <a:xfrm>
          <a:off x="6436" y="1882557"/>
          <a:ext cx="1841748" cy="759044"/>
        </a:xfrm>
        <a:prstGeom prst="roundRect">
          <a:avLst>
            <a:gd name="adj" fmla="val 1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kern="1200" dirty="0"/>
            <a:t>Signing of document like AA12,13, &amp; 14</a:t>
          </a:r>
        </a:p>
      </dsp:txBody>
      <dsp:txXfrm>
        <a:off x="28668" y="1904789"/>
        <a:ext cx="1797284" cy="714580"/>
      </dsp:txXfrm>
    </dsp:sp>
    <dsp:sp modelId="{B2534B75-C139-4466-B4DC-BCD2328C0E86}">
      <dsp:nvSpPr>
        <dsp:cNvPr id="0" name=""/>
        <dsp:cNvSpPr/>
      </dsp:nvSpPr>
      <dsp:spPr>
        <a:xfrm>
          <a:off x="2106029" y="533398"/>
          <a:ext cx="1841748" cy="118800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EYInterstate" pitchFamily="2" charset="0"/>
            </a:rPr>
            <a:t>Partner Provisioning</a:t>
          </a:r>
        </a:p>
      </dsp:txBody>
      <dsp:txXfrm>
        <a:off x="2140824" y="568193"/>
        <a:ext cx="1772158" cy="1118415"/>
      </dsp:txXfrm>
    </dsp:sp>
    <dsp:sp modelId="{4ED27C60-9035-43E8-A4F1-808F0338CEAC}">
      <dsp:nvSpPr>
        <dsp:cNvPr id="0" name=""/>
        <dsp:cNvSpPr/>
      </dsp:nvSpPr>
      <dsp:spPr>
        <a:xfrm rot="5400000">
          <a:off x="2986615" y="1761692"/>
          <a:ext cx="80576" cy="80576"/>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ECFECD9E-375C-4211-BED3-16D628659756}">
      <dsp:nvSpPr>
        <dsp:cNvPr id="0" name=""/>
        <dsp:cNvSpPr/>
      </dsp:nvSpPr>
      <dsp:spPr>
        <a:xfrm>
          <a:off x="2106029" y="1882557"/>
          <a:ext cx="1841748" cy="759044"/>
        </a:xfrm>
        <a:prstGeom prst="roundRect">
          <a:avLst>
            <a:gd name="adj" fmla="val 1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kern="1200" dirty="0"/>
            <a:t>IREG &amp; TADIG Testing</a:t>
          </a:r>
        </a:p>
      </dsp:txBody>
      <dsp:txXfrm>
        <a:off x="2128261" y="1904789"/>
        <a:ext cx="1797284" cy="714580"/>
      </dsp:txXfrm>
    </dsp:sp>
    <dsp:sp modelId="{AACC7CDB-211A-4318-9248-FAF5013ED5DE}">
      <dsp:nvSpPr>
        <dsp:cNvPr id="0" name=""/>
        <dsp:cNvSpPr/>
      </dsp:nvSpPr>
      <dsp:spPr>
        <a:xfrm>
          <a:off x="4205622" y="533398"/>
          <a:ext cx="1841748" cy="118800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EYInterstate" pitchFamily="2" charset="0"/>
            </a:rPr>
            <a:t>Subscriber Provisioning</a:t>
          </a:r>
        </a:p>
      </dsp:txBody>
      <dsp:txXfrm>
        <a:off x="4240417" y="568193"/>
        <a:ext cx="1772158" cy="1118415"/>
      </dsp:txXfrm>
    </dsp:sp>
    <dsp:sp modelId="{5E10FB02-320F-431D-B666-AECEF32B1859}">
      <dsp:nvSpPr>
        <dsp:cNvPr id="0" name=""/>
        <dsp:cNvSpPr/>
      </dsp:nvSpPr>
      <dsp:spPr>
        <a:xfrm rot="5400000">
          <a:off x="5086208" y="1761692"/>
          <a:ext cx="80576" cy="80576"/>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F8E9AF90-74D6-4CB6-A57B-9E958E3B9B89}">
      <dsp:nvSpPr>
        <dsp:cNvPr id="0" name=""/>
        <dsp:cNvSpPr/>
      </dsp:nvSpPr>
      <dsp:spPr>
        <a:xfrm>
          <a:off x="4205622" y="1882557"/>
          <a:ext cx="1841748" cy="759044"/>
        </a:xfrm>
        <a:prstGeom prst="roundRect">
          <a:avLst>
            <a:gd name="adj" fmla="val 1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kern="1200" dirty="0"/>
            <a:t>Configuration at HLR ,VLR &amp; IN</a:t>
          </a:r>
        </a:p>
      </dsp:txBody>
      <dsp:txXfrm>
        <a:off x="4227854" y="1904789"/>
        <a:ext cx="1797284" cy="714580"/>
      </dsp:txXfrm>
    </dsp:sp>
    <dsp:sp modelId="{199449A2-40A5-47A6-B902-CA30FDAF79D5}">
      <dsp:nvSpPr>
        <dsp:cNvPr id="0" name=""/>
        <dsp:cNvSpPr/>
      </dsp:nvSpPr>
      <dsp:spPr>
        <a:xfrm>
          <a:off x="6305215" y="533398"/>
          <a:ext cx="1841748" cy="118800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EYInterstate" pitchFamily="2" charset="0"/>
            </a:rPr>
            <a:t>Rating &amp; Billing</a:t>
          </a:r>
        </a:p>
      </dsp:txBody>
      <dsp:txXfrm>
        <a:off x="6340010" y="568193"/>
        <a:ext cx="1772158" cy="1118415"/>
      </dsp:txXfrm>
    </dsp:sp>
    <dsp:sp modelId="{46A9DAD1-10FA-4448-BB21-D749B091FD05}">
      <dsp:nvSpPr>
        <dsp:cNvPr id="0" name=""/>
        <dsp:cNvSpPr/>
      </dsp:nvSpPr>
      <dsp:spPr>
        <a:xfrm rot="5400000">
          <a:off x="7185800" y="1761692"/>
          <a:ext cx="80576" cy="80576"/>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B1FEB3E-A9CD-485C-A677-5DD0A96F684A}">
      <dsp:nvSpPr>
        <dsp:cNvPr id="0" name=""/>
        <dsp:cNvSpPr/>
      </dsp:nvSpPr>
      <dsp:spPr>
        <a:xfrm>
          <a:off x="6305215" y="1882557"/>
          <a:ext cx="1841748" cy="759044"/>
        </a:xfrm>
        <a:prstGeom prst="roundRect">
          <a:avLst>
            <a:gd name="adj" fmla="val 1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kern="1200" dirty="0"/>
            <a:t>TAP exchange, rating subscriber billing &amp; prepaid charging</a:t>
          </a:r>
        </a:p>
      </dsp:txBody>
      <dsp:txXfrm>
        <a:off x="6327447" y="1904789"/>
        <a:ext cx="1797284" cy="71458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FB2631-CA29-4D80-93BC-712AC19C0A16}">
      <dsp:nvSpPr>
        <dsp:cNvPr id="0" name=""/>
        <dsp:cNvSpPr/>
      </dsp:nvSpPr>
      <dsp:spPr>
        <a:xfrm>
          <a:off x="273" y="99323"/>
          <a:ext cx="758428" cy="489218"/>
        </a:xfrm>
        <a:prstGeom prst="roundRect">
          <a:avLst>
            <a:gd name="adj" fmla="val 10000"/>
          </a:avLst>
        </a:prstGeom>
        <a:solidFill>
          <a:srgbClr val="FFC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kern="1200" dirty="0">
              <a:latin typeface="EYInterstate" pitchFamily="2" charset="0"/>
            </a:rPr>
            <a:t>Commercial Agreement</a:t>
          </a:r>
        </a:p>
      </dsp:txBody>
      <dsp:txXfrm>
        <a:off x="14602" y="113652"/>
        <a:ext cx="729770" cy="460560"/>
      </dsp:txXfrm>
    </dsp:sp>
    <dsp:sp modelId="{DFA6BDD3-42BF-4445-A619-DED58BE07B9C}">
      <dsp:nvSpPr>
        <dsp:cNvPr id="0" name=""/>
        <dsp:cNvSpPr/>
      </dsp:nvSpPr>
      <dsp:spPr>
        <a:xfrm rot="5400000">
          <a:off x="362897" y="605132"/>
          <a:ext cx="33181" cy="33181"/>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AB40256-2086-4D33-93CA-628163134BB9}">
      <dsp:nvSpPr>
        <dsp:cNvPr id="0" name=""/>
        <dsp:cNvSpPr/>
      </dsp:nvSpPr>
      <dsp:spPr>
        <a:xfrm>
          <a:off x="273" y="654903"/>
          <a:ext cx="758428" cy="312572"/>
        </a:xfrm>
        <a:prstGeom prst="roundRect">
          <a:avLst>
            <a:gd name="adj" fmla="val 10000"/>
          </a:avLst>
        </a:prstGeom>
        <a:solidFill>
          <a:srgbClr val="FFC000">
            <a:alpha val="90000"/>
          </a:srgbClr>
        </a:solidFill>
        <a:ln w="25400" cap="flat" cmpd="sng" algn="ctr">
          <a:solidFill>
            <a:srgbClr val="FFC000">
              <a:alpha val="90000"/>
            </a:srgb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350" tIns="6350" rIns="6350" bIns="6350" numCol="1" spcCol="1270" anchor="ctr" anchorCtr="0">
          <a:noAutofit/>
        </a:bodyPr>
        <a:lstStyle/>
        <a:p>
          <a:pPr marL="0" lvl="0" indent="0" algn="ctr" defTabSz="222250">
            <a:lnSpc>
              <a:spcPct val="90000"/>
            </a:lnSpc>
            <a:spcBef>
              <a:spcPct val="0"/>
            </a:spcBef>
            <a:spcAft>
              <a:spcPct val="35000"/>
            </a:spcAft>
            <a:buNone/>
          </a:pPr>
          <a:r>
            <a:rPr lang="en-US" sz="500" kern="1200" dirty="0"/>
            <a:t>Signing of document like AA12,13, &amp; 14</a:t>
          </a:r>
        </a:p>
      </dsp:txBody>
      <dsp:txXfrm>
        <a:off x="9428" y="664058"/>
        <a:ext cx="740118" cy="294262"/>
      </dsp:txXfrm>
    </dsp:sp>
    <dsp:sp modelId="{B2534B75-C139-4466-B4DC-BCD2328C0E86}">
      <dsp:nvSpPr>
        <dsp:cNvPr id="0" name=""/>
        <dsp:cNvSpPr/>
      </dsp:nvSpPr>
      <dsp:spPr>
        <a:xfrm>
          <a:off x="864881" y="99323"/>
          <a:ext cx="758428" cy="48921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kern="1200" dirty="0">
              <a:latin typeface="EYInterstate" pitchFamily="2" charset="0"/>
            </a:rPr>
            <a:t>Partner Provisioning</a:t>
          </a:r>
        </a:p>
      </dsp:txBody>
      <dsp:txXfrm>
        <a:off x="879210" y="113652"/>
        <a:ext cx="729770" cy="460560"/>
      </dsp:txXfrm>
    </dsp:sp>
    <dsp:sp modelId="{4ED27C60-9035-43E8-A4F1-808F0338CEAC}">
      <dsp:nvSpPr>
        <dsp:cNvPr id="0" name=""/>
        <dsp:cNvSpPr/>
      </dsp:nvSpPr>
      <dsp:spPr>
        <a:xfrm rot="5400000">
          <a:off x="1227505" y="605132"/>
          <a:ext cx="33181" cy="33181"/>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ECFECD9E-375C-4211-BED3-16D628659756}">
      <dsp:nvSpPr>
        <dsp:cNvPr id="0" name=""/>
        <dsp:cNvSpPr/>
      </dsp:nvSpPr>
      <dsp:spPr>
        <a:xfrm>
          <a:off x="864881" y="654903"/>
          <a:ext cx="758428" cy="312572"/>
        </a:xfrm>
        <a:prstGeom prst="roundRect">
          <a:avLst>
            <a:gd name="adj" fmla="val 1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350" tIns="6350" rIns="6350" bIns="6350" numCol="1" spcCol="1270" anchor="ctr" anchorCtr="0">
          <a:noAutofit/>
        </a:bodyPr>
        <a:lstStyle/>
        <a:p>
          <a:pPr marL="0" lvl="0" indent="0" algn="ctr" defTabSz="222250">
            <a:lnSpc>
              <a:spcPct val="90000"/>
            </a:lnSpc>
            <a:spcBef>
              <a:spcPct val="0"/>
            </a:spcBef>
            <a:spcAft>
              <a:spcPct val="35000"/>
            </a:spcAft>
            <a:buNone/>
          </a:pPr>
          <a:r>
            <a:rPr lang="en-US" sz="500" kern="1200" dirty="0"/>
            <a:t>IREG &amp; TADIG Testing</a:t>
          </a:r>
        </a:p>
      </dsp:txBody>
      <dsp:txXfrm>
        <a:off x="874036" y="664058"/>
        <a:ext cx="740118" cy="294262"/>
      </dsp:txXfrm>
    </dsp:sp>
    <dsp:sp modelId="{AACC7CDB-211A-4318-9248-FAF5013ED5DE}">
      <dsp:nvSpPr>
        <dsp:cNvPr id="0" name=""/>
        <dsp:cNvSpPr/>
      </dsp:nvSpPr>
      <dsp:spPr>
        <a:xfrm>
          <a:off x="1729489" y="99323"/>
          <a:ext cx="758428" cy="48921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kern="1200" dirty="0">
              <a:latin typeface="EYInterstate" pitchFamily="2" charset="0"/>
            </a:rPr>
            <a:t>Subscriber Provisioning</a:t>
          </a:r>
        </a:p>
      </dsp:txBody>
      <dsp:txXfrm>
        <a:off x="1743818" y="113652"/>
        <a:ext cx="729770" cy="460560"/>
      </dsp:txXfrm>
    </dsp:sp>
    <dsp:sp modelId="{5E10FB02-320F-431D-B666-AECEF32B1859}">
      <dsp:nvSpPr>
        <dsp:cNvPr id="0" name=""/>
        <dsp:cNvSpPr/>
      </dsp:nvSpPr>
      <dsp:spPr>
        <a:xfrm rot="5400000">
          <a:off x="2092113" y="605132"/>
          <a:ext cx="33181" cy="33181"/>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F8E9AF90-74D6-4CB6-A57B-9E958E3B9B89}">
      <dsp:nvSpPr>
        <dsp:cNvPr id="0" name=""/>
        <dsp:cNvSpPr/>
      </dsp:nvSpPr>
      <dsp:spPr>
        <a:xfrm>
          <a:off x="1729489" y="654903"/>
          <a:ext cx="758428" cy="312572"/>
        </a:xfrm>
        <a:prstGeom prst="roundRect">
          <a:avLst>
            <a:gd name="adj" fmla="val 1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350" tIns="6350" rIns="6350" bIns="6350" numCol="1" spcCol="1270" anchor="ctr" anchorCtr="0">
          <a:noAutofit/>
        </a:bodyPr>
        <a:lstStyle/>
        <a:p>
          <a:pPr marL="0" lvl="0" indent="0" algn="ctr" defTabSz="222250">
            <a:lnSpc>
              <a:spcPct val="90000"/>
            </a:lnSpc>
            <a:spcBef>
              <a:spcPct val="0"/>
            </a:spcBef>
            <a:spcAft>
              <a:spcPct val="35000"/>
            </a:spcAft>
            <a:buNone/>
          </a:pPr>
          <a:r>
            <a:rPr lang="en-US" sz="500" kern="1200" dirty="0"/>
            <a:t>Configuration at HLR ,VLR &amp; IN</a:t>
          </a:r>
        </a:p>
      </dsp:txBody>
      <dsp:txXfrm>
        <a:off x="1738644" y="664058"/>
        <a:ext cx="740118" cy="294262"/>
      </dsp:txXfrm>
    </dsp:sp>
    <dsp:sp modelId="{199449A2-40A5-47A6-B902-CA30FDAF79D5}">
      <dsp:nvSpPr>
        <dsp:cNvPr id="0" name=""/>
        <dsp:cNvSpPr/>
      </dsp:nvSpPr>
      <dsp:spPr>
        <a:xfrm>
          <a:off x="2594098" y="99323"/>
          <a:ext cx="758428" cy="48921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kern="1200" dirty="0">
              <a:latin typeface="EYInterstate" pitchFamily="2" charset="0"/>
            </a:rPr>
            <a:t>Rating &amp; Billing</a:t>
          </a:r>
        </a:p>
      </dsp:txBody>
      <dsp:txXfrm>
        <a:off x="2608427" y="113652"/>
        <a:ext cx="729770" cy="460560"/>
      </dsp:txXfrm>
    </dsp:sp>
    <dsp:sp modelId="{46A9DAD1-10FA-4448-BB21-D749B091FD05}">
      <dsp:nvSpPr>
        <dsp:cNvPr id="0" name=""/>
        <dsp:cNvSpPr/>
      </dsp:nvSpPr>
      <dsp:spPr>
        <a:xfrm rot="5400000">
          <a:off x="2956721" y="605132"/>
          <a:ext cx="33181" cy="33181"/>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B1FEB3E-A9CD-485C-A677-5DD0A96F684A}">
      <dsp:nvSpPr>
        <dsp:cNvPr id="0" name=""/>
        <dsp:cNvSpPr/>
      </dsp:nvSpPr>
      <dsp:spPr>
        <a:xfrm>
          <a:off x="2594098" y="654903"/>
          <a:ext cx="758428" cy="312572"/>
        </a:xfrm>
        <a:prstGeom prst="roundRect">
          <a:avLst>
            <a:gd name="adj" fmla="val 1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350" tIns="6350" rIns="6350" bIns="6350" numCol="1" spcCol="1270" anchor="ctr" anchorCtr="0">
          <a:noAutofit/>
        </a:bodyPr>
        <a:lstStyle/>
        <a:p>
          <a:pPr marL="0" lvl="0" indent="0" algn="ctr" defTabSz="222250">
            <a:lnSpc>
              <a:spcPct val="90000"/>
            </a:lnSpc>
            <a:spcBef>
              <a:spcPct val="0"/>
            </a:spcBef>
            <a:spcAft>
              <a:spcPct val="35000"/>
            </a:spcAft>
            <a:buNone/>
          </a:pPr>
          <a:r>
            <a:rPr lang="en-US" sz="500" kern="1200" dirty="0"/>
            <a:t>TAP exchange, rating subscriber billing &amp; prepaid charging</a:t>
          </a:r>
        </a:p>
      </dsp:txBody>
      <dsp:txXfrm>
        <a:off x="2603253" y="664058"/>
        <a:ext cx="740118" cy="29426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FB2631-CA29-4D80-93BC-712AC19C0A16}">
      <dsp:nvSpPr>
        <dsp:cNvPr id="0" name=""/>
        <dsp:cNvSpPr/>
      </dsp:nvSpPr>
      <dsp:spPr>
        <a:xfrm>
          <a:off x="273" y="99323"/>
          <a:ext cx="758428" cy="489218"/>
        </a:xfrm>
        <a:prstGeom prst="roundRect">
          <a:avLst>
            <a:gd name="adj" fmla="val 10000"/>
          </a:avLst>
        </a:prstGeom>
        <a:solidFill>
          <a:schemeClr val="bg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kern="1200" dirty="0">
              <a:latin typeface="EYInterstate" pitchFamily="2" charset="0"/>
            </a:rPr>
            <a:t>Commercial Agreement</a:t>
          </a:r>
        </a:p>
      </dsp:txBody>
      <dsp:txXfrm>
        <a:off x="14602" y="113652"/>
        <a:ext cx="729770" cy="460560"/>
      </dsp:txXfrm>
    </dsp:sp>
    <dsp:sp modelId="{DFA6BDD3-42BF-4445-A619-DED58BE07B9C}">
      <dsp:nvSpPr>
        <dsp:cNvPr id="0" name=""/>
        <dsp:cNvSpPr/>
      </dsp:nvSpPr>
      <dsp:spPr>
        <a:xfrm rot="5400000">
          <a:off x="362897" y="605132"/>
          <a:ext cx="33181" cy="33181"/>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AB40256-2086-4D33-93CA-628163134BB9}">
      <dsp:nvSpPr>
        <dsp:cNvPr id="0" name=""/>
        <dsp:cNvSpPr/>
      </dsp:nvSpPr>
      <dsp:spPr>
        <a:xfrm>
          <a:off x="273" y="654903"/>
          <a:ext cx="758428" cy="312572"/>
        </a:xfrm>
        <a:prstGeom prst="roundRect">
          <a:avLst>
            <a:gd name="adj" fmla="val 1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350" tIns="6350" rIns="6350" bIns="6350" numCol="1" spcCol="1270" anchor="ctr" anchorCtr="0">
          <a:noAutofit/>
        </a:bodyPr>
        <a:lstStyle/>
        <a:p>
          <a:pPr marL="0" lvl="0" indent="0" algn="ctr" defTabSz="222250">
            <a:lnSpc>
              <a:spcPct val="90000"/>
            </a:lnSpc>
            <a:spcBef>
              <a:spcPct val="0"/>
            </a:spcBef>
            <a:spcAft>
              <a:spcPct val="35000"/>
            </a:spcAft>
            <a:buNone/>
          </a:pPr>
          <a:r>
            <a:rPr lang="en-US" sz="500" kern="1200" dirty="0"/>
            <a:t>Signing of document like AA12,13, &amp; 14</a:t>
          </a:r>
        </a:p>
      </dsp:txBody>
      <dsp:txXfrm>
        <a:off x="9428" y="664058"/>
        <a:ext cx="740118" cy="294262"/>
      </dsp:txXfrm>
    </dsp:sp>
    <dsp:sp modelId="{B2534B75-C139-4466-B4DC-BCD2328C0E86}">
      <dsp:nvSpPr>
        <dsp:cNvPr id="0" name=""/>
        <dsp:cNvSpPr/>
      </dsp:nvSpPr>
      <dsp:spPr>
        <a:xfrm>
          <a:off x="864881" y="99323"/>
          <a:ext cx="758428" cy="489218"/>
        </a:xfrm>
        <a:prstGeom prst="roundRect">
          <a:avLst>
            <a:gd name="adj" fmla="val 10000"/>
          </a:avLst>
        </a:prstGeom>
        <a:solidFill>
          <a:srgbClr val="FFC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kern="1200" dirty="0">
              <a:latin typeface="EYInterstate" pitchFamily="2" charset="0"/>
            </a:rPr>
            <a:t>Partner Provisioning</a:t>
          </a:r>
        </a:p>
      </dsp:txBody>
      <dsp:txXfrm>
        <a:off x="879210" y="113652"/>
        <a:ext cx="729770" cy="460560"/>
      </dsp:txXfrm>
    </dsp:sp>
    <dsp:sp modelId="{4ED27C60-9035-43E8-A4F1-808F0338CEAC}">
      <dsp:nvSpPr>
        <dsp:cNvPr id="0" name=""/>
        <dsp:cNvSpPr/>
      </dsp:nvSpPr>
      <dsp:spPr>
        <a:xfrm rot="5400000">
          <a:off x="1227505" y="605132"/>
          <a:ext cx="33181" cy="33181"/>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ECFECD9E-375C-4211-BED3-16D628659756}">
      <dsp:nvSpPr>
        <dsp:cNvPr id="0" name=""/>
        <dsp:cNvSpPr/>
      </dsp:nvSpPr>
      <dsp:spPr>
        <a:xfrm>
          <a:off x="864881" y="654903"/>
          <a:ext cx="758428" cy="312572"/>
        </a:xfrm>
        <a:prstGeom prst="roundRect">
          <a:avLst>
            <a:gd name="adj" fmla="val 10000"/>
          </a:avLst>
        </a:prstGeom>
        <a:solidFill>
          <a:srgbClr val="FFC000">
            <a:alpha val="90000"/>
          </a:srgbClr>
        </a:solidFill>
        <a:ln w="25400" cap="flat" cmpd="sng" algn="ctr">
          <a:solidFill>
            <a:srgbClr val="FFC000">
              <a:alpha val="90000"/>
            </a:srgb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350" tIns="6350" rIns="6350" bIns="6350" numCol="1" spcCol="1270" anchor="ctr" anchorCtr="0">
          <a:noAutofit/>
        </a:bodyPr>
        <a:lstStyle/>
        <a:p>
          <a:pPr marL="0" lvl="0" indent="0" algn="ctr" defTabSz="222250">
            <a:lnSpc>
              <a:spcPct val="90000"/>
            </a:lnSpc>
            <a:spcBef>
              <a:spcPct val="0"/>
            </a:spcBef>
            <a:spcAft>
              <a:spcPct val="35000"/>
            </a:spcAft>
            <a:buNone/>
          </a:pPr>
          <a:r>
            <a:rPr lang="en-US" sz="500" kern="1200" dirty="0"/>
            <a:t>IREG &amp; TADIG Testing</a:t>
          </a:r>
        </a:p>
      </dsp:txBody>
      <dsp:txXfrm>
        <a:off x="874036" y="664058"/>
        <a:ext cx="740118" cy="294262"/>
      </dsp:txXfrm>
    </dsp:sp>
    <dsp:sp modelId="{AACC7CDB-211A-4318-9248-FAF5013ED5DE}">
      <dsp:nvSpPr>
        <dsp:cNvPr id="0" name=""/>
        <dsp:cNvSpPr/>
      </dsp:nvSpPr>
      <dsp:spPr>
        <a:xfrm>
          <a:off x="1729489" y="99323"/>
          <a:ext cx="758428" cy="48921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kern="1200" dirty="0">
              <a:latin typeface="EYInterstate" pitchFamily="2" charset="0"/>
            </a:rPr>
            <a:t>Subscriber Provisioning</a:t>
          </a:r>
        </a:p>
      </dsp:txBody>
      <dsp:txXfrm>
        <a:off x="1743818" y="113652"/>
        <a:ext cx="729770" cy="460560"/>
      </dsp:txXfrm>
    </dsp:sp>
    <dsp:sp modelId="{5E10FB02-320F-431D-B666-AECEF32B1859}">
      <dsp:nvSpPr>
        <dsp:cNvPr id="0" name=""/>
        <dsp:cNvSpPr/>
      </dsp:nvSpPr>
      <dsp:spPr>
        <a:xfrm rot="5400000">
          <a:off x="2092113" y="605132"/>
          <a:ext cx="33181" cy="33181"/>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F8E9AF90-74D6-4CB6-A57B-9E958E3B9B89}">
      <dsp:nvSpPr>
        <dsp:cNvPr id="0" name=""/>
        <dsp:cNvSpPr/>
      </dsp:nvSpPr>
      <dsp:spPr>
        <a:xfrm>
          <a:off x="1729489" y="654903"/>
          <a:ext cx="758428" cy="312572"/>
        </a:xfrm>
        <a:prstGeom prst="roundRect">
          <a:avLst>
            <a:gd name="adj" fmla="val 1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350" tIns="6350" rIns="6350" bIns="6350" numCol="1" spcCol="1270" anchor="ctr" anchorCtr="0">
          <a:noAutofit/>
        </a:bodyPr>
        <a:lstStyle/>
        <a:p>
          <a:pPr marL="0" lvl="0" indent="0" algn="ctr" defTabSz="222250">
            <a:lnSpc>
              <a:spcPct val="90000"/>
            </a:lnSpc>
            <a:spcBef>
              <a:spcPct val="0"/>
            </a:spcBef>
            <a:spcAft>
              <a:spcPct val="35000"/>
            </a:spcAft>
            <a:buNone/>
          </a:pPr>
          <a:r>
            <a:rPr lang="en-US" sz="500" kern="1200" dirty="0"/>
            <a:t>Configuration at HLR ,VLR &amp; IN</a:t>
          </a:r>
        </a:p>
      </dsp:txBody>
      <dsp:txXfrm>
        <a:off x="1738644" y="664058"/>
        <a:ext cx="740118" cy="294262"/>
      </dsp:txXfrm>
    </dsp:sp>
    <dsp:sp modelId="{199449A2-40A5-47A6-B902-CA30FDAF79D5}">
      <dsp:nvSpPr>
        <dsp:cNvPr id="0" name=""/>
        <dsp:cNvSpPr/>
      </dsp:nvSpPr>
      <dsp:spPr>
        <a:xfrm>
          <a:off x="2594098" y="99323"/>
          <a:ext cx="758428" cy="48921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kern="1200" dirty="0">
              <a:latin typeface="EYInterstate" pitchFamily="2" charset="0"/>
            </a:rPr>
            <a:t>Rating &amp; Billing</a:t>
          </a:r>
        </a:p>
      </dsp:txBody>
      <dsp:txXfrm>
        <a:off x="2608427" y="113652"/>
        <a:ext cx="729770" cy="460560"/>
      </dsp:txXfrm>
    </dsp:sp>
    <dsp:sp modelId="{46A9DAD1-10FA-4448-BB21-D749B091FD05}">
      <dsp:nvSpPr>
        <dsp:cNvPr id="0" name=""/>
        <dsp:cNvSpPr/>
      </dsp:nvSpPr>
      <dsp:spPr>
        <a:xfrm rot="5400000">
          <a:off x="2956721" y="605132"/>
          <a:ext cx="33181" cy="33181"/>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B1FEB3E-A9CD-485C-A677-5DD0A96F684A}">
      <dsp:nvSpPr>
        <dsp:cNvPr id="0" name=""/>
        <dsp:cNvSpPr/>
      </dsp:nvSpPr>
      <dsp:spPr>
        <a:xfrm>
          <a:off x="2594098" y="654903"/>
          <a:ext cx="758428" cy="312572"/>
        </a:xfrm>
        <a:prstGeom prst="roundRect">
          <a:avLst>
            <a:gd name="adj" fmla="val 1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350" tIns="6350" rIns="6350" bIns="6350" numCol="1" spcCol="1270" anchor="ctr" anchorCtr="0">
          <a:noAutofit/>
        </a:bodyPr>
        <a:lstStyle/>
        <a:p>
          <a:pPr marL="0" lvl="0" indent="0" algn="ctr" defTabSz="222250">
            <a:lnSpc>
              <a:spcPct val="90000"/>
            </a:lnSpc>
            <a:spcBef>
              <a:spcPct val="0"/>
            </a:spcBef>
            <a:spcAft>
              <a:spcPct val="35000"/>
            </a:spcAft>
            <a:buNone/>
          </a:pPr>
          <a:r>
            <a:rPr lang="en-US" sz="500" kern="1200" dirty="0"/>
            <a:t>TAP exchange, rating subscriber billing &amp; prepaid charging</a:t>
          </a:r>
        </a:p>
      </dsp:txBody>
      <dsp:txXfrm>
        <a:off x="2603253" y="664058"/>
        <a:ext cx="740118" cy="29426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FB2631-CA29-4D80-93BC-712AC19C0A16}">
      <dsp:nvSpPr>
        <dsp:cNvPr id="0" name=""/>
        <dsp:cNvSpPr/>
      </dsp:nvSpPr>
      <dsp:spPr>
        <a:xfrm>
          <a:off x="273" y="99323"/>
          <a:ext cx="758428" cy="489218"/>
        </a:xfrm>
        <a:prstGeom prst="roundRect">
          <a:avLst>
            <a:gd name="adj" fmla="val 10000"/>
          </a:avLst>
        </a:prstGeom>
        <a:solidFill>
          <a:schemeClr val="bg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kern="1200" dirty="0">
              <a:latin typeface="EYInterstate" pitchFamily="2" charset="0"/>
            </a:rPr>
            <a:t>Commercial Agreement</a:t>
          </a:r>
        </a:p>
      </dsp:txBody>
      <dsp:txXfrm>
        <a:off x="14602" y="113652"/>
        <a:ext cx="729770" cy="460560"/>
      </dsp:txXfrm>
    </dsp:sp>
    <dsp:sp modelId="{DFA6BDD3-42BF-4445-A619-DED58BE07B9C}">
      <dsp:nvSpPr>
        <dsp:cNvPr id="0" name=""/>
        <dsp:cNvSpPr/>
      </dsp:nvSpPr>
      <dsp:spPr>
        <a:xfrm rot="5400000">
          <a:off x="362897" y="605132"/>
          <a:ext cx="33181" cy="33181"/>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AB40256-2086-4D33-93CA-628163134BB9}">
      <dsp:nvSpPr>
        <dsp:cNvPr id="0" name=""/>
        <dsp:cNvSpPr/>
      </dsp:nvSpPr>
      <dsp:spPr>
        <a:xfrm>
          <a:off x="273" y="654903"/>
          <a:ext cx="758428" cy="312572"/>
        </a:xfrm>
        <a:prstGeom prst="roundRect">
          <a:avLst>
            <a:gd name="adj" fmla="val 1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350" tIns="6350" rIns="6350" bIns="6350" numCol="1" spcCol="1270" anchor="ctr" anchorCtr="0">
          <a:noAutofit/>
        </a:bodyPr>
        <a:lstStyle/>
        <a:p>
          <a:pPr marL="0" lvl="0" indent="0" algn="ctr" defTabSz="222250">
            <a:lnSpc>
              <a:spcPct val="90000"/>
            </a:lnSpc>
            <a:spcBef>
              <a:spcPct val="0"/>
            </a:spcBef>
            <a:spcAft>
              <a:spcPct val="35000"/>
            </a:spcAft>
            <a:buNone/>
          </a:pPr>
          <a:r>
            <a:rPr lang="en-US" sz="500" kern="1200" dirty="0"/>
            <a:t>Signing of document like AA12,13, &amp; 14</a:t>
          </a:r>
        </a:p>
      </dsp:txBody>
      <dsp:txXfrm>
        <a:off x="9428" y="664058"/>
        <a:ext cx="740118" cy="294262"/>
      </dsp:txXfrm>
    </dsp:sp>
    <dsp:sp modelId="{B2534B75-C139-4466-B4DC-BCD2328C0E86}">
      <dsp:nvSpPr>
        <dsp:cNvPr id="0" name=""/>
        <dsp:cNvSpPr/>
      </dsp:nvSpPr>
      <dsp:spPr>
        <a:xfrm>
          <a:off x="864881" y="99323"/>
          <a:ext cx="758428" cy="489218"/>
        </a:xfrm>
        <a:prstGeom prst="roundRect">
          <a:avLst>
            <a:gd name="adj" fmla="val 10000"/>
          </a:avLst>
        </a:prstGeom>
        <a:solidFill>
          <a:schemeClr val="bg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kern="1200" dirty="0">
              <a:latin typeface="EYInterstate" pitchFamily="2" charset="0"/>
            </a:rPr>
            <a:t>Partner Provisioning</a:t>
          </a:r>
        </a:p>
      </dsp:txBody>
      <dsp:txXfrm>
        <a:off x="879210" y="113652"/>
        <a:ext cx="729770" cy="460560"/>
      </dsp:txXfrm>
    </dsp:sp>
    <dsp:sp modelId="{4ED27C60-9035-43E8-A4F1-808F0338CEAC}">
      <dsp:nvSpPr>
        <dsp:cNvPr id="0" name=""/>
        <dsp:cNvSpPr/>
      </dsp:nvSpPr>
      <dsp:spPr>
        <a:xfrm rot="5400000">
          <a:off x="1227505" y="605132"/>
          <a:ext cx="33181" cy="33181"/>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ECFECD9E-375C-4211-BED3-16D628659756}">
      <dsp:nvSpPr>
        <dsp:cNvPr id="0" name=""/>
        <dsp:cNvSpPr/>
      </dsp:nvSpPr>
      <dsp:spPr>
        <a:xfrm>
          <a:off x="864881" y="654903"/>
          <a:ext cx="758428" cy="312572"/>
        </a:xfrm>
        <a:prstGeom prst="roundRect">
          <a:avLst>
            <a:gd name="adj" fmla="val 1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350" tIns="6350" rIns="6350" bIns="6350" numCol="1" spcCol="1270" anchor="ctr" anchorCtr="0">
          <a:noAutofit/>
        </a:bodyPr>
        <a:lstStyle/>
        <a:p>
          <a:pPr marL="0" lvl="0" indent="0" algn="ctr" defTabSz="222250">
            <a:lnSpc>
              <a:spcPct val="90000"/>
            </a:lnSpc>
            <a:spcBef>
              <a:spcPct val="0"/>
            </a:spcBef>
            <a:spcAft>
              <a:spcPct val="35000"/>
            </a:spcAft>
            <a:buNone/>
          </a:pPr>
          <a:r>
            <a:rPr lang="en-US" sz="500" kern="1200" dirty="0"/>
            <a:t>IREG &amp; TADIG Testing</a:t>
          </a:r>
        </a:p>
      </dsp:txBody>
      <dsp:txXfrm>
        <a:off x="874036" y="664058"/>
        <a:ext cx="740118" cy="294262"/>
      </dsp:txXfrm>
    </dsp:sp>
    <dsp:sp modelId="{AACC7CDB-211A-4318-9248-FAF5013ED5DE}">
      <dsp:nvSpPr>
        <dsp:cNvPr id="0" name=""/>
        <dsp:cNvSpPr/>
      </dsp:nvSpPr>
      <dsp:spPr>
        <a:xfrm>
          <a:off x="1729489" y="99323"/>
          <a:ext cx="758428" cy="489218"/>
        </a:xfrm>
        <a:prstGeom prst="roundRect">
          <a:avLst>
            <a:gd name="adj" fmla="val 10000"/>
          </a:avLst>
        </a:prstGeom>
        <a:solidFill>
          <a:srgbClr val="FFC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kern="1200" dirty="0">
              <a:latin typeface="EYInterstate" pitchFamily="2" charset="0"/>
            </a:rPr>
            <a:t>Subscriber Provisioning</a:t>
          </a:r>
        </a:p>
      </dsp:txBody>
      <dsp:txXfrm>
        <a:off x="1743818" y="113652"/>
        <a:ext cx="729770" cy="460560"/>
      </dsp:txXfrm>
    </dsp:sp>
    <dsp:sp modelId="{5E10FB02-320F-431D-B666-AECEF32B1859}">
      <dsp:nvSpPr>
        <dsp:cNvPr id="0" name=""/>
        <dsp:cNvSpPr/>
      </dsp:nvSpPr>
      <dsp:spPr>
        <a:xfrm rot="5400000">
          <a:off x="2092113" y="605132"/>
          <a:ext cx="33181" cy="33181"/>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F8E9AF90-74D6-4CB6-A57B-9E958E3B9B89}">
      <dsp:nvSpPr>
        <dsp:cNvPr id="0" name=""/>
        <dsp:cNvSpPr/>
      </dsp:nvSpPr>
      <dsp:spPr>
        <a:xfrm>
          <a:off x="1729489" y="654903"/>
          <a:ext cx="758428" cy="312572"/>
        </a:xfrm>
        <a:prstGeom prst="roundRect">
          <a:avLst>
            <a:gd name="adj" fmla="val 10000"/>
          </a:avLst>
        </a:prstGeom>
        <a:solidFill>
          <a:srgbClr val="FFC000">
            <a:alpha val="90000"/>
          </a:srgbClr>
        </a:solidFill>
        <a:ln w="25400" cap="flat" cmpd="sng" algn="ctr">
          <a:solidFill>
            <a:srgbClr val="FFC000">
              <a:alpha val="90000"/>
            </a:srgb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350" tIns="6350" rIns="6350" bIns="6350" numCol="1" spcCol="1270" anchor="ctr" anchorCtr="0">
          <a:noAutofit/>
        </a:bodyPr>
        <a:lstStyle/>
        <a:p>
          <a:pPr marL="0" lvl="0" indent="0" algn="ctr" defTabSz="222250">
            <a:lnSpc>
              <a:spcPct val="90000"/>
            </a:lnSpc>
            <a:spcBef>
              <a:spcPct val="0"/>
            </a:spcBef>
            <a:spcAft>
              <a:spcPct val="35000"/>
            </a:spcAft>
            <a:buNone/>
          </a:pPr>
          <a:r>
            <a:rPr lang="en-US" sz="500" kern="1200" dirty="0"/>
            <a:t>Configuration at HLR ,VLR &amp; IN</a:t>
          </a:r>
        </a:p>
      </dsp:txBody>
      <dsp:txXfrm>
        <a:off x="1738644" y="664058"/>
        <a:ext cx="740118" cy="294262"/>
      </dsp:txXfrm>
    </dsp:sp>
    <dsp:sp modelId="{199449A2-40A5-47A6-B902-CA30FDAF79D5}">
      <dsp:nvSpPr>
        <dsp:cNvPr id="0" name=""/>
        <dsp:cNvSpPr/>
      </dsp:nvSpPr>
      <dsp:spPr>
        <a:xfrm>
          <a:off x="2594098" y="99323"/>
          <a:ext cx="758428" cy="48921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kern="1200" dirty="0">
              <a:latin typeface="EYInterstate" pitchFamily="2" charset="0"/>
            </a:rPr>
            <a:t>Rating &amp; Billing</a:t>
          </a:r>
        </a:p>
      </dsp:txBody>
      <dsp:txXfrm>
        <a:off x="2608427" y="113652"/>
        <a:ext cx="729770" cy="460560"/>
      </dsp:txXfrm>
    </dsp:sp>
    <dsp:sp modelId="{46A9DAD1-10FA-4448-BB21-D749B091FD05}">
      <dsp:nvSpPr>
        <dsp:cNvPr id="0" name=""/>
        <dsp:cNvSpPr/>
      </dsp:nvSpPr>
      <dsp:spPr>
        <a:xfrm rot="5400000">
          <a:off x="2956721" y="605132"/>
          <a:ext cx="33181" cy="33181"/>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B1FEB3E-A9CD-485C-A677-5DD0A96F684A}">
      <dsp:nvSpPr>
        <dsp:cNvPr id="0" name=""/>
        <dsp:cNvSpPr/>
      </dsp:nvSpPr>
      <dsp:spPr>
        <a:xfrm>
          <a:off x="2594098" y="654903"/>
          <a:ext cx="758428" cy="312572"/>
        </a:xfrm>
        <a:prstGeom prst="roundRect">
          <a:avLst>
            <a:gd name="adj" fmla="val 1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350" tIns="6350" rIns="6350" bIns="6350" numCol="1" spcCol="1270" anchor="ctr" anchorCtr="0">
          <a:noAutofit/>
        </a:bodyPr>
        <a:lstStyle/>
        <a:p>
          <a:pPr marL="0" lvl="0" indent="0" algn="ctr" defTabSz="222250">
            <a:lnSpc>
              <a:spcPct val="90000"/>
            </a:lnSpc>
            <a:spcBef>
              <a:spcPct val="0"/>
            </a:spcBef>
            <a:spcAft>
              <a:spcPct val="35000"/>
            </a:spcAft>
            <a:buNone/>
          </a:pPr>
          <a:r>
            <a:rPr lang="en-US" sz="500" kern="1200" dirty="0"/>
            <a:t>TAP exchange, rating subscriber billing &amp; prepaid charging</a:t>
          </a:r>
        </a:p>
      </dsp:txBody>
      <dsp:txXfrm>
        <a:off x="2603253" y="664058"/>
        <a:ext cx="740118" cy="29426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FB2631-CA29-4D80-93BC-712AC19C0A16}">
      <dsp:nvSpPr>
        <dsp:cNvPr id="0" name=""/>
        <dsp:cNvSpPr/>
      </dsp:nvSpPr>
      <dsp:spPr>
        <a:xfrm>
          <a:off x="273" y="99323"/>
          <a:ext cx="758428" cy="489218"/>
        </a:xfrm>
        <a:prstGeom prst="roundRect">
          <a:avLst>
            <a:gd name="adj" fmla="val 10000"/>
          </a:avLst>
        </a:prstGeom>
        <a:solidFill>
          <a:schemeClr val="bg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kern="1200" dirty="0">
              <a:latin typeface="EYInterstate" pitchFamily="2" charset="0"/>
            </a:rPr>
            <a:t>Commercial Agreement</a:t>
          </a:r>
        </a:p>
      </dsp:txBody>
      <dsp:txXfrm>
        <a:off x="14602" y="113652"/>
        <a:ext cx="729770" cy="460560"/>
      </dsp:txXfrm>
    </dsp:sp>
    <dsp:sp modelId="{DFA6BDD3-42BF-4445-A619-DED58BE07B9C}">
      <dsp:nvSpPr>
        <dsp:cNvPr id="0" name=""/>
        <dsp:cNvSpPr/>
      </dsp:nvSpPr>
      <dsp:spPr>
        <a:xfrm rot="5400000">
          <a:off x="362897" y="605132"/>
          <a:ext cx="33181" cy="33181"/>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AB40256-2086-4D33-93CA-628163134BB9}">
      <dsp:nvSpPr>
        <dsp:cNvPr id="0" name=""/>
        <dsp:cNvSpPr/>
      </dsp:nvSpPr>
      <dsp:spPr>
        <a:xfrm>
          <a:off x="273" y="654903"/>
          <a:ext cx="758428" cy="312572"/>
        </a:xfrm>
        <a:prstGeom prst="roundRect">
          <a:avLst>
            <a:gd name="adj" fmla="val 1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350" tIns="6350" rIns="6350" bIns="6350" numCol="1" spcCol="1270" anchor="ctr" anchorCtr="0">
          <a:noAutofit/>
        </a:bodyPr>
        <a:lstStyle/>
        <a:p>
          <a:pPr marL="0" lvl="0" indent="0" algn="ctr" defTabSz="222250">
            <a:lnSpc>
              <a:spcPct val="90000"/>
            </a:lnSpc>
            <a:spcBef>
              <a:spcPct val="0"/>
            </a:spcBef>
            <a:spcAft>
              <a:spcPct val="35000"/>
            </a:spcAft>
            <a:buNone/>
          </a:pPr>
          <a:r>
            <a:rPr lang="en-US" sz="500" kern="1200" dirty="0"/>
            <a:t>Signing of document like AA12,13, &amp; 14</a:t>
          </a:r>
        </a:p>
      </dsp:txBody>
      <dsp:txXfrm>
        <a:off x="9428" y="664058"/>
        <a:ext cx="740118" cy="294262"/>
      </dsp:txXfrm>
    </dsp:sp>
    <dsp:sp modelId="{B2534B75-C139-4466-B4DC-BCD2328C0E86}">
      <dsp:nvSpPr>
        <dsp:cNvPr id="0" name=""/>
        <dsp:cNvSpPr/>
      </dsp:nvSpPr>
      <dsp:spPr>
        <a:xfrm>
          <a:off x="864881" y="99323"/>
          <a:ext cx="758428" cy="489218"/>
        </a:xfrm>
        <a:prstGeom prst="roundRect">
          <a:avLst>
            <a:gd name="adj" fmla="val 10000"/>
          </a:avLst>
        </a:prstGeom>
        <a:solidFill>
          <a:schemeClr val="bg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kern="1200" dirty="0">
              <a:latin typeface="EYInterstate" pitchFamily="2" charset="0"/>
            </a:rPr>
            <a:t>Partner Provisioning</a:t>
          </a:r>
        </a:p>
      </dsp:txBody>
      <dsp:txXfrm>
        <a:off x="879210" y="113652"/>
        <a:ext cx="729770" cy="460560"/>
      </dsp:txXfrm>
    </dsp:sp>
    <dsp:sp modelId="{4ED27C60-9035-43E8-A4F1-808F0338CEAC}">
      <dsp:nvSpPr>
        <dsp:cNvPr id="0" name=""/>
        <dsp:cNvSpPr/>
      </dsp:nvSpPr>
      <dsp:spPr>
        <a:xfrm rot="5400000">
          <a:off x="1227505" y="605132"/>
          <a:ext cx="33181" cy="33181"/>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ECFECD9E-375C-4211-BED3-16D628659756}">
      <dsp:nvSpPr>
        <dsp:cNvPr id="0" name=""/>
        <dsp:cNvSpPr/>
      </dsp:nvSpPr>
      <dsp:spPr>
        <a:xfrm>
          <a:off x="864881" y="654903"/>
          <a:ext cx="758428" cy="312572"/>
        </a:xfrm>
        <a:prstGeom prst="roundRect">
          <a:avLst>
            <a:gd name="adj" fmla="val 1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350" tIns="6350" rIns="6350" bIns="6350" numCol="1" spcCol="1270" anchor="ctr" anchorCtr="0">
          <a:noAutofit/>
        </a:bodyPr>
        <a:lstStyle/>
        <a:p>
          <a:pPr marL="0" lvl="0" indent="0" algn="ctr" defTabSz="222250">
            <a:lnSpc>
              <a:spcPct val="90000"/>
            </a:lnSpc>
            <a:spcBef>
              <a:spcPct val="0"/>
            </a:spcBef>
            <a:spcAft>
              <a:spcPct val="35000"/>
            </a:spcAft>
            <a:buNone/>
          </a:pPr>
          <a:r>
            <a:rPr lang="en-US" sz="500" kern="1200" dirty="0"/>
            <a:t>IREG &amp; TADIG Testing</a:t>
          </a:r>
        </a:p>
      </dsp:txBody>
      <dsp:txXfrm>
        <a:off x="874036" y="664058"/>
        <a:ext cx="740118" cy="294262"/>
      </dsp:txXfrm>
    </dsp:sp>
    <dsp:sp modelId="{AACC7CDB-211A-4318-9248-FAF5013ED5DE}">
      <dsp:nvSpPr>
        <dsp:cNvPr id="0" name=""/>
        <dsp:cNvSpPr/>
      </dsp:nvSpPr>
      <dsp:spPr>
        <a:xfrm>
          <a:off x="1729489" y="99323"/>
          <a:ext cx="758428" cy="489218"/>
        </a:xfrm>
        <a:prstGeom prst="roundRect">
          <a:avLst>
            <a:gd name="adj" fmla="val 10000"/>
          </a:avLst>
        </a:prstGeom>
        <a:solidFill>
          <a:schemeClr val="bg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kern="1200" dirty="0">
              <a:latin typeface="EYInterstate" pitchFamily="2" charset="0"/>
            </a:rPr>
            <a:t>Subscriber Provisioning</a:t>
          </a:r>
        </a:p>
      </dsp:txBody>
      <dsp:txXfrm>
        <a:off x="1743818" y="113652"/>
        <a:ext cx="729770" cy="460560"/>
      </dsp:txXfrm>
    </dsp:sp>
    <dsp:sp modelId="{5E10FB02-320F-431D-B666-AECEF32B1859}">
      <dsp:nvSpPr>
        <dsp:cNvPr id="0" name=""/>
        <dsp:cNvSpPr/>
      </dsp:nvSpPr>
      <dsp:spPr>
        <a:xfrm rot="5400000">
          <a:off x="2092113" y="605132"/>
          <a:ext cx="33181" cy="33181"/>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F8E9AF90-74D6-4CB6-A57B-9E958E3B9B89}">
      <dsp:nvSpPr>
        <dsp:cNvPr id="0" name=""/>
        <dsp:cNvSpPr/>
      </dsp:nvSpPr>
      <dsp:spPr>
        <a:xfrm>
          <a:off x="1729489" y="654903"/>
          <a:ext cx="758428" cy="312572"/>
        </a:xfrm>
        <a:prstGeom prst="roundRect">
          <a:avLst>
            <a:gd name="adj" fmla="val 10000"/>
          </a:avLst>
        </a:prstGeom>
        <a:solidFill>
          <a:schemeClr val="bg1">
            <a:lumMod val="50000"/>
            <a:alpha val="90000"/>
          </a:schemeClr>
        </a:solidFill>
        <a:ln w="25400" cap="flat" cmpd="sng" algn="ctr">
          <a:solidFill>
            <a:schemeClr val="bg1">
              <a:lumMod val="50000"/>
              <a:alpha val="9000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350" tIns="6350" rIns="6350" bIns="6350" numCol="1" spcCol="1270" anchor="ctr" anchorCtr="0">
          <a:noAutofit/>
        </a:bodyPr>
        <a:lstStyle/>
        <a:p>
          <a:pPr marL="0" lvl="0" indent="0" algn="ctr" defTabSz="222250">
            <a:lnSpc>
              <a:spcPct val="90000"/>
            </a:lnSpc>
            <a:spcBef>
              <a:spcPct val="0"/>
            </a:spcBef>
            <a:spcAft>
              <a:spcPct val="35000"/>
            </a:spcAft>
            <a:buNone/>
          </a:pPr>
          <a:r>
            <a:rPr lang="en-US" sz="500" kern="1200" dirty="0"/>
            <a:t>Configuration at HLR ,VLR &amp; IN</a:t>
          </a:r>
        </a:p>
      </dsp:txBody>
      <dsp:txXfrm>
        <a:off x="1738644" y="664058"/>
        <a:ext cx="740118" cy="294262"/>
      </dsp:txXfrm>
    </dsp:sp>
    <dsp:sp modelId="{199449A2-40A5-47A6-B902-CA30FDAF79D5}">
      <dsp:nvSpPr>
        <dsp:cNvPr id="0" name=""/>
        <dsp:cNvSpPr/>
      </dsp:nvSpPr>
      <dsp:spPr>
        <a:xfrm>
          <a:off x="2594098" y="99323"/>
          <a:ext cx="758428" cy="489218"/>
        </a:xfrm>
        <a:prstGeom prst="roundRect">
          <a:avLst>
            <a:gd name="adj" fmla="val 10000"/>
          </a:avLst>
        </a:prstGeom>
        <a:solidFill>
          <a:srgbClr val="FFC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kern="1200" dirty="0">
              <a:latin typeface="EYInterstate" pitchFamily="2" charset="0"/>
            </a:rPr>
            <a:t>Rating &amp; Billing</a:t>
          </a:r>
        </a:p>
      </dsp:txBody>
      <dsp:txXfrm>
        <a:off x="2608427" y="113652"/>
        <a:ext cx="729770" cy="460560"/>
      </dsp:txXfrm>
    </dsp:sp>
    <dsp:sp modelId="{46A9DAD1-10FA-4448-BB21-D749B091FD05}">
      <dsp:nvSpPr>
        <dsp:cNvPr id="0" name=""/>
        <dsp:cNvSpPr/>
      </dsp:nvSpPr>
      <dsp:spPr>
        <a:xfrm rot="5400000">
          <a:off x="2956721" y="605132"/>
          <a:ext cx="33181" cy="33181"/>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B1FEB3E-A9CD-485C-A677-5DD0A96F684A}">
      <dsp:nvSpPr>
        <dsp:cNvPr id="0" name=""/>
        <dsp:cNvSpPr/>
      </dsp:nvSpPr>
      <dsp:spPr>
        <a:xfrm>
          <a:off x="2594098" y="654903"/>
          <a:ext cx="758428" cy="312572"/>
        </a:xfrm>
        <a:prstGeom prst="roundRect">
          <a:avLst>
            <a:gd name="adj" fmla="val 10000"/>
          </a:avLst>
        </a:prstGeom>
        <a:solidFill>
          <a:srgbClr val="FFC000">
            <a:alpha val="90000"/>
          </a:srgbClr>
        </a:solidFill>
        <a:ln w="25400" cap="flat" cmpd="sng" algn="ctr">
          <a:solidFill>
            <a:srgbClr val="FFC000">
              <a:alpha val="90000"/>
            </a:srgb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350" tIns="6350" rIns="6350" bIns="6350" numCol="1" spcCol="1270" anchor="ctr" anchorCtr="0">
          <a:noAutofit/>
        </a:bodyPr>
        <a:lstStyle/>
        <a:p>
          <a:pPr marL="0" lvl="0" indent="0" algn="ctr" defTabSz="222250">
            <a:lnSpc>
              <a:spcPct val="90000"/>
            </a:lnSpc>
            <a:spcBef>
              <a:spcPct val="0"/>
            </a:spcBef>
            <a:spcAft>
              <a:spcPct val="35000"/>
            </a:spcAft>
            <a:buNone/>
          </a:pPr>
          <a:r>
            <a:rPr lang="en-US" sz="500" kern="1200" dirty="0"/>
            <a:t>TAP exchange, rating subscriber billing &amp; prepaid charging</a:t>
          </a:r>
        </a:p>
      </dsp:txBody>
      <dsp:txXfrm>
        <a:off x="2603253" y="664058"/>
        <a:ext cx="740118" cy="294262"/>
      </dsp:txXfrm>
    </dsp:sp>
  </dsp:spTree>
</dsp:drawing>
</file>

<file path=ppt/diagrams/layout1.xml><?xml version="1.0" encoding="utf-8"?>
<dgm:layoutDef xmlns:dgm="http://schemas.openxmlformats.org/drawingml/2006/diagram" xmlns:a="http://schemas.openxmlformats.org/drawingml/2006/main" uniqueId="urn:microsoft.com/office/officeart/2005/8/layout/lProcess1">
  <dgm:title val=""/>
  <dgm:desc val=""/>
  <dgm:catLst>
    <dgm:cat type="process" pri="1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0" destId="2" srcOrd="0" destOrd="0"/>
        <dgm:cxn modelId="6" srcId="1" destId="3" srcOrd="1" destOrd="0"/>
        <dgm:cxn modelId="23" srcId="2" destId="21" srcOrd="0" destOrd="0"/>
        <dgm:cxn modelId="24" srcId="2" destId="22" srcOrd="1" destOrd="0"/>
        <dgm:cxn modelId="33" srcId="1" destId="31" srcOrd="0" destOrd="0"/>
      </dgm:cxnLst>
      <dgm:bg/>
      <dgm:whole/>
    </dgm:dataModel>
  </dgm:sampData>
  <dgm:styleData>
    <dgm:dataModel>
      <dgm:ptLst>
        <dgm:pt modelId="0" type="doc"/>
        <dgm:pt modelId="1"/>
        <dgm:pt modelId="11"/>
        <dgm:pt modelId="2"/>
        <dgm:pt modelId="22"/>
      </dgm:ptLst>
      <dgm:cxnLst>
        <dgm:cxn modelId="3" srcId="0" destId="1" srcOrd="0" destOrd="0"/>
        <dgm:cxn modelId="4" srcId="0" destId="2" srcOrd="0" destOrd="0"/>
        <dgm:cxn modelId="5" srcId="1" destId="11" srcOrd="0" destOrd="0"/>
        <dgm:cxn modelId="6" srcId="2" destId="2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vertAlign" val="mid"/>
          <dgm:param type="nodeHorzAlign" val="l"/>
          <dgm:param type="nodeVertAlign" val="t"/>
          <dgm:param type="fallback" val="2D"/>
        </dgm:alg>
      </dgm:if>
      <dgm:else name="Name3">
        <dgm:alg type="lin">
          <dgm:param type="linDir" val="fromR"/>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h" for="des" forName="header" refType="h"/>
      <dgm:constr type="w" for="des" forName="header" refType="h" refFor="des" refForName="header" op="equ" fact="4"/>
      <dgm:constr type="h" for="des" forName="child" refType="h" refFor="des" refForName="header" op="equ"/>
      <dgm:constr type="w" for="des" forName="child" refType="w" refFor="des" refForName="header" op="equ"/>
      <dgm:constr type="w" for="ch" forName="hSp" refType="w" refFor="des" refForName="header" op="equ" fact="0.14"/>
      <dgm:constr type="h" for="des" forName="parTrans" refType="h" refFor="des" refForName="header" op="equ" fact="0.35"/>
      <dgm:constr type="h" for="des" forName="sibTrans" refType="h" refFor="des" refForName="parTrans" op="equ"/>
      <dgm:constr type="primFontSz" for="des" forName="child" op="equ" val="65"/>
      <dgm:constr type="primFontSz" for="des" forName="header" op="equ" val="65"/>
    </dgm:constrLst>
    <dgm:ruleLst/>
    <dgm:forEach name="Name4" axis="ch" ptType="node">
      <dgm:layoutNode name="vertFlow">
        <dgm:choose name="Name5">
          <dgm:if name="Name6" func="var" arg="dir" op="equ" val="norm">
            <dgm:alg type="lin">
              <dgm:param type="linDir" val="fromT"/>
              <dgm:param type="nodeHorzAlign" val="ctr"/>
              <dgm:param type="nodeVertAlign" val="t"/>
              <dgm:param type="fallback" val="2D"/>
            </dgm:alg>
          </dgm:if>
          <dgm:else name="Name7">
            <dgm:alg type="lin">
              <dgm:param type="linDir" val="fromT"/>
              <dgm:param type="nodeHorzAlign" val="ctr"/>
              <dgm:param type="nodeVertAlign" val="t"/>
              <dgm:param type="fallback" val="2D"/>
            </dgm:alg>
          </dgm:else>
        </dgm:choose>
        <dgm:shape xmlns:r="http://schemas.openxmlformats.org/officeDocument/2006/relationships" r:blip="">
          <dgm:adjLst/>
        </dgm:shape>
        <dgm:presOf/>
        <dgm:constrLst/>
        <dgm:ruleLst/>
        <dgm:layoutNode name="header" styleLbl="node1">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8" axis="ch" ptType="parTrans" cnt="1">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w" refType="h"/>
              <dgm:constr type="connDist"/>
              <dgm:constr type="wArH" refType="h" fact="0.25"/>
              <dgm:constr type="hArH" refType="wArH" fact="2"/>
              <dgm:constr type="stemThick" refType="hArH" fact="0.667"/>
              <dgm:constr type="begPad" refType="connDist" fact="0.25"/>
              <dgm:constr type="endPad" refType="connDist" fact="0.25"/>
            </dgm:constrLst>
            <dgm:ruleLst/>
          </dgm:layoutNode>
        </dgm:forEach>
        <dgm:forEach name="Name9" axis="ch" ptType="node">
          <dgm:layoutNode name="child" styleLbl="alignAccFollowNode1">
            <dgm:varLst>
              <dgm:chMax val="0"/>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0" axis="followSib" ptType="sibTrans" cnt="1">
            <dgm:layoutNode name="sibTrans" styleLbl="sibTrans2D1">
              <dgm:alg type="conn">
                <dgm:param type="begPts" val="auto"/>
                <dgm:param type="endPts" val="auto"/>
              </dgm:alg>
              <dgm:shape xmlns:r="http://schemas.openxmlformats.org/officeDocument/2006/relationships" type="conn" r:blip="">
                <dgm:adjLst/>
              </dgm:shape>
              <dgm:presOf axis="self"/>
              <dgm:constrLst>
                <dgm:constr type="w" refType="h"/>
                <dgm:constr type="connDist"/>
                <dgm:constr type="wArH" refType="h" fact="0.25"/>
                <dgm:constr type="hArH" refType="wArH" fact="2"/>
                <dgm:constr type="stemThick" refType="hArH" fact="0.667"/>
                <dgm:constr type="begPad" refType="w" fact="0.25"/>
                <dgm:constr type="endPad" refType="w" fact="0.25"/>
              </dgm:constrLst>
              <dgm:ruleLst/>
            </dgm:layoutNode>
          </dgm:forEach>
        </dgm:forEach>
      </dgm:layoutNode>
      <dgm:choose name="Name11">
        <dgm:if name="Name12" axis="self" ptType="node" func="revPos" op="gte" val="2">
          <dgm:layoutNode name="hSp">
            <dgm:alg type="sp"/>
            <dgm:shape xmlns:r="http://schemas.openxmlformats.org/officeDocument/2006/relationships" r:blip="">
              <dgm:adjLst/>
            </dgm:shape>
            <dgm:presOf/>
            <dgm:constrLst/>
            <dgm:ruleLst/>
          </dgm:layoutNode>
        </dgm:if>
        <dgm:else name="Name13"/>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lProcess1">
  <dgm:title val=""/>
  <dgm:desc val=""/>
  <dgm:catLst>
    <dgm:cat type="process" pri="1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0" destId="2" srcOrd="0" destOrd="0"/>
        <dgm:cxn modelId="6" srcId="1" destId="3" srcOrd="1" destOrd="0"/>
        <dgm:cxn modelId="23" srcId="2" destId="21" srcOrd="0" destOrd="0"/>
        <dgm:cxn modelId="24" srcId="2" destId="22" srcOrd="1" destOrd="0"/>
        <dgm:cxn modelId="33" srcId="1" destId="31" srcOrd="0" destOrd="0"/>
      </dgm:cxnLst>
      <dgm:bg/>
      <dgm:whole/>
    </dgm:dataModel>
  </dgm:sampData>
  <dgm:styleData>
    <dgm:dataModel>
      <dgm:ptLst>
        <dgm:pt modelId="0" type="doc"/>
        <dgm:pt modelId="1"/>
        <dgm:pt modelId="11"/>
        <dgm:pt modelId="2"/>
        <dgm:pt modelId="22"/>
      </dgm:ptLst>
      <dgm:cxnLst>
        <dgm:cxn modelId="3" srcId="0" destId="1" srcOrd="0" destOrd="0"/>
        <dgm:cxn modelId="4" srcId="0" destId="2" srcOrd="0" destOrd="0"/>
        <dgm:cxn modelId="5" srcId="1" destId="11" srcOrd="0" destOrd="0"/>
        <dgm:cxn modelId="6" srcId="2" destId="2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vertAlign" val="mid"/>
          <dgm:param type="nodeHorzAlign" val="l"/>
          <dgm:param type="nodeVertAlign" val="t"/>
          <dgm:param type="fallback" val="2D"/>
        </dgm:alg>
      </dgm:if>
      <dgm:else name="Name3">
        <dgm:alg type="lin">
          <dgm:param type="linDir" val="fromR"/>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h" for="des" forName="header" refType="h"/>
      <dgm:constr type="w" for="des" forName="header" refType="h" refFor="des" refForName="header" op="equ" fact="4"/>
      <dgm:constr type="h" for="des" forName="child" refType="h" refFor="des" refForName="header" op="equ"/>
      <dgm:constr type="w" for="des" forName="child" refType="w" refFor="des" refForName="header" op="equ"/>
      <dgm:constr type="w" for="ch" forName="hSp" refType="w" refFor="des" refForName="header" op="equ" fact="0.14"/>
      <dgm:constr type="h" for="des" forName="parTrans" refType="h" refFor="des" refForName="header" op="equ" fact="0.35"/>
      <dgm:constr type="h" for="des" forName="sibTrans" refType="h" refFor="des" refForName="parTrans" op="equ"/>
      <dgm:constr type="primFontSz" for="des" forName="child" op="equ" val="65"/>
      <dgm:constr type="primFontSz" for="des" forName="header" op="equ" val="65"/>
    </dgm:constrLst>
    <dgm:ruleLst/>
    <dgm:forEach name="Name4" axis="ch" ptType="node">
      <dgm:layoutNode name="vertFlow">
        <dgm:choose name="Name5">
          <dgm:if name="Name6" func="var" arg="dir" op="equ" val="norm">
            <dgm:alg type="lin">
              <dgm:param type="linDir" val="fromT"/>
              <dgm:param type="nodeHorzAlign" val="ctr"/>
              <dgm:param type="nodeVertAlign" val="t"/>
              <dgm:param type="fallback" val="2D"/>
            </dgm:alg>
          </dgm:if>
          <dgm:else name="Name7">
            <dgm:alg type="lin">
              <dgm:param type="linDir" val="fromT"/>
              <dgm:param type="nodeHorzAlign" val="ctr"/>
              <dgm:param type="nodeVertAlign" val="t"/>
              <dgm:param type="fallback" val="2D"/>
            </dgm:alg>
          </dgm:else>
        </dgm:choose>
        <dgm:shape xmlns:r="http://schemas.openxmlformats.org/officeDocument/2006/relationships" r:blip="">
          <dgm:adjLst/>
        </dgm:shape>
        <dgm:presOf/>
        <dgm:constrLst/>
        <dgm:ruleLst/>
        <dgm:layoutNode name="header" styleLbl="node1">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8" axis="ch" ptType="parTrans" cnt="1">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w" refType="h"/>
              <dgm:constr type="connDist"/>
              <dgm:constr type="wArH" refType="h" fact="0.25"/>
              <dgm:constr type="hArH" refType="wArH" fact="2"/>
              <dgm:constr type="stemThick" refType="hArH" fact="0.667"/>
              <dgm:constr type="begPad" refType="connDist" fact="0.25"/>
              <dgm:constr type="endPad" refType="connDist" fact="0.25"/>
            </dgm:constrLst>
            <dgm:ruleLst/>
          </dgm:layoutNode>
        </dgm:forEach>
        <dgm:forEach name="Name9" axis="ch" ptType="node">
          <dgm:layoutNode name="child" styleLbl="alignAccFollowNode1">
            <dgm:varLst>
              <dgm:chMax val="0"/>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0" axis="followSib" ptType="sibTrans" cnt="1">
            <dgm:layoutNode name="sibTrans" styleLbl="sibTrans2D1">
              <dgm:alg type="conn">
                <dgm:param type="begPts" val="auto"/>
                <dgm:param type="endPts" val="auto"/>
              </dgm:alg>
              <dgm:shape xmlns:r="http://schemas.openxmlformats.org/officeDocument/2006/relationships" type="conn" r:blip="">
                <dgm:adjLst/>
              </dgm:shape>
              <dgm:presOf axis="self"/>
              <dgm:constrLst>
                <dgm:constr type="w" refType="h"/>
                <dgm:constr type="connDist"/>
                <dgm:constr type="wArH" refType="h" fact="0.25"/>
                <dgm:constr type="hArH" refType="wArH" fact="2"/>
                <dgm:constr type="stemThick" refType="hArH" fact="0.667"/>
                <dgm:constr type="begPad" refType="w" fact="0.25"/>
                <dgm:constr type="endPad" refType="w" fact="0.25"/>
              </dgm:constrLst>
              <dgm:ruleLst/>
            </dgm:layoutNode>
          </dgm:forEach>
        </dgm:forEach>
      </dgm:layoutNode>
      <dgm:choose name="Name11">
        <dgm:if name="Name12" axis="self" ptType="node" func="revPos" op="gte" val="2">
          <dgm:layoutNode name="hSp">
            <dgm:alg type="sp"/>
            <dgm:shape xmlns:r="http://schemas.openxmlformats.org/officeDocument/2006/relationships" r:blip="">
              <dgm:adjLst/>
            </dgm:shape>
            <dgm:presOf/>
            <dgm:constrLst/>
            <dgm:ruleLst/>
          </dgm:layoutNode>
        </dgm:if>
        <dgm:else name="Name13"/>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lProcess1">
  <dgm:title val=""/>
  <dgm:desc val=""/>
  <dgm:catLst>
    <dgm:cat type="process" pri="1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0" destId="2" srcOrd="0" destOrd="0"/>
        <dgm:cxn modelId="6" srcId="1" destId="3" srcOrd="1" destOrd="0"/>
        <dgm:cxn modelId="23" srcId="2" destId="21" srcOrd="0" destOrd="0"/>
        <dgm:cxn modelId="24" srcId="2" destId="22" srcOrd="1" destOrd="0"/>
        <dgm:cxn modelId="33" srcId="1" destId="31" srcOrd="0" destOrd="0"/>
      </dgm:cxnLst>
      <dgm:bg/>
      <dgm:whole/>
    </dgm:dataModel>
  </dgm:sampData>
  <dgm:styleData>
    <dgm:dataModel>
      <dgm:ptLst>
        <dgm:pt modelId="0" type="doc"/>
        <dgm:pt modelId="1"/>
        <dgm:pt modelId="11"/>
        <dgm:pt modelId="2"/>
        <dgm:pt modelId="22"/>
      </dgm:ptLst>
      <dgm:cxnLst>
        <dgm:cxn modelId="3" srcId="0" destId="1" srcOrd="0" destOrd="0"/>
        <dgm:cxn modelId="4" srcId="0" destId="2" srcOrd="0" destOrd="0"/>
        <dgm:cxn modelId="5" srcId="1" destId="11" srcOrd="0" destOrd="0"/>
        <dgm:cxn modelId="6" srcId="2" destId="2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vertAlign" val="mid"/>
          <dgm:param type="nodeHorzAlign" val="l"/>
          <dgm:param type="nodeVertAlign" val="t"/>
          <dgm:param type="fallback" val="2D"/>
        </dgm:alg>
      </dgm:if>
      <dgm:else name="Name3">
        <dgm:alg type="lin">
          <dgm:param type="linDir" val="fromR"/>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h" for="des" forName="header" refType="h"/>
      <dgm:constr type="w" for="des" forName="header" refType="h" refFor="des" refForName="header" op="equ" fact="4"/>
      <dgm:constr type="h" for="des" forName="child" refType="h" refFor="des" refForName="header" op="equ"/>
      <dgm:constr type="w" for="des" forName="child" refType="w" refFor="des" refForName="header" op="equ"/>
      <dgm:constr type="w" for="ch" forName="hSp" refType="w" refFor="des" refForName="header" op="equ" fact="0.14"/>
      <dgm:constr type="h" for="des" forName="parTrans" refType="h" refFor="des" refForName="header" op="equ" fact="0.35"/>
      <dgm:constr type="h" for="des" forName="sibTrans" refType="h" refFor="des" refForName="parTrans" op="equ"/>
      <dgm:constr type="primFontSz" for="des" forName="child" op="equ" val="65"/>
      <dgm:constr type="primFontSz" for="des" forName="header" op="equ" val="65"/>
    </dgm:constrLst>
    <dgm:ruleLst/>
    <dgm:forEach name="Name4" axis="ch" ptType="node">
      <dgm:layoutNode name="vertFlow">
        <dgm:choose name="Name5">
          <dgm:if name="Name6" func="var" arg="dir" op="equ" val="norm">
            <dgm:alg type="lin">
              <dgm:param type="linDir" val="fromT"/>
              <dgm:param type="nodeHorzAlign" val="ctr"/>
              <dgm:param type="nodeVertAlign" val="t"/>
              <dgm:param type="fallback" val="2D"/>
            </dgm:alg>
          </dgm:if>
          <dgm:else name="Name7">
            <dgm:alg type="lin">
              <dgm:param type="linDir" val="fromT"/>
              <dgm:param type="nodeHorzAlign" val="ctr"/>
              <dgm:param type="nodeVertAlign" val="t"/>
              <dgm:param type="fallback" val="2D"/>
            </dgm:alg>
          </dgm:else>
        </dgm:choose>
        <dgm:shape xmlns:r="http://schemas.openxmlformats.org/officeDocument/2006/relationships" r:blip="">
          <dgm:adjLst/>
        </dgm:shape>
        <dgm:presOf/>
        <dgm:constrLst/>
        <dgm:ruleLst/>
        <dgm:layoutNode name="header" styleLbl="node1">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8" axis="ch" ptType="parTrans" cnt="1">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w" refType="h"/>
              <dgm:constr type="connDist"/>
              <dgm:constr type="wArH" refType="h" fact="0.25"/>
              <dgm:constr type="hArH" refType="wArH" fact="2"/>
              <dgm:constr type="stemThick" refType="hArH" fact="0.667"/>
              <dgm:constr type="begPad" refType="connDist" fact="0.25"/>
              <dgm:constr type="endPad" refType="connDist" fact="0.25"/>
            </dgm:constrLst>
            <dgm:ruleLst/>
          </dgm:layoutNode>
        </dgm:forEach>
        <dgm:forEach name="Name9" axis="ch" ptType="node">
          <dgm:layoutNode name="child" styleLbl="alignAccFollowNode1">
            <dgm:varLst>
              <dgm:chMax val="0"/>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0" axis="followSib" ptType="sibTrans" cnt="1">
            <dgm:layoutNode name="sibTrans" styleLbl="sibTrans2D1">
              <dgm:alg type="conn">
                <dgm:param type="begPts" val="auto"/>
                <dgm:param type="endPts" val="auto"/>
              </dgm:alg>
              <dgm:shape xmlns:r="http://schemas.openxmlformats.org/officeDocument/2006/relationships" type="conn" r:blip="">
                <dgm:adjLst/>
              </dgm:shape>
              <dgm:presOf axis="self"/>
              <dgm:constrLst>
                <dgm:constr type="w" refType="h"/>
                <dgm:constr type="connDist"/>
                <dgm:constr type="wArH" refType="h" fact="0.25"/>
                <dgm:constr type="hArH" refType="wArH" fact="2"/>
                <dgm:constr type="stemThick" refType="hArH" fact="0.667"/>
                <dgm:constr type="begPad" refType="w" fact="0.25"/>
                <dgm:constr type="endPad" refType="w" fact="0.25"/>
              </dgm:constrLst>
              <dgm:ruleLst/>
            </dgm:layoutNode>
          </dgm:forEach>
        </dgm:forEach>
      </dgm:layoutNode>
      <dgm:choose name="Name11">
        <dgm:if name="Name12" axis="self" ptType="node" func="revPos" op="gte" val="2">
          <dgm:layoutNode name="hSp">
            <dgm:alg type="sp"/>
            <dgm:shape xmlns:r="http://schemas.openxmlformats.org/officeDocument/2006/relationships" r:blip="">
              <dgm:adjLst/>
            </dgm:shape>
            <dgm:presOf/>
            <dgm:constrLst/>
            <dgm:ruleLst/>
          </dgm:layoutNode>
        </dgm:if>
        <dgm:else name="Name13"/>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lProcess1">
  <dgm:title val=""/>
  <dgm:desc val=""/>
  <dgm:catLst>
    <dgm:cat type="process" pri="1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0" destId="2" srcOrd="0" destOrd="0"/>
        <dgm:cxn modelId="6" srcId="1" destId="3" srcOrd="1" destOrd="0"/>
        <dgm:cxn modelId="23" srcId="2" destId="21" srcOrd="0" destOrd="0"/>
        <dgm:cxn modelId="24" srcId="2" destId="22" srcOrd="1" destOrd="0"/>
        <dgm:cxn modelId="33" srcId="1" destId="31" srcOrd="0" destOrd="0"/>
      </dgm:cxnLst>
      <dgm:bg/>
      <dgm:whole/>
    </dgm:dataModel>
  </dgm:sampData>
  <dgm:styleData>
    <dgm:dataModel>
      <dgm:ptLst>
        <dgm:pt modelId="0" type="doc"/>
        <dgm:pt modelId="1"/>
        <dgm:pt modelId="11"/>
        <dgm:pt modelId="2"/>
        <dgm:pt modelId="22"/>
      </dgm:ptLst>
      <dgm:cxnLst>
        <dgm:cxn modelId="3" srcId="0" destId="1" srcOrd="0" destOrd="0"/>
        <dgm:cxn modelId="4" srcId="0" destId="2" srcOrd="0" destOrd="0"/>
        <dgm:cxn modelId="5" srcId="1" destId="11" srcOrd="0" destOrd="0"/>
        <dgm:cxn modelId="6" srcId="2" destId="2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vertAlign" val="mid"/>
          <dgm:param type="nodeHorzAlign" val="l"/>
          <dgm:param type="nodeVertAlign" val="t"/>
          <dgm:param type="fallback" val="2D"/>
        </dgm:alg>
      </dgm:if>
      <dgm:else name="Name3">
        <dgm:alg type="lin">
          <dgm:param type="linDir" val="fromR"/>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h" for="des" forName="header" refType="h"/>
      <dgm:constr type="w" for="des" forName="header" refType="h" refFor="des" refForName="header" op="equ" fact="4"/>
      <dgm:constr type="h" for="des" forName="child" refType="h" refFor="des" refForName="header" op="equ"/>
      <dgm:constr type="w" for="des" forName="child" refType="w" refFor="des" refForName="header" op="equ"/>
      <dgm:constr type="w" for="ch" forName="hSp" refType="w" refFor="des" refForName="header" op="equ" fact="0.14"/>
      <dgm:constr type="h" for="des" forName="parTrans" refType="h" refFor="des" refForName="header" op="equ" fact="0.35"/>
      <dgm:constr type="h" for="des" forName="sibTrans" refType="h" refFor="des" refForName="parTrans" op="equ"/>
      <dgm:constr type="primFontSz" for="des" forName="child" op="equ" val="65"/>
      <dgm:constr type="primFontSz" for="des" forName="header" op="equ" val="65"/>
    </dgm:constrLst>
    <dgm:ruleLst/>
    <dgm:forEach name="Name4" axis="ch" ptType="node">
      <dgm:layoutNode name="vertFlow">
        <dgm:choose name="Name5">
          <dgm:if name="Name6" func="var" arg="dir" op="equ" val="norm">
            <dgm:alg type="lin">
              <dgm:param type="linDir" val="fromT"/>
              <dgm:param type="nodeHorzAlign" val="ctr"/>
              <dgm:param type="nodeVertAlign" val="t"/>
              <dgm:param type="fallback" val="2D"/>
            </dgm:alg>
          </dgm:if>
          <dgm:else name="Name7">
            <dgm:alg type="lin">
              <dgm:param type="linDir" val="fromT"/>
              <dgm:param type="nodeHorzAlign" val="ctr"/>
              <dgm:param type="nodeVertAlign" val="t"/>
              <dgm:param type="fallback" val="2D"/>
            </dgm:alg>
          </dgm:else>
        </dgm:choose>
        <dgm:shape xmlns:r="http://schemas.openxmlformats.org/officeDocument/2006/relationships" r:blip="">
          <dgm:adjLst/>
        </dgm:shape>
        <dgm:presOf/>
        <dgm:constrLst/>
        <dgm:ruleLst/>
        <dgm:layoutNode name="header" styleLbl="node1">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8" axis="ch" ptType="parTrans" cnt="1">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w" refType="h"/>
              <dgm:constr type="connDist"/>
              <dgm:constr type="wArH" refType="h" fact="0.25"/>
              <dgm:constr type="hArH" refType="wArH" fact="2"/>
              <dgm:constr type="stemThick" refType="hArH" fact="0.667"/>
              <dgm:constr type="begPad" refType="connDist" fact="0.25"/>
              <dgm:constr type="endPad" refType="connDist" fact="0.25"/>
            </dgm:constrLst>
            <dgm:ruleLst/>
          </dgm:layoutNode>
        </dgm:forEach>
        <dgm:forEach name="Name9" axis="ch" ptType="node">
          <dgm:layoutNode name="child" styleLbl="alignAccFollowNode1">
            <dgm:varLst>
              <dgm:chMax val="0"/>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0" axis="followSib" ptType="sibTrans" cnt="1">
            <dgm:layoutNode name="sibTrans" styleLbl="sibTrans2D1">
              <dgm:alg type="conn">
                <dgm:param type="begPts" val="auto"/>
                <dgm:param type="endPts" val="auto"/>
              </dgm:alg>
              <dgm:shape xmlns:r="http://schemas.openxmlformats.org/officeDocument/2006/relationships" type="conn" r:blip="">
                <dgm:adjLst/>
              </dgm:shape>
              <dgm:presOf axis="self"/>
              <dgm:constrLst>
                <dgm:constr type="w" refType="h"/>
                <dgm:constr type="connDist"/>
                <dgm:constr type="wArH" refType="h" fact="0.25"/>
                <dgm:constr type="hArH" refType="wArH" fact="2"/>
                <dgm:constr type="stemThick" refType="hArH" fact="0.667"/>
                <dgm:constr type="begPad" refType="w" fact="0.25"/>
                <dgm:constr type="endPad" refType="w" fact="0.25"/>
              </dgm:constrLst>
              <dgm:ruleLst/>
            </dgm:layoutNode>
          </dgm:forEach>
        </dgm:forEach>
      </dgm:layoutNode>
      <dgm:choose name="Name11">
        <dgm:if name="Name12" axis="self" ptType="node" func="revPos" op="gte" val="2">
          <dgm:layoutNode name="hSp">
            <dgm:alg type="sp"/>
            <dgm:shape xmlns:r="http://schemas.openxmlformats.org/officeDocument/2006/relationships" r:blip="">
              <dgm:adjLst/>
            </dgm:shape>
            <dgm:presOf/>
            <dgm:constrLst/>
            <dgm:ruleLst/>
          </dgm:layoutNode>
        </dgm:if>
        <dgm:else name="Name13"/>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lProcess1">
  <dgm:title val=""/>
  <dgm:desc val=""/>
  <dgm:catLst>
    <dgm:cat type="process" pri="1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0" destId="2" srcOrd="0" destOrd="0"/>
        <dgm:cxn modelId="6" srcId="1" destId="3" srcOrd="1" destOrd="0"/>
        <dgm:cxn modelId="23" srcId="2" destId="21" srcOrd="0" destOrd="0"/>
        <dgm:cxn modelId="24" srcId="2" destId="22" srcOrd="1" destOrd="0"/>
        <dgm:cxn modelId="33" srcId="1" destId="31" srcOrd="0" destOrd="0"/>
      </dgm:cxnLst>
      <dgm:bg/>
      <dgm:whole/>
    </dgm:dataModel>
  </dgm:sampData>
  <dgm:styleData>
    <dgm:dataModel>
      <dgm:ptLst>
        <dgm:pt modelId="0" type="doc"/>
        <dgm:pt modelId="1"/>
        <dgm:pt modelId="11"/>
        <dgm:pt modelId="2"/>
        <dgm:pt modelId="22"/>
      </dgm:ptLst>
      <dgm:cxnLst>
        <dgm:cxn modelId="3" srcId="0" destId="1" srcOrd="0" destOrd="0"/>
        <dgm:cxn modelId="4" srcId="0" destId="2" srcOrd="0" destOrd="0"/>
        <dgm:cxn modelId="5" srcId="1" destId="11" srcOrd="0" destOrd="0"/>
        <dgm:cxn modelId="6" srcId="2" destId="2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vertAlign" val="mid"/>
          <dgm:param type="nodeHorzAlign" val="l"/>
          <dgm:param type="nodeVertAlign" val="t"/>
          <dgm:param type="fallback" val="2D"/>
        </dgm:alg>
      </dgm:if>
      <dgm:else name="Name3">
        <dgm:alg type="lin">
          <dgm:param type="linDir" val="fromR"/>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h" for="des" forName="header" refType="h"/>
      <dgm:constr type="w" for="des" forName="header" refType="h" refFor="des" refForName="header" op="equ" fact="4"/>
      <dgm:constr type="h" for="des" forName="child" refType="h" refFor="des" refForName="header" op="equ"/>
      <dgm:constr type="w" for="des" forName="child" refType="w" refFor="des" refForName="header" op="equ"/>
      <dgm:constr type="w" for="ch" forName="hSp" refType="w" refFor="des" refForName="header" op="equ" fact="0.14"/>
      <dgm:constr type="h" for="des" forName="parTrans" refType="h" refFor="des" refForName="header" op="equ" fact="0.35"/>
      <dgm:constr type="h" for="des" forName="sibTrans" refType="h" refFor="des" refForName="parTrans" op="equ"/>
      <dgm:constr type="primFontSz" for="des" forName="child" op="equ" val="65"/>
      <dgm:constr type="primFontSz" for="des" forName="header" op="equ" val="65"/>
    </dgm:constrLst>
    <dgm:ruleLst/>
    <dgm:forEach name="Name4" axis="ch" ptType="node">
      <dgm:layoutNode name="vertFlow">
        <dgm:choose name="Name5">
          <dgm:if name="Name6" func="var" arg="dir" op="equ" val="norm">
            <dgm:alg type="lin">
              <dgm:param type="linDir" val="fromT"/>
              <dgm:param type="nodeHorzAlign" val="ctr"/>
              <dgm:param type="nodeVertAlign" val="t"/>
              <dgm:param type="fallback" val="2D"/>
            </dgm:alg>
          </dgm:if>
          <dgm:else name="Name7">
            <dgm:alg type="lin">
              <dgm:param type="linDir" val="fromT"/>
              <dgm:param type="nodeHorzAlign" val="ctr"/>
              <dgm:param type="nodeVertAlign" val="t"/>
              <dgm:param type="fallback" val="2D"/>
            </dgm:alg>
          </dgm:else>
        </dgm:choose>
        <dgm:shape xmlns:r="http://schemas.openxmlformats.org/officeDocument/2006/relationships" r:blip="">
          <dgm:adjLst/>
        </dgm:shape>
        <dgm:presOf/>
        <dgm:constrLst/>
        <dgm:ruleLst/>
        <dgm:layoutNode name="header" styleLbl="node1">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8" axis="ch" ptType="parTrans" cnt="1">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w" refType="h"/>
              <dgm:constr type="connDist"/>
              <dgm:constr type="wArH" refType="h" fact="0.25"/>
              <dgm:constr type="hArH" refType="wArH" fact="2"/>
              <dgm:constr type="stemThick" refType="hArH" fact="0.667"/>
              <dgm:constr type="begPad" refType="connDist" fact="0.25"/>
              <dgm:constr type="endPad" refType="connDist" fact="0.25"/>
            </dgm:constrLst>
            <dgm:ruleLst/>
          </dgm:layoutNode>
        </dgm:forEach>
        <dgm:forEach name="Name9" axis="ch" ptType="node">
          <dgm:layoutNode name="child" styleLbl="alignAccFollowNode1">
            <dgm:varLst>
              <dgm:chMax val="0"/>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0" axis="followSib" ptType="sibTrans" cnt="1">
            <dgm:layoutNode name="sibTrans" styleLbl="sibTrans2D1">
              <dgm:alg type="conn">
                <dgm:param type="begPts" val="auto"/>
                <dgm:param type="endPts" val="auto"/>
              </dgm:alg>
              <dgm:shape xmlns:r="http://schemas.openxmlformats.org/officeDocument/2006/relationships" type="conn" r:blip="">
                <dgm:adjLst/>
              </dgm:shape>
              <dgm:presOf axis="self"/>
              <dgm:constrLst>
                <dgm:constr type="w" refType="h"/>
                <dgm:constr type="connDist"/>
                <dgm:constr type="wArH" refType="h" fact="0.25"/>
                <dgm:constr type="hArH" refType="wArH" fact="2"/>
                <dgm:constr type="stemThick" refType="hArH" fact="0.667"/>
                <dgm:constr type="begPad" refType="w" fact="0.25"/>
                <dgm:constr type="endPad" refType="w" fact="0.25"/>
              </dgm:constrLst>
              <dgm:ruleLst/>
            </dgm:layoutNode>
          </dgm:forEach>
        </dgm:forEach>
      </dgm:layoutNode>
      <dgm:choose name="Name11">
        <dgm:if name="Name12" axis="self" ptType="node" func="revPos" op="gte" val="2">
          <dgm:layoutNode name="hSp">
            <dgm:alg type="sp"/>
            <dgm:shape xmlns:r="http://schemas.openxmlformats.org/officeDocument/2006/relationships" r:blip="">
              <dgm:adjLst/>
            </dgm:shape>
            <dgm:presOf/>
            <dgm:constrLst/>
            <dgm:ruleLst/>
          </dgm:layoutNode>
        </dgm:if>
        <dgm:else name="Name13"/>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9638" name="Rectangle 6"/>
          <p:cNvSpPr>
            <a:spLocks noChangeArrowheads="1"/>
          </p:cNvSpPr>
          <p:nvPr/>
        </p:nvSpPr>
        <p:spPr bwMode="auto">
          <a:xfrm>
            <a:off x="148864" y="9492074"/>
            <a:ext cx="1208773" cy="150091"/>
          </a:xfrm>
          <a:prstGeom prst="rect">
            <a:avLst/>
          </a:prstGeom>
          <a:noFill/>
          <a:ln w="9525">
            <a:noFill/>
            <a:miter lim="800000"/>
            <a:headEnd/>
            <a:tailEnd/>
          </a:ln>
          <a:effectLst/>
        </p:spPr>
        <p:txBody>
          <a:bodyPr lIns="0" tIns="0" rIns="0" bIns="0"/>
          <a:lstStyle/>
          <a:p>
            <a:r>
              <a:rPr lang="en-US" sz="1100" dirty="0">
                <a:cs typeface="Arial" charset="0"/>
              </a:rPr>
              <a:t>May 22, 2008</a:t>
            </a:r>
          </a:p>
        </p:txBody>
      </p:sp>
      <p:sp>
        <p:nvSpPr>
          <p:cNvPr id="69639" name="Rectangle 7"/>
          <p:cNvSpPr>
            <a:spLocks noChangeArrowheads="1"/>
          </p:cNvSpPr>
          <p:nvPr/>
        </p:nvSpPr>
        <p:spPr bwMode="auto">
          <a:xfrm>
            <a:off x="2326740" y="9492074"/>
            <a:ext cx="1929274" cy="204520"/>
          </a:xfrm>
          <a:prstGeom prst="rect">
            <a:avLst/>
          </a:prstGeom>
          <a:noFill/>
          <a:ln w="9525">
            <a:noFill/>
            <a:miter lim="800000"/>
            <a:headEnd/>
            <a:tailEnd/>
          </a:ln>
          <a:effectLst/>
        </p:spPr>
        <p:txBody>
          <a:bodyPr lIns="0" tIns="0" rIns="0" bIns="0"/>
          <a:lstStyle/>
          <a:p>
            <a:r>
              <a:rPr lang="en-US" sz="1100" dirty="0">
                <a:cs typeface="Arial" charset="0"/>
              </a:rPr>
              <a:t>Presentation title</a:t>
            </a:r>
          </a:p>
        </p:txBody>
      </p:sp>
      <p:sp>
        <p:nvSpPr>
          <p:cNvPr id="69640" name="Rectangle 8"/>
          <p:cNvSpPr>
            <a:spLocks noChangeArrowheads="1"/>
          </p:cNvSpPr>
          <p:nvPr/>
        </p:nvSpPr>
        <p:spPr bwMode="auto">
          <a:xfrm>
            <a:off x="1533296" y="9492074"/>
            <a:ext cx="622251" cy="204520"/>
          </a:xfrm>
          <a:prstGeom prst="rect">
            <a:avLst/>
          </a:prstGeom>
          <a:noFill/>
          <a:ln w="9525">
            <a:noFill/>
            <a:miter lim="800000"/>
            <a:headEnd/>
            <a:tailEnd/>
          </a:ln>
          <a:effectLst/>
        </p:spPr>
        <p:txBody>
          <a:bodyPr lIns="0" tIns="0" rIns="0" bIns="0"/>
          <a:lstStyle/>
          <a:p>
            <a:r>
              <a:rPr lang="en-US" sz="1100" dirty="0">
                <a:cs typeface="Arial" charset="0"/>
              </a:rPr>
              <a:t>Page </a:t>
            </a:r>
            <a:fld id="{74984DEF-64B7-4B0D-9CAD-88AC71C7ACA2}" type="slidenum">
              <a:rPr lang="en-US" sz="1100">
                <a:cs typeface="Arial" charset="0"/>
              </a:rPr>
              <a:pPr/>
              <a:t>‹#›</a:t>
            </a:fld>
            <a:endParaRPr lang="en-US" sz="1100" dirty="0">
              <a:cs typeface="Arial" charset="0"/>
            </a:endParaRPr>
          </a:p>
        </p:txBody>
      </p:sp>
      <p:pic>
        <p:nvPicPr>
          <p:cNvPr id="69641" name="Picture 9" descr="logo_tagblack"/>
          <p:cNvPicPr>
            <a:picLocks noChangeAspect="1" noChangeArrowheads="1"/>
          </p:cNvPicPr>
          <p:nvPr/>
        </p:nvPicPr>
        <p:blipFill>
          <a:blip r:embed="rId2" cstate="print"/>
          <a:srcRect/>
          <a:stretch>
            <a:fillRect/>
          </a:stretch>
        </p:blipFill>
        <p:spPr bwMode="auto">
          <a:xfrm>
            <a:off x="5122401" y="9302397"/>
            <a:ext cx="1393364" cy="346366"/>
          </a:xfrm>
          <a:prstGeom prst="rect">
            <a:avLst/>
          </a:prstGeom>
          <a:noFill/>
        </p:spPr>
      </p:pic>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6" name="Rectangle 4"/>
          <p:cNvSpPr>
            <a:spLocks noGrp="1" noRot="1" noChangeAspect="1" noChangeArrowheads="1" noTextEdit="1"/>
          </p:cNvSpPr>
          <p:nvPr>
            <p:ph type="sldImg" idx="2"/>
          </p:nvPr>
        </p:nvSpPr>
        <p:spPr bwMode="auto">
          <a:xfrm>
            <a:off x="877888" y="733425"/>
            <a:ext cx="4889500" cy="3667125"/>
          </a:xfrm>
          <a:prstGeom prst="rect">
            <a:avLst/>
          </a:prstGeom>
          <a:noFill/>
          <a:ln w="9525">
            <a:solidFill>
              <a:srgbClr val="000000"/>
            </a:solidFill>
            <a:miter lim="800000"/>
            <a:headEnd/>
            <a:tailEnd/>
          </a:ln>
          <a:effectLst/>
        </p:spPr>
      </p:sp>
      <p:sp>
        <p:nvSpPr>
          <p:cNvPr id="8197" name="Rectangle 5"/>
          <p:cNvSpPr>
            <a:spLocks noGrp="1" noChangeArrowheads="1"/>
          </p:cNvSpPr>
          <p:nvPr>
            <p:ph type="body" sz="quarter" idx="3"/>
          </p:nvPr>
        </p:nvSpPr>
        <p:spPr bwMode="auto">
          <a:xfrm>
            <a:off x="663932" y="4644601"/>
            <a:ext cx="5317411" cy="4398847"/>
          </a:xfrm>
          <a:prstGeom prst="rect">
            <a:avLst/>
          </a:prstGeom>
          <a:noFill/>
          <a:ln w="9525">
            <a:noFill/>
            <a:miter lim="800000"/>
            <a:headEnd/>
            <a:tailEnd/>
          </a:ln>
          <a:effectLst/>
        </p:spPr>
        <p:txBody>
          <a:bodyPr vert="horz" wrap="square" lIns="92851" tIns="46426" rIns="92851" bIns="46426"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200" name="Rectangle 8"/>
          <p:cNvSpPr>
            <a:spLocks noChangeArrowheads="1"/>
          </p:cNvSpPr>
          <p:nvPr/>
        </p:nvSpPr>
        <p:spPr bwMode="auto">
          <a:xfrm>
            <a:off x="148864" y="9492074"/>
            <a:ext cx="1208773" cy="150091"/>
          </a:xfrm>
          <a:prstGeom prst="rect">
            <a:avLst/>
          </a:prstGeom>
          <a:noFill/>
          <a:ln w="9525">
            <a:noFill/>
            <a:miter lim="800000"/>
            <a:headEnd/>
            <a:tailEnd/>
          </a:ln>
          <a:effectLst/>
        </p:spPr>
        <p:txBody>
          <a:bodyPr lIns="0" tIns="0" rIns="0" bIns="0"/>
          <a:lstStyle/>
          <a:p>
            <a:r>
              <a:rPr lang="en-US" sz="1100" dirty="0">
                <a:cs typeface="Arial" charset="0"/>
              </a:rPr>
              <a:t>May 22, 2008</a:t>
            </a:r>
          </a:p>
        </p:txBody>
      </p:sp>
      <p:sp>
        <p:nvSpPr>
          <p:cNvPr id="8201" name="Rectangle 9"/>
          <p:cNvSpPr>
            <a:spLocks noChangeArrowheads="1"/>
          </p:cNvSpPr>
          <p:nvPr/>
        </p:nvSpPr>
        <p:spPr bwMode="auto">
          <a:xfrm>
            <a:off x="2326740" y="9492074"/>
            <a:ext cx="1929274" cy="204520"/>
          </a:xfrm>
          <a:prstGeom prst="rect">
            <a:avLst/>
          </a:prstGeom>
          <a:noFill/>
          <a:ln w="9525">
            <a:noFill/>
            <a:miter lim="800000"/>
            <a:headEnd/>
            <a:tailEnd/>
          </a:ln>
          <a:effectLst/>
        </p:spPr>
        <p:txBody>
          <a:bodyPr lIns="0" tIns="0" rIns="0" bIns="0"/>
          <a:lstStyle/>
          <a:p>
            <a:r>
              <a:rPr lang="en-US" sz="1100" dirty="0">
                <a:cs typeface="Arial" charset="0"/>
              </a:rPr>
              <a:t>Presentation title</a:t>
            </a:r>
          </a:p>
        </p:txBody>
      </p:sp>
      <p:sp>
        <p:nvSpPr>
          <p:cNvPr id="8202" name="Rectangle 10"/>
          <p:cNvSpPr>
            <a:spLocks noChangeArrowheads="1"/>
          </p:cNvSpPr>
          <p:nvPr/>
        </p:nvSpPr>
        <p:spPr bwMode="auto">
          <a:xfrm>
            <a:off x="1533296" y="9492074"/>
            <a:ext cx="622251" cy="204520"/>
          </a:xfrm>
          <a:prstGeom prst="rect">
            <a:avLst/>
          </a:prstGeom>
          <a:noFill/>
          <a:ln w="9525">
            <a:noFill/>
            <a:miter lim="800000"/>
            <a:headEnd/>
            <a:tailEnd/>
          </a:ln>
          <a:effectLst/>
        </p:spPr>
        <p:txBody>
          <a:bodyPr lIns="0" tIns="0" rIns="0" bIns="0"/>
          <a:lstStyle/>
          <a:p>
            <a:r>
              <a:rPr lang="en-US" sz="1100" dirty="0">
                <a:cs typeface="Arial" charset="0"/>
              </a:rPr>
              <a:t>Page </a:t>
            </a:r>
            <a:fld id="{FA5FCB97-0EDB-4471-BEA3-C3A3F240EE22}" type="slidenum">
              <a:rPr lang="en-US" sz="1100">
                <a:cs typeface="Arial" charset="0"/>
              </a:rPr>
              <a:pPr/>
              <a:t>‹#›</a:t>
            </a:fld>
            <a:endParaRPr lang="en-US" sz="1100" dirty="0">
              <a:cs typeface="Arial" charset="0"/>
            </a:endParaRPr>
          </a:p>
        </p:txBody>
      </p:sp>
      <p:pic>
        <p:nvPicPr>
          <p:cNvPr id="8203" name="Picture 11" descr="logo_tagblack"/>
          <p:cNvPicPr>
            <a:picLocks noChangeAspect="1" noChangeArrowheads="1"/>
          </p:cNvPicPr>
          <p:nvPr/>
        </p:nvPicPr>
        <p:blipFill>
          <a:blip r:embed="rId2"/>
          <a:srcRect/>
          <a:stretch>
            <a:fillRect/>
          </a:stretch>
        </p:blipFill>
        <p:spPr bwMode="auto">
          <a:xfrm>
            <a:off x="5122401" y="9302397"/>
            <a:ext cx="1393364" cy="346366"/>
          </a:xfrm>
          <a:prstGeom prst="rect">
            <a:avLst/>
          </a:prstGeom>
          <a:noFill/>
        </p:spPr>
      </p:pic>
    </p:spTree>
  </p:cSld>
  <p:clrMap bg1="lt1" tx1="dk1" bg2="lt2" tx2="dk2" accent1="accent1" accent2="accent2" accent3="accent3" accent4="accent4" accent5="accent5" accent6="accent6" hlink="hlink" folHlink="folHlink"/>
  <p:notesStyle>
    <a:lvl1pPr algn="l" rtl="0" fontAlgn="base">
      <a:spcBef>
        <a:spcPct val="30000"/>
      </a:spcBef>
      <a:spcAft>
        <a:spcPct val="0"/>
      </a:spcAft>
      <a:buClr>
        <a:srgbClr val="FFD200"/>
      </a:buClr>
      <a:buSzPct val="75000"/>
      <a:buFont typeface="Arial" charset="0"/>
      <a:defRPr sz="1200" kern="1200">
        <a:solidFill>
          <a:schemeClr val="tx1"/>
        </a:solidFill>
        <a:latin typeface="Arial" charset="0"/>
        <a:ea typeface="+mn-ea"/>
        <a:cs typeface="+mn-cs"/>
      </a:defRPr>
    </a:lvl1pPr>
    <a:lvl2pPr marL="1588" indent="179388" algn="l" rtl="0" fontAlgn="base">
      <a:spcBef>
        <a:spcPct val="30000"/>
      </a:spcBef>
      <a:spcAft>
        <a:spcPct val="0"/>
      </a:spcAft>
      <a:buClr>
        <a:srgbClr val="FFD200"/>
      </a:buClr>
      <a:buSzPct val="75000"/>
      <a:buFont typeface="Arial" charset="0"/>
      <a:buChar char="►"/>
      <a:defRPr sz="1200" kern="1200">
        <a:solidFill>
          <a:schemeClr val="tx1"/>
        </a:solidFill>
        <a:latin typeface="Arial" charset="0"/>
        <a:ea typeface="+mn-ea"/>
        <a:cs typeface="+mn-cs"/>
      </a:defRPr>
    </a:lvl2pPr>
    <a:lvl3pPr marL="360363" indent="190500" algn="l" rtl="0" fontAlgn="base">
      <a:spcBef>
        <a:spcPct val="30000"/>
      </a:spcBef>
      <a:spcAft>
        <a:spcPct val="0"/>
      </a:spcAft>
      <a:buClr>
        <a:srgbClr val="FFD200"/>
      </a:buClr>
      <a:buSzPct val="75000"/>
      <a:buFont typeface="Arial" charset="0"/>
      <a:buChar char="►"/>
      <a:defRPr sz="1200" kern="1200">
        <a:solidFill>
          <a:schemeClr val="tx1"/>
        </a:solidFill>
        <a:latin typeface="Arial" charset="0"/>
        <a:ea typeface="+mn-ea"/>
        <a:cs typeface="+mn-cs"/>
      </a:defRPr>
    </a:lvl3pPr>
    <a:lvl4pPr marL="723900" indent="177800" algn="l" rtl="0" fontAlgn="base">
      <a:spcBef>
        <a:spcPct val="30000"/>
      </a:spcBef>
      <a:spcAft>
        <a:spcPct val="0"/>
      </a:spcAft>
      <a:buClr>
        <a:srgbClr val="FFD200"/>
      </a:buClr>
      <a:buSzPct val="75000"/>
      <a:buFont typeface="Arial" charset="0"/>
      <a:buChar char="►"/>
      <a:defRPr sz="1200" kern="1200">
        <a:solidFill>
          <a:schemeClr val="tx1"/>
        </a:solidFill>
        <a:latin typeface="Arial" charset="0"/>
        <a:ea typeface="+mn-ea"/>
        <a:cs typeface="+mn-cs"/>
      </a:defRPr>
    </a:lvl4pPr>
    <a:lvl5pPr marL="1081088" indent="176213" algn="l" rtl="0" fontAlgn="base">
      <a:spcBef>
        <a:spcPct val="30000"/>
      </a:spcBef>
      <a:spcAft>
        <a:spcPct val="0"/>
      </a:spcAft>
      <a:buClr>
        <a:srgbClr val="FFD200"/>
      </a:buClr>
      <a:buSzPct val="75000"/>
      <a:buFont typeface="Arial" charset="0"/>
      <a:buChar char="►"/>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Rectangle 2"/>
          <p:cNvSpPr>
            <a:spLocks noGrp="1" noRot="1" noChangeAspect="1" noChangeArrowheads="1" noTextEdit="1"/>
          </p:cNvSpPr>
          <p:nvPr>
            <p:ph type="sldImg"/>
          </p:nvPr>
        </p:nvSpPr>
        <p:spPr>
          <a:ln/>
        </p:spPr>
      </p:sp>
      <p:sp>
        <p:nvSpPr>
          <p:cNvPr id="237571" name="Rectangle 3"/>
          <p:cNvSpPr>
            <a:spLocks noGrp="1" noChangeArrowheads="1"/>
          </p:cNvSpPr>
          <p:nvPr>
            <p:ph type="body" idx="1"/>
          </p:nvPr>
        </p:nvSpPr>
        <p:spPr/>
        <p:txBody>
          <a:bodyPr/>
          <a:lstStyle/>
          <a:p>
            <a:pPr>
              <a:lnSpc>
                <a:spcPct val="90000"/>
              </a:lnSpc>
            </a:pPr>
            <a:endParaRPr lang="en-US" sz="1000"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a:xfrm>
            <a:off x="3764118" y="9286846"/>
            <a:ext cx="2879619" cy="488871"/>
          </a:xfrm>
          <a:prstGeom prst="rect">
            <a:avLst/>
          </a:prstGeom>
        </p:spPr>
        <p:txBody>
          <a:bodyPr/>
          <a:lstStyle/>
          <a:p>
            <a:fld id="{955BA7DE-2A21-4A50-B07F-8AF04A4AE9CE}" type="slidenum">
              <a:rPr lang="en-US" smtClean="0"/>
              <a:pPr/>
              <a:t>30</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7" name="Title 1"/>
          <p:cNvSpPr>
            <a:spLocks noGrp="1"/>
          </p:cNvSpPr>
          <p:nvPr>
            <p:ph type="ctrTitle"/>
          </p:nvPr>
        </p:nvSpPr>
        <p:spPr>
          <a:xfrm>
            <a:off x="838201" y="1287588"/>
            <a:ext cx="7462877" cy="952216"/>
          </a:xfrm>
        </p:spPr>
        <p:txBody>
          <a:bodyPr/>
          <a:lstStyle>
            <a:lvl1pPr>
              <a:defRPr>
                <a:latin typeface="EYInterstate Regular" pitchFamily="2" charset="0"/>
              </a:defRPr>
            </a:lvl1pPr>
          </a:lstStyle>
          <a:p>
            <a:r>
              <a:rPr lang="en-US" dirty="0"/>
              <a:t>Click to edit Master title style</a:t>
            </a:r>
            <a:endParaRPr lang="en-GB" dirty="0"/>
          </a:p>
        </p:txBody>
      </p:sp>
      <p:sp>
        <p:nvSpPr>
          <p:cNvPr id="8" name="Subtitle 2"/>
          <p:cNvSpPr>
            <a:spLocks noGrp="1"/>
          </p:cNvSpPr>
          <p:nvPr>
            <p:ph type="subTitle" idx="1"/>
          </p:nvPr>
        </p:nvSpPr>
        <p:spPr>
          <a:xfrm>
            <a:off x="838200" y="2357259"/>
            <a:ext cx="5457637" cy="1071741"/>
          </a:xfrm>
        </p:spPr>
        <p:txBody>
          <a:bodyPr/>
          <a:lstStyle>
            <a:lvl1pPr marL="0" indent="0" algn="l">
              <a:buNone/>
              <a:defRPr sz="2000">
                <a:solidFill>
                  <a:schemeClr val="bg2"/>
                </a:solidFill>
                <a:latin typeface="EYInterstate Light" pitchFamily="2" charset="0"/>
              </a:defRPr>
            </a:lvl1pPr>
            <a:lvl2pPr marL="0" indent="0" algn="l">
              <a:buNone/>
              <a:defRPr sz="1600">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endParaRPr lang="en-GB" dirty="0"/>
          </a:p>
        </p:txBody>
      </p:sp>
      <p:grpSp>
        <p:nvGrpSpPr>
          <p:cNvPr id="9" name="Group 8"/>
          <p:cNvGrpSpPr/>
          <p:nvPr userDrawn="1"/>
        </p:nvGrpSpPr>
        <p:grpSpPr>
          <a:xfrm>
            <a:off x="1" y="1107900"/>
            <a:ext cx="9144000" cy="4946592"/>
            <a:chOff x="0" y="1628775"/>
            <a:chExt cx="12198350" cy="4469625"/>
          </a:xfrm>
        </p:grpSpPr>
        <p:sp>
          <p:nvSpPr>
            <p:cNvPr id="10" name="Freeform 8"/>
            <p:cNvSpPr>
              <a:spLocks/>
            </p:cNvSpPr>
            <p:nvPr userDrawn="1"/>
          </p:nvSpPr>
          <p:spPr bwMode="gray">
            <a:xfrm>
              <a:off x="3072661" y="1628775"/>
              <a:ext cx="9125689" cy="3318440"/>
            </a:xfrm>
            <a:custGeom>
              <a:avLst/>
              <a:gdLst/>
              <a:ahLst/>
              <a:cxnLst>
                <a:cxn ang="0">
                  <a:pos x="0" y="2464"/>
                </a:cxn>
                <a:cxn ang="0">
                  <a:pos x="6761" y="0"/>
                </a:cxn>
                <a:cxn ang="0">
                  <a:pos x="6761" y="1290"/>
                </a:cxn>
                <a:cxn ang="0">
                  <a:pos x="0" y="2464"/>
                </a:cxn>
              </a:cxnLst>
              <a:rect l="0" t="0" r="r" b="b"/>
              <a:pathLst>
                <a:path w="6761" h="2464">
                  <a:moveTo>
                    <a:pt x="0" y="2464"/>
                  </a:moveTo>
                  <a:lnTo>
                    <a:pt x="6761" y="0"/>
                  </a:lnTo>
                  <a:lnTo>
                    <a:pt x="6761" y="1290"/>
                  </a:lnTo>
                  <a:lnTo>
                    <a:pt x="0" y="2464"/>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pic>
          <p:nvPicPr>
            <p:cNvPr id="11" name="Picture 2"/>
            <p:cNvPicPr>
              <a:picLocks noChangeAspect="1" noChangeArrowheads="1"/>
            </p:cNvPicPr>
            <p:nvPr userDrawn="1"/>
          </p:nvPicPr>
          <p:blipFill>
            <a:blip r:embed="rId2" cstate="print"/>
            <a:srcRect/>
            <a:stretch>
              <a:fillRect/>
            </a:stretch>
          </p:blipFill>
          <p:spPr bwMode="auto">
            <a:xfrm>
              <a:off x="0" y="4291200"/>
              <a:ext cx="3078523" cy="1807200"/>
            </a:xfrm>
            <a:prstGeom prst="rect">
              <a:avLst/>
            </a:prstGeom>
            <a:noFill/>
            <a:ln w="9525">
              <a:noFill/>
              <a:miter lim="800000"/>
              <a:headEnd/>
              <a:tailEnd/>
            </a:ln>
            <a:effectLst/>
          </p:spPr>
        </p:pic>
      </p:grpSp>
      <p:pic>
        <p:nvPicPr>
          <p:cNvPr id="12" name="Picture 2"/>
          <p:cNvPicPr>
            <a:picLocks noChangeAspect="1" noChangeArrowheads="1"/>
          </p:cNvPicPr>
          <p:nvPr userDrawn="1"/>
        </p:nvPicPr>
        <p:blipFill>
          <a:blip r:embed="rId3" cstate="print"/>
          <a:srcRect/>
          <a:stretch>
            <a:fillRect/>
          </a:stretch>
        </p:blipFill>
        <p:spPr bwMode="auto">
          <a:xfrm>
            <a:off x="2700692" y="5796300"/>
            <a:ext cx="983483" cy="745200"/>
          </a:xfrm>
          <a:prstGeom prst="rect">
            <a:avLst/>
          </a:prstGeom>
          <a:noFill/>
          <a:ln w="9525">
            <a:noFill/>
            <a:miter lim="800000"/>
            <a:headEnd/>
            <a:tailEnd/>
          </a:ln>
          <a:effec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5613" y="1412875"/>
            <a:ext cx="4040187" cy="45196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412875"/>
            <a:ext cx="4041775" cy="45196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32575" y="200025"/>
            <a:ext cx="2057400" cy="57324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5613" y="200025"/>
            <a:ext cx="6024562" cy="57324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530" y="2130976"/>
            <a:ext cx="7772943" cy="1470086"/>
          </a:xfrm>
        </p:spPr>
        <p:txBody>
          <a:bodyPr/>
          <a:lstStyle/>
          <a:p>
            <a:r>
              <a:rPr lang="en-US"/>
              <a:t>Click to edit Master title style</a:t>
            </a:r>
            <a:endParaRPr lang="de-DE"/>
          </a:p>
        </p:txBody>
      </p:sp>
      <p:sp>
        <p:nvSpPr>
          <p:cNvPr id="3" name="Subtitle 2"/>
          <p:cNvSpPr>
            <a:spLocks noGrp="1"/>
          </p:cNvSpPr>
          <p:nvPr>
            <p:ph type="subTitle" idx="1"/>
          </p:nvPr>
        </p:nvSpPr>
        <p:spPr>
          <a:xfrm>
            <a:off x="1371057" y="3886154"/>
            <a:ext cx="6401886" cy="1752295"/>
          </a:xfrm>
          <a:prstGeom prst="rect">
            <a:avLst/>
          </a:prstGeom>
        </p:spPr>
        <p:txBody>
          <a:bodyPr lIns="80133" tIns="40067" rIns="80133" bIns="40067"/>
          <a:lstStyle>
            <a:lvl1pPr marL="0" indent="0" algn="ctr">
              <a:buNone/>
              <a:defRPr/>
            </a:lvl1pPr>
            <a:lvl2pPr marL="400666" indent="0" algn="ctr">
              <a:buNone/>
              <a:defRPr/>
            </a:lvl2pPr>
            <a:lvl3pPr marL="801330" indent="0" algn="ctr">
              <a:buNone/>
              <a:defRPr/>
            </a:lvl3pPr>
            <a:lvl4pPr marL="1201995" indent="0" algn="ctr">
              <a:buNone/>
              <a:defRPr/>
            </a:lvl4pPr>
            <a:lvl5pPr marL="1602660" indent="0" algn="ctr">
              <a:buNone/>
              <a:defRPr/>
            </a:lvl5pPr>
            <a:lvl6pPr marL="2003326" indent="0" algn="ctr">
              <a:buNone/>
              <a:defRPr/>
            </a:lvl6pPr>
            <a:lvl7pPr marL="2403991" indent="0" algn="ctr">
              <a:buNone/>
              <a:defRPr/>
            </a:lvl7pPr>
            <a:lvl8pPr marL="2804656" indent="0" algn="ctr">
              <a:buNone/>
              <a:defRPr/>
            </a:lvl8pPr>
            <a:lvl9pPr marL="3205320" indent="0" algn="ctr">
              <a:buNone/>
              <a:defRPr/>
            </a:lvl9pPr>
          </a:lstStyle>
          <a:p>
            <a:r>
              <a:rPr lang="en-US"/>
              <a:t>Click to edit Master subtitle style</a:t>
            </a:r>
            <a:endParaRPr lang="de-D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de-DE"/>
          </a:p>
        </p:txBody>
      </p:sp>
      <p:sp>
        <p:nvSpPr>
          <p:cNvPr id="3" name="Content Placeholder 2"/>
          <p:cNvSpPr>
            <a:spLocks noGrp="1"/>
          </p:cNvSpPr>
          <p:nvPr>
            <p:ph idx="1"/>
          </p:nvPr>
        </p:nvSpPr>
        <p:spPr>
          <a:xfrm>
            <a:off x="457473" y="1599673"/>
            <a:ext cx="8229057" cy="4526884"/>
          </a:xfrm>
          <a:prstGeom prst="rect">
            <a:avLst/>
          </a:prstGeom>
        </p:spPr>
        <p:txBody>
          <a:bodyPr lIns="80133" tIns="40067" rIns="80133" bIns="40067"/>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182" y="4407379"/>
            <a:ext cx="7772943" cy="1362097"/>
          </a:xfrm>
        </p:spPr>
        <p:txBody>
          <a:bodyPr/>
          <a:lstStyle>
            <a:lvl1pPr algn="l">
              <a:defRPr sz="3500" b="1" cap="all"/>
            </a:lvl1pPr>
          </a:lstStyle>
          <a:p>
            <a:r>
              <a:rPr lang="en-US"/>
              <a:t>Click to edit Master title style</a:t>
            </a:r>
            <a:endParaRPr lang="de-DE"/>
          </a:p>
        </p:txBody>
      </p:sp>
      <p:sp>
        <p:nvSpPr>
          <p:cNvPr id="3" name="Text Placeholder 2"/>
          <p:cNvSpPr>
            <a:spLocks noGrp="1"/>
          </p:cNvSpPr>
          <p:nvPr>
            <p:ph type="body" idx="1"/>
          </p:nvPr>
        </p:nvSpPr>
        <p:spPr>
          <a:xfrm>
            <a:off x="722182" y="2907057"/>
            <a:ext cx="7772943" cy="1500322"/>
          </a:xfrm>
          <a:prstGeom prst="rect">
            <a:avLst/>
          </a:prstGeom>
        </p:spPr>
        <p:txBody>
          <a:bodyPr lIns="80133" tIns="40067" rIns="80133" bIns="40067" anchor="b"/>
          <a:lstStyle>
            <a:lvl1pPr marL="0" indent="0">
              <a:buNone/>
              <a:defRPr sz="1800"/>
            </a:lvl1pPr>
            <a:lvl2pPr marL="400666" indent="0">
              <a:buNone/>
              <a:defRPr sz="1600"/>
            </a:lvl2pPr>
            <a:lvl3pPr marL="801330" indent="0">
              <a:buNone/>
              <a:defRPr sz="1400"/>
            </a:lvl3pPr>
            <a:lvl4pPr marL="1201995" indent="0">
              <a:buNone/>
              <a:defRPr sz="1200"/>
            </a:lvl4pPr>
            <a:lvl5pPr marL="1602660" indent="0">
              <a:buNone/>
              <a:defRPr sz="1200"/>
            </a:lvl5pPr>
            <a:lvl6pPr marL="2003326" indent="0">
              <a:buNone/>
              <a:defRPr sz="1200"/>
            </a:lvl6pPr>
            <a:lvl7pPr marL="2403991" indent="0">
              <a:buNone/>
              <a:defRPr sz="1200"/>
            </a:lvl7pPr>
            <a:lvl8pPr marL="2804656" indent="0">
              <a:buNone/>
              <a:defRPr sz="1200"/>
            </a:lvl8pPr>
            <a:lvl9pPr marL="3205320" indent="0">
              <a:buNone/>
              <a:defRPr sz="1200"/>
            </a:lvl9pPr>
          </a:lstStyle>
          <a:p>
            <a:pPr lvl="0"/>
            <a:r>
              <a:rPr lang="en-US"/>
              <a:t>Click to edit Master text styles</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de-DE"/>
          </a:p>
        </p:txBody>
      </p:sp>
      <p:sp>
        <p:nvSpPr>
          <p:cNvPr id="3" name="Content Placeholder 2"/>
          <p:cNvSpPr>
            <a:spLocks noGrp="1"/>
          </p:cNvSpPr>
          <p:nvPr>
            <p:ph sz="half" idx="1"/>
          </p:nvPr>
        </p:nvSpPr>
        <p:spPr>
          <a:xfrm>
            <a:off x="457473" y="1599673"/>
            <a:ext cx="4049369" cy="4526884"/>
          </a:xfrm>
          <a:prstGeom prst="rect">
            <a:avLst/>
          </a:prstGeom>
        </p:spPr>
        <p:txBody>
          <a:bodyPr lIns="80133" tIns="40067" rIns="80133" bIns="40067"/>
          <a:lstStyle>
            <a:lvl1pPr>
              <a:defRPr sz="2500"/>
            </a:lvl1pPr>
            <a:lvl2pPr>
              <a:defRPr sz="21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Content Placeholder 3"/>
          <p:cNvSpPr>
            <a:spLocks noGrp="1"/>
          </p:cNvSpPr>
          <p:nvPr>
            <p:ph sz="half" idx="2"/>
          </p:nvPr>
        </p:nvSpPr>
        <p:spPr>
          <a:xfrm>
            <a:off x="4637159" y="1599673"/>
            <a:ext cx="4049370" cy="4526884"/>
          </a:xfrm>
          <a:prstGeom prst="rect">
            <a:avLst/>
          </a:prstGeom>
        </p:spPr>
        <p:txBody>
          <a:bodyPr lIns="80133" tIns="40067" rIns="80133" bIns="40067"/>
          <a:lstStyle>
            <a:lvl1pPr>
              <a:defRPr sz="2500"/>
            </a:lvl1pPr>
            <a:lvl2pPr>
              <a:defRPr sz="21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473" y="275013"/>
            <a:ext cx="8229057" cy="1143240"/>
          </a:xfrm>
        </p:spPr>
        <p:txBody>
          <a:bodyPr/>
          <a:lstStyle>
            <a:lvl1pPr>
              <a:defRPr/>
            </a:lvl1pPr>
          </a:lstStyle>
          <a:p>
            <a:r>
              <a:rPr lang="en-US"/>
              <a:t>Click to edit Master title style</a:t>
            </a:r>
            <a:endParaRPr lang="de-DE"/>
          </a:p>
        </p:txBody>
      </p:sp>
      <p:sp>
        <p:nvSpPr>
          <p:cNvPr id="3" name="Text Placeholder 2"/>
          <p:cNvSpPr>
            <a:spLocks noGrp="1"/>
          </p:cNvSpPr>
          <p:nvPr>
            <p:ph type="body" idx="1"/>
          </p:nvPr>
        </p:nvSpPr>
        <p:spPr>
          <a:xfrm>
            <a:off x="457473" y="1534880"/>
            <a:ext cx="4039867" cy="639293"/>
          </a:xfrm>
          <a:prstGeom prst="rect">
            <a:avLst/>
          </a:prstGeom>
        </p:spPr>
        <p:txBody>
          <a:bodyPr lIns="80133" tIns="40067" rIns="80133" bIns="40067" anchor="b"/>
          <a:lstStyle>
            <a:lvl1pPr marL="0" indent="0">
              <a:buNone/>
              <a:defRPr sz="2100" b="1"/>
            </a:lvl1pPr>
            <a:lvl2pPr marL="400666" indent="0">
              <a:buNone/>
              <a:defRPr sz="1800" b="1"/>
            </a:lvl2pPr>
            <a:lvl3pPr marL="801330" indent="0">
              <a:buNone/>
              <a:defRPr sz="1600" b="1"/>
            </a:lvl3pPr>
            <a:lvl4pPr marL="1201995" indent="0">
              <a:buNone/>
              <a:defRPr sz="1400" b="1"/>
            </a:lvl4pPr>
            <a:lvl5pPr marL="1602660" indent="0">
              <a:buNone/>
              <a:defRPr sz="1400" b="1"/>
            </a:lvl5pPr>
            <a:lvl6pPr marL="2003326" indent="0">
              <a:buNone/>
              <a:defRPr sz="1400" b="1"/>
            </a:lvl6pPr>
            <a:lvl7pPr marL="2403991" indent="0">
              <a:buNone/>
              <a:defRPr sz="1400" b="1"/>
            </a:lvl7pPr>
            <a:lvl8pPr marL="2804656" indent="0">
              <a:buNone/>
              <a:defRPr sz="1400" b="1"/>
            </a:lvl8pPr>
            <a:lvl9pPr marL="3205320" indent="0">
              <a:buNone/>
              <a:defRPr sz="1400" b="1"/>
            </a:lvl9pPr>
          </a:lstStyle>
          <a:p>
            <a:pPr lvl="0"/>
            <a:r>
              <a:rPr lang="en-US"/>
              <a:t>Click to edit Master text styles</a:t>
            </a:r>
          </a:p>
        </p:txBody>
      </p:sp>
      <p:sp>
        <p:nvSpPr>
          <p:cNvPr id="4" name="Content Placeholder 3"/>
          <p:cNvSpPr>
            <a:spLocks noGrp="1"/>
          </p:cNvSpPr>
          <p:nvPr>
            <p:ph sz="half" idx="2"/>
          </p:nvPr>
        </p:nvSpPr>
        <p:spPr>
          <a:xfrm>
            <a:off x="457473" y="2174173"/>
            <a:ext cx="4039867" cy="3952385"/>
          </a:xfrm>
          <a:prstGeom prst="rect">
            <a:avLst/>
          </a:prstGeom>
        </p:spPr>
        <p:txBody>
          <a:bodyPr lIns="80133" tIns="40067" rIns="80133" bIns="40067"/>
          <a:lstStyle>
            <a:lvl1pPr>
              <a:defRPr sz="21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5" name="Text Placeholder 4"/>
          <p:cNvSpPr>
            <a:spLocks noGrp="1"/>
          </p:cNvSpPr>
          <p:nvPr>
            <p:ph type="body" sz="quarter" idx="3"/>
          </p:nvPr>
        </p:nvSpPr>
        <p:spPr>
          <a:xfrm>
            <a:off x="4645305" y="1534880"/>
            <a:ext cx="4041225" cy="639293"/>
          </a:xfrm>
          <a:prstGeom prst="rect">
            <a:avLst/>
          </a:prstGeom>
        </p:spPr>
        <p:txBody>
          <a:bodyPr lIns="80133" tIns="40067" rIns="80133" bIns="40067" anchor="b"/>
          <a:lstStyle>
            <a:lvl1pPr marL="0" indent="0">
              <a:buNone/>
              <a:defRPr sz="2100" b="1"/>
            </a:lvl1pPr>
            <a:lvl2pPr marL="400666" indent="0">
              <a:buNone/>
              <a:defRPr sz="1800" b="1"/>
            </a:lvl2pPr>
            <a:lvl3pPr marL="801330" indent="0">
              <a:buNone/>
              <a:defRPr sz="1600" b="1"/>
            </a:lvl3pPr>
            <a:lvl4pPr marL="1201995" indent="0">
              <a:buNone/>
              <a:defRPr sz="1400" b="1"/>
            </a:lvl4pPr>
            <a:lvl5pPr marL="1602660" indent="0">
              <a:buNone/>
              <a:defRPr sz="1400" b="1"/>
            </a:lvl5pPr>
            <a:lvl6pPr marL="2003326" indent="0">
              <a:buNone/>
              <a:defRPr sz="1400" b="1"/>
            </a:lvl6pPr>
            <a:lvl7pPr marL="2403991" indent="0">
              <a:buNone/>
              <a:defRPr sz="1400" b="1"/>
            </a:lvl7pPr>
            <a:lvl8pPr marL="2804656" indent="0">
              <a:buNone/>
              <a:defRPr sz="1400" b="1"/>
            </a:lvl8pPr>
            <a:lvl9pPr marL="3205320" indent="0">
              <a:buNone/>
              <a:defRPr sz="1400" b="1"/>
            </a:lvl9pPr>
          </a:lstStyle>
          <a:p>
            <a:pPr lvl="0"/>
            <a:r>
              <a:rPr lang="en-US"/>
              <a:t>Click to edit Master text styles</a:t>
            </a:r>
          </a:p>
        </p:txBody>
      </p:sp>
      <p:sp>
        <p:nvSpPr>
          <p:cNvPr id="6" name="Content Placeholder 5"/>
          <p:cNvSpPr>
            <a:spLocks noGrp="1"/>
          </p:cNvSpPr>
          <p:nvPr>
            <p:ph sz="quarter" idx="4"/>
          </p:nvPr>
        </p:nvSpPr>
        <p:spPr>
          <a:xfrm>
            <a:off x="4645305" y="2174173"/>
            <a:ext cx="4041225" cy="3952385"/>
          </a:xfrm>
          <a:prstGeom prst="rect">
            <a:avLst/>
          </a:prstGeom>
        </p:spPr>
        <p:txBody>
          <a:bodyPr lIns="80133" tIns="40067" rIns="80133" bIns="40067"/>
          <a:lstStyle>
            <a:lvl1pPr>
              <a:defRPr sz="21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de-D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473" y="273573"/>
            <a:ext cx="3008181" cy="1161958"/>
          </a:xfrm>
        </p:spPr>
        <p:txBody>
          <a:bodyPr anchor="b"/>
          <a:lstStyle>
            <a:lvl1pPr algn="l">
              <a:defRPr sz="1800" b="1"/>
            </a:lvl1pPr>
          </a:lstStyle>
          <a:p>
            <a:r>
              <a:rPr lang="en-US"/>
              <a:t>Click to edit Master title style</a:t>
            </a:r>
            <a:endParaRPr lang="de-DE"/>
          </a:p>
        </p:txBody>
      </p:sp>
      <p:sp>
        <p:nvSpPr>
          <p:cNvPr id="3" name="Content Placeholder 2"/>
          <p:cNvSpPr>
            <a:spLocks noGrp="1"/>
          </p:cNvSpPr>
          <p:nvPr>
            <p:ph idx="1"/>
          </p:nvPr>
        </p:nvSpPr>
        <p:spPr>
          <a:xfrm>
            <a:off x="3575609" y="273571"/>
            <a:ext cx="5110921" cy="5852986"/>
          </a:xfrm>
          <a:prstGeom prst="rect">
            <a:avLst/>
          </a:prstGeom>
        </p:spPr>
        <p:txBody>
          <a:bodyPr lIns="80133" tIns="40067" rIns="80133" bIns="40067"/>
          <a:lstStyle>
            <a:lvl1pPr>
              <a:defRPr sz="2800"/>
            </a:lvl1pPr>
            <a:lvl2pPr>
              <a:defRPr sz="25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Text Placeholder 3"/>
          <p:cNvSpPr>
            <a:spLocks noGrp="1"/>
          </p:cNvSpPr>
          <p:nvPr>
            <p:ph type="body" sz="half" idx="2"/>
          </p:nvPr>
        </p:nvSpPr>
        <p:spPr>
          <a:xfrm>
            <a:off x="457473" y="1435531"/>
            <a:ext cx="3008181" cy="4691027"/>
          </a:xfrm>
          <a:prstGeom prst="rect">
            <a:avLst/>
          </a:prstGeom>
        </p:spPr>
        <p:txBody>
          <a:bodyPr lIns="80133" tIns="40067" rIns="80133" bIns="40067"/>
          <a:lstStyle>
            <a:lvl1pPr marL="0" indent="0">
              <a:buNone/>
              <a:defRPr sz="1200"/>
            </a:lvl1pPr>
            <a:lvl2pPr marL="400666" indent="0">
              <a:buNone/>
              <a:defRPr sz="1100"/>
            </a:lvl2pPr>
            <a:lvl3pPr marL="801330" indent="0">
              <a:buNone/>
              <a:defRPr sz="900"/>
            </a:lvl3pPr>
            <a:lvl4pPr marL="1201995" indent="0">
              <a:buNone/>
              <a:defRPr sz="800"/>
            </a:lvl4pPr>
            <a:lvl5pPr marL="1602660" indent="0">
              <a:buNone/>
              <a:defRPr sz="800"/>
            </a:lvl5pPr>
            <a:lvl6pPr marL="2003326" indent="0">
              <a:buNone/>
              <a:defRPr sz="800"/>
            </a:lvl6pPr>
            <a:lvl7pPr marL="2403991" indent="0">
              <a:buNone/>
              <a:defRPr sz="800"/>
            </a:lvl7pPr>
            <a:lvl8pPr marL="2804656" indent="0">
              <a:buNone/>
              <a:defRPr sz="800"/>
            </a:lvl8pPr>
            <a:lvl9pPr marL="3205320" indent="0">
              <a:buNone/>
              <a:defRPr sz="800"/>
            </a:lvl9pPr>
          </a:lstStyle>
          <a:p>
            <a:pPr lvl="0"/>
            <a:r>
              <a:rPr lang="en-US"/>
              <a:t>Click to edit Master text styles</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1878" y="4800456"/>
            <a:ext cx="5486943" cy="567300"/>
          </a:xfrm>
        </p:spPr>
        <p:txBody>
          <a:bodyPr anchor="b"/>
          <a:lstStyle>
            <a:lvl1pPr algn="l">
              <a:defRPr sz="1800" b="1"/>
            </a:lvl1pPr>
          </a:lstStyle>
          <a:p>
            <a:r>
              <a:rPr lang="en-US"/>
              <a:t>Click to edit Master title style</a:t>
            </a:r>
            <a:endParaRPr lang="de-DE"/>
          </a:p>
        </p:txBody>
      </p:sp>
      <p:sp>
        <p:nvSpPr>
          <p:cNvPr id="3" name="Picture Placeholder 2"/>
          <p:cNvSpPr>
            <a:spLocks noGrp="1"/>
          </p:cNvSpPr>
          <p:nvPr>
            <p:ph type="pic" idx="1"/>
          </p:nvPr>
        </p:nvSpPr>
        <p:spPr>
          <a:xfrm>
            <a:off x="1791878" y="613376"/>
            <a:ext cx="5486943" cy="4113648"/>
          </a:xfrm>
          <a:prstGeom prst="rect">
            <a:avLst/>
          </a:prstGeom>
        </p:spPr>
        <p:txBody>
          <a:bodyPr lIns="80133" tIns="40067" rIns="80133" bIns="40067"/>
          <a:lstStyle>
            <a:lvl1pPr marL="0" indent="0">
              <a:buNone/>
              <a:defRPr sz="2800"/>
            </a:lvl1pPr>
            <a:lvl2pPr marL="400666" indent="0">
              <a:buNone/>
              <a:defRPr sz="2500"/>
            </a:lvl2pPr>
            <a:lvl3pPr marL="801330" indent="0">
              <a:buNone/>
              <a:defRPr sz="2100"/>
            </a:lvl3pPr>
            <a:lvl4pPr marL="1201995" indent="0">
              <a:buNone/>
              <a:defRPr sz="1800"/>
            </a:lvl4pPr>
            <a:lvl5pPr marL="1602660" indent="0">
              <a:buNone/>
              <a:defRPr sz="1800"/>
            </a:lvl5pPr>
            <a:lvl6pPr marL="2003326" indent="0">
              <a:buNone/>
              <a:defRPr sz="1800"/>
            </a:lvl6pPr>
            <a:lvl7pPr marL="2403991" indent="0">
              <a:buNone/>
              <a:defRPr sz="1800"/>
            </a:lvl7pPr>
            <a:lvl8pPr marL="2804656" indent="0">
              <a:buNone/>
              <a:defRPr sz="1800"/>
            </a:lvl8pPr>
            <a:lvl9pPr marL="3205320" indent="0">
              <a:buNone/>
              <a:defRPr sz="1800"/>
            </a:lvl9pPr>
          </a:lstStyle>
          <a:p>
            <a:pPr lvl="0"/>
            <a:endParaRPr lang="de-DE" noProof="0"/>
          </a:p>
        </p:txBody>
      </p:sp>
      <p:sp>
        <p:nvSpPr>
          <p:cNvPr id="4" name="Text Placeholder 3"/>
          <p:cNvSpPr>
            <a:spLocks noGrp="1"/>
          </p:cNvSpPr>
          <p:nvPr>
            <p:ph type="body" sz="half" idx="2"/>
          </p:nvPr>
        </p:nvSpPr>
        <p:spPr>
          <a:xfrm>
            <a:off x="1791878" y="5367757"/>
            <a:ext cx="5486943" cy="804876"/>
          </a:xfrm>
          <a:prstGeom prst="rect">
            <a:avLst/>
          </a:prstGeom>
        </p:spPr>
        <p:txBody>
          <a:bodyPr lIns="80133" tIns="40067" rIns="80133" bIns="40067"/>
          <a:lstStyle>
            <a:lvl1pPr marL="0" indent="0">
              <a:buNone/>
              <a:defRPr sz="1200"/>
            </a:lvl1pPr>
            <a:lvl2pPr marL="400666" indent="0">
              <a:buNone/>
              <a:defRPr sz="1100"/>
            </a:lvl2pPr>
            <a:lvl3pPr marL="801330" indent="0">
              <a:buNone/>
              <a:defRPr sz="900"/>
            </a:lvl3pPr>
            <a:lvl4pPr marL="1201995" indent="0">
              <a:buNone/>
              <a:defRPr sz="800"/>
            </a:lvl4pPr>
            <a:lvl5pPr marL="1602660" indent="0">
              <a:buNone/>
              <a:defRPr sz="800"/>
            </a:lvl5pPr>
            <a:lvl6pPr marL="2003326" indent="0">
              <a:buNone/>
              <a:defRPr sz="800"/>
            </a:lvl6pPr>
            <a:lvl7pPr marL="2403991" indent="0">
              <a:buNone/>
              <a:defRPr sz="800"/>
            </a:lvl7pPr>
            <a:lvl8pPr marL="2804656" indent="0">
              <a:buNone/>
              <a:defRPr sz="800"/>
            </a:lvl8pPr>
            <a:lvl9pPr marL="3205320" indent="0">
              <a:buNone/>
              <a:defRPr sz="800"/>
            </a:lvl9pPr>
          </a:lstStyle>
          <a:p>
            <a:pPr lvl="0"/>
            <a:r>
              <a:rPr lang="en-US"/>
              <a:t>Click to edit Master text styles</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de-DE"/>
          </a:p>
        </p:txBody>
      </p:sp>
      <p:sp>
        <p:nvSpPr>
          <p:cNvPr id="3" name="Vertical Text Placeholder 2"/>
          <p:cNvSpPr>
            <a:spLocks noGrp="1"/>
          </p:cNvSpPr>
          <p:nvPr>
            <p:ph type="body" orient="vert" idx="1"/>
          </p:nvPr>
        </p:nvSpPr>
        <p:spPr>
          <a:xfrm>
            <a:off x="457473" y="1599673"/>
            <a:ext cx="8229057" cy="4526884"/>
          </a:xfrm>
          <a:prstGeom prst="rect">
            <a:avLst/>
          </a:prstGeom>
        </p:spPr>
        <p:txBody>
          <a:bodyPr vert="eaVert" lIns="80133" tIns="40067" rIns="80133" bIns="40067"/>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943" y="200141"/>
            <a:ext cx="2056586" cy="5926417"/>
          </a:xfrm>
        </p:spPr>
        <p:txBody>
          <a:bodyPr vert="eaVert"/>
          <a:lstStyle/>
          <a:p>
            <a:r>
              <a:rPr lang="en-US"/>
              <a:t>Click to edit Master title style</a:t>
            </a:r>
            <a:endParaRPr lang="de-DE"/>
          </a:p>
        </p:txBody>
      </p:sp>
      <p:sp>
        <p:nvSpPr>
          <p:cNvPr id="3" name="Vertical Text Placeholder 2"/>
          <p:cNvSpPr>
            <a:spLocks noGrp="1"/>
          </p:cNvSpPr>
          <p:nvPr>
            <p:ph type="body" orient="vert" idx="1"/>
          </p:nvPr>
        </p:nvSpPr>
        <p:spPr>
          <a:xfrm>
            <a:off x="457473" y="200141"/>
            <a:ext cx="6042153" cy="5926417"/>
          </a:xfrm>
          <a:prstGeom prst="rect">
            <a:avLst/>
          </a:prstGeom>
        </p:spPr>
        <p:txBody>
          <a:bodyPr vert="eaVert" lIns="80133" tIns="40067" rIns="80133" bIns="40067"/>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3.pn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00025"/>
            <a:ext cx="8232775" cy="863600"/>
          </a:xfrm>
          <a:prstGeom prst="rect">
            <a:avLst/>
          </a:prstGeom>
          <a:noFill/>
          <a:ln w="9525">
            <a:noFill/>
            <a:miter lim="800000"/>
            <a:headEnd/>
            <a:tailEnd/>
          </a:ln>
          <a:effectLst/>
        </p:spPr>
        <p:txBody>
          <a:bodyPr vert="horz" wrap="square" lIns="0" tIns="36000" rIns="0" bIns="0" numCol="1" anchor="t"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455613" y="1412875"/>
            <a:ext cx="8234362" cy="4519613"/>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32" name="Rectangle 8"/>
          <p:cNvSpPr>
            <a:spLocks noChangeArrowheads="1"/>
          </p:cNvSpPr>
          <p:nvPr/>
        </p:nvSpPr>
        <p:spPr bwMode="auto">
          <a:xfrm>
            <a:off x="2514600" y="6419850"/>
            <a:ext cx="3768725" cy="209550"/>
          </a:xfrm>
          <a:prstGeom prst="rect">
            <a:avLst/>
          </a:prstGeom>
          <a:noFill/>
          <a:ln w="9525">
            <a:noFill/>
            <a:miter lim="800000"/>
            <a:headEnd/>
            <a:tailEnd/>
          </a:ln>
          <a:effectLst/>
        </p:spPr>
        <p:txBody>
          <a:bodyPr lIns="0" tIns="0" rIns="0" bIns="0"/>
          <a:lstStyle/>
          <a:p>
            <a:pPr algn="ctr"/>
            <a:r>
              <a:rPr lang="en-US" sz="1100" dirty="0">
                <a:solidFill>
                  <a:srgbClr val="000000"/>
                </a:solidFill>
                <a:cs typeface="Arial" charset="0"/>
              </a:rPr>
              <a:t>Roaming </a:t>
            </a:r>
            <a:r>
              <a:rPr lang="en-US" sz="1100" baseline="0" dirty="0">
                <a:solidFill>
                  <a:srgbClr val="000000"/>
                </a:solidFill>
                <a:cs typeface="Arial" charset="0"/>
              </a:rPr>
              <a:t>Revenue Assurance</a:t>
            </a:r>
            <a:endParaRPr lang="en-US" sz="1100" dirty="0">
              <a:solidFill>
                <a:srgbClr val="000000"/>
              </a:solidFill>
              <a:cs typeface="Arial" charset="0"/>
            </a:endParaRPr>
          </a:p>
        </p:txBody>
      </p:sp>
      <p:sp>
        <p:nvSpPr>
          <p:cNvPr id="1033" name="Rectangle 9"/>
          <p:cNvSpPr>
            <a:spLocks noChangeArrowheads="1"/>
          </p:cNvSpPr>
          <p:nvPr/>
        </p:nvSpPr>
        <p:spPr bwMode="auto">
          <a:xfrm>
            <a:off x="457200" y="6419850"/>
            <a:ext cx="663575" cy="196850"/>
          </a:xfrm>
          <a:prstGeom prst="rect">
            <a:avLst/>
          </a:prstGeom>
          <a:noFill/>
          <a:ln w="9525">
            <a:noFill/>
            <a:miter lim="800000"/>
            <a:headEnd/>
            <a:tailEnd/>
          </a:ln>
          <a:effectLst/>
        </p:spPr>
        <p:txBody>
          <a:bodyPr lIns="0" tIns="0" rIns="0" bIns="0"/>
          <a:lstStyle/>
          <a:p>
            <a:r>
              <a:rPr lang="en-US" sz="1100">
                <a:solidFill>
                  <a:srgbClr val="000000"/>
                </a:solidFill>
                <a:cs typeface="Arial" charset="0"/>
              </a:rPr>
              <a:t>Page </a:t>
            </a:r>
            <a:fld id="{92377386-EE50-4FE3-9EAA-3F82571A0486}" type="slidenum">
              <a:rPr lang="en-US" sz="1100">
                <a:solidFill>
                  <a:srgbClr val="000000"/>
                </a:solidFill>
                <a:cs typeface="Arial" charset="0"/>
              </a:rPr>
              <a:pPr/>
              <a:t>‹#›</a:t>
            </a:fld>
            <a:endParaRPr lang="en-US" sz="1100">
              <a:solidFill>
                <a:srgbClr val="000000"/>
              </a:solidFill>
              <a:cs typeface="Arial" charset="0"/>
            </a:endParaRPr>
          </a:p>
        </p:txBody>
      </p:sp>
      <p:sp>
        <p:nvSpPr>
          <p:cNvPr id="1034" name="Line 10"/>
          <p:cNvSpPr>
            <a:spLocks noChangeShapeType="1"/>
          </p:cNvSpPr>
          <p:nvPr/>
        </p:nvSpPr>
        <p:spPr bwMode="auto">
          <a:xfrm>
            <a:off x="455613" y="1042988"/>
            <a:ext cx="8229600" cy="0"/>
          </a:xfrm>
          <a:prstGeom prst="line">
            <a:avLst/>
          </a:prstGeom>
          <a:noFill/>
          <a:ln w="19050">
            <a:solidFill>
              <a:srgbClr val="FFD200"/>
            </a:solidFill>
            <a:round/>
            <a:headEnd/>
            <a:tailEnd/>
          </a:ln>
          <a:effectLst/>
        </p:spPr>
        <p:txBody>
          <a:bodyPr wrap="none" anchor="ctr"/>
          <a:lstStyle/>
          <a:p>
            <a:endParaRPr lang="en-US"/>
          </a:p>
        </p:txBody>
      </p:sp>
      <p:sp>
        <p:nvSpPr>
          <p:cNvPr id="1035" name="Line 11"/>
          <p:cNvSpPr>
            <a:spLocks noChangeShapeType="1"/>
          </p:cNvSpPr>
          <p:nvPr/>
        </p:nvSpPr>
        <p:spPr bwMode="auto">
          <a:xfrm>
            <a:off x="455613" y="6243638"/>
            <a:ext cx="8229600" cy="0"/>
          </a:xfrm>
          <a:prstGeom prst="line">
            <a:avLst/>
          </a:prstGeom>
          <a:noFill/>
          <a:ln w="3175">
            <a:solidFill>
              <a:srgbClr val="646464"/>
            </a:solidFill>
            <a:round/>
            <a:headEnd/>
            <a:tailEnd/>
          </a:ln>
          <a:effectLst/>
        </p:spPr>
        <p:txBody>
          <a:bodyPr wrap="none" anchor="ctr"/>
          <a:lstStyle/>
          <a:p>
            <a:endParaRPr lang="en-US"/>
          </a:p>
        </p:txBody>
      </p:sp>
      <p:sp>
        <p:nvSpPr>
          <p:cNvPr id="1036" name="Line 12"/>
          <p:cNvSpPr>
            <a:spLocks noChangeShapeType="1"/>
          </p:cNvSpPr>
          <p:nvPr/>
        </p:nvSpPr>
        <p:spPr bwMode="auto">
          <a:xfrm>
            <a:off x="455613" y="200025"/>
            <a:ext cx="8229600" cy="0"/>
          </a:xfrm>
          <a:prstGeom prst="line">
            <a:avLst/>
          </a:prstGeom>
          <a:noFill/>
          <a:ln w="6350">
            <a:solidFill>
              <a:srgbClr val="646464"/>
            </a:solidFill>
            <a:round/>
            <a:headEnd/>
            <a:tailEnd/>
          </a:ln>
          <a:effectLst/>
        </p:spPr>
        <p:txBody>
          <a:bodyPr wrap="none" anchor="ctr"/>
          <a:lstStyle/>
          <a:p>
            <a:endParaRPr lang="en-US"/>
          </a:p>
        </p:txBody>
      </p:sp>
      <p:grpSp>
        <p:nvGrpSpPr>
          <p:cNvPr id="10" name="Group 9"/>
          <p:cNvGrpSpPr/>
          <p:nvPr userDrawn="1"/>
        </p:nvGrpSpPr>
        <p:grpSpPr bwMode="gray">
          <a:xfrm>
            <a:off x="8382000" y="6477000"/>
            <a:ext cx="296552" cy="188569"/>
            <a:chOff x="8348663" y="6450013"/>
            <a:chExt cx="338137" cy="204787"/>
          </a:xfrm>
          <a:solidFill>
            <a:srgbClr val="808080"/>
          </a:solidFill>
        </p:grpSpPr>
        <p:sp>
          <p:nvSpPr>
            <p:cNvPr id="11" name="Freeform 10"/>
            <p:cNvSpPr>
              <a:spLocks/>
            </p:cNvSpPr>
            <p:nvPr userDrawn="1"/>
          </p:nvSpPr>
          <p:spPr bwMode="gray">
            <a:xfrm>
              <a:off x="8348663" y="6450013"/>
              <a:ext cx="163512" cy="204787"/>
            </a:xfrm>
            <a:custGeom>
              <a:avLst/>
              <a:gdLst/>
              <a:ahLst/>
              <a:cxnLst>
                <a:cxn ang="0">
                  <a:pos x="39" y="78"/>
                </a:cxn>
                <a:cxn ang="0">
                  <a:pos x="85" y="78"/>
                </a:cxn>
                <a:cxn ang="0">
                  <a:pos x="85" y="51"/>
                </a:cxn>
                <a:cxn ang="0">
                  <a:pos x="39" y="51"/>
                </a:cxn>
                <a:cxn ang="0">
                  <a:pos x="39" y="30"/>
                </a:cxn>
                <a:cxn ang="0">
                  <a:pos x="90" y="30"/>
                </a:cxn>
                <a:cxn ang="0">
                  <a:pos x="73" y="0"/>
                </a:cxn>
                <a:cxn ang="0">
                  <a:pos x="0" y="0"/>
                </a:cxn>
                <a:cxn ang="0">
                  <a:pos x="0" y="129"/>
                </a:cxn>
                <a:cxn ang="0">
                  <a:pos x="103" y="129"/>
                </a:cxn>
                <a:cxn ang="0">
                  <a:pos x="103" y="99"/>
                </a:cxn>
                <a:cxn ang="0">
                  <a:pos x="39" y="99"/>
                </a:cxn>
                <a:cxn ang="0">
                  <a:pos x="39" y="78"/>
                </a:cxn>
              </a:cxnLst>
              <a:rect l="0" t="0" r="r" b="b"/>
              <a:pathLst>
                <a:path w="103" h="129">
                  <a:moveTo>
                    <a:pt x="39" y="78"/>
                  </a:moveTo>
                  <a:lnTo>
                    <a:pt x="85" y="78"/>
                  </a:lnTo>
                  <a:lnTo>
                    <a:pt x="85" y="51"/>
                  </a:lnTo>
                  <a:lnTo>
                    <a:pt x="39" y="51"/>
                  </a:lnTo>
                  <a:lnTo>
                    <a:pt x="39" y="30"/>
                  </a:lnTo>
                  <a:lnTo>
                    <a:pt x="90" y="30"/>
                  </a:lnTo>
                  <a:lnTo>
                    <a:pt x="73" y="0"/>
                  </a:lnTo>
                  <a:lnTo>
                    <a:pt x="0" y="0"/>
                  </a:lnTo>
                  <a:lnTo>
                    <a:pt x="0" y="129"/>
                  </a:lnTo>
                  <a:lnTo>
                    <a:pt x="103" y="129"/>
                  </a:lnTo>
                  <a:lnTo>
                    <a:pt x="103" y="99"/>
                  </a:lnTo>
                  <a:lnTo>
                    <a:pt x="39" y="99"/>
                  </a:lnTo>
                  <a:lnTo>
                    <a:pt x="39" y="78"/>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2" name="Freeform 11"/>
            <p:cNvSpPr>
              <a:spLocks/>
            </p:cNvSpPr>
            <p:nvPr userDrawn="1"/>
          </p:nvSpPr>
          <p:spPr bwMode="gray">
            <a:xfrm>
              <a:off x="8483600" y="6450013"/>
              <a:ext cx="203200" cy="204787"/>
            </a:xfrm>
            <a:custGeom>
              <a:avLst/>
              <a:gdLst/>
              <a:ahLst/>
              <a:cxnLst>
                <a:cxn ang="0">
                  <a:pos x="86" y="0"/>
                </a:cxn>
                <a:cxn ang="0">
                  <a:pos x="64" y="42"/>
                </a:cxn>
                <a:cxn ang="0">
                  <a:pos x="42" y="0"/>
                </a:cxn>
                <a:cxn ang="0">
                  <a:pos x="0" y="0"/>
                </a:cxn>
                <a:cxn ang="0">
                  <a:pos x="45" y="78"/>
                </a:cxn>
                <a:cxn ang="0">
                  <a:pos x="45" y="129"/>
                </a:cxn>
                <a:cxn ang="0">
                  <a:pos x="83" y="129"/>
                </a:cxn>
                <a:cxn ang="0">
                  <a:pos x="83" y="78"/>
                </a:cxn>
                <a:cxn ang="0">
                  <a:pos x="128" y="0"/>
                </a:cxn>
                <a:cxn ang="0">
                  <a:pos x="86" y="0"/>
                </a:cxn>
              </a:cxnLst>
              <a:rect l="0" t="0" r="r" b="b"/>
              <a:pathLst>
                <a:path w="128" h="129">
                  <a:moveTo>
                    <a:pt x="86" y="0"/>
                  </a:moveTo>
                  <a:lnTo>
                    <a:pt x="64" y="42"/>
                  </a:lnTo>
                  <a:lnTo>
                    <a:pt x="42" y="0"/>
                  </a:lnTo>
                  <a:lnTo>
                    <a:pt x="0" y="0"/>
                  </a:lnTo>
                  <a:lnTo>
                    <a:pt x="45" y="78"/>
                  </a:lnTo>
                  <a:lnTo>
                    <a:pt x="45" y="129"/>
                  </a:lnTo>
                  <a:lnTo>
                    <a:pt x="83" y="129"/>
                  </a:lnTo>
                  <a:lnTo>
                    <a:pt x="83" y="78"/>
                  </a:lnTo>
                  <a:lnTo>
                    <a:pt x="128" y="0"/>
                  </a:lnTo>
                  <a:lnTo>
                    <a:pt x="86"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Tree>
  </p:cSld>
  <p:clrMap bg1="lt1" tx1="dk1" bg2="lt2" tx2="dk2" accent1="accent1" accent2="accent2" accent3="accent3" accent4="accent4" accent5="accent5" accent6="accent6" hlink="hlink" folHlink="folHlink"/>
  <p:sldLayoutIdLst>
    <p:sldLayoutId id="2147483649"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724" r:id="rId12"/>
  </p:sldLayoutIdLst>
  <p:txStyles>
    <p:titleStyle>
      <a:lvl1pPr algn="l" rtl="0" eaLnBrk="1" fontAlgn="base" hangingPunct="1">
        <a:lnSpc>
          <a:spcPct val="85000"/>
        </a:lnSpc>
        <a:spcBef>
          <a:spcPct val="0"/>
        </a:spcBef>
        <a:spcAft>
          <a:spcPct val="0"/>
        </a:spcAft>
        <a:defRPr sz="3000" b="1">
          <a:solidFill>
            <a:srgbClr val="646464"/>
          </a:solidFill>
          <a:latin typeface="+mj-lt"/>
          <a:ea typeface="+mj-ea"/>
          <a:cs typeface="+mj-cs"/>
        </a:defRPr>
      </a:lvl1pPr>
      <a:lvl2pPr algn="l" rtl="0" eaLnBrk="1" fontAlgn="base" hangingPunct="1">
        <a:lnSpc>
          <a:spcPct val="85000"/>
        </a:lnSpc>
        <a:spcBef>
          <a:spcPct val="0"/>
        </a:spcBef>
        <a:spcAft>
          <a:spcPct val="0"/>
        </a:spcAft>
        <a:defRPr sz="3000" b="1">
          <a:solidFill>
            <a:srgbClr val="646464"/>
          </a:solidFill>
          <a:latin typeface="Arial" charset="0"/>
        </a:defRPr>
      </a:lvl2pPr>
      <a:lvl3pPr algn="l" rtl="0" eaLnBrk="1" fontAlgn="base" hangingPunct="1">
        <a:lnSpc>
          <a:spcPct val="85000"/>
        </a:lnSpc>
        <a:spcBef>
          <a:spcPct val="0"/>
        </a:spcBef>
        <a:spcAft>
          <a:spcPct val="0"/>
        </a:spcAft>
        <a:defRPr sz="3000" b="1">
          <a:solidFill>
            <a:srgbClr val="646464"/>
          </a:solidFill>
          <a:latin typeface="Arial" charset="0"/>
        </a:defRPr>
      </a:lvl3pPr>
      <a:lvl4pPr algn="l" rtl="0" eaLnBrk="1" fontAlgn="base" hangingPunct="1">
        <a:lnSpc>
          <a:spcPct val="85000"/>
        </a:lnSpc>
        <a:spcBef>
          <a:spcPct val="0"/>
        </a:spcBef>
        <a:spcAft>
          <a:spcPct val="0"/>
        </a:spcAft>
        <a:defRPr sz="3000" b="1">
          <a:solidFill>
            <a:srgbClr val="646464"/>
          </a:solidFill>
          <a:latin typeface="Arial" charset="0"/>
        </a:defRPr>
      </a:lvl4pPr>
      <a:lvl5pPr algn="l" rtl="0" eaLnBrk="1" fontAlgn="base" hangingPunct="1">
        <a:lnSpc>
          <a:spcPct val="85000"/>
        </a:lnSpc>
        <a:spcBef>
          <a:spcPct val="0"/>
        </a:spcBef>
        <a:spcAft>
          <a:spcPct val="0"/>
        </a:spcAft>
        <a:defRPr sz="3000" b="1">
          <a:solidFill>
            <a:srgbClr val="646464"/>
          </a:solidFill>
          <a:latin typeface="Arial" charset="0"/>
        </a:defRPr>
      </a:lvl5pPr>
      <a:lvl6pPr marL="457200" algn="l" rtl="0" eaLnBrk="1" fontAlgn="base" hangingPunct="1">
        <a:lnSpc>
          <a:spcPct val="85000"/>
        </a:lnSpc>
        <a:spcBef>
          <a:spcPct val="0"/>
        </a:spcBef>
        <a:spcAft>
          <a:spcPct val="0"/>
        </a:spcAft>
        <a:defRPr sz="3000" b="1">
          <a:solidFill>
            <a:srgbClr val="646464"/>
          </a:solidFill>
          <a:latin typeface="Arial" charset="0"/>
        </a:defRPr>
      </a:lvl6pPr>
      <a:lvl7pPr marL="914400" algn="l" rtl="0" eaLnBrk="1" fontAlgn="base" hangingPunct="1">
        <a:lnSpc>
          <a:spcPct val="85000"/>
        </a:lnSpc>
        <a:spcBef>
          <a:spcPct val="0"/>
        </a:spcBef>
        <a:spcAft>
          <a:spcPct val="0"/>
        </a:spcAft>
        <a:defRPr sz="3000" b="1">
          <a:solidFill>
            <a:srgbClr val="646464"/>
          </a:solidFill>
          <a:latin typeface="Arial" charset="0"/>
        </a:defRPr>
      </a:lvl7pPr>
      <a:lvl8pPr marL="1371600" algn="l" rtl="0" eaLnBrk="1" fontAlgn="base" hangingPunct="1">
        <a:lnSpc>
          <a:spcPct val="85000"/>
        </a:lnSpc>
        <a:spcBef>
          <a:spcPct val="0"/>
        </a:spcBef>
        <a:spcAft>
          <a:spcPct val="0"/>
        </a:spcAft>
        <a:defRPr sz="3000" b="1">
          <a:solidFill>
            <a:srgbClr val="646464"/>
          </a:solidFill>
          <a:latin typeface="Arial" charset="0"/>
        </a:defRPr>
      </a:lvl8pPr>
      <a:lvl9pPr marL="1828800" algn="l" rtl="0" eaLnBrk="1" fontAlgn="base" hangingPunct="1">
        <a:lnSpc>
          <a:spcPct val="85000"/>
        </a:lnSpc>
        <a:spcBef>
          <a:spcPct val="0"/>
        </a:spcBef>
        <a:spcAft>
          <a:spcPct val="0"/>
        </a:spcAft>
        <a:defRPr sz="3000" b="1">
          <a:solidFill>
            <a:srgbClr val="646464"/>
          </a:solidFill>
          <a:latin typeface="Arial" charset="0"/>
        </a:defRPr>
      </a:lvl9pPr>
    </p:titleStyle>
    <p:bodyStyle>
      <a:lvl1pPr marL="360363" indent="-360363" algn="l" rtl="0" eaLnBrk="1" fontAlgn="base" hangingPunct="1">
        <a:spcBef>
          <a:spcPct val="20000"/>
        </a:spcBef>
        <a:spcAft>
          <a:spcPct val="0"/>
        </a:spcAft>
        <a:buClr>
          <a:srgbClr val="FFD200"/>
        </a:buClr>
        <a:buSzPct val="75000"/>
        <a:buFont typeface="Arial" charset="0"/>
        <a:buChar char="►"/>
        <a:defRPr sz="2400">
          <a:solidFill>
            <a:srgbClr val="646464"/>
          </a:solidFill>
          <a:latin typeface="+mn-lt"/>
          <a:ea typeface="+mn-ea"/>
          <a:cs typeface="+mn-cs"/>
        </a:defRPr>
      </a:lvl1pPr>
      <a:lvl2pPr marL="717550" indent="-355600" algn="l" rtl="0" eaLnBrk="1" fontAlgn="base" hangingPunct="1">
        <a:spcBef>
          <a:spcPct val="20000"/>
        </a:spcBef>
        <a:spcAft>
          <a:spcPct val="0"/>
        </a:spcAft>
        <a:buClr>
          <a:srgbClr val="FFD200"/>
        </a:buClr>
        <a:buSzPct val="75000"/>
        <a:buFont typeface="Arial" charset="0"/>
        <a:buChar char="►"/>
        <a:defRPr sz="2000">
          <a:solidFill>
            <a:srgbClr val="646464"/>
          </a:solidFill>
          <a:latin typeface="+mn-lt"/>
        </a:defRPr>
      </a:lvl2pPr>
      <a:lvl3pPr marL="1081088" indent="-361950" algn="l" rtl="0" eaLnBrk="1" fontAlgn="base" hangingPunct="1">
        <a:spcBef>
          <a:spcPct val="20000"/>
        </a:spcBef>
        <a:spcAft>
          <a:spcPct val="0"/>
        </a:spcAft>
        <a:buClr>
          <a:srgbClr val="FFD200"/>
        </a:buClr>
        <a:buSzPct val="75000"/>
        <a:buFont typeface="Arial" charset="0"/>
        <a:buChar char="►"/>
        <a:defRPr>
          <a:solidFill>
            <a:srgbClr val="646464"/>
          </a:solidFill>
          <a:latin typeface="+mn-lt"/>
        </a:defRPr>
      </a:lvl3pPr>
      <a:lvl4pPr marL="1441450" indent="-358775" algn="l" rtl="0" eaLnBrk="1" fontAlgn="base" hangingPunct="1">
        <a:spcBef>
          <a:spcPct val="20000"/>
        </a:spcBef>
        <a:spcAft>
          <a:spcPct val="0"/>
        </a:spcAft>
        <a:buClr>
          <a:srgbClr val="FFD200"/>
        </a:buClr>
        <a:buSzPct val="75000"/>
        <a:buFont typeface="Arial" charset="0"/>
        <a:buChar char="►"/>
        <a:defRPr sz="1600">
          <a:solidFill>
            <a:srgbClr val="646464"/>
          </a:solidFill>
          <a:latin typeface="+mn-lt"/>
        </a:defRPr>
      </a:lvl4pPr>
      <a:lvl5pPr marL="1800225" indent="-357188" algn="l" rtl="0" eaLnBrk="1" fontAlgn="base" hangingPunct="1">
        <a:spcBef>
          <a:spcPct val="20000"/>
        </a:spcBef>
        <a:spcAft>
          <a:spcPct val="0"/>
        </a:spcAft>
        <a:buClr>
          <a:srgbClr val="FFD200"/>
        </a:buClr>
        <a:buSzPct val="75000"/>
        <a:buFont typeface="Arial" charset="0"/>
        <a:buChar char="►"/>
        <a:defRPr sz="1600">
          <a:solidFill>
            <a:srgbClr val="646464"/>
          </a:solidFill>
          <a:latin typeface="+mn-lt"/>
        </a:defRPr>
      </a:lvl5pPr>
      <a:lvl6pPr marL="2257425" indent="-357188" algn="l" rtl="0" eaLnBrk="1" fontAlgn="base" hangingPunct="1">
        <a:spcBef>
          <a:spcPct val="20000"/>
        </a:spcBef>
        <a:spcAft>
          <a:spcPct val="0"/>
        </a:spcAft>
        <a:buClr>
          <a:srgbClr val="FFD200"/>
        </a:buClr>
        <a:buSzPct val="75000"/>
        <a:buFont typeface="Arial" charset="0"/>
        <a:buChar char="►"/>
        <a:defRPr sz="1600">
          <a:solidFill>
            <a:srgbClr val="646464"/>
          </a:solidFill>
          <a:latin typeface="+mn-lt"/>
        </a:defRPr>
      </a:lvl6pPr>
      <a:lvl7pPr marL="2714625" indent="-357188" algn="l" rtl="0" eaLnBrk="1" fontAlgn="base" hangingPunct="1">
        <a:spcBef>
          <a:spcPct val="20000"/>
        </a:spcBef>
        <a:spcAft>
          <a:spcPct val="0"/>
        </a:spcAft>
        <a:buClr>
          <a:srgbClr val="FFD200"/>
        </a:buClr>
        <a:buSzPct val="75000"/>
        <a:buFont typeface="Arial" charset="0"/>
        <a:buChar char="►"/>
        <a:defRPr sz="1600">
          <a:solidFill>
            <a:srgbClr val="646464"/>
          </a:solidFill>
          <a:latin typeface="+mn-lt"/>
        </a:defRPr>
      </a:lvl7pPr>
      <a:lvl8pPr marL="3171825" indent="-357188" algn="l" rtl="0" eaLnBrk="1" fontAlgn="base" hangingPunct="1">
        <a:spcBef>
          <a:spcPct val="20000"/>
        </a:spcBef>
        <a:spcAft>
          <a:spcPct val="0"/>
        </a:spcAft>
        <a:buClr>
          <a:srgbClr val="FFD200"/>
        </a:buClr>
        <a:buSzPct val="75000"/>
        <a:buFont typeface="Arial" charset="0"/>
        <a:buChar char="►"/>
        <a:defRPr sz="1600">
          <a:solidFill>
            <a:srgbClr val="646464"/>
          </a:solidFill>
          <a:latin typeface="+mn-lt"/>
        </a:defRPr>
      </a:lvl8pPr>
      <a:lvl9pPr marL="3629025" indent="-357188" algn="l" rtl="0" eaLnBrk="1" fontAlgn="base" hangingPunct="1">
        <a:spcBef>
          <a:spcPct val="20000"/>
        </a:spcBef>
        <a:spcAft>
          <a:spcPct val="0"/>
        </a:spcAft>
        <a:buClr>
          <a:srgbClr val="FFD200"/>
        </a:buClr>
        <a:buSzPct val="75000"/>
        <a:buFont typeface="Arial" charset="0"/>
        <a:buChar char="►"/>
        <a:defRPr sz="1600">
          <a:solidFill>
            <a:srgbClr val="646464"/>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074" name="Picture 8" descr="lines11_crop_subtle_w"/>
          <p:cNvPicPr>
            <a:picLocks noChangeAspect="1" noChangeArrowheads="1"/>
          </p:cNvPicPr>
          <p:nvPr/>
        </p:nvPicPr>
        <p:blipFill>
          <a:blip r:embed="rId13" cstate="print"/>
          <a:srcRect/>
          <a:stretch>
            <a:fillRect/>
          </a:stretch>
        </p:blipFill>
        <p:spPr bwMode="auto">
          <a:xfrm>
            <a:off x="456114" y="1036691"/>
            <a:ext cx="8230415" cy="5196415"/>
          </a:xfrm>
          <a:prstGeom prst="rect">
            <a:avLst/>
          </a:prstGeom>
          <a:noFill/>
          <a:ln w="9525">
            <a:noFill/>
            <a:miter lim="800000"/>
            <a:headEnd/>
            <a:tailEnd/>
          </a:ln>
        </p:spPr>
      </p:pic>
      <p:sp>
        <p:nvSpPr>
          <p:cNvPr id="3075" name="Rectangle 2"/>
          <p:cNvSpPr>
            <a:spLocks noGrp="1" noChangeArrowheads="1"/>
          </p:cNvSpPr>
          <p:nvPr>
            <p:ph type="title"/>
          </p:nvPr>
        </p:nvSpPr>
        <p:spPr bwMode="auto">
          <a:xfrm>
            <a:off x="457472" y="200140"/>
            <a:ext cx="8229057" cy="863909"/>
          </a:xfrm>
          <a:prstGeom prst="rect">
            <a:avLst/>
          </a:prstGeom>
          <a:noFill/>
          <a:ln w="9525">
            <a:noFill/>
            <a:miter lim="800000"/>
            <a:headEnd/>
            <a:tailEnd/>
          </a:ln>
        </p:spPr>
        <p:txBody>
          <a:bodyPr vert="horz" wrap="square" lIns="0" tIns="35982" rIns="0" bIns="0" numCol="1" anchor="t" anchorCtr="0" compatLnSpc="1">
            <a:prstTxWarp prst="textNoShape">
              <a:avLst/>
            </a:prstTxWarp>
          </a:bodyPr>
          <a:lstStyle/>
          <a:p>
            <a:pPr lvl="0"/>
            <a:r>
              <a:rPr lang="en-US"/>
              <a:t>Click to edit Master title style</a:t>
            </a:r>
          </a:p>
        </p:txBody>
      </p:sp>
      <p:sp>
        <p:nvSpPr>
          <p:cNvPr id="89091" name="Line 3"/>
          <p:cNvSpPr>
            <a:spLocks noChangeShapeType="1"/>
          </p:cNvSpPr>
          <p:nvPr/>
        </p:nvSpPr>
        <p:spPr bwMode="auto">
          <a:xfrm>
            <a:off x="456114" y="200139"/>
            <a:ext cx="8229057" cy="0"/>
          </a:xfrm>
          <a:prstGeom prst="line">
            <a:avLst/>
          </a:prstGeom>
          <a:noFill/>
          <a:ln w="6350">
            <a:solidFill>
              <a:srgbClr val="646464"/>
            </a:solidFill>
            <a:round/>
            <a:headEnd/>
            <a:tailEnd/>
          </a:ln>
          <a:effectLst/>
        </p:spPr>
        <p:txBody>
          <a:bodyPr wrap="none" lIns="80133" tIns="40067" rIns="80133" bIns="40067" anchor="ctr"/>
          <a:lstStyle/>
          <a:p>
            <a:pPr>
              <a:defRPr/>
            </a:pPr>
            <a:endParaRPr lang="de-DE" sz="2200">
              <a:solidFill>
                <a:srgbClr val="646464"/>
              </a:solidFill>
              <a:latin typeface="Arial"/>
            </a:endParaRPr>
          </a:p>
        </p:txBody>
      </p:sp>
      <p:pic>
        <p:nvPicPr>
          <p:cNvPr id="3077" name="Picture 4" descr="logo_tagblack"/>
          <p:cNvPicPr>
            <a:picLocks noChangeAspect="1" noChangeArrowheads="1"/>
          </p:cNvPicPr>
          <p:nvPr/>
        </p:nvPicPr>
        <p:blipFill>
          <a:blip r:embed="rId14" cstate="print"/>
          <a:srcRect/>
          <a:stretch>
            <a:fillRect/>
          </a:stretch>
        </p:blipFill>
        <p:spPr bwMode="auto">
          <a:xfrm>
            <a:off x="7225878" y="6387169"/>
            <a:ext cx="1486443" cy="332606"/>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Lst>
  <p:hf sldNum="0" hdr="0"/>
  <p:txStyles>
    <p:titleStyle>
      <a:lvl1pPr algn="l" defTabSz="912787" rtl="0" eaLnBrk="0" fontAlgn="base" hangingPunct="0">
        <a:lnSpc>
          <a:spcPct val="85000"/>
        </a:lnSpc>
        <a:spcBef>
          <a:spcPct val="0"/>
        </a:spcBef>
        <a:spcAft>
          <a:spcPct val="0"/>
        </a:spcAft>
        <a:defRPr sz="2600" b="1">
          <a:solidFill>
            <a:srgbClr val="000000"/>
          </a:solidFill>
          <a:latin typeface="+mj-lt"/>
          <a:ea typeface="+mj-ea"/>
          <a:cs typeface="+mj-cs"/>
        </a:defRPr>
      </a:lvl1pPr>
      <a:lvl2pPr algn="l" defTabSz="912787" rtl="0" eaLnBrk="0" fontAlgn="base" hangingPunct="0">
        <a:lnSpc>
          <a:spcPct val="85000"/>
        </a:lnSpc>
        <a:spcBef>
          <a:spcPct val="0"/>
        </a:spcBef>
        <a:spcAft>
          <a:spcPct val="0"/>
        </a:spcAft>
        <a:defRPr sz="2600" b="1">
          <a:solidFill>
            <a:srgbClr val="000000"/>
          </a:solidFill>
          <a:latin typeface="Arial" charset="0"/>
        </a:defRPr>
      </a:lvl2pPr>
      <a:lvl3pPr algn="l" defTabSz="912787" rtl="0" eaLnBrk="0" fontAlgn="base" hangingPunct="0">
        <a:lnSpc>
          <a:spcPct val="85000"/>
        </a:lnSpc>
        <a:spcBef>
          <a:spcPct val="0"/>
        </a:spcBef>
        <a:spcAft>
          <a:spcPct val="0"/>
        </a:spcAft>
        <a:defRPr sz="2600" b="1">
          <a:solidFill>
            <a:srgbClr val="000000"/>
          </a:solidFill>
          <a:latin typeface="Arial" charset="0"/>
        </a:defRPr>
      </a:lvl3pPr>
      <a:lvl4pPr algn="l" defTabSz="912787" rtl="0" eaLnBrk="0" fontAlgn="base" hangingPunct="0">
        <a:lnSpc>
          <a:spcPct val="85000"/>
        </a:lnSpc>
        <a:spcBef>
          <a:spcPct val="0"/>
        </a:spcBef>
        <a:spcAft>
          <a:spcPct val="0"/>
        </a:spcAft>
        <a:defRPr sz="2600" b="1">
          <a:solidFill>
            <a:srgbClr val="000000"/>
          </a:solidFill>
          <a:latin typeface="Arial" charset="0"/>
        </a:defRPr>
      </a:lvl4pPr>
      <a:lvl5pPr algn="l" defTabSz="912787" rtl="0" eaLnBrk="0" fontAlgn="base" hangingPunct="0">
        <a:lnSpc>
          <a:spcPct val="85000"/>
        </a:lnSpc>
        <a:spcBef>
          <a:spcPct val="0"/>
        </a:spcBef>
        <a:spcAft>
          <a:spcPct val="0"/>
        </a:spcAft>
        <a:defRPr sz="2600" b="1">
          <a:solidFill>
            <a:srgbClr val="000000"/>
          </a:solidFill>
          <a:latin typeface="Arial" charset="0"/>
        </a:defRPr>
      </a:lvl5pPr>
      <a:lvl6pPr marL="400666" algn="l" defTabSz="914018" rtl="0" fontAlgn="base">
        <a:lnSpc>
          <a:spcPct val="85000"/>
        </a:lnSpc>
        <a:spcBef>
          <a:spcPct val="0"/>
        </a:spcBef>
        <a:spcAft>
          <a:spcPct val="0"/>
        </a:spcAft>
        <a:defRPr sz="2600" b="1">
          <a:solidFill>
            <a:srgbClr val="000000"/>
          </a:solidFill>
          <a:latin typeface="Arial" charset="0"/>
        </a:defRPr>
      </a:lvl6pPr>
      <a:lvl7pPr marL="801330" algn="l" defTabSz="914018" rtl="0" fontAlgn="base">
        <a:lnSpc>
          <a:spcPct val="85000"/>
        </a:lnSpc>
        <a:spcBef>
          <a:spcPct val="0"/>
        </a:spcBef>
        <a:spcAft>
          <a:spcPct val="0"/>
        </a:spcAft>
        <a:defRPr sz="2600" b="1">
          <a:solidFill>
            <a:srgbClr val="000000"/>
          </a:solidFill>
          <a:latin typeface="Arial" charset="0"/>
        </a:defRPr>
      </a:lvl7pPr>
      <a:lvl8pPr marL="1201995" algn="l" defTabSz="914018" rtl="0" fontAlgn="base">
        <a:lnSpc>
          <a:spcPct val="85000"/>
        </a:lnSpc>
        <a:spcBef>
          <a:spcPct val="0"/>
        </a:spcBef>
        <a:spcAft>
          <a:spcPct val="0"/>
        </a:spcAft>
        <a:defRPr sz="2600" b="1">
          <a:solidFill>
            <a:srgbClr val="000000"/>
          </a:solidFill>
          <a:latin typeface="Arial" charset="0"/>
        </a:defRPr>
      </a:lvl8pPr>
      <a:lvl9pPr marL="1602660" algn="l" defTabSz="914018" rtl="0" fontAlgn="base">
        <a:lnSpc>
          <a:spcPct val="85000"/>
        </a:lnSpc>
        <a:spcBef>
          <a:spcPct val="0"/>
        </a:spcBef>
        <a:spcAft>
          <a:spcPct val="0"/>
        </a:spcAft>
        <a:defRPr sz="2600" b="1">
          <a:solidFill>
            <a:srgbClr val="000000"/>
          </a:solidFill>
          <a:latin typeface="Arial" charset="0"/>
        </a:defRPr>
      </a:lvl9pPr>
    </p:titleStyle>
    <p:bodyStyle>
      <a:lvl1pPr marL="340904" indent="-340904" algn="l" defTabSz="912787" rtl="0" eaLnBrk="0" fontAlgn="base" hangingPunct="0">
        <a:spcBef>
          <a:spcPct val="20000"/>
        </a:spcBef>
        <a:spcAft>
          <a:spcPct val="0"/>
        </a:spcAft>
        <a:buClr>
          <a:schemeClr val="hlink"/>
        </a:buClr>
        <a:buSzPct val="75000"/>
        <a:buFont typeface="Arial" pitchFamily="34" charset="0"/>
        <a:buChar char="►"/>
        <a:defRPr sz="2400">
          <a:solidFill>
            <a:srgbClr val="646464"/>
          </a:solidFill>
          <a:latin typeface="+mn-lt"/>
          <a:ea typeface="+mn-ea"/>
          <a:cs typeface="+mn-cs"/>
        </a:defRPr>
      </a:lvl1pPr>
      <a:lvl2pPr marL="741640" indent="-283855" algn="l" defTabSz="912787" rtl="0" eaLnBrk="0" fontAlgn="base" hangingPunct="0">
        <a:spcBef>
          <a:spcPct val="20000"/>
        </a:spcBef>
        <a:spcAft>
          <a:spcPct val="0"/>
        </a:spcAft>
        <a:buClr>
          <a:schemeClr val="hlink"/>
        </a:buClr>
        <a:buSzPct val="75000"/>
        <a:buFont typeface="Arial" pitchFamily="34" charset="0"/>
        <a:buChar char="►"/>
        <a:defRPr sz="2000">
          <a:solidFill>
            <a:srgbClr val="646464"/>
          </a:solidFill>
          <a:latin typeface="+mn-lt"/>
        </a:defRPr>
      </a:lvl2pPr>
      <a:lvl3pPr marL="1140984" indent="-226806" algn="l" defTabSz="912787" rtl="0" eaLnBrk="0" fontAlgn="base" hangingPunct="0">
        <a:spcBef>
          <a:spcPct val="20000"/>
        </a:spcBef>
        <a:spcAft>
          <a:spcPct val="0"/>
        </a:spcAft>
        <a:buClr>
          <a:schemeClr val="hlink"/>
        </a:buClr>
        <a:buSzPct val="75000"/>
        <a:buFont typeface="Arial" pitchFamily="34" charset="0"/>
        <a:buChar char="►"/>
        <a:defRPr sz="1800">
          <a:solidFill>
            <a:srgbClr val="646464"/>
          </a:solidFill>
          <a:latin typeface="+mn-lt"/>
        </a:defRPr>
      </a:lvl3pPr>
      <a:lvl4pPr marL="1598769" indent="-226806" algn="l" defTabSz="912787" rtl="0" eaLnBrk="0" fontAlgn="base" hangingPunct="0">
        <a:spcBef>
          <a:spcPct val="20000"/>
        </a:spcBef>
        <a:spcAft>
          <a:spcPct val="0"/>
        </a:spcAft>
        <a:buClr>
          <a:schemeClr val="hlink"/>
        </a:buClr>
        <a:buSzPct val="75000"/>
        <a:buFont typeface="Arial" pitchFamily="34" charset="0"/>
        <a:buChar char="►"/>
        <a:defRPr>
          <a:solidFill>
            <a:srgbClr val="646464"/>
          </a:solidFill>
          <a:latin typeface="+mn-lt"/>
        </a:defRPr>
      </a:lvl4pPr>
      <a:lvl5pPr marL="2055163" indent="-226806" algn="l" defTabSz="912787" rtl="0" eaLnBrk="0" fontAlgn="base" hangingPunct="0">
        <a:spcBef>
          <a:spcPct val="20000"/>
        </a:spcBef>
        <a:spcAft>
          <a:spcPct val="0"/>
        </a:spcAft>
        <a:buClr>
          <a:schemeClr val="hlink"/>
        </a:buClr>
        <a:buSzPct val="75000"/>
        <a:buFont typeface="Arial" pitchFamily="34" charset="0"/>
        <a:buChar char="►"/>
        <a:defRPr>
          <a:solidFill>
            <a:srgbClr val="646464"/>
          </a:solidFill>
          <a:latin typeface="+mn-lt"/>
        </a:defRPr>
      </a:lvl5pPr>
      <a:lvl6pPr marL="2456857" indent="-228156" algn="l" defTabSz="914018" rtl="0" fontAlgn="base">
        <a:spcBef>
          <a:spcPct val="20000"/>
        </a:spcBef>
        <a:spcAft>
          <a:spcPct val="0"/>
        </a:spcAft>
        <a:buClr>
          <a:schemeClr val="hlink"/>
        </a:buClr>
        <a:buSzPct val="75000"/>
        <a:buFont typeface="Arial" charset="0"/>
        <a:buChar char="►"/>
        <a:defRPr>
          <a:solidFill>
            <a:srgbClr val="646464"/>
          </a:solidFill>
          <a:latin typeface="+mn-lt"/>
        </a:defRPr>
      </a:lvl6pPr>
      <a:lvl7pPr marL="2857521" indent="-228156" algn="l" defTabSz="914018" rtl="0" fontAlgn="base">
        <a:spcBef>
          <a:spcPct val="20000"/>
        </a:spcBef>
        <a:spcAft>
          <a:spcPct val="0"/>
        </a:spcAft>
        <a:buClr>
          <a:schemeClr val="hlink"/>
        </a:buClr>
        <a:buSzPct val="75000"/>
        <a:buFont typeface="Arial" charset="0"/>
        <a:buChar char="►"/>
        <a:defRPr>
          <a:solidFill>
            <a:srgbClr val="646464"/>
          </a:solidFill>
          <a:latin typeface="+mn-lt"/>
        </a:defRPr>
      </a:lvl7pPr>
      <a:lvl8pPr marL="3258186" indent="-228156" algn="l" defTabSz="914018" rtl="0" fontAlgn="base">
        <a:spcBef>
          <a:spcPct val="20000"/>
        </a:spcBef>
        <a:spcAft>
          <a:spcPct val="0"/>
        </a:spcAft>
        <a:buClr>
          <a:schemeClr val="hlink"/>
        </a:buClr>
        <a:buSzPct val="75000"/>
        <a:buFont typeface="Arial" charset="0"/>
        <a:buChar char="►"/>
        <a:defRPr>
          <a:solidFill>
            <a:srgbClr val="646464"/>
          </a:solidFill>
          <a:latin typeface="+mn-lt"/>
        </a:defRPr>
      </a:lvl8pPr>
      <a:lvl9pPr marL="3658851" indent="-228156" algn="l" defTabSz="914018" rtl="0" fontAlgn="base">
        <a:spcBef>
          <a:spcPct val="20000"/>
        </a:spcBef>
        <a:spcAft>
          <a:spcPct val="0"/>
        </a:spcAft>
        <a:buClr>
          <a:schemeClr val="hlink"/>
        </a:buClr>
        <a:buSzPct val="75000"/>
        <a:buFont typeface="Arial" charset="0"/>
        <a:buChar char="►"/>
        <a:defRPr>
          <a:solidFill>
            <a:srgbClr val="646464"/>
          </a:solidFill>
          <a:latin typeface="+mn-lt"/>
        </a:defRPr>
      </a:lvl9pPr>
    </p:bodyStyle>
    <p:otherStyle>
      <a:defPPr>
        <a:defRPr lang="de-DE"/>
      </a:defPPr>
      <a:lvl1pPr marL="0" algn="l" defTabSz="801330" rtl="0" eaLnBrk="1" latinLnBrk="0" hangingPunct="1">
        <a:defRPr sz="1600" kern="1200">
          <a:solidFill>
            <a:schemeClr val="tx1"/>
          </a:solidFill>
          <a:latin typeface="+mn-lt"/>
          <a:ea typeface="+mn-ea"/>
          <a:cs typeface="+mn-cs"/>
        </a:defRPr>
      </a:lvl1pPr>
      <a:lvl2pPr marL="400666" algn="l" defTabSz="801330" rtl="0" eaLnBrk="1" latinLnBrk="0" hangingPunct="1">
        <a:defRPr sz="1600" kern="1200">
          <a:solidFill>
            <a:schemeClr val="tx1"/>
          </a:solidFill>
          <a:latin typeface="+mn-lt"/>
          <a:ea typeface="+mn-ea"/>
          <a:cs typeface="+mn-cs"/>
        </a:defRPr>
      </a:lvl2pPr>
      <a:lvl3pPr marL="801330" algn="l" defTabSz="801330" rtl="0" eaLnBrk="1" latinLnBrk="0" hangingPunct="1">
        <a:defRPr sz="1600" kern="1200">
          <a:solidFill>
            <a:schemeClr val="tx1"/>
          </a:solidFill>
          <a:latin typeface="+mn-lt"/>
          <a:ea typeface="+mn-ea"/>
          <a:cs typeface="+mn-cs"/>
        </a:defRPr>
      </a:lvl3pPr>
      <a:lvl4pPr marL="1201995" algn="l" defTabSz="801330" rtl="0" eaLnBrk="1" latinLnBrk="0" hangingPunct="1">
        <a:defRPr sz="1600" kern="1200">
          <a:solidFill>
            <a:schemeClr val="tx1"/>
          </a:solidFill>
          <a:latin typeface="+mn-lt"/>
          <a:ea typeface="+mn-ea"/>
          <a:cs typeface="+mn-cs"/>
        </a:defRPr>
      </a:lvl4pPr>
      <a:lvl5pPr marL="1602660" algn="l" defTabSz="801330" rtl="0" eaLnBrk="1" latinLnBrk="0" hangingPunct="1">
        <a:defRPr sz="1600" kern="1200">
          <a:solidFill>
            <a:schemeClr val="tx1"/>
          </a:solidFill>
          <a:latin typeface="+mn-lt"/>
          <a:ea typeface="+mn-ea"/>
          <a:cs typeface="+mn-cs"/>
        </a:defRPr>
      </a:lvl5pPr>
      <a:lvl6pPr marL="2003326" algn="l" defTabSz="801330" rtl="0" eaLnBrk="1" latinLnBrk="0" hangingPunct="1">
        <a:defRPr sz="1600" kern="1200">
          <a:solidFill>
            <a:schemeClr val="tx1"/>
          </a:solidFill>
          <a:latin typeface="+mn-lt"/>
          <a:ea typeface="+mn-ea"/>
          <a:cs typeface="+mn-cs"/>
        </a:defRPr>
      </a:lvl6pPr>
      <a:lvl7pPr marL="2403991" algn="l" defTabSz="801330" rtl="0" eaLnBrk="1" latinLnBrk="0" hangingPunct="1">
        <a:defRPr sz="1600" kern="1200">
          <a:solidFill>
            <a:schemeClr val="tx1"/>
          </a:solidFill>
          <a:latin typeface="+mn-lt"/>
          <a:ea typeface="+mn-ea"/>
          <a:cs typeface="+mn-cs"/>
        </a:defRPr>
      </a:lvl7pPr>
      <a:lvl8pPr marL="2804656" algn="l" defTabSz="801330" rtl="0" eaLnBrk="1" latinLnBrk="0" hangingPunct="1">
        <a:defRPr sz="1600" kern="1200">
          <a:solidFill>
            <a:schemeClr val="tx1"/>
          </a:solidFill>
          <a:latin typeface="+mn-lt"/>
          <a:ea typeface="+mn-ea"/>
          <a:cs typeface="+mn-cs"/>
        </a:defRPr>
      </a:lvl8pPr>
      <a:lvl9pPr marL="3205320" algn="l" defTabSz="801330" rtl="0" eaLnBrk="1" latinLnBrk="0" hangingPunct="1">
        <a:defRPr sz="1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jpeg"/><Relationship Id="rId7" Type="http://schemas.openxmlformats.org/officeDocument/2006/relationships/image" Target="../media/image11.jpeg"/><Relationship Id="rId2" Type="http://schemas.openxmlformats.org/officeDocument/2006/relationships/image" Target="../media/image6.jpeg"/><Relationship Id="rId1" Type="http://schemas.openxmlformats.org/officeDocument/2006/relationships/slideLayout" Target="../slideLayouts/slideLayout6.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8.jpeg"/></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7" Type="http://schemas.openxmlformats.org/officeDocument/2006/relationships/image" Target="../media/image11.jpeg"/><Relationship Id="rId2" Type="http://schemas.openxmlformats.org/officeDocument/2006/relationships/image" Target="../media/image6.jpeg"/><Relationship Id="rId1" Type="http://schemas.openxmlformats.org/officeDocument/2006/relationships/slideLayout" Target="../slideLayouts/slideLayout6.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8.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7" Type="http://schemas.openxmlformats.org/officeDocument/2006/relationships/image" Target="../media/image11.jpeg"/><Relationship Id="rId2" Type="http://schemas.openxmlformats.org/officeDocument/2006/relationships/image" Target="../media/image6.jpeg"/><Relationship Id="rId1" Type="http://schemas.openxmlformats.org/officeDocument/2006/relationships/slideLayout" Target="../slideLayouts/slideLayout6.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8.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jpeg"/><Relationship Id="rId7" Type="http://schemas.openxmlformats.org/officeDocument/2006/relationships/image" Target="../media/image11.jpeg"/><Relationship Id="rId2" Type="http://schemas.openxmlformats.org/officeDocument/2006/relationships/image" Target="../media/image6.jpeg"/><Relationship Id="rId1" Type="http://schemas.openxmlformats.org/officeDocument/2006/relationships/slideLayout" Target="../slideLayouts/slideLayout6.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8.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jpeg"/><Relationship Id="rId7" Type="http://schemas.openxmlformats.org/officeDocument/2006/relationships/image" Target="../media/image11.jpeg"/><Relationship Id="rId2" Type="http://schemas.openxmlformats.org/officeDocument/2006/relationships/image" Target="../media/image6.jpeg"/><Relationship Id="rId1" Type="http://schemas.openxmlformats.org/officeDocument/2006/relationships/slideLayout" Target="../slideLayouts/slideLayout6.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8.jpeg"/></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2.xml.rels><?xml version="1.0" encoding="UTF-8" standalone="yes"?>
<Relationships xmlns="http://schemas.openxmlformats.org/package/2006/relationships"><Relationship Id="rId2" Type="http://schemas.openxmlformats.org/officeDocument/2006/relationships/slide" Target="slide30.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7.jpeg"/><Relationship Id="rId7" Type="http://schemas.openxmlformats.org/officeDocument/2006/relationships/image" Target="../media/image11.jpeg"/><Relationship Id="rId2" Type="http://schemas.openxmlformats.org/officeDocument/2006/relationships/image" Target="../media/image6.jpeg"/><Relationship Id="rId1" Type="http://schemas.openxmlformats.org/officeDocument/2006/relationships/slideLayout" Target="../slideLayouts/slideLayout6.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8.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7.jpeg"/><Relationship Id="rId7" Type="http://schemas.openxmlformats.org/officeDocument/2006/relationships/image" Target="../media/image11.jpeg"/><Relationship Id="rId2" Type="http://schemas.openxmlformats.org/officeDocument/2006/relationships/image" Target="../media/image6.jpeg"/><Relationship Id="rId1" Type="http://schemas.openxmlformats.org/officeDocument/2006/relationships/slideLayout" Target="../slideLayouts/slideLayout6.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8.jpe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slide" Target="slide23.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5" name="Rectangle 5"/>
          <p:cNvSpPr>
            <a:spLocks noGrp="1" noChangeArrowheads="1"/>
          </p:cNvSpPr>
          <p:nvPr>
            <p:ph type="ctrTitle"/>
          </p:nvPr>
        </p:nvSpPr>
        <p:spPr>
          <a:xfrm>
            <a:off x="533400" y="1600200"/>
            <a:ext cx="6086475" cy="908050"/>
          </a:xfrm>
        </p:spPr>
        <p:txBody>
          <a:bodyPr/>
          <a:lstStyle/>
          <a:p>
            <a:r>
              <a:rPr lang="en-GB" sz="3200" dirty="0">
                <a:latin typeface="EYInterstate" pitchFamily="2" charset="0"/>
              </a:rPr>
              <a:t>Roaming Revenue Assurance</a:t>
            </a:r>
            <a:endParaRPr lang="en-US" sz="3200" dirty="0">
              <a:latin typeface="EYInterstate" pitchFamily="2" charset="0"/>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tabLst>
                <a:tab pos="400050" algn="l"/>
              </a:tabLst>
              <a:defRPr/>
            </a:pPr>
            <a:r>
              <a:rPr lang="en-US" sz="2400" dirty="0">
                <a:latin typeface="EYInterstate" pitchFamily="2" charset="0"/>
              </a:rPr>
              <a:t>Contents</a:t>
            </a:r>
          </a:p>
        </p:txBody>
      </p:sp>
      <p:grpSp>
        <p:nvGrpSpPr>
          <p:cNvPr id="51" name="Group 50"/>
          <p:cNvGrpSpPr/>
          <p:nvPr/>
        </p:nvGrpSpPr>
        <p:grpSpPr>
          <a:xfrm>
            <a:off x="914400" y="1993408"/>
            <a:ext cx="7315200" cy="2856040"/>
            <a:chOff x="914400" y="1993408"/>
            <a:chExt cx="7315200" cy="2856040"/>
          </a:xfrm>
        </p:grpSpPr>
        <p:sp>
          <p:nvSpPr>
            <p:cNvPr id="69" name="Rectangle 68"/>
            <p:cNvSpPr/>
            <p:nvPr/>
          </p:nvSpPr>
          <p:spPr>
            <a:xfrm>
              <a:off x="4599787" y="3432381"/>
              <a:ext cx="1185681" cy="1401763"/>
            </a:xfrm>
            <a:prstGeom prst="rect">
              <a:avLst/>
            </a:prstGeom>
            <a:solidFill>
              <a:srgbClr val="FFD2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4" name="Rectangle 3"/>
            <p:cNvSpPr/>
            <p:nvPr/>
          </p:nvSpPr>
          <p:spPr>
            <a:xfrm>
              <a:off x="3371835" y="1993408"/>
              <a:ext cx="1185681" cy="1403350"/>
            </a:xfrm>
            <a:prstGeom prst="rect">
              <a:avLst/>
            </a:prstGeom>
            <a:solidFill>
              <a:srgbClr val="FFD2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5" name="Rectangle 4"/>
            <p:cNvSpPr/>
            <p:nvPr/>
          </p:nvSpPr>
          <p:spPr>
            <a:xfrm>
              <a:off x="3418582" y="1998170"/>
              <a:ext cx="1090770" cy="181268"/>
            </a:xfrm>
            <a:prstGeom prst="rect">
              <a:avLst/>
            </a:prstGeom>
          </p:spPr>
          <p:txBody>
            <a:bodyPr lIns="0" tIns="0" rIns="0" bIns="0">
              <a:spAutoFit/>
            </a:bodyPr>
            <a:lstStyle/>
            <a:p>
              <a:pPr>
                <a:lnSpc>
                  <a:spcPts val="1500"/>
                </a:lnSpc>
                <a:buClr>
                  <a:srgbClr val="FFD200"/>
                </a:buClr>
                <a:buSzPct val="75000"/>
                <a:buFont typeface="Arial" charset="0"/>
                <a:buNone/>
                <a:tabLst>
                  <a:tab pos="400050" algn="l"/>
                </a:tabLst>
                <a:defRPr/>
              </a:pPr>
              <a:r>
                <a:rPr lang="en-US" sz="1200" dirty="0">
                  <a:latin typeface="EYInterstate" pitchFamily="2" charset="0"/>
                </a:rPr>
                <a:t>Key Concepts</a:t>
              </a:r>
            </a:p>
          </p:txBody>
        </p:sp>
        <p:sp>
          <p:nvSpPr>
            <p:cNvPr id="8" name="Rectangle 7"/>
            <p:cNvSpPr/>
            <p:nvPr/>
          </p:nvSpPr>
          <p:spPr>
            <a:xfrm>
              <a:off x="2141049" y="3438477"/>
              <a:ext cx="1185681" cy="1401763"/>
            </a:xfrm>
            <a:prstGeom prst="rect">
              <a:avLst/>
            </a:prstGeom>
            <a:solidFill>
              <a:srgbClr val="FFD2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9" name="Rectangle 20"/>
            <p:cNvSpPr>
              <a:spLocks noChangeArrowheads="1"/>
            </p:cNvSpPr>
            <p:nvPr/>
          </p:nvSpPr>
          <p:spPr bwMode="auto">
            <a:xfrm>
              <a:off x="2178107" y="4094686"/>
              <a:ext cx="1014275" cy="553998"/>
            </a:xfrm>
            <a:prstGeom prst="rect">
              <a:avLst/>
            </a:prstGeom>
            <a:noFill/>
            <a:ln w="9525">
              <a:noFill/>
              <a:miter lim="800000"/>
              <a:headEnd/>
              <a:tailEnd/>
            </a:ln>
          </p:spPr>
          <p:txBody>
            <a:bodyPr lIns="0" tIns="0" rIns="0" bIns="0">
              <a:spAutoFit/>
            </a:bodyPr>
            <a:lstStyle/>
            <a:p>
              <a:pPr>
                <a:buClr>
                  <a:srgbClr val="FFD200"/>
                </a:buClr>
                <a:buSzPct val="75000"/>
                <a:buFont typeface="Arial" pitchFamily="34" charset="0"/>
                <a:buNone/>
                <a:tabLst>
                  <a:tab pos="400050" algn="l"/>
                </a:tabLst>
              </a:pPr>
              <a:r>
                <a:rPr lang="en-US" sz="1200" dirty="0">
                  <a:latin typeface="EYInterstate" pitchFamily="2" charset="0"/>
                </a:rPr>
                <a:t>General Roaming</a:t>
              </a:r>
            </a:p>
            <a:p>
              <a:pPr>
                <a:buClr>
                  <a:srgbClr val="FFD200"/>
                </a:buClr>
                <a:buSzPct val="75000"/>
                <a:buFont typeface="Arial" pitchFamily="34" charset="0"/>
                <a:buNone/>
                <a:tabLst>
                  <a:tab pos="400050" algn="l"/>
                </a:tabLst>
              </a:pPr>
              <a:r>
                <a:rPr lang="en-US" sz="1200" dirty="0">
                  <a:latin typeface="EYInterstate" pitchFamily="2" charset="0"/>
                </a:rPr>
                <a:t>Terminologies</a:t>
              </a:r>
              <a:endParaRPr lang="en-US" sz="1200" dirty="0">
                <a:solidFill>
                  <a:srgbClr val="000000"/>
                </a:solidFill>
                <a:latin typeface="EYInterstate Light" pitchFamily="2" charset="0"/>
              </a:endParaRPr>
            </a:p>
          </p:txBody>
        </p:sp>
        <p:grpSp>
          <p:nvGrpSpPr>
            <p:cNvPr id="6" name="Group 33"/>
            <p:cNvGrpSpPr>
              <a:grpSpLocks/>
            </p:cNvGrpSpPr>
            <p:nvPr/>
          </p:nvGrpSpPr>
          <p:grpSpPr bwMode="auto">
            <a:xfrm>
              <a:off x="5820601" y="2004145"/>
              <a:ext cx="1187098" cy="1401763"/>
              <a:chOff x="4599803" y="2102667"/>
              <a:chExt cx="1329095" cy="1401653"/>
            </a:xfrm>
          </p:grpSpPr>
          <p:sp>
            <p:nvSpPr>
              <p:cNvPr id="16" name="Rectangle 15"/>
              <p:cNvSpPr/>
              <p:nvPr/>
            </p:nvSpPr>
            <p:spPr>
              <a:xfrm>
                <a:off x="4599803" y="2102667"/>
                <a:ext cx="1329095" cy="1401653"/>
              </a:xfrm>
              <a:prstGeom prst="rect">
                <a:avLst/>
              </a:prstGeom>
              <a:solidFill>
                <a:srgbClr val="FFD2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17" name="Rectangle 23"/>
              <p:cNvSpPr>
                <a:spLocks noChangeArrowheads="1"/>
              </p:cNvSpPr>
              <p:nvPr/>
            </p:nvSpPr>
            <p:spPr bwMode="auto">
              <a:xfrm>
                <a:off x="4633035" y="2162263"/>
                <a:ext cx="1136666" cy="384691"/>
              </a:xfrm>
              <a:prstGeom prst="rect">
                <a:avLst/>
              </a:prstGeom>
              <a:noFill/>
              <a:ln w="9525">
                <a:noFill/>
                <a:miter lim="800000"/>
                <a:headEnd/>
                <a:tailEnd/>
              </a:ln>
            </p:spPr>
            <p:txBody>
              <a:bodyPr lIns="0" tIns="0" rIns="0" bIns="0">
                <a:spAutoFit/>
              </a:bodyPr>
              <a:lstStyle/>
              <a:p>
                <a:pPr>
                  <a:lnSpc>
                    <a:spcPts val="1500"/>
                  </a:lnSpc>
                  <a:buClr>
                    <a:srgbClr val="FFD200"/>
                  </a:buClr>
                  <a:buSzPct val="75000"/>
                  <a:tabLst>
                    <a:tab pos="400050" algn="l"/>
                  </a:tabLst>
                  <a:defRPr/>
                </a:pPr>
                <a:r>
                  <a:rPr lang="en-US" sz="1200" dirty="0">
                    <a:latin typeface="EYInterstate" pitchFamily="2" charset="0"/>
                  </a:rPr>
                  <a:t>Intra Circle  Roaming</a:t>
                </a:r>
              </a:p>
            </p:txBody>
          </p:sp>
        </p:grpSp>
        <p:sp>
          <p:nvSpPr>
            <p:cNvPr id="29" name="Rectangle 22"/>
            <p:cNvSpPr>
              <a:spLocks noChangeArrowheads="1"/>
            </p:cNvSpPr>
            <p:nvPr/>
          </p:nvSpPr>
          <p:spPr bwMode="auto">
            <a:xfrm>
              <a:off x="4636782" y="4350772"/>
              <a:ext cx="1105972" cy="373628"/>
            </a:xfrm>
            <a:prstGeom prst="rect">
              <a:avLst/>
            </a:prstGeom>
            <a:noFill/>
            <a:ln w="9525">
              <a:noFill/>
              <a:miter lim="800000"/>
              <a:headEnd/>
              <a:tailEnd/>
            </a:ln>
          </p:spPr>
          <p:txBody>
            <a:bodyPr lIns="0" tIns="0" rIns="0" bIns="0">
              <a:spAutoFit/>
            </a:bodyPr>
            <a:lstStyle/>
            <a:p>
              <a:pPr>
                <a:lnSpc>
                  <a:spcPts val="1500"/>
                </a:lnSpc>
                <a:buClr>
                  <a:srgbClr val="FFD200"/>
                </a:buClr>
                <a:buSzPct val="75000"/>
                <a:buFont typeface="Arial" charset="0"/>
                <a:buNone/>
                <a:tabLst>
                  <a:tab pos="400050" algn="l"/>
                </a:tabLst>
                <a:defRPr/>
              </a:pPr>
              <a:r>
                <a:rPr lang="en-US" sz="1200" dirty="0">
                  <a:latin typeface="EYInterstate" pitchFamily="2" charset="0"/>
                </a:rPr>
                <a:t>Roaming Revenue Cycle</a:t>
              </a:r>
            </a:p>
          </p:txBody>
        </p:sp>
        <p:grpSp>
          <p:nvGrpSpPr>
            <p:cNvPr id="7" name="Group 44"/>
            <p:cNvGrpSpPr>
              <a:grpSpLocks/>
            </p:cNvGrpSpPr>
            <p:nvPr/>
          </p:nvGrpSpPr>
          <p:grpSpPr bwMode="auto">
            <a:xfrm>
              <a:off x="7035528" y="3447686"/>
              <a:ext cx="1185683" cy="1401762"/>
              <a:chOff x="5972094" y="3483677"/>
              <a:chExt cx="1329077" cy="1401653"/>
            </a:xfrm>
          </p:grpSpPr>
          <p:sp>
            <p:nvSpPr>
              <p:cNvPr id="34" name="Rectangle 33"/>
              <p:cNvSpPr/>
              <p:nvPr/>
            </p:nvSpPr>
            <p:spPr>
              <a:xfrm>
                <a:off x="5972094" y="3483677"/>
                <a:ext cx="1329077" cy="1401653"/>
              </a:xfrm>
              <a:prstGeom prst="rect">
                <a:avLst/>
              </a:prstGeom>
              <a:solidFill>
                <a:srgbClr val="FFD2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35" name="Rectangle 24"/>
              <p:cNvSpPr>
                <a:spLocks noChangeArrowheads="1"/>
              </p:cNvSpPr>
              <p:nvPr/>
            </p:nvSpPr>
            <p:spPr bwMode="auto">
              <a:xfrm>
                <a:off x="6011147" y="4575640"/>
                <a:ext cx="1136650" cy="184652"/>
              </a:xfrm>
              <a:prstGeom prst="rect">
                <a:avLst/>
              </a:prstGeom>
              <a:noFill/>
              <a:ln w="9525">
                <a:noFill/>
                <a:miter lim="800000"/>
                <a:headEnd/>
                <a:tailEnd/>
              </a:ln>
            </p:spPr>
            <p:txBody>
              <a:bodyPr lIns="0" tIns="0" rIns="0" bIns="0">
                <a:spAutoFit/>
              </a:bodyPr>
              <a:lstStyle/>
              <a:p>
                <a:pPr>
                  <a:buClr>
                    <a:srgbClr val="FFD200"/>
                  </a:buClr>
                  <a:buSzPct val="75000"/>
                  <a:tabLst>
                    <a:tab pos="400050" algn="l"/>
                  </a:tabLst>
                </a:pPr>
                <a:r>
                  <a:rPr lang="en-US" sz="1200" dirty="0">
                    <a:latin typeface="EYInterstate" pitchFamily="2" charset="0"/>
                  </a:rPr>
                  <a:t>Glossary </a:t>
                </a:r>
              </a:p>
            </p:txBody>
          </p:sp>
        </p:grpSp>
        <p:pic>
          <p:nvPicPr>
            <p:cNvPr id="40" name="Picture 4" descr="investment"/>
            <p:cNvPicPr>
              <a:picLocks noChangeArrowheads="1"/>
            </p:cNvPicPr>
            <p:nvPr/>
          </p:nvPicPr>
          <p:blipFill>
            <a:blip r:embed="rId2" cstate="print"/>
            <a:srcRect/>
            <a:stretch>
              <a:fillRect/>
            </a:stretch>
          </p:blipFill>
          <p:spPr bwMode="auto">
            <a:xfrm>
              <a:off x="4588908" y="2005600"/>
              <a:ext cx="1183132" cy="1399032"/>
            </a:xfrm>
            <a:prstGeom prst="rect">
              <a:avLst/>
            </a:prstGeom>
            <a:noFill/>
          </p:spPr>
        </p:pic>
        <p:pic>
          <p:nvPicPr>
            <p:cNvPr id="57" name="Picture 29" descr="14H02278_RF.jpg"/>
            <p:cNvPicPr>
              <a:picLocks noChangeAspect="1"/>
            </p:cNvPicPr>
            <p:nvPr/>
          </p:nvPicPr>
          <p:blipFill>
            <a:blip r:embed="rId3" cstate="print"/>
            <a:srcRect b="29448"/>
            <a:stretch>
              <a:fillRect/>
            </a:stretch>
          </p:blipFill>
          <p:spPr bwMode="auto">
            <a:xfrm>
              <a:off x="3375858" y="3432064"/>
              <a:ext cx="1182848" cy="1401763"/>
            </a:xfrm>
            <a:prstGeom prst="rect">
              <a:avLst/>
            </a:prstGeom>
            <a:noFill/>
            <a:ln w="9525">
              <a:noFill/>
              <a:miter lim="800000"/>
              <a:headEnd/>
              <a:tailEnd/>
            </a:ln>
          </p:spPr>
        </p:pic>
        <p:grpSp>
          <p:nvGrpSpPr>
            <p:cNvPr id="12" name="Group 44"/>
            <p:cNvGrpSpPr/>
            <p:nvPr/>
          </p:nvGrpSpPr>
          <p:grpSpPr>
            <a:xfrm>
              <a:off x="914400" y="1993408"/>
              <a:ext cx="1185681" cy="1479901"/>
              <a:chOff x="402336" y="1993408"/>
              <a:chExt cx="1185681" cy="1479901"/>
            </a:xfrm>
          </p:grpSpPr>
          <p:sp>
            <p:nvSpPr>
              <p:cNvPr id="58" name="Rectangle 57"/>
              <p:cNvSpPr/>
              <p:nvPr/>
            </p:nvSpPr>
            <p:spPr>
              <a:xfrm>
                <a:off x="402336" y="1993408"/>
                <a:ext cx="1185681" cy="1401763"/>
              </a:xfrm>
              <a:prstGeom prst="rect">
                <a:avLst/>
              </a:prstGeom>
              <a:solidFill>
                <a:srgbClr val="FFD2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10" name="Rectangle 9"/>
              <p:cNvSpPr/>
              <p:nvPr/>
            </p:nvSpPr>
            <p:spPr>
              <a:xfrm>
                <a:off x="414915" y="2734645"/>
                <a:ext cx="407976"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a:solidFill>
                      <a:schemeClr val="bg1"/>
                    </a:solidFill>
                    <a:latin typeface="EYInterstate Light" pitchFamily="2" charset="0"/>
                  </a:rPr>
                  <a:t>1.</a:t>
                </a:r>
              </a:p>
            </p:txBody>
          </p:sp>
          <p:sp>
            <p:nvSpPr>
              <p:cNvPr id="11" name="Isosceles Triangle 10"/>
              <p:cNvSpPr/>
              <p:nvPr/>
            </p:nvSpPr>
            <p:spPr>
              <a:xfrm rot="10800000">
                <a:off x="1427830" y="3303477"/>
                <a:ext cx="144492"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65" name="Rectangle 20"/>
              <p:cNvSpPr>
                <a:spLocks noChangeArrowheads="1"/>
              </p:cNvSpPr>
              <p:nvPr/>
            </p:nvSpPr>
            <p:spPr bwMode="auto">
              <a:xfrm>
                <a:off x="429534" y="2022110"/>
                <a:ext cx="1014275" cy="553998"/>
              </a:xfrm>
              <a:prstGeom prst="rect">
                <a:avLst/>
              </a:prstGeom>
              <a:noFill/>
              <a:ln w="9525">
                <a:noFill/>
                <a:miter lim="800000"/>
                <a:headEnd/>
                <a:tailEnd/>
              </a:ln>
            </p:spPr>
            <p:txBody>
              <a:bodyPr lIns="0" tIns="0" rIns="0" bIns="0">
                <a:spAutoFit/>
              </a:bodyPr>
              <a:lstStyle/>
              <a:p>
                <a:pPr>
                  <a:buClr>
                    <a:srgbClr val="FFD200"/>
                  </a:buClr>
                  <a:buSzPct val="75000"/>
                  <a:buFont typeface="Arial" pitchFamily="34" charset="0"/>
                  <a:buNone/>
                  <a:tabLst>
                    <a:tab pos="400050" algn="l"/>
                  </a:tabLst>
                </a:pPr>
                <a:r>
                  <a:rPr lang="en-US" sz="1200" dirty="0">
                    <a:latin typeface="EYInterstate" pitchFamily="2" charset="0"/>
                  </a:rPr>
                  <a:t>Introduction to Roaming</a:t>
                </a:r>
              </a:p>
              <a:p>
                <a:pPr>
                  <a:buClr>
                    <a:srgbClr val="FFD200"/>
                  </a:buClr>
                  <a:buSzPct val="75000"/>
                  <a:buFont typeface="Arial" pitchFamily="34" charset="0"/>
                  <a:buNone/>
                  <a:tabLst>
                    <a:tab pos="400050" algn="l"/>
                  </a:tabLst>
                </a:pPr>
                <a:endParaRPr lang="en-US" sz="1200" dirty="0">
                  <a:solidFill>
                    <a:srgbClr val="000000"/>
                  </a:solidFill>
                  <a:latin typeface="EYInterstate Light" pitchFamily="2" charset="0"/>
                </a:endParaRPr>
              </a:p>
            </p:txBody>
          </p:sp>
        </p:grpSp>
        <p:sp>
          <p:nvSpPr>
            <p:cNvPr id="66" name="Isosceles Triangle 65"/>
            <p:cNvSpPr/>
            <p:nvPr/>
          </p:nvSpPr>
          <p:spPr bwMode="auto">
            <a:xfrm>
              <a:off x="3154587" y="3474673"/>
              <a:ext cx="145908"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67" name="Isosceles Triangle 66"/>
            <p:cNvSpPr/>
            <p:nvPr/>
          </p:nvSpPr>
          <p:spPr>
            <a:xfrm rot="10800000">
              <a:off x="4373700" y="3297381"/>
              <a:ext cx="144492"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68" name="Isosceles Triangle 67"/>
            <p:cNvSpPr/>
            <p:nvPr/>
          </p:nvSpPr>
          <p:spPr bwMode="auto">
            <a:xfrm>
              <a:off x="5607093" y="3486928"/>
              <a:ext cx="145908"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71" name="Isosceles Triangle 70"/>
            <p:cNvSpPr/>
            <p:nvPr/>
          </p:nvSpPr>
          <p:spPr>
            <a:xfrm rot="10800000">
              <a:off x="6824279" y="3315669"/>
              <a:ext cx="144492"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72" name="Isosceles Triangle 71"/>
            <p:cNvSpPr/>
            <p:nvPr/>
          </p:nvSpPr>
          <p:spPr bwMode="auto">
            <a:xfrm>
              <a:off x="8027753" y="3493024"/>
              <a:ext cx="145908"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77" name="Rectangle 76"/>
            <p:cNvSpPr/>
            <p:nvPr/>
          </p:nvSpPr>
          <p:spPr>
            <a:xfrm>
              <a:off x="3364979" y="2752933"/>
              <a:ext cx="407976"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a:solidFill>
                    <a:schemeClr val="bg1"/>
                  </a:solidFill>
                  <a:latin typeface="EYInterstate Light" pitchFamily="2" charset="0"/>
                </a:rPr>
                <a:t>3.</a:t>
              </a:r>
            </a:p>
          </p:txBody>
        </p:sp>
        <p:sp>
          <p:nvSpPr>
            <p:cNvPr id="78" name="Rectangle 77"/>
            <p:cNvSpPr/>
            <p:nvPr/>
          </p:nvSpPr>
          <p:spPr>
            <a:xfrm>
              <a:off x="5801958" y="2769765"/>
              <a:ext cx="407976"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a:solidFill>
                    <a:schemeClr val="bg1"/>
                  </a:solidFill>
                  <a:latin typeface="EYInterstate Light" pitchFamily="2" charset="0"/>
                </a:rPr>
                <a:t>5.</a:t>
              </a:r>
            </a:p>
          </p:txBody>
        </p:sp>
        <p:sp>
          <p:nvSpPr>
            <p:cNvPr id="79" name="Rectangle 78"/>
            <p:cNvSpPr/>
            <p:nvPr/>
          </p:nvSpPr>
          <p:spPr>
            <a:xfrm>
              <a:off x="2154648" y="3453400"/>
              <a:ext cx="407976"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a:solidFill>
                    <a:schemeClr val="bg1"/>
                  </a:solidFill>
                  <a:latin typeface="EYInterstate Light" pitchFamily="2" charset="0"/>
                </a:rPr>
                <a:t>2.</a:t>
              </a:r>
            </a:p>
          </p:txBody>
        </p:sp>
        <p:sp>
          <p:nvSpPr>
            <p:cNvPr id="80" name="Rectangle 79"/>
            <p:cNvSpPr/>
            <p:nvPr/>
          </p:nvSpPr>
          <p:spPr>
            <a:xfrm>
              <a:off x="4632425" y="3450352"/>
              <a:ext cx="407976"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a:solidFill>
                    <a:schemeClr val="bg1"/>
                  </a:solidFill>
                  <a:latin typeface="EYInterstate Light" pitchFamily="2" charset="0"/>
                </a:rPr>
                <a:t>4.</a:t>
              </a:r>
            </a:p>
          </p:txBody>
        </p:sp>
        <p:sp>
          <p:nvSpPr>
            <p:cNvPr id="81" name="Rectangle 80"/>
            <p:cNvSpPr/>
            <p:nvPr/>
          </p:nvSpPr>
          <p:spPr>
            <a:xfrm>
              <a:off x="7063965" y="3461496"/>
              <a:ext cx="407976"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a:solidFill>
                    <a:schemeClr val="bg1"/>
                  </a:solidFill>
                  <a:latin typeface="EYInterstate Light" pitchFamily="2" charset="0"/>
                </a:rPr>
                <a:t>6. </a:t>
              </a:r>
            </a:p>
          </p:txBody>
        </p:sp>
        <p:pic>
          <p:nvPicPr>
            <p:cNvPr id="4097" name="Picture 1" descr="C:\TechM Warehouse\Data 1\Useful Presentations\Useful Pics\Cong 1.jpg"/>
            <p:cNvPicPr>
              <a:picLocks noChangeArrowheads="1"/>
            </p:cNvPicPr>
            <p:nvPr/>
          </p:nvPicPr>
          <p:blipFill>
            <a:blip r:embed="rId4" cstate="print"/>
            <a:srcRect/>
            <a:stretch>
              <a:fillRect/>
            </a:stretch>
          </p:blipFill>
          <p:spPr bwMode="auto">
            <a:xfrm>
              <a:off x="919718" y="3429016"/>
              <a:ext cx="1183132" cy="1399032"/>
            </a:xfrm>
            <a:prstGeom prst="rect">
              <a:avLst/>
            </a:prstGeom>
            <a:noFill/>
          </p:spPr>
        </p:pic>
        <p:pic>
          <p:nvPicPr>
            <p:cNvPr id="4099" name="Picture 3"/>
            <p:cNvPicPr>
              <a:picLocks noChangeArrowheads="1"/>
            </p:cNvPicPr>
            <p:nvPr/>
          </p:nvPicPr>
          <p:blipFill>
            <a:blip r:embed="rId5" cstate="print"/>
            <a:srcRect/>
            <a:stretch>
              <a:fillRect/>
            </a:stretch>
          </p:blipFill>
          <p:spPr bwMode="auto">
            <a:xfrm>
              <a:off x="2145675" y="1994864"/>
              <a:ext cx="1183132" cy="1399032"/>
            </a:xfrm>
            <a:prstGeom prst="rect">
              <a:avLst/>
            </a:prstGeom>
            <a:noFill/>
            <a:ln w="9525">
              <a:noFill/>
              <a:miter lim="800000"/>
              <a:headEnd/>
              <a:tailEnd/>
            </a:ln>
            <a:effectLst/>
          </p:spPr>
        </p:pic>
        <p:pic>
          <p:nvPicPr>
            <p:cNvPr id="4100" name="Picture 4"/>
            <p:cNvPicPr>
              <a:picLocks noChangeArrowheads="1"/>
            </p:cNvPicPr>
            <p:nvPr/>
          </p:nvPicPr>
          <p:blipFill>
            <a:blip r:embed="rId6" cstate="print"/>
            <a:srcRect/>
            <a:stretch>
              <a:fillRect/>
            </a:stretch>
          </p:blipFill>
          <p:spPr bwMode="auto">
            <a:xfrm>
              <a:off x="5810360" y="3444936"/>
              <a:ext cx="1183132" cy="1399032"/>
            </a:xfrm>
            <a:prstGeom prst="rect">
              <a:avLst/>
            </a:prstGeom>
            <a:noFill/>
            <a:ln w="9525">
              <a:noFill/>
              <a:miter lim="800000"/>
              <a:headEnd/>
              <a:tailEnd/>
            </a:ln>
            <a:effectLst/>
          </p:spPr>
        </p:pic>
        <p:pic>
          <p:nvPicPr>
            <p:cNvPr id="4101" name="Picture 5"/>
            <p:cNvPicPr>
              <a:picLocks noChangeArrowheads="1"/>
            </p:cNvPicPr>
            <p:nvPr/>
          </p:nvPicPr>
          <p:blipFill>
            <a:blip r:embed="rId7" cstate="print"/>
            <a:srcRect/>
            <a:stretch>
              <a:fillRect/>
            </a:stretch>
          </p:blipFill>
          <p:spPr bwMode="auto">
            <a:xfrm>
              <a:off x="7046468" y="2013039"/>
              <a:ext cx="1183132" cy="1399032"/>
            </a:xfrm>
            <a:prstGeom prst="rect">
              <a:avLst/>
            </a:prstGeom>
            <a:noFill/>
            <a:ln w="9525">
              <a:noFill/>
              <a:miter lim="800000"/>
              <a:headEnd/>
              <a:tailEnd/>
            </a:ln>
            <a:effectLst/>
          </p:spPr>
        </p:pic>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tabLst>
                <a:tab pos="400050" algn="l"/>
              </a:tabLst>
              <a:defRPr/>
            </a:pPr>
            <a:r>
              <a:rPr lang="en-US" sz="2400" dirty="0">
                <a:latin typeface="EYInterstate" pitchFamily="2" charset="0"/>
              </a:rPr>
              <a:t>Introduction to Roaming</a:t>
            </a:r>
          </a:p>
        </p:txBody>
      </p:sp>
      <p:sp>
        <p:nvSpPr>
          <p:cNvPr id="60" name="Isosceles Triangle 59"/>
          <p:cNvSpPr/>
          <p:nvPr/>
        </p:nvSpPr>
        <p:spPr>
          <a:xfrm rot="5400000">
            <a:off x="1600200" y="6111320"/>
            <a:ext cx="161925"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64" name="Isosceles Triangle 63"/>
          <p:cNvSpPr/>
          <p:nvPr/>
        </p:nvSpPr>
        <p:spPr>
          <a:xfrm rot="5400000">
            <a:off x="4308792" y="6075188"/>
            <a:ext cx="161925"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82" name="Rectangle 81"/>
          <p:cNvSpPr/>
          <p:nvPr/>
        </p:nvSpPr>
        <p:spPr>
          <a:xfrm>
            <a:off x="446913" y="5614432"/>
            <a:ext cx="457200"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a:solidFill>
                  <a:schemeClr val="bg1"/>
                </a:solidFill>
                <a:latin typeface="EYInterstate Light" pitchFamily="2" charset="0"/>
              </a:rPr>
              <a:t>7.</a:t>
            </a:r>
          </a:p>
        </p:txBody>
      </p:sp>
      <p:sp>
        <p:nvSpPr>
          <p:cNvPr id="83" name="Rectangle 82"/>
          <p:cNvSpPr/>
          <p:nvPr/>
        </p:nvSpPr>
        <p:spPr>
          <a:xfrm>
            <a:off x="3151632" y="5623576"/>
            <a:ext cx="457200"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a:solidFill>
                  <a:schemeClr val="bg1"/>
                </a:solidFill>
                <a:latin typeface="EYInterstate Light" pitchFamily="2" charset="0"/>
              </a:rPr>
              <a:t>8.</a:t>
            </a:r>
          </a:p>
        </p:txBody>
      </p:sp>
      <p:grpSp>
        <p:nvGrpSpPr>
          <p:cNvPr id="109" name="Group 108"/>
          <p:cNvGrpSpPr/>
          <p:nvPr/>
        </p:nvGrpSpPr>
        <p:grpSpPr>
          <a:xfrm>
            <a:off x="914400" y="1981200"/>
            <a:ext cx="7315200" cy="2856040"/>
            <a:chOff x="914400" y="1993408"/>
            <a:chExt cx="7315200" cy="2856040"/>
          </a:xfrm>
        </p:grpSpPr>
        <p:sp>
          <p:nvSpPr>
            <p:cNvPr id="110" name="Rectangle 109"/>
            <p:cNvSpPr/>
            <p:nvPr/>
          </p:nvSpPr>
          <p:spPr>
            <a:xfrm>
              <a:off x="4599787" y="3432381"/>
              <a:ext cx="1185681" cy="140176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111" name="Rectangle 110"/>
            <p:cNvSpPr/>
            <p:nvPr/>
          </p:nvSpPr>
          <p:spPr>
            <a:xfrm>
              <a:off x="3371835" y="1993408"/>
              <a:ext cx="1185681" cy="140335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112" name="Rectangle 111"/>
            <p:cNvSpPr/>
            <p:nvPr/>
          </p:nvSpPr>
          <p:spPr>
            <a:xfrm>
              <a:off x="3418582" y="1998170"/>
              <a:ext cx="1090770" cy="181268"/>
            </a:xfrm>
            <a:prstGeom prst="rect">
              <a:avLst/>
            </a:prstGeom>
          </p:spPr>
          <p:txBody>
            <a:bodyPr lIns="0" tIns="0" rIns="0" bIns="0">
              <a:spAutoFit/>
            </a:bodyPr>
            <a:lstStyle/>
            <a:p>
              <a:pPr>
                <a:lnSpc>
                  <a:spcPts val="1500"/>
                </a:lnSpc>
                <a:buClr>
                  <a:srgbClr val="FFD200"/>
                </a:buClr>
                <a:buSzPct val="75000"/>
                <a:buFont typeface="Arial" charset="0"/>
                <a:buNone/>
                <a:tabLst>
                  <a:tab pos="400050" algn="l"/>
                </a:tabLst>
                <a:defRPr/>
              </a:pPr>
              <a:r>
                <a:rPr lang="en-US" sz="1200" dirty="0">
                  <a:latin typeface="EYInterstate" pitchFamily="2" charset="0"/>
                </a:rPr>
                <a:t>Key Concepts</a:t>
              </a:r>
            </a:p>
          </p:txBody>
        </p:sp>
        <p:sp>
          <p:nvSpPr>
            <p:cNvPr id="113" name="Rectangle 112"/>
            <p:cNvSpPr/>
            <p:nvPr/>
          </p:nvSpPr>
          <p:spPr>
            <a:xfrm>
              <a:off x="2141049" y="3438477"/>
              <a:ext cx="1185681" cy="140176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114" name="Rectangle 20"/>
            <p:cNvSpPr>
              <a:spLocks noChangeArrowheads="1"/>
            </p:cNvSpPr>
            <p:nvPr/>
          </p:nvSpPr>
          <p:spPr bwMode="auto">
            <a:xfrm>
              <a:off x="2178107" y="4094686"/>
              <a:ext cx="1014275" cy="553998"/>
            </a:xfrm>
            <a:prstGeom prst="rect">
              <a:avLst/>
            </a:prstGeom>
            <a:noFill/>
            <a:ln w="9525">
              <a:noFill/>
              <a:miter lim="800000"/>
              <a:headEnd/>
              <a:tailEnd/>
            </a:ln>
          </p:spPr>
          <p:txBody>
            <a:bodyPr lIns="0" tIns="0" rIns="0" bIns="0">
              <a:spAutoFit/>
            </a:bodyPr>
            <a:lstStyle/>
            <a:p>
              <a:pPr>
                <a:buClr>
                  <a:srgbClr val="FFD200"/>
                </a:buClr>
                <a:buSzPct val="75000"/>
                <a:buFont typeface="Arial" pitchFamily="34" charset="0"/>
                <a:buNone/>
                <a:tabLst>
                  <a:tab pos="400050" algn="l"/>
                </a:tabLst>
              </a:pPr>
              <a:r>
                <a:rPr lang="en-US" sz="1200" dirty="0">
                  <a:latin typeface="EYInterstate" pitchFamily="2" charset="0"/>
                </a:rPr>
                <a:t>General Roaming</a:t>
              </a:r>
            </a:p>
            <a:p>
              <a:pPr>
                <a:buClr>
                  <a:srgbClr val="FFD200"/>
                </a:buClr>
                <a:buSzPct val="75000"/>
                <a:buFont typeface="Arial" pitchFamily="34" charset="0"/>
                <a:buNone/>
                <a:tabLst>
                  <a:tab pos="400050" algn="l"/>
                </a:tabLst>
              </a:pPr>
              <a:r>
                <a:rPr lang="en-US" sz="1200" dirty="0">
                  <a:latin typeface="EYInterstate" pitchFamily="2" charset="0"/>
                </a:rPr>
                <a:t>Terminologies</a:t>
              </a:r>
              <a:endParaRPr lang="en-US" sz="1200" dirty="0">
                <a:solidFill>
                  <a:srgbClr val="000000"/>
                </a:solidFill>
                <a:latin typeface="EYInterstate Light" pitchFamily="2" charset="0"/>
              </a:endParaRPr>
            </a:p>
          </p:txBody>
        </p:sp>
        <p:grpSp>
          <p:nvGrpSpPr>
            <p:cNvPr id="115" name="Group 33"/>
            <p:cNvGrpSpPr>
              <a:grpSpLocks/>
            </p:cNvGrpSpPr>
            <p:nvPr/>
          </p:nvGrpSpPr>
          <p:grpSpPr bwMode="auto">
            <a:xfrm>
              <a:off x="5820601" y="2004145"/>
              <a:ext cx="1187098" cy="1401763"/>
              <a:chOff x="4599803" y="2102667"/>
              <a:chExt cx="1329095" cy="1401653"/>
            </a:xfrm>
          </p:grpSpPr>
          <p:sp>
            <p:nvSpPr>
              <p:cNvPr id="141" name="Rectangle 140"/>
              <p:cNvSpPr/>
              <p:nvPr/>
            </p:nvSpPr>
            <p:spPr>
              <a:xfrm>
                <a:off x="4599803" y="2102667"/>
                <a:ext cx="1329095" cy="140165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142" name="Rectangle 23"/>
              <p:cNvSpPr>
                <a:spLocks noChangeArrowheads="1"/>
              </p:cNvSpPr>
              <p:nvPr/>
            </p:nvSpPr>
            <p:spPr bwMode="auto">
              <a:xfrm>
                <a:off x="4633035" y="2162263"/>
                <a:ext cx="1136666" cy="384691"/>
              </a:xfrm>
              <a:prstGeom prst="rect">
                <a:avLst/>
              </a:prstGeom>
              <a:noFill/>
              <a:ln w="9525">
                <a:noFill/>
                <a:miter lim="800000"/>
                <a:headEnd/>
                <a:tailEnd/>
              </a:ln>
            </p:spPr>
            <p:txBody>
              <a:bodyPr lIns="0" tIns="0" rIns="0" bIns="0">
                <a:spAutoFit/>
              </a:bodyPr>
              <a:lstStyle/>
              <a:p>
                <a:pPr>
                  <a:lnSpc>
                    <a:spcPts val="1500"/>
                  </a:lnSpc>
                  <a:buClr>
                    <a:srgbClr val="FFD200"/>
                  </a:buClr>
                  <a:buSzPct val="75000"/>
                  <a:tabLst>
                    <a:tab pos="400050" algn="l"/>
                  </a:tabLst>
                  <a:defRPr/>
                </a:pPr>
                <a:r>
                  <a:rPr lang="en-US" sz="1200" dirty="0">
                    <a:latin typeface="EYInterstate" pitchFamily="2" charset="0"/>
                  </a:rPr>
                  <a:t>Intra Circle  Roaming</a:t>
                </a:r>
              </a:p>
            </p:txBody>
          </p:sp>
        </p:grpSp>
        <p:sp>
          <p:nvSpPr>
            <p:cNvPr id="116" name="Rectangle 22"/>
            <p:cNvSpPr>
              <a:spLocks noChangeArrowheads="1"/>
            </p:cNvSpPr>
            <p:nvPr/>
          </p:nvSpPr>
          <p:spPr bwMode="auto">
            <a:xfrm>
              <a:off x="4636782" y="4350772"/>
              <a:ext cx="1105972" cy="373628"/>
            </a:xfrm>
            <a:prstGeom prst="rect">
              <a:avLst/>
            </a:prstGeom>
            <a:noFill/>
            <a:ln w="9525">
              <a:noFill/>
              <a:miter lim="800000"/>
              <a:headEnd/>
              <a:tailEnd/>
            </a:ln>
          </p:spPr>
          <p:txBody>
            <a:bodyPr lIns="0" tIns="0" rIns="0" bIns="0">
              <a:spAutoFit/>
            </a:bodyPr>
            <a:lstStyle/>
            <a:p>
              <a:pPr>
                <a:lnSpc>
                  <a:spcPts val="1500"/>
                </a:lnSpc>
                <a:buClr>
                  <a:srgbClr val="FFD200"/>
                </a:buClr>
                <a:buSzPct val="75000"/>
                <a:buFont typeface="Arial" charset="0"/>
                <a:buNone/>
                <a:tabLst>
                  <a:tab pos="400050" algn="l"/>
                </a:tabLst>
                <a:defRPr/>
              </a:pPr>
              <a:r>
                <a:rPr lang="en-US" sz="1200" dirty="0">
                  <a:latin typeface="EYInterstate" pitchFamily="2" charset="0"/>
                </a:rPr>
                <a:t>Roaming Revenue Cycle</a:t>
              </a:r>
            </a:p>
          </p:txBody>
        </p:sp>
        <p:grpSp>
          <p:nvGrpSpPr>
            <p:cNvPr id="117" name="Group 44"/>
            <p:cNvGrpSpPr>
              <a:grpSpLocks/>
            </p:cNvGrpSpPr>
            <p:nvPr/>
          </p:nvGrpSpPr>
          <p:grpSpPr bwMode="auto">
            <a:xfrm>
              <a:off x="7035528" y="3447686"/>
              <a:ext cx="1185683" cy="1401762"/>
              <a:chOff x="5972094" y="3483677"/>
              <a:chExt cx="1329077" cy="1401653"/>
            </a:xfrm>
          </p:grpSpPr>
          <p:sp>
            <p:nvSpPr>
              <p:cNvPr id="139" name="Rectangle 138"/>
              <p:cNvSpPr/>
              <p:nvPr/>
            </p:nvSpPr>
            <p:spPr>
              <a:xfrm>
                <a:off x="5972094" y="3483677"/>
                <a:ext cx="1329077" cy="140165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140" name="Rectangle 24"/>
              <p:cNvSpPr>
                <a:spLocks noChangeArrowheads="1"/>
              </p:cNvSpPr>
              <p:nvPr/>
            </p:nvSpPr>
            <p:spPr bwMode="auto">
              <a:xfrm>
                <a:off x="6011147" y="4575640"/>
                <a:ext cx="1136650" cy="184652"/>
              </a:xfrm>
              <a:prstGeom prst="rect">
                <a:avLst/>
              </a:prstGeom>
              <a:noFill/>
              <a:ln w="9525">
                <a:noFill/>
                <a:miter lim="800000"/>
                <a:headEnd/>
                <a:tailEnd/>
              </a:ln>
            </p:spPr>
            <p:txBody>
              <a:bodyPr lIns="0" tIns="0" rIns="0" bIns="0">
                <a:spAutoFit/>
              </a:bodyPr>
              <a:lstStyle/>
              <a:p>
                <a:pPr>
                  <a:buClr>
                    <a:srgbClr val="FFD200"/>
                  </a:buClr>
                  <a:buSzPct val="75000"/>
                  <a:tabLst>
                    <a:tab pos="400050" algn="l"/>
                  </a:tabLst>
                </a:pPr>
                <a:r>
                  <a:rPr lang="en-US" sz="1200" dirty="0">
                    <a:latin typeface="EYInterstate" pitchFamily="2" charset="0"/>
                  </a:rPr>
                  <a:t>Glossary </a:t>
                </a:r>
              </a:p>
            </p:txBody>
          </p:sp>
        </p:grpSp>
        <p:pic>
          <p:nvPicPr>
            <p:cNvPr id="118" name="Picture 4" descr="investment"/>
            <p:cNvPicPr>
              <a:picLocks noChangeArrowheads="1"/>
            </p:cNvPicPr>
            <p:nvPr/>
          </p:nvPicPr>
          <p:blipFill>
            <a:blip r:embed="rId2" cstate="print"/>
            <a:srcRect/>
            <a:stretch>
              <a:fillRect/>
            </a:stretch>
          </p:blipFill>
          <p:spPr bwMode="auto">
            <a:xfrm>
              <a:off x="4588908" y="2005600"/>
              <a:ext cx="1183132" cy="1399032"/>
            </a:xfrm>
            <a:prstGeom prst="rect">
              <a:avLst/>
            </a:prstGeom>
            <a:noFill/>
          </p:spPr>
        </p:pic>
        <p:pic>
          <p:nvPicPr>
            <p:cNvPr id="119" name="Picture 29" descr="14H02278_RF.jpg"/>
            <p:cNvPicPr>
              <a:picLocks noChangeAspect="1"/>
            </p:cNvPicPr>
            <p:nvPr/>
          </p:nvPicPr>
          <p:blipFill>
            <a:blip r:embed="rId3" cstate="print"/>
            <a:srcRect b="29448"/>
            <a:stretch>
              <a:fillRect/>
            </a:stretch>
          </p:blipFill>
          <p:spPr bwMode="auto">
            <a:xfrm>
              <a:off x="3375858" y="3432064"/>
              <a:ext cx="1182848" cy="1401763"/>
            </a:xfrm>
            <a:prstGeom prst="rect">
              <a:avLst/>
            </a:prstGeom>
            <a:noFill/>
            <a:ln w="9525">
              <a:noFill/>
              <a:miter lim="800000"/>
              <a:headEnd/>
              <a:tailEnd/>
            </a:ln>
          </p:spPr>
        </p:pic>
        <p:grpSp>
          <p:nvGrpSpPr>
            <p:cNvPr id="120" name="Group 44"/>
            <p:cNvGrpSpPr/>
            <p:nvPr/>
          </p:nvGrpSpPr>
          <p:grpSpPr>
            <a:xfrm>
              <a:off x="914400" y="1993408"/>
              <a:ext cx="1185681" cy="1479901"/>
              <a:chOff x="402336" y="1993408"/>
              <a:chExt cx="1185681" cy="1479901"/>
            </a:xfrm>
          </p:grpSpPr>
          <p:sp>
            <p:nvSpPr>
              <p:cNvPr id="135" name="Rectangle 134"/>
              <p:cNvSpPr/>
              <p:nvPr/>
            </p:nvSpPr>
            <p:spPr>
              <a:xfrm>
                <a:off x="402336" y="1993408"/>
                <a:ext cx="1185681" cy="1401763"/>
              </a:xfrm>
              <a:prstGeom prst="rect">
                <a:avLst/>
              </a:prstGeom>
              <a:solidFill>
                <a:srgbClr val="FFD2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136" name="Rectangle 9"/>
              <p:cNvSpPr/>
              <p:nvPr/>
            </p:nvSpPr>
            <p:spPr>
              <a:xfrm>
                <a:off x="414915" y="2734645"/>
                <a:ext cx="407976"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a:solidFill>
                      <a:schemeClr val="bg1"/>
                    </a:solidFill>
                    <a:latin typeface="EYInterstate Light" pitchFamily="2" charset="0"/>
                  </a:rPr>
                  <a:t>1.</a:t>
                </a:r>
              </a:p>
            </p:txBody>
          </p:sp>
          <p:sp>
            <p:nvSpPr>
              <p:cNvPr id="137" name="Isosceles Triangle 10"/>
              <p:cNvSpPr/>
              <p:nvPr/>
            </p:nvSpPr>
            <p:spPr>
              <a:xfrm rot="10800000">
                <a:off x="1427830" y="3303477"/>
                <a:ext cx="144492"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138" name="Rectangle 20"/>
              <p:cNvSpPr>
                <a:spLocks noChangeArrowheads="1"/>
              </p:cNvSpPr>
              <p:nvPr/>
            </p:nvSpPr>
            <p:spPr bwMode="auto">
              <a:xfrm>
                <a:off x="429534" y="2022110"/>
                <a:ext cx="1014275" cy="553998"/>
              </a:xfrm>
              <a:prstGeom prst="rect">
                <a:avLst/>
              </a:prstGeom>
              <a:noFill/>
              <a:ln w="9525">
                <a:noFill/>
                <a:miter lim="800000"/>
                <a:headEnd/>
                <a:tailEnd/>
              </a:ln>
            </p:spPr>
            <p:txBody>
              <a:bodyPr lIns="0" tIns="0" rIns="0" bIns="0">
                <a:spAutoFit/>
              </a:bodyPr>
              <a:lstStyle/>
              <a:p>
                <a:pPr>
                  <a:buClr>
                    <a:srgbClr val="FFD200"/>
                  </a:buClr>
                  <a:buSzPct val="75000"/>
                  <a:buFont typeface="Arial" pitchFamily="34" charset="0"/>
                  <a:buNone/>
                  <a:tabLst>
                    <a:tab pos="400050" algn="l"/>
                  </a:tabLst>
                </a:pPr>
                <a:r>
                  <a:rPr lang="en-US" sz="1200" dirty="0">
                    <a:latin typeface="EYInterstate" pitchFamily="2" charset="0"/>
                  </a:rPr>
                  <a:t>Introduction to Roaming</a:t>
                </a:r>
              </a:p>
              <a:p>
                <a:pPr>
                  <a:buClr>
                    <a:srgbClr val="FFD200"/>
                  </a:buClr>
                  <a:buSzPct val="75000"/>
                  <a:buFont typeface="Arial" pitchFamily="34" charset="0"/>
                  <a:buNone/>
                  <a:tabLst>
                    <a:tab pos="400050" algn="l"/>
                  </a:tabLst>
                </a:pPr>
                <a:endParaRPr lang="en-US" sz="1200" dirty="0">
                  <a:solidFill>
                    <a:srgbClr val="000000"/>
                  </a:solidFill>
                  <a:latin typeface="EYInterstate Light" pitchFamily="2" charset="0"/>
                </a:endParaRPr>
              </a:p>
            </p:txBody>
          </p:sp>
        </p:grpSp>
        <p:sp>
          <p:nvSpPr>
            <p:cNvPr id="121" name="Isosceles Triangle 120"/>
            <p:cNvSpPr/>
            <p:nvPr/>
          </p:nvSpPr>
          <p:spPr bwMode="auto">
            <a:xfrm>
              <a:off x="3154587" y="3474673"/>
              <a:ext cx="145908"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122" name="Isosceles Triangle 121"/>
            <p:cNvSpPr/>
            <p:nvPr/>
          </p:nvSpPr>
          <p:spPr>
            <a:xfrm rot="10800000">
              <a:off x="4373700" y="3297381"/>
              <a:ext cx="144492"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123" name="Isosceles Triangle 122"/>
            <p:cNvSpPr/>
            <p:nvPr/>
          </p:nvSpPr>
          <p:spPr bwMode="auto">
            <a:xfrm>
              <a:off x="5607093" y="3486928"/>
              <a:ext cx="145908"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124" name="Isosceles Triangle 123"/>
            <p:cNvSpPr/>
            <p:nvPr/>
          </p:nvSpPr>
          <p:spPr>
            <a:xfrm rot="10800000">
              <a:off x="6824279" y="3315669"/>
              <a:ext cx="144492"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125" name="Isosceles Triangle 124"/>
            <p:cNvSpPr/>
            <p:nvPr/>
          </p:nvSpPr>
          <p:spPr bwMode="auto">
            <a:xfrm>
              <a:off x="8027753" y="3493024"/>
              <a:ext cx="145908"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126" name="Rectangle 125"/>
            <p:cNvSpPr/>
            <p:nvPr/>
          </p:nvSpPr>
          <p:spPr>
            <a:xfrm>
              <a:off x="3364979" y="2752933"/>
              <a:ext cx="407976"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a:solidFill>
                    <a:schemeClr val="bg1"/>
                  </a:solidFill>
                  <a:latin typeface="EYInterstate Light" pitchFamily="2" charset="0"/>
                </a:rPr>
                <a:t>3.</a:t>
              </a:r>
            </a:p>
          </p:txBody>
        </p:sp>
        <p:sp>
          <p:nvSpPr>
            <p:cNvPr id="127" name="Rectangle 126"/>
            <p:cNvSpPr/>
            <p:nvPr/>
          </p:nvSpPr>
          <p:spPr>
            <a:xfrm>
              <a:off x="5801958" y="2769765"/>
              <a:ext cx="407976"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a:solidFill>
                    <a:schemeClr val="bg1"/>
                  </a:solidFill>
                  <a:latin typeface="EYInterstate Light" pitchFamily="2" charset="0"/>
                </a:rPr>
                <a:t>5.</a:t>
              </a:r>
            </a:p>
          </p:txBody>
        </p:sp>
        <p:sp>
          <p:nvSpPr>
            <p:cNvPr id="128" name="Rectangle 127"/>
            <p:cNvSpPr/>
            <p:nvPr/>
          </p:nvSpPr>
          <p:spPr>
            <a:xfrm>
              <a:off x="2154648" y="3453400"/>
              <a:ext cx="407976"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a:solidFill>
                    <a:schemeClr val="bg1"/>
                  </a:solidFill>
                  <a:latin typeface="EYInterstate Light" pitchFamily="2" charset="0"/>
                </a:rPr>
                <a:t>2.</a:t>
              </a:r>
            </a:p>
          </p:txBody>
        </p:sp>
        <p:sp>
          <p:nvSpPr>
            <p:cNvPr id="129" name="Rectangle 128"/>
            <p:cNvSpPr/>
            <p:nvPr/>
          </p:nvSpPr>
          <p:spPr>
            <a:xfrm>
              <a:off x="4632425" y="3450352"/>
              <a:ext cx="407976"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a:solidFill>
                    <a:schemeClr val="bg1"/>
                  </a:solidFill>
                  <a:latin typeface="EYInterstate Light" pitchFamily="2" charset="0"/>
                </a:rPr>
                <a:t>4.</a:t>
              </a:r>
            </a:p>
          </p:txBody>
        </p:sp>
        <p:sp>
          <p:nvSpPr>
            <p:cNvPr id="130" name="Rectangle 129"/>
            <p:cNvSpPr/>
            <p:nvPr/>
          </p:nvSpPr>
          <p:spPr>
            <a:xfrm>
              <a:off x="7063965" y="3461496"/>
              <a:ext cx="407976"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a:solidFill>
                    <a:schemeClr val="bg1"/>
                  </a:solidFill>
                  <a:latin typeface="EYInterstate Light" pitchFamily="2" charset="0"/>
                </a:rPr>
                <a:t>6. </a:t>
              </a:r>
            </a:p>
          </p:txBody>
        </p:sp>
        <p:pic>
          <p:nvPicPr>
            <p:cNvPr id="131" name="Picture 1" descr="C:\TechM Warehouse\Data 1\Useful Presentations\Useful Pics\Cong 1.jpg"/>
            <p:cNvPicPr>
              <a:picLocks noChangeArrowheads="1"/>
            </p:cNvPicPr>
            <p:nvPr/>
          </p:nvPicPr>
          <p:blipFill>
            <a:blip r:embed="rId4" cstate="print"/>
            <a:srcRect/>
            <a:stretch>
              <a:fillRect/>
            </a:stretch>
          </p:blipFill>
          <p:spPr bwMode="auto">
            <a:xfrm>
              <a:off x="919718" y="3429016"/>
              <a:ext cx="1183132" cy="1399032"/>
            </a:xfrm>
            <a:prstGeom prst="rect">
              <a:avLst/>
            </a:prstGeom>
            <a:noFill/>
          </p:spPr>
        </p:pic>
        <p:pic>
          <p:nvPicPr>
            <p:cNvPr id="132" name="Picture 3"/>
            <p:cNvPicPr>
              <a:picLocks noChangeArrowheads="1"/>
            </p:cNvPicPr>
            <p:nvPr/>
          </p:nvPicPr>
          <p:blipFill>
            <a:blip r:embed="rId5" cstate="print"/>
            <a:srcRect/>
            <a:stretch>
              <a:fillRect/>
            </a:stretch>
          </p:blipFill>
          <p:spPr bwMode="auto">
            <a:xfrm>
              <a:off x="2145675" y="1994864"/>
              <a:ext cx="1183132" cy="1399032"/>
            </a:xfrm>
            <a:prstGeom prst="rect">
              <a:avLst/>
            </a:prstGeom>
            <a:noFill/>
            <a:ln w="9525">
              <a:noFill/>
              <a:miter lim="800000"/>
              <a:headEnd/>
              <a:tailEnd/>
            </a:ln>
            <a:effectLst/>
          </p:spPr>
        </p:pic>
        <p:pic>
          <p:nvPicPr>
            <p:cNvPr id="133" name="Picture 4"/>
            <p:cNvPicPr>
              <a:picLocks noChangeArrowheads="1"/>
            </p:cNvPicPr>
            <p:nvPr/>
          </p:nvPicPr>
          <p:blipFill>
            <a:blip r:embed="rId6" cstate="print"/>
            <a:srcRect/>
            <a:stretch>
              <a:fillRect/>
            </a:stretch>
          </p:blipFill>
          <p:spPr bwMode="auto">
            <a:xfrm>
              <a:off x="5810360" y="3444936"/>
              <a:ext cx="1183132" cy="1399032"/>
            </a:xfrm>
            <a:prstGeom prst="rect">
              <a:avLst/>
            </a:prstGeom>
            <a:noFill/>
            <a:ln w="9525">
              <a:noFill/>
              <a:miter lim="800000"/>
              <a:headEnd/>
              <a:tailEnd/>
            </a:ln>
            <a:effectLst/>
          </p:spPr>
        </p:pic>
        <p:pic>
          <p:nvPicPr>
            <p:cNvPr id="134" name="Picture 5"/>
            <p:cNvPicPr>
              <a:picLocks noChangeArrowheads="1"/>
            </p:cNvPicPr>
            <p:nvPr/>
          </p:nvPicPr>
          <p:blipFill>
            <a:blip r:embed="rId7" cstate="print"/>
            <a:srcRect/>
            <a:stretch>
              <a:fillRect/>
            </a:stretch>
          </p:blipFill>
          <p:spPr bwMode="auto">
            <a:xfrm>
              <a:off x="7046468" y="2013039"/>
              <a:ext cx="1183132" cy="1399032"/>
            </a:xfrm>
            <a:prstGeom prst="rect">
              <a:avLst/>
            </a:prstGeom>
            <a:noFill/>
            <a:ln w="9525">
              <a:noFill/>
              <a:miter lim="800000"/>
              <a:headEnd/>
              <a:tailEnd/>
            </a:ln>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 to Roaming</a:t>
            </a:r>
          </a:p>
        </p:txBody>
      </p:sp>
      <p:sp>
        <p:nvSpPr>
          <p:cNvPr id="4" name="Rectangle 3"/>
          <p:cNvSpPr/>
          <p:nvPr/>
        </p:nvSpPr>
        <p:spPr>
          <a:xfrm>
            <a:off x="457200" y="1143000"/>
            <a:ext cx="8229600" cy="1524000"/>
          </a:xfrm>
          <a:prstGeom prst="rect">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200" b="1" dirty="0">
                <a:latin typeface="EYInterstate" pitchFamily="2" charset="0"/>
              </a:rPr>
              <a:t>Definition: </a:t>
            </a:r>
            <a:r>
              <a:rPr lang="en-US" sz="1200" dirty="0">
                <a:latin typeface="EYInterstate" pitchFamily="2" charset="0"/>
              </a:rPr>
              <a:t>Roaming is defined as the ability for a cellular customer to automatically make &amp; receive voice calls, send &amp; receive data, or access other services when travelling outside the geographical coverage area of the home network, by means of using a visited network to do the following</a:t>
            </a:r>
          </a:p>
          <a:p>
            <a:endParaRPr lang="en-US" sz="1200" dirty="0">
              <a:latin typeface="EYInterstate" pitchFamily="2" charset="0"/>
            </a:endParaRPr>
          </a:p>
          <a:p>
            <a:pPr marL="635000" lvl="1" indent="-177800">
              <a:buClr>
                <a:srgbClr val="FFC000"/>
              </a:buClr>
              <a:buFont typeface="Arial" pitchFamily="34" charset="0"/>
              <a:buChar char="►"/>
            </a:pPr>
            <a:r>
              <a:rPr lang="en-US" sz="1200" dirty="0">
                <a:latin typeface="EYInterstate" pitchFamily="2" charset="0"/>
              </a:rPr>
              <a:t>automatically make and receive voice calls, </a:t>
            </a:r>
          </a:p>
          <a:p>
            <a:pPr marL="635000" lvl="1" indent="-177800">
              <a:buClr>
                <a:srgbClr val="FFC000"/>
              </a:buClr>
              <a:buFont typeface="Arial" pitchFamily="34" charset="0"/>
              <a:buChar char="►"/>
            </a:pPr>
            <a:r>
              <a:rPr lang="en-US" sz="1200" dirty="0">
                <a:latin typeface="EYInterstate" pitchFamily="2" charset="0"/>
              </a:rPr>
              <a:t>send and receive data, </a:t>
            </a:r>
          </a:p>
          <a:p>
            <a:pPr marL="635000" lvl="1" indent="-177800">
              <a:buClr>
                <a:srgbClr val="FFC000"/>
              </a:buClr>
              <a:buFont typeface="Arial" pitchFamily="34" charset="0"/>
              <a:buChar char="►"/>
            </a:pPr>
            <a:r>
              <a:rPr lang="en-US" sz="1200" dirty="0">
                <a:latin typeface="EYInterstate" pitchFamily="2" charset="0"/>
              </a:rPr>
              <a:t>or access other services, including home data services</a:t>
            </a:r>
          </a:p>
        </p:txBody>
      </p:sp>
      <p:sp>
        <p:nvSpPr>
          <p:cNvPr id="5" name="Rectangle 4"/>
          <p:cNvSpPr/>
          <p:nvPr/>
        </p:nvSpPr>
        <p:spPr>
          <a:xfrm>
            <a:off x="457200" y="2743200"/>
            <a:ext cx="8229600" cy="914400"/>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7800" indent="-177800">
              <a:buClr>
                <a:srgbClr val="FFC000"/>
              </a:buClr>
              <a:buSzPct val="100000"/>
              <a:buFont typeface="Arial" pitchFamily="34" charset="0"/>
              <a:buChar char="►"/>
            </a:pPr>
            <a:r>
              <a:rPr lang="en-US" sz="1200" dirty="0">
                <a:solidFill>
                  <a:schemeClr val="tx1">
                    <a:lumMod val="50000"/>
                  </a:schemeClr>
                </a:solidFill>
                <a:latin typeface="EYInterstate" pitchFamily="2" charset="0"/>
              </a:rPr>
              <a:t>In wireless telecommunications, roaming is a general term referring to the extension of connectivity service in a location that is different from the home location where the service was registered.</a:t>
            </a:r>
          </a:p>
          <a:p>
            <a:pPr marL="177800" indent="-177800">
              <a:buClr>
                <a:srgbClr val="FFC000"/>
              </a:buClr>
              <a:buSzPct val="100000"/>
              <a:buFont typeface="Arial" pitchFamily="34" charset="0"/>
              <a:buChar char="►"/>
            </a:pPr>
            <a:r>
              <a:rPr lang="en-US" sz="1200" dirty="0">
                <a:solidFill>
                  <a:schemeClr val="tx1">
                    <a:lumMod val="50000"/>
                  </a:schemeClr>
                </a:solidFill>
                <a:latin typeface="EYInterstate" pitchFamily="2" charset="0"/>
              </a:rPr>
              <a:t>Roaming ensures that the wireless device is kept connected to the network, without losing the connection outside the home network</a:t>
            </a:r>
          </a:p>
        </p:txBody>
      </p:sp>
      <p:sp>
        <p:nvSpPr>
          <p:cNvPr id="6" name="Rectangle 5"/>
          <p:cNvSpPr/>
          <p:nvPr/>
        </p:nvSpPr>
        <p:spPr>
          <a:xfrm>
            <a:off x="457200" y="3733800"/>
            <a:ext cx="8229600" cy="1981200"/>
          </a:xfrm>
          <a:prstGeom prst="rect">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200" b="1" dirty="0">
                <a:latin typeface="EYInterstate" pitchFamily="2" charset="0"/>
              </a:rPr>
              <a:t>Why Roaming ? </a:t>
            </a:r>
            <a:r>
              <a:rPr lang="en-US" sz="1200" dirty="0">
                <a:latin typeface="EYInterstate" pitchFamily="2" charset="0"/>
              </a:rPr>
              <a:t>The commercial reasons for roaming is that it generates revenue in two different ways: </a:t>
            </a:r>
          </a:p>
          <a:p>
            <a:pPr marL="571500" lvl="1" indent="-165100">
              <a:buClr>
                <a:srgbClr val="FFC000"/>
              </a:buClr>
              <a:buFont typeface="Arial" pitchFamily="34" charset="0"/>
              <a:buChar char="►"/>
            </a:pPr>
            <a:r>
              <a:rPr lang="en-US" sz="1200" dirty="0">
                <a:latin typeface="EYInterstate" pitchFamily="2" charset="0"/>
              </a:rPr>
              <a:t>When a Operator A customer enters a Operator B market and uses the visited network, the visited network records the call information, rates the call, and bills Operator A. </a:t>
            </a:r>
          </a:p>
          <a:p>
            <a:pPr marL="571500" lvl="1" indent="-165100">
              <a:buClr>
                <a:srgbClr val="FFC000"/>
              </a:buClr>
              <a:buFont typeface="Arial" pitchFamily="34" charset="0"/>
              <a:buChar char="►"/>
            </a:pPr>
            <a:r>
              <a:rPr lang="en-US" sz="1200" dirty="0">
                <a:latin typeface="EYInterstate" pitchFamily="2" charset="0"/>
              </a:rPr>
              <a:t>Operator A, in turn, re-rates the bill from the visited carrier and bills its subscriber.</a:t>
            </a:r>
          </a:p>
          <a:p>
            <a:pPr marL="114300" indent="-165100">
              <a:buClr>
                <a:srgbClr val="FFC000"/>
              </a:buClr>
              <a:buFont typeface="Arial" pitchFamily="34" charset="0"/>
              <a:buChar char="►"/>
            </a:pPr>
            <a:endParaRPr lang="en-US" sz="1200" dirty="0">
              <a:latin typeface="EYInterstate" pitchFamily="2" charset="0"/>
            </a:endParaRPr>
          </a:p>
          <a:p>
            <a:pPr marL="165100" indent="-165100">
              <a:buClr>
                <a:srgbClr val="FFC000"/>
              </a:buClr>
              <a:buFont typeface="Arial" pitchFamily="34" charset="0"/>
              <a:buChar char="►"/>
            </a:pPr>
            <a:r>
              <a:rPr lang="en-US" sz="1200" dirty="0">
                <a:latin typeface="EYInterstate" pitchFamily="2" charset="0"/>
              </a:rPr>
              <a:t>Apart from the revenue advantage, it was a basic demand from subscribers, which has eventually proven to be one of the key success factors in the service offering of mobile telephony (e.g. success of GSM technology compared to other technologies has been attributed to roaming capabilities).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EYInterstate" pitchFamily="2" charset="0"/>
              </a:rPr>
              <a:t>Call flow – Roaming Outgoing Call to other operator in roaming circle</a:t>
            </a:r>
            <a:endParaRPr lang="en-US" i="1" dirty="0">
              <a:latin typeface="EYInterstate" pitchFamily="2" charset="0"/>
            </a:endParaRPr>
          </a:p>
        </p:txBody>
      </p:sp>
      <p:grpSp>
        <p:nvGrpSpPr>
          <p:cNvPr id="34" name="Group 33"/>
          <p:cNvGrpSpPr/>
          <p:nvPr/>
        </p:nvGrpSpPr>
        <p:grpSpPr>
          <a:xfrm>
            <a:off x="152400" y="1219200"/>
            <a:ext cx="6324600" cy="4389120"/>
            <a:chOff x="152400" y="1219200"/>
            <a:chExt cx="9145868" cy="5029200"/>
          </a:xfrm>
        </p:grpSpPr>
        <p:sp>
          <p:nvSpPr>
            <p:cNvPr id="24" name="AutoShape 2"/>
            <p:cNvSpPr>
              <a:spLocks noChangeArrowheads="1"/>
            </p:cNvSpPr>
            <p:nvPr/>
          </p:nvSpPr>
          <p:spPr bwMode="auto">
            <a:xfrm>
              <a:off x="152400" y="2911475"/>
              <a:ext cx="1371600" cy="1219200"/>
            </a:xfrm>
            <a:prstGeom prst="octagon">
              <a:avLst>
                <a:gd name="adj" fmla="val 29287"/>
              </a:avLst>
            </a:prstGeom>
            <a:ln>
              <a:headEnd/>
              <a:tailEnd/>
            </a:ln>
          </p:spPr>
          <p:style>
            <a:lnRef idx="0">
              <a:schemeClr val="accent1"/>
            </a:lnRef>
            <a:fillRef idx="3">
              <a:schemeClr val="accent1"/>
            </a:fillRef>
            <a:effectRef idx="3">
              <a:schemeClr val="accent1"/>
            </a:effectRef>
            <a:fontRef idx="minor">
              <a:schemeClr val="lt1"/>
            </a:fontRef>
          </p:style>
          <p:txBody>
            <a:bodyPr wrap="none" anchor="ctr"/>
            <a:lstStyle/>
            <a:p>
              <a:pPr algn="ctr"/>
              <a:r>
                <a:rPr lang="en-US" sz="1400">
                  <a:latin typeface="EYInterstate" pitchFamily="2" charset="0"/>
                </a:rPr>
                <a:t>Switch</a:t>
              </a:r>
            </a:p>
            <a:p>
              <a:pPr algn="ctr"/>
              <a:r>
                <a:rPr lang="en-US" sz="1400">
                  <a:latin typeface="EYInterstate" pitchFamily="2" charset="0"/>
                </a:rPr>
                <a:t>(MSC)</a:t>
              </a:r>
            </a:p>
          </p:txBody>
        </p:sp>
        <p:sp>
          <p:nvSpPr>
            <p:cNvPr id="31" name="Text Box 4"/>
            <p:cNvSpPr txBox="1">
              <a:spLocks noChangeArrowheads="1"/>
            </p:cNvSpPr>
            <p:nvPr/>
          </p:nvSpPr>
          <p:spPr bwMode="auto">
            <a:xfrm>
              <a:off x="7975974" y="2666999"/>
              <a:ext cx="1322294" cy="846386"/>
            </a:xfrm>
            <a:prstGeom prst="rect">
              <a:avLst/>
            </a:prstGeom>
            <a:noFill/>
            <a:ln w="9525">
              <a:noFill/>
              <a:miter lim="800000"/>
              <a:headEnd/>
              <a:tailEnd/>
            </a:ln>
          </p:spPr>
          <p:txBody>
            <a:bodyPr wrap="square">
              <a:spAutoFit/>
            </a:bodyPr>
            <a:lstStyle/>
            <a:p>
              <a:pPr algn="ctr"/>
              <a:r>
                <a:rPr lang="en-US" sz="1050" b="1" dirty="0">
                  <a:latin typeface="EYInterstate" pitchFamily="2" charset="0"/>
                </a:rPr>
                <a:t>Called Number </a:t>
              </a:r>
            </a:p>
            <a:p>
              <a:pPr algn="ctr"/>
              <a:r>
                <a:rPr lang="en-US" sz="1050" b="1" dirty="0">
                  <a:latin typeface="EYInterstate" pitchFamily="2" charset="0"/>
                </a:rPr>
                <a:t>( B Number)</a:t>
              </a:r>
            </a:p>
          </p:txBody>
        </p:sp>
        <p:grpSp>
          <p:nvGrpSpPr>
            <p:cNvPr id="3" name="Group 5"/>
            <p:cNvGrpSpPr>
              <a:grpSpLocks/>
            </p:cNvGrpSpPr>
            <p:nvPr/>
          </p:nvGrpSpPr>
          <p:grpSpPr bwMode="auto">
            <a:xfrm>
              <a:off x="8277225" y="2039938"/>
              <a:ext cx="228600" cy="593725"/>
              <a:chOff x="336" y="1920"/>
              <a:chExt cx="144" cy="374"/>
            </a:xfrm>
          </p:grpSpPr>
          <p:sp>
            <p:nvSpPr>
              <p:cNvPr id="46" name="Rectangle 6"/>
              <p:cNvSpPr>
                <a:spLocks noChangeArrowheads="1"/>
              </p:cNvSpPr>
              <p:nvPr/>
            </p:nvSpPr>
            <p:spPr bwMode="auto">
              <a:xfrm>
                <a:off x="336" y="2006"/>
                <a:ext cx="144" cy="288"/>
              </a:xfrm>
              <a:prstGeom prst="rect">
                <a:avLst/>
              </a:prstGeom>
              <a:ln>
                <a:headEnd/>
                <a:tailEnd/>
              </a:ln>
            </p:spPr>
            <p:style>
              <a:lnRef idx="0">
                <a:schemeClr val="accent5"/>
              </a:lnRef>
              <a:fillRef idx="3">
                <a:schemeClr val="accent5"/>
              </a:fillRef>
              <a:effectRef idx="3">
                <a:schemeClr val="accent5"/>
              </a:effectRef>
              <a:fontRef idx="minor">
                <a:schemeClr val="lt1"/>
              </a:fontRef>
            </p:style>
            <p:txBody>
              <a:bodyPr wrap="none" anchor="ctr"/>
              <a:lstStyle/>
              <a:p>
                <a:endParaRPr lang="en-US" sz="1400">
                  <a:latin typeface="EYInterstate" pitchFamily="2" charset="0"/>
                </a:endParaRPr>
              </a:p>
            </p:txBody>
          </p:sp>
          <p:sp>
            <p:nvSpPr>
              <p:cNvPr id="47" name="Line 7"/>
              <p:cNvSpPr>
                <a:spLocks noChangeShapeType="1"/>
              </p:cNvSpPr>
              <p:nvPr/>
            </p:nvSpPr>
            <p:spPr bwMode="auto">
              <a:xfrm flipV="1">
                <a:off x="336" y="1920"/>
                <a:ext cx="0" cy="96"/>
              </a:xfrm>
              <a:prstGeom prst="line">
                <a:avLst/>
              </a:prstGeom>
              <a:noFill/>
              <a:ln w="15875">
                <a:solidFill>
                  <a:schemeClr val="tx1"/>
                </a:solidFill>
                <a:round/>
                <a:headEnd/>
                <a:tailEnd/>
              </a:ln>
            </p:spPr>
            <p:txBody>
              <a:bodyPr wrap="none" anchor="ctr"/>
              <a:lstStyle/>
              <a:p>
                <a:endParaRPr lang="en-US" sz="1400">
                  <a:latin typeface="EYInterstate" pitchFamily="2" charset="0"/>
                </a:endParaRPr>
              </a:p>
            </p:txBody>
          </p:sp>
        </p:grpSp>
        <p:sp>
          <p:nvSpPr>
            <p:cNvPr id="49" name="Line 8"/>
            <p:cNvSpPr>
              <a:spLocks noChangeShapeType="1"/>
            </p:cNvSpPr>
            <p:nvPr/>
          </p:nvSpPr>
          <p:spPr bwMode="auto">
            <a:xfrm>
              <a:off x="2819400" y="1219200"/>
              <a:ext cx="0" cy="5029200"/>
            </a:xfrm>
            <a:prstGeom prst="line">
              <a:avLst/>
            </a:prstGeom>
            <a:noFill/>
            <a:ln w="38100">
              <a:solidFill>
                <a:schemeClr val="tx1"/>
              </a:solidFill>
              <a:round/>
              <a:headEnd/>
              <a:tailEnd/>
            </a:ln>
          </p:spPr>
          <p:txBody>
            <a:bodyPr wrap="none" anchor="ctr"/>
            <a:lstStyle/>
            <a:p>
              <a:endParaRPr lang="en-US" sz="1400">
                <a:latin typeface="EYInterstate" pitchFamily="2" charset="0"/>
              </a:endParaRPr>
            </a:p>
          </p:txBody>
        </p:sp>
        <p:sp>
          <p:nvSpPr>
            <p:cNvPr id="50" name="Text Box 9"/>
            <p:cNvSpPr txBox="1">
              <a:spLocks noChangeArrowheads="1"/>
            </p:cNvSpPr>
            <p:nvPr/>
          </p:nvSpPr>
          <p:spPr bwMode="auto">
            <a:xfrm>
              <a:off x="152400" y="1219200"/>
              <a:ext cx="2057399" cy="934551"/>
            </a:xfrm>
            <a:prstGeom prst="rect">
              <a:avLst/>
            </a:prstGeom>
            <a:noFill/>
            <a:ln w="9525" algn="ctr">
              <a:noFill/>
              <a:miter lim="800000"/>
              <a:headEnd/>
              <a:tailEnd/>
            </a:ln>
          </p:spPr>
          <p:txBody>
            <a:bodyPr>
              <a:spAutoFit/>
            </a:bodyPr>
            <a:lstStyle/>
            <a:p>
              <a:pPr algn="ctr">
                <a:spcBef>
                  <a:spcPts val="600"/>
                </a:spcBef>
              </a:pPr>
              <a:r>
                <a:rPr lang="en-US" sz="1400" b="1" dirty="0">
                  <a:latin typeface="EYInterstate" pitchFamily="2" charset="0"/>
                </a:rPr>
                <a:t>Home Location</a:t>
              </a:r>
            </a:p>
            <a:p>
              <a:pPr algn="ctr">
                <a:spcBef>
                  <a:spcPts val="600"/>
                </a:spcBef>
              </a:pPr>
              <a:r>
                <a:rPr lang="en-US" sz="1400" b="1" dirty="0">
                  <a:latin typeface="EYInterstate" pitchFamily="2" charset="0"/>
                </a:rPr>
                <a:t>(Circle 1)</a:t>
              </a:r>
            </a:p>
          </p:txBody>
        </p:sp>
        <p:sp>
          <p:nvSpPr>
            <p:cNvPr id="51" name="Text Box 10"/>
            <p:cNvSpPr txBox="1">
              <a:spLocks noChangeArrowheads="1"/>
            </p:cNvSpPr>
            <p:nvPr/>
          </p:nvSpPr>
          <p:spPr bwMode="auto">
            <a:xfrm>
              <a:off x="3581401" y="1219200"/>
              <a:ext cx="2057399" cy="934551"/>
            </a:xfrm>
            <a:prstGeom prst="rect">
              <a:avLst/>
            </a:prstGeom>
            <a:noFill/>
            <a:ln w="9525" algn="ctr">
              <a:noFill/>
              <a:miter lim="800000"/>
              <a:headEnd/>
              <a:tailEnd/>
            </a:ln>
          </p:spPr>
          <p:txBody>
            <a:bodyPr>
              <a:spAutoFit/>
            </a:bodyPr>
            <a:lstStyle/>
            <a:p>
              <a:pPr algn="ctr">
                <a:spcBef>
                  <a:spcPts val="600"/>
                </a:spcBef>
              </a:pPr>
              <a:r>
                <a:rPr lang="en-US" sz="1400" b="1" dirty="0">
                  <a:latin typeface="EYInterstate" pitchFamily="2" charset="0"/>
                </a:rPr>
                <a:t>Visitor Location</a:t>
              </a:r>
            </a:p>
            <a:p>
              <a:pPr algn="ctr">
                <a:spcBef>
                  <a:spcPts val="600"/>
                </a:spcBef>
              </a:pPr>
              <a:r>
                <a:rPr lang="en-US" sz="1400" b="1" dirty="0">
                  <a:latin typeface="EYInterstate" pitchFamily="2" charset="0"/>
                </a:rPr>
                <a:t>(Circle 2)</a:t>
              </a:r>
            </a:p>
          </p:txBody>
        </p:sp>
        <p:sp>
          <p:nvSpPr>
            <p:cNvPr id="52" name="Rectangle 11"/>
            <p:cNvSpPr>
              <a:spLocks noChangeArrowheads="1"/>
            </p:cNvSpPr>
            <p:nvPr/>
          </p:nvSpPr>
          <p:spPr bwMode="auto">
            <a:xfrm>
              <a:off x="1689100" y="4343400"/>
              <a:ext cx="977900" cy="228600"/>
            </a:xfrm>
            <a:prstGeom prst="rect">
              <a:avLst/>
            </a:prstGeom>
            <a:ln>
              <a:headEnd/>
              <a:tailEnd/>
            </a:ln>
          </p:spPr>
          <p:style>
            <a:lnRef idx="0">
              <a:schemeClr val="accent2"/>
            </a:lnRef>
            <a:fillRef idx="3">
              <a:schemeClr val="accent2"/>
            </a:fillRef>
            <a:effectRef idx="3">
              <a:schemeClr val="accent2"/>
            </a:effectRef>
            <a:fontRef idx="minor">
              <a:schemeClr val="lt1"/>
            </a:fontRef>
          </p:style>
          <p:txBody>
            <a:bodyPr wrap="none" anchor="ctr"/>
            <a:lstStyle/>
            <a:p>
              <a:pPr algn="ctr"/>
              <a:r>
                <a:rPr lang="en-US" sz="1400" b="1">
                  <a:solidFill>
                    <a:schemeClr val="tx2">
                      <a:lumMod val="50000"/>
                    </a:schemeClr>
                  </a:solidFill>
                  <a:latin typeface="EYInterstate" pitchFamily="2" charset="0"/>
                </a:rPr>
                <a:t>HLR</a:t>
              </a:r>
              <a:endParaRPr lang="en-US" sz="1050" b="1">
                <a:solidFill>
                  <a:schemeClr val="tx2">
                    <a:lumMod val="50000"/>
                  </a:schemeClr>
                </a:solidFill>
                <a:latin typeface="EYInterstate" pitchFamily="2" charset="0"/>
              </a:endParaRPr>
            </a:p>
          </p:txBody>
        </p:sp>
        <p:cxnSp>
          <p:nvCxnSpPr>
            <p:cNvPr id="53" name="AutoShape 12"/>
            <p:cNvCxnSpPr>
              <a:cxnSpLocks noChangeShapeType="1"/>
              <a:stCxn id="24" idx="2"/>
              <a:endCxn id="52" idx="1"/>
            </p:cNvCxnSpPr>
            <p:nvPr/>
          </p:nvCxnSpPr>
          <p:spPr bwMode="auto">
            <a:xfrm rot="16200000" flipH="1">
              <a:off x="1100137" y="3868738"/>
              <a:ext cx="327025" cy="850900"/>
            </a:xfrm>
            <a:prstGeom prst="bentConnector2">
              <a:avLst/>
            </a:prstGeom>
            <a:noFill/>
            <a:ln w="19050">
              <a:solidFill>
                <a:schemeClr val="tx1"/>
              </a:solidFill>
              <a:miter lim="800000"/>
              <a:headEnd/>
              <a:tailEnd type="triangle" w="med" len="med"/>
            </a:ln>
          </p:spPr>
        </p:cxnSp>
        <p:sp>
          <p:nvSpPr>
            <p:cNvPr id="54" name="AutoShape 13"/>
            <p:cNvSpPr>
              <a:spLocks noChangeArrowheads="1"/>
            </p:cNvSpPr>
            <p:nvPr/>
          </p:nvSpPr>
          <p:spPr bwMode="auto">
            <a:xfrm>
              <a:off x="3733800" y="2911475"/>
              <a:ext cx="1371600" cy="1219200"/>
            </a:xfrm>
            <a:prstGeom prst="octagon">
              <a:avLst>
                <a:gd name="adj" fmla="val 29287"/>
              </a:avLst>
            </a:prstGeom>
            <a:ln>
              <a:headEnd/>
              <a:tailEnd/>
            </a:ln>
          </p:spPr>
          <p:style>
            <a:lnRef idx="0">
              <a:schemeClr val="accent1"/>
            </a:lnRef>
            <a:fillRef idx="3">
              <a:schemeClr val="accent1"/>
            </a:fillRef>
            <a:effectRef idx="3">
              <a:schemeClr val="accent1"/>
            </a:effectRef>
            <a:fontRef idx="minor">
              <a:schemeClr val="lt1"/>
            </a:fontRef>
          </p:style>
          <p:txBody>
            <a:bodyPr wrap="none" anchor="ctr"/>
            <a:lstStyle/>
            <a:p>
              <a:pPr algn="ctr"/>
              <a:r>
                <a:rPr lang="en-US" sz="1400">
                  <a:latin typeface="EYInterstate" pitchFamily="2" charset="0"/>
                </a:rPr>
                <a:t>Switch</a:t>
              </a:r>
            </a:p>
            <a:p>
              <a:pPr algn="ctr"/>
              <a:r>
                <a:rPr lang="en-US" sz="1400">
                  <a:latin typeface="EYInterstate" pitchFamily="2" charset="0"/>
                </a:rPr>
                <a:t>(MSC)</a:t>
              </a:r>
            </a:p>
          </p:txBody>
        </p:sp>
        <p:sp>
          <p:nvSpPr>
            <p:cNvPr id="55" name="Rectangle 14"/>
            <p:cNvSpPr>
              <a:spLocks noChangeArrowheads="1"/>
            </p:cNvSpPr>
            <p:nvPr/>
          </p:nvSpPr>
          <p:spPr bwMode="auto">
            <a:xfrm>
              <a:off x="5270500" y="4343400"/>
              <a:ext cx="977900" cy="228600"/>
            </a:xfrm>
            <a:prstGeom prst="rect">
              <a:avLst/>
            </a:prstGeom>
            <a:ln>
              <a:headEnd/>
              <a:tailEnd/>
            </a:ln>
          </p:spPr>
          <p:style>
            <a:lnRef idx="0">
              <a:schemeClr val="accent2"/>
            </a:lnRef>
            <a:fillRef idx="3">
              <a:schemeClr val="accent2"/>
            </a:fillRef>
            <a:effectRef idx="3">
              <a:schemeClr val="accent2"/>
            </a:effectRef>
            <a:fontRef idx="minor">
              <a:schemeClr val="lt1"/>
            </a:fontRef>
          </p:style>
          <p:txBody>
            <a:bodyPr wrap="none" anchor="ctr"/>
            <a:lstStyle/>
            <a:p>
              <a:pPr algn="ctr"/>
              <a:r>
                <a:rPr lang="en-US" sz="1400" b="1">
                  <a:solidFill>
                    <a:schemeClr val="tx2">
                      <a:lumMod val="50000"/>
                    </a:schemeClr>
                  </a:solidFill>
                  <a:latin typeface="EYInterstate" pitchFamily="2" charset="0"/>
                </a:rPr>
                <a:t>VLR</a:t>
              </a:r>
              <a:endParaRPr lang="en-US" sz="1050" b="1">
                <a:solidFill>
                  <a:schemeClr val="tx2">
                    <a:lumMod val="50000"/>
                  </a:schemeClr>
                </a:solidFill>
                <a:latin typeface="EYInterstate" pitchFamily="2" charset="0"/>
              </a:endParaRPr>
            </a:p>
          </p:txBody>
        </p:sp>
        <p:cxnSp>
          <p:nvCxnSpPr>
            <p:cNvPr id="56" name="AutoShape 15"/>
            <p:cNvCxnSpPr>
              <a:cxnSpLocks noChangeShapeType="1"/>
              <a:stCxn id="54" idx="2"/>
              <a:endCxn id="55" idx="1"/>
            </p:cNvCxnSpPr>
            <p:nvPr/>
          </p:nvCxnSpPr>
          <p:spPr bwMode="auto">
            <a:xfrm rot="16200000" flipH="1">
              <a:off x="4681537" y="3868738"/>
              <a:ext cx="327025" cy="850900"/>
            </a:xfrm>
            <a:prstGeom prst="bentConnector2">
              <a:avLst/>
            </a:prstGeom>
            <a:noFill/>
            <a:ln w="19050">
              <a:solidFill>
                <a:schemeClr val="tx1"/>
              </a:solidFill>
              <a:miter lim="800000"/>
              <a:headEnd/>
              <a:tailEnd type="triangle" w="med" len="med"/>
            </a:ln>
          </p:spPr>
        </p:cxnSp>
        <p:grpSp>
          <p:nvGrpSpPr>
            <p:cNvPr id="4" name="Group 16"/>
            <p:cNvGrpSpPr>
              <a:grpSpLocks/>
            </p:cNvGrpSpPr>
            <p:nvPr/>
          </p:nvGrpSpPr>
          <p:grpSpPr bwMode="auto">
            <a:xfrm>
              <a:off x="3810000" y="4816475"/>
              <a:ext cx="228600" cy="593725"/>
              <a:chOff x="336" y="1920"/>
              <a:chExt cx="144" cy="374"/>
            </a:xfrm>
          </p:grpSpPr>
          <p:sp>
            <p:nvSpPr>
              <p:cNvPr id="58" name="Rectangle 17"/>
              <p:cNvSpPr>
                <a:spLocks noChangeArrowheads="1"/>
              </p:cNvSpPr>
              <p:nvPr/>
            </p:nvSpPr>
            <p:spPr bwMode="auto">
              <a:xfrm>
                <a:off x="336" y="2006"/>
                <a:ext cx="144" cy="288"/>
              </a:xfrm>
              <a:prstGeom prst="rect">
                <a:avLst/>
              </a:prstGeom>
              <a:ln>
                <a:headEnd/>
                <a:tailEnd/>
              </a:ln>
            </p:spPr>
            <p:style>
              <a:lnRef idx="0">
                <a:schemeClr val="accent2"/>
              </a:lnRef>
              <a:fillRef idx="3">
                <a:schemeClr val="accent2"/>
              </a:fillRef>
              <a:effectRef idx="3">
                <a:schemeClr val="accent2"/>
              </a:effectRef>
              <a:fontRef idx="minor">
                <a:schemeClr val="lt1"/>
              </a:fontRef>
            </p:style>
            <p:txBody>
              <a:bodyPr wrap="none" anchor="ctr"/>
              <a:lstStyle/>
              <a:p>
                <a:endParaRPr lang="en-US" sz="1400">
                  <a:latin typeface="EYInterstate" pitchFamily="2" charset="0"/>
                </a:endParaRPr>
              </a:p>
            </p:txBody>
          </p:sp>
          <p:sp>
            <p:nvSpPr>
              <p:cNvPr id="59" name="Line 18"/>
              <p:cNvSpPr>
                <a:spLocks noChangeShapeType="1"/>
              </p:cNvSpPr>
              <p:nvPr/>
            </p:nvSpPr>
            <p:spPr bwMode="auto">
              <a:xfrm flipV="1">
                <a:off x="336" y="1920"/>
                <a:ext cx="0" cy="96"/>
              </a:xfrm>
              <a:prstGeom prst="line">
                <a:avLst/>
              </a:prstGeom>
              <a:noFill/>
              <a:ln w="15875">
                <a:solidFill>
                  <a:schemeClr val="tx1"/>
                </a:solidFill>
                <a:round/>
                <a:headEnd/>
                <a:tailEnd/>
              </a:ln>
            </p:spPr>
            <p:txBody>
              <a:bodyPr wrap="none" anchor="ctr"/>
              <a:lstStyle/>
              <a:p>
                <a:endParaRPr lang="en-US" sz="1400">
                  <a:latin typeface="EYInterstate" pitchFamily="2" charset="0"/>
                </a:endParaRPr>
              </a:p>
            </p:txBody>
          </p:sp>
        </p:grpSp>
        <p:sp>
          <p:nvSpPr>
            <p:cNvPr id="60" name="Text Box 19"/>
            <p:cNvSpPr txBox="1">
              <a:spLocks noChangeArrowheads="1"/>
            </p:cNvSpPr>
            <p:nvPr/>
          </p:nvSpPr>
          <p:spPr bwMode="auto">
            <a:xfrm>
              <a:off x="3200400" y="5715000"/>
              <a:ext cx="1524000" cy="430887"/>
            </a:xfrm>
            <a:prstGeom prst="rect">
              <a:avLst/>
            </a:prstGeom>
            <a:noFill/>
            <a:ln w="9525">
              <a:noFill/>
              <a:miter lim="800000"/>
              <a:headEnd/>
              <a:tailEnd/>
            </a:ln>
          </p:spPr>
          <p:txBody>
            <a:bodyPr>
              <a:spAutoFit/>
            </a:bodyPr>
            <a:lstStyle/>
            <a:p>
              <a:pPr algn="ctr"/>
              <a:r>
                <a:rPr lang="en-US" sz="1050" b="1">
                  <a:latin typeface="EYInterstate" pitchFamily="2" charset="0"/>
                </a:rPr>
                <a:t>Calling Number </a:t>
              </a:r>
            </a:p>
            <a:p>
              <a:pPr algn="ctr"/>
              <a:r>
                <a:rPr lang="en-US" sz="1050" b="1">
                  <a:latin typeface="EYInterstate" pitchFamily="2" charset="0"/>
                </a:rPr>
                <a:t>( A Number)</a:t>
              </a:r>
            </a:p>
          </p:txBody>
        </p:sp>
        <p:sp>
          <p:nvSpPr>
            <p:cNvPr id="61" name="AutoShape 20"/>
            <p:cNvSpPr>
              <a:spLocks noChangeArrowheads="1"/>
            </p:cNvSpPr>
            <p:nvPr/>
          </p:nvSpPr>
          <p:spPr bwMode="auto">
            <a:xfrm>
              <a:off x="6629400" y="2911475"/>
              <a:ext cx="1371600" cy="1219200"/>
            </a:xfrm>
            <a:prstGeom prst="octagon">
              <a:avLst>
                <a:gd name="adj" fmla="val 29287"/>
              </a:avLst>
            </a:prstGeom>
            <a:ln>
              <a:headEnd/>
              <a:tailEnd/>
            </a:ln>
          </p:spPr>
          <p:style>
            <a:lnRef idx="0">
              <a:schemeClr val="accent1"/>
            </a:lnRef>
            <a:fillRef idx="3">
              <a:schemeClr val="accent1"/>
            </a:fillRef>
            <a:effectRef idx="3">
              <a:schemeClr val="accent1"/>
            </a:effectRef>
            <a:fontRef idx="minor">
              <a:schemeClr val="lt1"/>
            </a:fontRef>
          </p:style>
          <p:txBody>
            <a:bodyPr wrap="none" anchor="ctr"/>
            <a:lstStyle/>
            <a:p>
              <a:pPr algn="ctr"/>
              <a:r>
                <a:rPr lang="en-US" sz="1400">
                  <a:latin typeface="EYInterstate" pitchFamily="2" charset="0"/>
                </a:rPr>
                <a:t>Switch</a:t>
              </a:r>
            </a:p>
            <a:p>
              <a:pPr algn="ctr"/>
              <a:r>
                <a:rPr lang="en-US" sz="1400">
                  <a:latin typeface="EYInterstate" pitchFamily="2" charset="0"/>
                </a:rPr>
                <a:t>(MSC)</a:t>
              </a:r>
            </a:p>
          </p:txBody>
        </p:sp>
        <p:sp>
          <p:nvSpPr>
            <p:cNvPr id="62" name="Text Box 21"/>
            <p:cNvSpPr txBox="1">
              <a:spLocks noChangeArrowheads="1"/>
            </p:cNvSpPr>
            <p:nvPr/>
          </p:nvSpPr>
          <p:spPr bwMode="auto">
            <a:xfrm>
              <a:off x="6705600" y="1219200"/>
              <a:ext cx="2057399" cy="969817"/>
            </a:xfrm>
            <a:prstGeom prst="rect">
              <a:avLst/>
            </a:prstGeom>
            <a:noFill/>
            <a:ln w="9525" algn="ctr">
              <a:noFill/>
              <a:miter lim="800000"/>
              <a:headEnd/>
              <a:tailEnd/>
            </a:ln>
          </p:spPr>
          <p:txBody>
            <a:bodyPr>
              <a:spAutoFit/>
            </a:bodyPr>
            <a:lstStyle/>
            <a:p>
              <a:pPr algn="ctr">
                <a:spcBef>
                  <a:spcPts val="600"/>
                </a:spcBef>
              </a:pPr>
              <a:r>
                <a:rPr lang="en-US" sz="1400" b="1" dirty="0">
                  <a:latin typeface="EYInterstate" pitchFamily="2" charset="0"/>
                </a:rPr>
                <a:t>Called Location</a:t>
              </a:r>
            </a:p>
            <a:p>
              <a:pPr algn="ctr">
                <a:spcBef>
                  <a:spcPts val="600"/>
                </a:spcBef>
              </a:pPr>
              <a:r>
                <a:rPr lang="en-US" sz="1400" b="1" dirty="0">
                  <a:latin typeface="EYInterstate" pitchFamily="2" charset="0"/>
                </a:rPr>
                <a:t>(Circle 2)</a:t>
              </a:r>
            </a:p>
          </p:txBody>
        </p:sp>
        <p:sp>
          <p:nvSpPr>
            <p:cNvPr id="63" name="Rectangle 22"/>
            <p:cNvSpPr>
              <a:spLocks noChangeArrowheads="1"/>
            </p:cNvSpPr>
            <p:nvPr/>
          </p:nvSpPr>
          <p:spPr bwMode="auto">
            <a:xfrm>
              <a:off x="8166100" y="4343400"/>
              <a:ext cx="977900" cy="228600"/>
            </a:xfrm>
            <a:prstGeom prst="rect">
              <a:avLst/>
            </a:prstGeom>
            <a:ln>
              <a:headEnd/>
              <a:tailEnd/>
            </a:ln>
          </p:spPr>
          <p:style>
            <a:lnRef idx="0">
              <a:schemeClr val="accent2"/>
            </a:lnRef>
            <a:fillRef idx="3">
              <a:schemeClr val="accent2"/>
            </a:fillRef>
            <a:effectRef idx="3">
              <a:schemeClr val="accent2"/>
            </a:effectRef>
            <a:fontRef idx="minor">
              <a:schemeClr val="lt1"/>
            </a:fontRef>
          </p:style>
          <p:txBody>
            <a:bodyPr wrap="none" anchor="ctr"/>
            <a:lstStyle/>
            <a:p>
              <a:pPr algn="ctr"/>
              <a:r>
                <a:rPr lang="en-US" sz="1400" b="1">
                  <a:solidFill>
                    <a:schemeClr val="tx2">
                      <a:lumMod val="50000"/>
                    </a:schemeClr>
                  </a:solidFill>
                  <a:latin typeface="EYInterstate" pitchFamily="2" charset="0"/>
                </a:rPr>
                <a:t>HLR</a:t>
              </a:r>
              <a:endParaRPr lang="en-US" sz="1050" b="1">
                <a:solidFill>
                  <a:schemeClr val="tx2">
                    <a:lumMod val="50000"/>
                  </a:schemeClr>
                </a:solidFill>
                <a:latin typeface="EYInterstate" pitchFamily="2" charset="0"/>
              </a:endParaRPr>
            </a:p>
          </p:txBody>
        </p:sp>
        <p:cxnSp>
          <p:nvCxnSpPr>
            <p:cNvPr id="64" name="AutoShape 23"/>
            <p:cNvCxnSpPr>
              <a:cxnSpLocks noChangeShapeType="1"/>
              <a:stCxn id="61" idx="2"/>
              <a:endCxn id="63" idx="1"/>
            </p:cNvCxnSpPr>
            <p:nvPr/>
          </p:nvCxnSpPr>
          <p:spPr bwMode="auto">
            <a:xfrm rot="16200000" flipH="1">
              <a:off x="7577137" y="3868738"/>
              <a:ext cx="327025" cy="850900"/>
            </a:xfrm>
            <a:prstGeom prst="bentConnector2">
              <a:avLst/>
            </a:prstGeom>
            <a:noFill/>
            <a:ln w="19050">
              <a:solidFill>
                <a:schemeClr val="tx1"/>
              </a:solidFill>
              <a:miter lim="800000"/>
              <a:headEnd/>
              <a:tailEnd type="triangle" w="med" len="med"/>
            </a:ln>
          </p:spPr>
        </p:cxnSp>
        <p:sp>
          <p:nvSpPr>
            <p:cNvPr id="65" name="Line 24"/>
            <p:cNvSpPr>
              <a:spLocks noChangeShapeType="1"/>
            </p:cNvSpPr>
            <p:nvPr/>
          </p:nvSpPr>
          <p:spPr bwMode="auto">
            <a:xfrm>
              <a:off x="6477000" y="1219200"/>
              <a:ext cx="0" cy="5029200"/>
            </a:xfrm>
            <a:prstGeom prst="line">
              <a:avLst/>
            </a:prstGeom>
            <a:noFill/>
            <a:ln w="38100">
              <a:solidFill>
                <a:schemeClr val="tx1"/>
              </a:solidFill>
              <a:round/>
              <a:headEnd/>
              <a:tailEnd/>
            </a:ln>
          </p:spPr>
          <p:txBody>
            <a:bodyPr wrap="none" anchor="ctr"/>
            <a:lstStyle/>
            <a:p>
              <a:endParaRPr lang="en-US" sz="1400">
                <a:latin typeface="EYInterstate" pitchFamily="2" charset="0"/>
              </a:endParaRPr>
            </a:p>
          </p:txBody>
        </p:sp>
        <p:cxnSp>
          <p:nvCxnSpPr>
            <p:cNvPr id="66" name="AutoShape 25"/>
            <p:cNvCxnSpPr>
              <a:cxnSpLocks noChangeShapeType="1"/>
              <a:stCxn id="58" idx="1"/>
              <a:endCxn id="54" idx="3"/>
            </p:cNvCxnSpPr>
            <p:nvPr/>
          </p:nvCxnSpPr>
          <p:spPr bwMode="auto">
            <a:xfrm rot="10800000">
              <a:off x="3733800" y="3521075"/>
              <a:ext cx="76200" cy="1660525"/>
            </a:xfrm>
            <a:prstGeom prst="bentConnector3">
              <a:avLst>
                <a:gd name="adj1" fmla="val 400000"/>
              </a:avLst>
            </a:prstGeom>
            <a:noFill/>
            <a:ln w="31750">
              <a:solidFill>
                <a:schemeClr val="tx1"/>
              </a:solidFill>
              <a:prstDash val="sysDot"/>
              <a:miter lim="800000"/>
              <a:headEnd/>
              <a:tailEnd type="triangle" w="med" len="med"/>
            </a:ln>
          </p:spPr>
        </p:cxnSp>
        <p:cxnSp>
          <p:nvCxnSpPr>
            <p:cNvPr id="67" name="AutoShape 26"/>
            <p:cNvCxnSpPr>
              <a:cxnSpLocks noChangeShapeType="1"/>
              <a:stCxn id="54" idx="3"/>
              <a:endCxn id="61" idx="3"/>
            </p:cNvCxnSpPr>
            <p:nvPr/>
          </p:nvCxnSpPr>
          <p:spPr bwMode="auto">
            <a:xfrm rot="5400000" flipV="1">
              <a:off x="5219700" y="2111375"/>
              <a:ext cx="609600" cy="2209800"/>
            </a:xfrm>
            <a:prstGeom prst="bentConnector4">
              <a:avLst>
                <a:gd name="adj1" fmla="val -37500"/>
                <a:gd name="adj2" fmla="val 65519"/>
              </a:avLst>
            </a:prstGeom>
            <a:noFill/>
            <a:ln w="31750">
              <a:solidFill>
                <a:schemeClr val="tx1"/>
              </a:solidFill>
              <a:prstDash val="sysDot"/>
              <a:miter lim="800000"/>
              <a:headEnd/>
              <a:tailEnd type="triangle" w="med" len="med"/>
            </a:ln>
          </p:spPr>
        </p:cxnSp>
        <p:cxnSp>
          <p:nvCxnSpPr>
            <p:cNvPr id="68" name="AutoShape 27"/>
            <p:cNvCxnSpPr>
              <a:cxnSpLocks noChangeShapeType="1"/>
              <a:stCxn id="61" idx="3"/>
              <a:endCxn id="46" idx="1"/>
            </p:cNvCxnSpPr>
            <p:nvPr/>
          </p:nvCxnSpPr>
          <p:spPr bwMode="auto">
            <a:xfrm rot="-5400000">
              <a:off x="7543007" y="2177256"/>
              <a:ext cx="506412" cy="962025"/>
            </a:xfrm>
            <a:prstGeom prst="bentConnector2">
              <a:avLst/>
            </a:prstGeom>
            <a:noFill/>
            <a:ln w="31750">
              <a:solidFill>
                <a:schemeClr val="tx1"/>
              </a:solidFill>
              <a:prstDash val="sysDot"/>
              <a:miter lim="800000"/>
              <a:headEnd/>
              <a:tailEnd type="triangle" w="med" len="med"/>
            </a:ln>
          </p:spPr>
        </p:cxnSp>
        <p:sp>
          <p:nvSpPr>
            <p:cNvPr id="69" name="Oval 28"/>
            <p:cNvSpPr>
              <a:spLocks noChangeArrowheads="1"/>
            </p:cNvSpPr>
            <p:nvPr/>
          </p:nvSpPr>
          <p:spPr bwMode="auto">
            <a:xfrm>
              <a:off x="3124200" y="3962400"/>
              <a:ext cx="304800" cy="304800"/>
            </a:xfrm>
            <a:prstGeom prst="ellipse">
              <a:avLst/>
            </a:prstGeom>
            <a:noFill/>
            <a:ln w="9525" algn="ctr">
              <a:solidFill>
                <a:schemeClr val="tx1"/>
              </a:solidFill>
              <a:round/>
              <a:headEnd/>
              <a:tailEnd/>
            </a:ln>
          </p:spPr>
          <p:txBody>
            <a:bodyPr wrap="none" anchor="ctr"/>
            <a:lstStyle/>
            <a:p>
              <a:pPr algn="ctr"/>
              <a:r>
                <a:rPr lang="en-US" sz="1400" b="1">
                  <a:latin typeface="EYInterstate" pitchFamily="2" charset="0"/>
                </a:rPr>
                <a:t>1</a:t>
              </a:r>
            </a:p>
          </p:txBody>
        </p:sp>
        <p:sp>
          <p:nvSpPr>
            <p:cNvPr id="70" name="Oval 29"/>
            <p:cNvSpPr>
              <a:spLocks noChangeArrowheads="1"/>
            </p:cNvSpPr>
            <p:nvPr/>
          </p:nvSpPr>
          <p:spPr bwMode="auto">
            <a:xfrm>
              <a:off x="5181600" y="2286000"/>
              <a:ext cx="304800" cy="304800"/>
            </a:xfrm>
            <a:prstGeom prst="ellipse">
              <a:avLst/>
            </a:prstGeom>
            <a:noFill/>
            <a:ln w="9525" algn="ctr">
              <a:solidFill>
                <a:schemeClr val="tx1"/>
              </a:solidFill>
              <a:round/>
              <a:headEnd/>
              <a:tailEnd/>
            </a:ln>
          </p:spPr>
          <p:txBody>
            <a:bodyPr wrap="none" anchor="ctr"/>
            <a:lstStyle/>
            <a:p>
              <a:pPr algn="ctr"/>
              <a:r>
                <a:rPr lang="en-US" sz="1400" b="1" dirty="0">
                  <a:latin typeface="EYInterstate" pitchFamily="2" charset="0"/>
                </a:rPr>
                <a:t>3</a:t>
              </a:r>
            </a:p>
          </p:txBody>
        </p:sp>
        <p:sp>
          <p:nvSpPr>
            <p:cNvPr id="71" name="Oval 30"/>
            <p:cNvSpPr>
              <a:spLocks noChangeArrowheads="1"/>
            </p:cNvSpPr>
            <p:nvPr/>
          </p:nvSpPr>
          <p:spPr bwMode="auto">
            <a:xfrm>
              <a:off x="7620000" y="2057400"/>
              <a:ext cx="304800" cy="304800"/>
            </a:xfrm>
            <a:prstGeom prst="ellipse">
              <a:avLst/>
            </a:prstGeom>
            <a:noFill/>
            <a:ln w="9525" algn="ctr">
              <a:solidFill>
                <a:schemeClr val="tx1"/>
              </a:solidFill>
              <a:round/>
              <a:headEnd/>
              <a:tailEnd/>
            </a:ln>
          </p:spPr>
          <p:txBody>
            <a:bodyPr wrap="none" anchor="ctr"/>
            <a:lstStyle/>
            <a:p>
              <a:pPr algn="ctr"/>
              <a:r>
                <a:rPr lang="en-US" sz="1400" b="1" dirty="0">
                  <a:latin typeface="EYInterstate" pitchFamily="2" charset="0"/>
                </a:rPr>
                <a:t>4</a:t>
              </a:r>
            </a:p>
          </p:txBody>
        </p:sp>
        <p:cxnSp>
          <p:nvCxnSpPr>
            <p:cNvPr id="72" name="AutoShape 25"/>
            <p:cNvCxnSpPr>
              <a:cxnSpLocks noChangeShapeType="1"/>
            </p:cNvCxnSpPr>
            <p:nvPr/>
          </p:nvCxnSpPr>
          <p:spPr bwMode="auto">
            <a:xfrm rot="10800000">
              <a:off x="1244600" y="3009901"/>
              <a:ext cx="2514600" cy="355601"/>
            </a:xfrm>
            <a:prstGeom prst="bentConnector3">
              <a:avLst>
                <a:gd name="adj1" fmla="val 50000"/>
              </a:avLst>
            </a:prstGeom>
            <a:noFill/>
            <a:ln w="31750">
              <a:solidFill>
                <a:schemeClr val="tx1"/>
              </a:solidFill>
              <a:prstDash val="sysDot"/>
              <a:miter lim="800000"/>
              <a:headEnd/>
              <a:tailEnd type="triangle" w="med" len="med"/>
            </a:ln>
          </p:spPr>
        </p:cxnSp>
        <p:sp>
          <p:nvSpPr>
            <p:cNvPr id="74" name="Oval 29"/>
            <p:cNvSpPr>
              <a:spLocks noChangeArrowheads="1"/>
            </p:cNvSpPr>
            <p:nvPr/>
          </p:nvSpPr>
          <p:spPr bwMode="auto">
            <a:xfrm>
              <a:off x="1968500" y="2628900"/>
              <a:ext cx="304800" cy="304800"/>
            </a:xfrm>
            <a:prstGeom prst="ellipse">
              <a:avLst/>
            </a:prstGeom>
            <a:noFill/>
            <a:ln w="9525" algn="ctr">
              <a:solidFill>
                <a:schemeClr val="tx1"/>
              </a:solidFill>
              <a:round/>
              <a:headEnd/>
              <a:tailEnd/>
            </a:ln>
          </p:spPr>
          <p:txBody>
            <a:bodyPr wrap="none" anchor="ctr"/>
            <a:lstStyle/>
            <a:p>
              <a:pPr algn="ctr"/>
              <a:r>
                <a:rPr lang="en-US" sz="1400" b="1" dirty="0">
                  <a:latin typeface="EYInterstate" pitchFamily="2" charset="0"/>
                </a:rPr>
                <a:t>2</a:t>
              </a:r>
            </a:p>
          </p:txBody>
        </p:sp>
        <p:sp>
          <p:nvSpPr>
            <p:cNvPr id="75" name="TextBox 74"/>
            <p:cNvSpPr txBox="1"/>
            <p:nvPr/>
          </p:nvSpPr>
          <p:spPr>
            <a:xfrm>
              <a:off x="482974" y="2616200"/>
              <a:ext cx="1873250" cy="282128"/>
            </a:xfrm>
            <a:prstGeom prst="rect">
              <a:avLst/>
            </a:prstGeom>
            <a:noFill/>
          </p:spPr>
          <p:txBody>
            <a:bodyPr wrap="square" rtlCol="0">
              <a:spAutoFit/>
            </a:bodyPr>
            <a:lstStyle/>
            <a:p>
              <a:r>
                <a:rPr lang="en-US" sz="1000" dirty="0">
                  <a:latin typeface="EYInterstate" pitchFamily="2" charset="0"/>
                </a:rPr>
                <a:t>(Authentication)</a:t>
              </a:r>
            </a:p>
          </p:txBody>
        </p:sp>
      </p:grpSp>
      <p:sp>
        <p:nvSpPr>
          <p:cNvPr id="35" name="Rectangle 34"/>
          <p:cNvSpPr/>
          <p:nvPr/>
        </p:nvSpPr>
        <p:spPr>
          <a:xfrm>
            <a:off x="6781800" y="1600200"/>
            <a:ext cx="2133600" cy="4114800"/>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buClr>
                <a:srgbClr val="FFC000"/>
              </a:buClr>
            </a:pPr>
            <a:r>
              <a:rPr lang="en-US" sz="1400" b="1" dirty="0">
                <a:solidFill>
                  <a:schemeClr val="tx1">
                    <a:lumMod val="50000"/>
                  </a:schemeClr>
                </a:solidFill>
              </a:rPr>
              <a:t>Call Flow</a:t>
            </a:r>
          </a:p>
          <a:p>
            <a:pPr>
              <a:buClr>
                <a:srgbClr val="FFC000"/>
              </a:buClr>
              <a:buFont typeface="Arial" pitchFamily="34" charset="0"/>
              <a:buChar char="►"/>
            </a:pPr>
            <a:endParaRPr lang="en-US" sz="1400" b="1" dirty="0">
              <a:solidFill>
                <a:schemeClr val="tx1">
                  <a:lumMod val="50000"/>
                </a:schemeClr>
              </a:solidFill>
            </a:endParaRPr>
          </a:p>
          <a:p>
            <a:pPr marL="177800" indent="-177800">
              <a:buClr>
                <a:srgbClr val="FFC000"/>
              </a:buClr>
              <a:buFont typeface="Arial" pitchFamily="34" charset="0"/>
              <a:buChar char="►"/>
            </a:pPr>
            <a:r>
              <a:rPr lang="en-US" sz="1200" dirty="0">
                <a:solidFill>
                  <a:schemeClr val="tx1">
                    <a:lumMod val="50000"/>
                  </a:schemeClr>
                </a:solidFill>
              </a:rPr>
              <a:t>#1 – Subscriber in roaming circle latched to visited operator and initiates a O/G call</a:t>
            </a:r>
          </a:p>
          <a:p>
            <a:pPr marL="177800" indent="-177800">
              <a:buClr>
                <a:srgbClr val="FFC000"/>
              </a:buClr>
              <a:buFont typeface="Arial" pitchFamily="34" charset="0"/>
              <a:buChar char="►"/>
            </a:pPr>
            <a:endParaRPr lang="en-US" sz="1200" dirty="0">
              <a:solidFill>
                <a:schemeClr val="tx1">
                  <a:lumMod val="50000"/>
                </a:schemeClr>
              </a:solidFill>
            </a:endParaRPr>
          </a:p>
          <a:p>
            <a:pPr marL="177800" indent="-177800">
              <a:buClr>
                <a:srgbClr val="FFC000"/>
              </a:buClr>
              <a:buFont typeface="Arial" pitchFamily="34" charset="0"/>
              <a:buChar char="►"/>
            </a:pPr>
            <a:r>
              <a:rPr lang="en-US" sz="1200" dirty="0">
                <a:solidFill>
                  <a:schemeClr val="tx1">
                    <a:lumMod val="50000"/>
                  </a:schemeClr>
                </a:solidFill>
              </a:rPr>
              <a:t>#2 – Visited operator  VLR authenticates with the home operator for allow/disallow the call</a:t>
            </a:r>
          </a:p>
          <a:p>
            <a:pPr marL="177800" indent="-177800">
              <a:buClr>
                <a:srgbClr val="FFC000"/>
              </a:buClr>
              <a:buFont typeface="Arial" pitchFamily="34" charset="0"/>
              <a:buChar char="►"/>
            </a:pPr>
            <a:endParaRPr lang="en-US" sz="1200" dirty="0">
              <a:solidFill>
                <a:schemeClr val="tx1">
                  <a:lumMod val="50000"/>
                </a:schemeClr>
              </a:solidFill>
            </a:endParaRPr>
          </a:p>
          <a:p>
            <a:pPr marL="177800" indent="-177800">
              <a:buClr>
                <a:srgbClr val="FFC000"/>
              </a:buClr>
              <a:buFont typeface="Arial" pitchFamily="34" charset="0"/>
              <a:buChar char="►"/>
            </a:pPr>
            <a:r>
              <a:rPr lang="en-US" sz="1200" dirty="0">
                <a:solidFill>
                  <a:schemeClr val="tx1">
                    <a:lumMod val="50000"/>
                  </a:schemeClr>
                </a:solidFill>
              </a:rPr>
              <a:t>#3 – Once the authentication is being provided visited operator MSC allows the call</a:t>
            </a:r>
          </a:p>
          <a:p>
            <a:pPr marL="177800" indent="-177800">
              <a:buClr>
                <a:srgbClr val="FFC000"/>
              </a:buClr>
              <a:buFont typeface="Arial" pitchFamily="34" charset="0"/>
              <a:buChar char="►"/>
            </a:pPr>
            <a:endParaRPr lang="en-US" sz="1200" dirty="0">
              <a:solidFill>
                <a:schemeClr val="tx1">
                  <a:lumMod val="50000"/>
                </a:schemeClr>
              </a:solidFill>
            </a:endParaRPr>
          </a:p>
          <a:p>
            <a:pPr marL="177800" indent="-177800">
              <a:buClr>
                <a:srgbClr val="FFC000"/>
              </a:buClr>
              <a:buFont typeface="Arial" pitchFamily="34" charset="0"/>
              <a:buChar char="►"/>
            </a:pPr>
            <a:r>
              <a:rPr lang="en-US" sz="1200" dirty="0">
                <a:solidFill>
                  <a:schemeClr val="tx1">
                    <a:lumMod val="50000"/>
                  </a:schemeClr>
                </a:solidFill>
              </a:rPr>
              <a:t>#4 – Call being handed over to other operator  and then to the called subscriber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Group 29"/>
          <p:cNvGrpSpPr/>
          <p:nvPr/>
        </p:nvGrpSpPr>
        <p:grpSpPr>
          <a:xfrm>
            <a:off x="152400" y="1219200"/>
            <a:ext cx="6492240" cy="5029200"/>
            <a:chOff x="152400" y="1219200"/>
            <a:chExt cx="7391400" cy="5029200"/>
          </a:xfrm>
        </p:grpSpPr>
        <p:sp>
          <p:nvSpPr>
            <p:cNvPr id="24" name="AutoShape 2"/>
            <p:cNvSpPr>
              <a:spLocks noChangeArrowheads="1"/>
            </p:cNvSpPr>
            <p:nvPr/>
          </p:nvSpPr>
          <p:spPr bwMode="auto">
            <a:xfrm>
              <a:off x="152400" y="2911475"/>
              <a:ext cx="1371600" cy="1219200"/>
            </a:xfrm>
            <a:prstGeom prst="octagon">
              <a:avLst>
                <a:gd name="adj" fmla="val 29287"/>
              </a:avLst>
            </a:prstGeom>
            <a:ln>
              <a:headEnd/>
              <a:tailEnd/>
            </a:ln>
          </p:spPr>
          <p:style>
            <a:lnRef idx="0">
              <a:schemeClr val="accent1"/>
            </a:lnRef>
            <a:fillRef idx="3">
              <a:schemeClr val="accent1"/>
            </a:fillRef>
            <a:effectRef idx="3">
              <a:schemeClr val="accent1"/>
            </a:effectRef>
            <a:fontRef idx="minor">
              <a:schemeClr val="lt1"/>
            </a:fontRef>
          </p:style>
          <p:txBody>
            <a:bodyPr wrap="none" anchor="ctr"/>
            <a:lstStyle/>
            <a:p>
              <a:pPr algn="ctr"/>
              <a:r>
                <a:rPr lang="en-US" sz="1400">
                  <a:latin typeface="EYInterstate" pitchFamily="2" charset="0"/>
                </a:rPr>
                <a:t>Switch</a:t>
              </a:r>
            </a:p>
            <a:p>
              <a:pPr algn="ctr"/>
              <a:r>
                <a:rPr lang="en-US" sz="1400">
                  <a:latin typeface="EYInterstate" pitchFamily="2" charset="0"/>
                </a:rPr>
                <a:t>(MSC)</a:t>
              </a:r>
            </a:p>
          </p:txBody>
        </p:sp>
        <p:sp>
          <p:nvSpPr>
            <p:cNvPr id="31" name="Text Box 4"/>
            <p:cNvSpPr txBox="1">
              <a:spLocks noChangeArrowheads="1"/>
            </p:cNvSpPr>
            <p:nvPr/>
          </p:nvSpPr>
          <p:spPr bwMode="auto">
            <a:xfrm>
              <a:off x="6019800" y="3733800"/>
              <a:ext cx="1524000" cy="430887"/>
            </a:xfrm>
            <a:prstGeom prst="rect">
              <a:avLst/>
            </a:prstGeom>
            <a:noFill/>
            <a:ln w="9525">
              <a:noFill/>
              <a:miter lim="800000"/>
              <a:headEnd/>
              <a:tailEnd/>
            </a:ln>
          </p:spPr>
          <p:txBody>
            <a:bodyPr>
              <a:spAutoFit/>
            </a:bodyPr>
            <a:lstStyle/>
            <a:p>
              <a:pPr algn="ctr"/>
              <a:r>
                <a:rPr lang="en-US" sz="1050" b="1" dirty="0">
                  <a:latin typeface="EYInterstate" pitchFamily="2" charset="0"/>
                </a:rPr>
                <a:t>Called Number </a:t>
              </a:r>
            </a:p>
            <a:p>
              <a:pPr algn="ctr"/>
              <a:r>
                <a:rPr lang="en-US" sz="1050" b="1" dirty="0">
                  <a:latin typeface="EYInterstate" pitchFamily="2" charset="0"/>
                </a:rPr>
                <a:t>( B Number)</a:t>
              </a:r>
            </a:p>
          </p:txBody>
        </p:sp>
        <p:grpSp>
          <p:nvGrpSpPr>
            <p:cNvPr id="3" name="Group 5"/>
            <p:cNvGrpSpPr>
              <a:grpSpLocks/>
            </p:cNvGrpSpPr>
            <p:nvPr/>
          </p:nvGrpSpPr>
          <p:grpSpPr bwMode="auto">
            <a:xfrm>
              <a:off x="6677025" y="3106738"/>
              <a:ext cx="228600" cy="593725"/>
              <a:chOff x="336" y="1920"/>
              <a:chExt cx="144" cy="374"/>
            </a:xfrm>
          </p:grpSpPr>
          <p:sp>
            <p:nvSpPr>
              <p:cNvPr id="46" name="Rectangle 6"/>
              <p:cNvSpPr>
                <a:spLocks noChangeArrowheads="1"/>
              </p:cNvSpPr>
              <p:nvPr/>
            </p:nvSpPr>
            <p:spPr bwMode="auto">
              <a:xfrm>
                <a:off x="336" y="2006"/>
                <a:ext cx="144" cy="288"/>
              </a:xfrm>
              <a:prstGeom prst="rect">
                <a:avLst/>
              </a:prstGeom>
              <a:ln>
                <a:headEnd/>
                <a:tailEnd/>
              </a:ln>
            </p:spPr>
            <p:style>
              <a:lnRef idx="0">
                <a:schemeClr val="accent5"/>
              </a:lnRef>
              <a:fillRef idx="3">
                <a:schemeClr val="accent5"/>
              </a:fillRef>
              <a:effectRef idx="3">
                <a:schemeClr val="accent5"/>
              </a:effectRef>
              <a:fontRef idx="minor">
                <a:schemeClr val="lt1"/>
              </a:fontRef>
            </p:style>
            <p:txBody>
              <a:bodyPr wrap="none" anchor="ctr"/>
              <a:lstStyle/>
              <a:p>
                <a:endParaRPr lang="en-US" sz="1400">
                  <a:latin typeface="EYInterstate" pitchFamily="2" charset="0"/>
                </a:endParaRPr>
              </a:p>
            </p:txBody>
          </p:sp>
          <p:sp>
            <p:nvSpPr>
              <p:cNvPr id="47" name="Line 7"/>
              <p:cNvSpPr>
                <a:spLocks noChangeShapeType="1"/>
              </p:cNvSpPr>
              <p:nvPr/>
            </p:nvSpPr>
            <p:spPr bwMode="auto">
              <a:xfrm flipV="1">
                <a:off x="336" y="1920"/>
                <a:ext cx="0" cy="96"/>
              </a:xfrm>
              <a:prstGeom prst="line">
                <a:avLst/>
              </a:prstGeom>
              <a:noFill/>
              <a:ln w="15875">
                <a:solidFill>
                  <a:schemeClr val="tx1"/>
                </a:solidFill>
                <a:round/>
                <a:headEnd/>
                <a:tailEnd/>
              </a:ln>
            </p:spPr>
            <p:txBody>
              <a:bodyPr wrap="none" anchor="ctr"/>
              <a:lstStyle/>
              <a:p>
                <a:endParaRPr lang="en-US" sz="1400">
                  <a:latin typeface="EYInterstate" pitchFamily="2" charset="0"/>
                </a:endParaRPr>
              </a:p>
            </p:txBody>
          </p:sp>
        </p:grpSp>
        <p:sp>
          <p:nvSpPr>
            <p:cNvPr id="49" name="Line 8"/>
            <p:cNvSpPr>
              <a:spLocks noChangeShapeType="1"/>
            </p:cNvSpPr>
            <p:nvPr/>
          </p:nvSpPr>
          <p:spPr bwMode="auto">
            <a:xfrm>
              <a:off x="2819400" y="1219200"/>
              <a:ext cx="0" cy="5029200"/>
            </a:xfrm>
            <a:prstGeom prst="line">
              <a:avLst/>
            </a:prstGeom>
            <a:noFill/>
            <a:ln w="38100">
              <a:solidFill>
                <a:schemeClr val="tx1"/>
              </a:solidFill>
              <a:round/>
              <a:headEnd/>
              <a:tailEnd/>
            </a:ln>
          </p:spPr>
          <p:txBody>
            <a:bodyPr wrap="none" anchor="ctr"/>
            <a:lstStyle/>
            <a:p>
              <a:endParaRPr lang="en-US" sz="1400">
                <a:latin typeface="EYInterstate" pitchFamily="2" charset="0"/>
              </a:endParaRPr>
            </a:p>
          </p:txBody>
        </p:sp>
        <p:sp>
          <p:nvSpPr>
            <p:cNvPr id="50" name="Text Box 9"/>
            <p:cNvSpPr txBox="1">
              <a:spLocks noChangeArrowheads="1"/>
            </p:cNvSpPr>
            <p:nvPr/>
          </p:nvSpPr>
          <p:spPr bwMode="auto">
            <a:xfrm>
              <a:off x="152400" y="1219200"/>
              <a:ext cx="2057400" cy="630942"/>
            </a:xfrm>
            <a:prstGeom prst="rect">
              <a:avLst/>
            </a:prstGeom>
            <a:noFill/>
            <a:ln w="9525" algn="ctr">
              <a:noFill/>
              <a:miter lim="800000"/>
              <a:headEnd/>
              <a:tailEnd/>
            </a:ln>
          </p:spPr>
          <p:txBody>
            <a:bodyPr>
              <a:spAutoFit/>
            </a:bodyPr>
            <a:lstStyle/>
            <a:p>
              <a:pPr algn="ctr">
                <a:spcBef>
                  <a:spcPct val="50000"/>
                </a:spcBef>
              </a:pPr>
              <a:r>
                <a:rPr lang="en-US" sz="1400" b="1" dirty="0">
                  <a:latin typeface="EYInterstate" pitchFamily="2" charset="0"/>
                </a:rPr>
                <a:t>Home Location</a:t>
              </a:r>
            </a:p>
            <a:p>
              <a:pPr algn="ctr">
                <a:spcBef>
                  <a:spcPct val="50000"/>
                </a:spcBef>
              </a:pPr>
              <a:r>
                <a:rPr lang="en-US" sz="1400" b="1" dirty="0">
                  <a:latin typeface="EYInterstate" pitchFamily="2" charset="0"/>
                </a:rPr>
                <a:t>(Circle 1)</a:t>
              </a:r>
            </a:p>
          </p:txBody>
        </p:sp>
        <p:sp>
          <p:nvSpPr>
            <p:cNvPr id="51" name="Text Box 10"/>
            <p:cNvSpPr txBox="1">
              <a:spLocks noChangeArrowheads="1"/>
            </p:cNvSpPr>
            <p:nvPr/>
          </p:nvSpPr>
          <p:spPr bwMode="auto">
            <a:xfrm>
              <a:off x="3581400" y="1219200"/>
              <a:ext cx="2057400" cy="630942"/>
            </a:xfrm>
            <a:prstGeom prst="rect">
              <a:avLst/>
            </a:prstGeom>
            <a:noFill/>
            <a:ln w="9525" algn="ctr">
              <a:noFill/>
              <a:miter lim="800000"/>
              <a:headEnd/>
              <a:tailEnd/>
            </a:ln>
          </p:spPr>
          <p:txBody>
            <a:bodyPr>
              <a:spAutoFit/>
            </a:bodyPr>
            <a:lstStyle/>
            <a:p>
              <a:pPr algn="ctr">
                <a:spcBef>
                  <a:spcPct val="50000"/>
                </a:spcBef>
              </a:pPr>
              <a:r>
                <a:rPr lang="en-US" sz="1400" b="1" dirty="0">
                  <a:latin typeface="EYInterstate" pitchFamily="2" charset="0"/>
                </a:rPr>
                <a:t>Visitor Location</a:t>
              </a:r>
            </a:p>
            <a:p>
              <a:pPr algn="ctr">
                <a:spcBef>
                  <a:spcPct val="50000"/>
                </a:spcBef>
              </a:pPr>
              <a:r>
                <a:rPr lang="en-US" sz="1400" b="1" dirty="0">
                  <a:latin typeface="EYInterstate" pitchFamily="2" charset="0"/>
                </a:rPr>
                <a:t>(Circle 2)</a:t>
              </a:r>
            </a:p>
          </p:txBody>
        </p:sp>
        <p:sp>
          <p:nvSpPr>
            <p:cNvPr id="52" name="Rectangle 11"/>
            <p:cNvSpPr>
              <a:spLocks noChangeArrowheads="1"/>
            </p:cNvSpPr>
            <p:nvPr/>
          </p:nvSpPr>
          <p:spPr bwMode="auto">
            <a:xfrm>
              <a:off x="1689100" y="4343400"/>
              <a:ext cx="977900" cy="228600"/>
            </a:xfrm>
            <a:prstGeom prst="rect">
              <a:avLst/>
            </a:prstGeom>
            <a:ln>
              <a:headEnd/>
              <a:tailEnd/>
            </a:ln>
          </p:spPr>
          <p:style>
            <a:lnRef idx="0">
              <a:schemeClr val="accent2"/>
            </a:lnRef>
            <a:fillRef idx="3">
              <a:schemeClr val="accent2"/>
            </a:fillRef>
            <a:effectRef idx="3">
              <a:schemeClr val="accent2"/>
            </a:effectRef>
            <a:fontRef idx="minor">
              <a:schemeClr val="lt1"/>
            </a:fontRef>
          </p:style>
          <p:txBody>
            <a:bodyPr wrap="none" anchor="ctr"/>
            <a:lstStyle/>
            <a:p>
              <a:pPr algn="ctr"/>
              <a:r>
                <a:rPr lang="en-US" sz="1400" b="1">
                  <a:solidFill>
                    <a:schemeClr val="tx2">
                      <a:lumMod val="50000"/>
                    </a:schemeClr>
                  </a:solidFill>
                  <a:latin typeface="EYInterstate" pitchFamily="2" charset="0"/>
                </a:rPr>
                <a:t>HLR</a:t>
              </a:r>
              <a:endParaRPr lang="en-US" sz="1050" b="1">
                <a:solidFill>
                  <a:schemeClr val="tx2">
                    <a:lumMod val="50000"/>
                  </a:schemeClr>
                </a:solidFill>
                <a:latin typeface="EYInterstate" pitchFamily="2" charset="0"/>
              </a:endParaRPr>
            </a:p>
          </p:txBody>
        </p:sp>
        <p:cxnSp>
          <p:nvCxnSpPr>
            <p:cNvPr id="53" name="AutoShape 12"/>
            <p:cNvCxnSpPr>
              <a:cxnSpLocks noChangeShapeType="1"/>
              <a:stCxn id="24" idx="2"/>
              <a:endCxn id="52" idx="1"/>
            </p:cNvCxnSpPr>
            <p:nvPr/>
          </p:nvCxnSpPr>
          <p:spPr bwMode="auto">
            <a:xfrm rot="16200000" flipH="1">
              <a:off x="1100137" y="3868738"/>
              <a:ext cx="327025" cy="850900"/>
            </a:xfrm>
            <a:prstGeom prst="bentConnector2">
              <a:avLst/>
            </a:prstGeom>
            <a:noFill/>
            <a:ln w="19050">
              <a:solidFill>
                <a:schemeClr val="tx1"/>
              </a:solidFill>
              <a:miter lim="800000"/>
              <a:headEnd/>
              <a:tailEnd type="triangle" w="med" len="med"/>
            </a:ln>
          </p:spPr>
        </p:cxnSp>
        <p:sp>
          <p:nvSpPr>
            <p:cNvPr id="54" name="AutoShape 13"/>
            <p:cNvSpPr>
              <a:spLocks noChangeArrowheads="1"/>
            </p:cNvSpPr>
            <p:nvPr/>
          </p:nvSpPr>
          <p:spPr bwMode="auto">
            <a:xfrm>
              <a:off x="3733800" y="2911475"/>
              <a:ext cx="1371600" cy="1219200"/>
            </a:xfrm>
            <a:prstGeom prst="octagon">
              <a:avLst>
                <a:gd name="adj" fmla="val 29287"/>
              </a:avLst>
            </a:prstGeom>
            <a:ln>
              <a:headEnd/>
              <a:tailEnd/>
            </a:ln>
          </p:spPr>
          <p:style>
            <a:lnRef idx="0">
              <a:schemeClr val="accent1"/>
            </a:lnRef>
            <a:fillRef idx="3">
              <a:schemeClr val="accent1"/>
            </a:fillRef>
            <a:effectRef idx="3">
              <a:schemeClr val="accent1"/>
            </a:effectRef>
            <a:fontRef idx="minor">
              <a:schemeClr val="lt1"/>
            </a:fontRef>
          </p:style>
          <p:txBody>
            <a:bodyPr wrap="none" anchor="ctr"/>
            <a:lstStyle/>
            <a:p>
              <a:pPr algn="ctr"/>
              <a:r>
                <a:rPr lang="en-US" sz="1400">
                  <a:latin typeface="EYInterstate" pitchFamily="2" charset="0"/>
                </a:rPr>
                <a:t>Switch</a:t>
              </a:r>
            </a:p>
            <a:p>
              <a:pPr algn="ctr"/>
              <a:r>
                <a:rPr lang="en-US" sz="1400">
                  <a:latin typeface="EYInterstate" pitchFamily="2" charset="0"/>
                </a:rPr>
                <a:t>(MSC)</a:t>
              </a:r>
            </a:p>
          </p:txBody>
        </p:sp>
        <p:sp>
          <p:nvSpPr>
            <p:cNvPr id="55" name="Rectangle 14"/>
            <p:cNvSpPr>
              <a:spLocks noChangeArrowheads="1"/>
            </p:cNvSpPr>
            <p:nvPr/>
          </p:nvSpPr>
          <p:spPr bwMode="auto">
            <a:xfrm>
              <a:off x="5270500" y="4343400"/>
              <a:ext cx="977900" cy="228600"/>
            </a:xfrm>
            <a:prstGeom prst="rect">
              <a:avLst/>
            </a:prstGeom>
            <a:ln>
              <a:headEnd/>
              <a:tailEnd/>
            </a:ln>
          </p:spPr>
          <p:style>
            <a:lnRef idx="0">
              <a:schemeClr val="accent2"/>
            </a:lnRef>
            <a:fillRef idx="3">
              <a:schemeClr val="accent2"/>
            </a:fillRef>
            <a:effectRef idx="3">
              <a:schemeClr val="accent2"/>
            </a:effectRef>
            <a:fontRef idx="minor">
              <a:schemeClr val="lt1"/>
            </a:fontRef>
          </p:style>
          <p:txBody>
            <a:bodyPr wrap="none" anchor="ctr"/>
            <a:lstStyle/>
            <a:p>
              <a:pPr algn="ctr"/>
              <a:r>
                <a:rPr lang="en-US" sz="1400" b="1">
                  <a:solidFill>
                    <a:schemeClr val="tx2">
                      <a:lumMod val="50000"/>
                    </a:schemeClr>
                  </a:solidFill>
                  <a:latin typeface="EYInterstate" pitchFamily="2" charset="0"/>
                </a:rPr>
                <a:t>VLR</a:t>
              </a:r>
              <a:endParaRPr lang="en-US" sz="1050" b="1">
                <a:solidFill>
                  <a:schemeClr val="tx2">
                    <a:lumMod val="50000"/>
                  </a:schemeClr>
                </a:solidFill>
                <a:latin typeface="EYInterstate" pitchFamily="2" charset="0"/>
              </a:endParaRPr>
            </a:p>
          </p:txBody>
        </p:sp>
        <p:cxnSp>
          <p:nvCxnSpPr>
            <p:cNvPr id="56" name="AutoShape 15"/>
            <p:cNvCxnSpPr>
              <a:cxnSpLocks noChangeShapeType="1"/>
              <a:stCxn id="54" idx="2"/>
              <a:endCxn id="55" idx="1"/>
            </p:cNvCxnSpPr>
            <p:nvPr/>
          </p:nvCxnSpPr>
          <p:spPr bwMode="auto">
            <a:xfrm rot="16200000" flipH="1">
              <a:off x="4681537" y="3868738"/>
              <a:ext cx="327025" cy="850900"/>
            </a:xfrm>
            <a:prstGeom prst="bentConnector2">
              <a:avLst/>
            </a:prstGeom>
            <a:noFill/>
            <a:ln w="19050">
              <a:solidFill>
                <a:schemeClr val="tx1"/>
              </a:solidFill>
              <a:miter lim="800000"/>
              <a:headEnd/>
              <a:tailEnd type="triangle" w="med" len="med"/>
            </a:ln>
          </p:spPr>
        </p:cxnSp>
        <p:grpSp>
          <p:nvGrpSpPr>
            <p:cNvPr id="4" name="Group 16"/>
            <p:cNvGrpSpPr>
              <a:grpSpLocks/>
            </p:cNvGrpSpPr>
            <p:nvPr/>
          </p:nvGrpSpPr>
          <p:grpSpPr bwMode="auto">
            <a:xfrm>
              <a:off x="3810000" y="4816475"/>
              <a:ext cx="228600" cy="593725"/>
              <a:chOff x="336" y="1920"/>
              <a:chExt cx="144" cy="374"/>
            </a:xfrm>
          </p:grpSpPr>
          <p:sp>
            <p:nvSpPr>
              <p:cNvPr id="58" name="Rectangle 17"/>
              <p:cNvSpPr>
                <a:spLocks noChangeArrowheads="1"/>
              </p:cNvSpPr>
              <p:nvPr/>
            </p:nvSpPr>
            <p:spPr bwMode="auto">
              <a:xfrm>
                <a:off x="336" y="2006"/>
                <a:ext cx="144" cy="288"/>
              </a:xfrm>
              <a:prstGeom prst="rect">
                <a:avLst/>
              </a:prstGeom>
              <a:ln>
                <a:headEnd/>
                <a:tailEnd/>
              </a:ln>
            </p:spPr>
            <p:style>
              <a:lnRef idx="0">
                <a:schemeClr val="accent2"/>
              </a:lnRef>
              <a:fillRef idx="3">
                <a:schemeClr val="accent2"/>
              </a:fillRef>
              <a:effectRef idx="3">
                <a:schemeClr val="accent2"/>
              </a:effectRef>
              <a:fontRef idx="minor">
                <a:schemeClr val="lt1"/>
              </a:fontRef>
            </p:style>
            <p:txBody>
              <a:bodyPr wrap="none" anchor="ctr"/>
              <a:lstStyle/>
              <a:p>
                <a:endParaRPr lang="en-US" sz="1400">
                  <a:latin typeface="EYInterstate" pitchFamily="2" charset="0"/>
                </a:endParaRPr>
              </a:p>
            </p:txBody>
          </p:sp>
          <p:sp>
            <p:nvSpPr>
              <p:cNvPr id="59" name="Line 18"/>
              <p:cNvSpPr>
                <a:spLocks noChangeShapeType="1"/>
              </p:cNvSpPr>
              <p:nvPr/>
            </p:nvSpPr>
            <p:spPr bwMode="auto">
              <a:xfrm flipV="1">
                <a:off x="336" y="1920"/>
                <a:ext cx="0" cy="96"/>
              </a:xfrm>
              <a:prstGeom prst="line">
                <a:avLst/>
              </a:prstGeom>
              <a:noFill/>
              <a:ln w="15875">
                <a:solidFill>
                  <a:schemeClr val="tx1"/>
                </a:solidFill>
                <a:round/>
                <a:headEnd/>
                <a:tailEnd/>
              </a:ln>
            </p:spPr>
            <p:txBody>
              <a:bodyPr wrap="none" anchor="ctr"/>
              <a:lstStyle/>
              <a:p>
                <a:endParaRPr lang="en-US" sz="1400">
                  <a:latin typeface="EYInterstate" pitchFamily="2" charset="0"/>
                </a:endParaRPr>
              </a:p>
            </p:txBody>
          </p:sp>
        </p:grpSp>
        <p:sp>
          <p:nvSpPr>
            <p:cNvPr id="60" name="Text Box 19"/>
            <p:cNvSpPr txBox="1">
              <a:spLocks noChangeArrowheads="1"/>
            </p:cNvSpPr>
            <p:nvPr/>
          </p:nvSpPr>
          <p:spPr bwMode="auto">
            <a:xfrm>
              <a:off x="3200400" y="5715000"/>
              <a:ext cx="1524000" cy="430887"/>
            </a:xfrm>
            <a:prstGeom prst="rect">
              <a:avLst/>
            </a:prstGeom>
            <a:noFill/>
            <a:ln w="9525">
              <a:noFill/>
              <a:miter lim="800000"/>
              <a:headEnd/>
              <a:tailEnd/>
            </a:ln>
          </p:spPr>
          <p:txBody>
            <a:bodyPr>
              <a:spAutoFit/>
            </a:bodyPr>
            <a:lstStyle/>
            <a:p>
              <a:pPr algn="ctr"/>
              <a:r>
                <a:rPr lang="en-US" sz="1050" b="1">
                  <a:latin typeface="EYInterstate" pitchFamily="2" charset="0"/>
                </a:rPr>
                <a:t>Calling Number </a:t>
              </a:r>
            </a:p>
            <a:p>
              <a:pPr algn="ctr"/>
              <a:r>
                <a:rPr lang="en-US" sz="1050" b="1">
                  <a:latin typeface="EYInterstate" pitchFamily="2" charset="0"/>
                </a:rPr>
                <a:t>( A Number)</a:t>
              </a:r>
            </a:p>
          </p:txBody>
        </p:sp>
        <p:cxnSp>
          <p:nvCxnSpPr>
            <p:cNvPr id="66" name="AutoShape 25"/>
            <p:cNvCxnSpPr>
              <a:cxnSpLocks noChangeShapeType="1"/>
              <a:stCxn id="58" idx="1"/>
              <a:endCxn id="54" idx="3"/>
            </p:cNvCxnSpPr>
            <p:nvPr/>
          </p:nvCxnSpPr>
          <p:spPr bwMode="auto">
            <a:xfrm rot="10800000">
              <a:off x="3733800" y="3521075"/>
              <a:ext cx="76200" cy="1660525"/>
            </a:xfrm>
            <a:prstGeom prst="bentConnector3">
              <a:avLst>
                <a:gd name="adj1" fmla="val 400000"/>
              </a:avLst>
            </a:prstGeom>
            <a:noFill/>
            <a:ln w="31750">
              <a:solidFill>
                <a:schemeClr val="tx1"/>
              </a:solidFill>
              <a:prstDash val="sysDot"/>
              <a:miter lim="800000"/>
              <a:headEnd/>
              <a:tailEnd type="triangle" w="med" len="med"/>
            </a:ln>
          </p:spPr>
        </p:cxnSp>
        <p:cxnSp>
          <p:nvCxnSpPr>
            <p:cNvPr id="67" name="AutoShape 26"/>
            <p:cNvCxnSpPr>
              <a:cxnSpLocks noChangeShapeType="1"/>
              <a:stCxn id="54" idx="3"/>
            </p:cNvCxnSpPr>
            <p:nvPr/>
          </p:nvCxnSpPr>
          <p:spPr bwMode="auto">
            <a:xfrm rot="5400000" flipV="1">
              <a:off x="5219700" y="2111375"/>
              <a:ext cx="609600" cy="2209800"/>
            </a:xfrm>
            <a:prstGeom prst="bentConnector4">
              <a:avLst>
                <a:gd name="adj1" fmla="val -37500"/>
                <a:gd name="adj2" fmla="val 65519"/>
              </a:avLst>
            </a:prstGeom>
            <a:noFill/>
            <a:ln w="31750">
              <a:solidFill>
                <a:schemeClr val="tx1"/>
              </a:solidFill>
              <a:prstDash val="sysDot"/>
              <a:miter lim="800000"/>
              <a:headEnd/>
              <a:tailEnd type="triangle" w="med" len="med"/>
            </a:ln>
          </p:spPr>
        </p:cxnSp>
        <p:sp>
          <p:nvSpPr>
            <p:cNvPr id="69" name="Oval 28"/>
            <p:cNvSpPr>
              <a:spLocks noChangeArrowheads="1"/>
            </p:cNvSpPr>
            <p:nvPr/>
          </p:nvSpPr>
          <p:spPr bwMode="auto">
            <a:xfrm>
              <a:off x="3124200" y="3962400"/>
              <a:ext cx="304800" cy="304800"/>
            </a:xfrm>
            <a:prstGeom prst="ellipse">
              <a:avLst/>
            </a:prstGeom>
            <a:noFill/>
            <a:ln w="9525" algn="ctr">
              <a:solidFill>
                <a:schemeClr val="tx1"/>
              </a:solidFill>
              <a:round/>
              <a:headEnd/>
              <a:tailEnd/>
            </a:ln>
          </p:spPr>
          <p:txBody>
            <a:bodyPr wrap="none" anchor="ctr"/>
            <a:lstStyle/>
            <a:p>
              <a:pPr algn="ctr"/>
              <a:r>
                <a:rPr lang="en-US" sz="1400" b="1">
                  <a:latin typeface="EYInterstate" pitchFamily="2" charset="0"/>
                </a:rPr>
                <a:t>1</a:t>
              </a:r>
            </a:p>
          </p:txBody>
        </p:sp>
        <p:sp>
          <p:nvSpPr>
            <p:cNvPr id="70" name="Oval 29"/>
            <p:cNvSpPr>
              <a:spLocks noChangeArrowheads="1"/>
            </p:cNvSpPr>
            <p:nvPr/>
          </p:nvSpPr>
          <p:spPr bwMode="auto">
            <a:xfrm>
              <a:off x="5181600" y="2286000"/>
              <a:ext cx="304800" cy="304800"/>
            </a:xfrm>
            <a:prstGeom prst="ellipse">
              <a:avLst/>
            </a:prstGeom>
            <a:noFill/>
            <a:ln w="9525" algn="ctr">
              <a:solidFill>
                <a:schemeClr val="tx1"/>
              </a:solidFill>
              <a:round/>
              <a:headEnd/>
              <a:tailEnd/>
            </a:ln>
          </p:spPr>
          <p:txBody>
            <a:bodyPr wrap="none" anchor="ctr"/>
            <a:lstStyle/>
            <a:p>
              <a:pPr algn="ctr"/>
              <a:r>
                <a:rPr lang="en-US" sz="1400" b="1" dirty="0">
                  <a:latin typeface="EYInterstate" pitchFamily="2" charset="0"/>
                </a:rPr>
                <a:t>3</a:t>
              </a:r>
            </a:p>
          </p:txBody>
        </p:sp>
        <p:cxnSp>
          <p:nvCxnSpPr>
            <p:cNvPr id="72" name="AutoShape 25"/>
            <p:cNvCxnSpPr>
              <a:cxnSpLocks noChangeShapeType="1"/>
            </p:cNvCxnSpPr>
            <p:nvPr/>
          </p:nvCxnSpPr>
          <p:spPr bwMode="auto">
            <a:xfrm rot="10800000">
              <a:off x="1244600" y="3009901"/>
              <a:ext cx="2514600" cy="355601"/>
            </a:xfrm>
            <a:prstGeom prst="bentConnector3">
              <a:avLst>
                <a:gd name="adj1" fmla="val 50000"/>
              </a:avLst>
            </a:prstGeom>
            <a:noFill/>
            <a:ln w="31750">
              <a:solidFill>
                <a:schemeClr val="tx1"/>
              </a:solidFill>
              <a:prstDash val="sysDot"/>
              <a:miter lim="800000"/>
              <a:headEnd/>
              <a:tailEnd type="triangle" w="med" len="med"/>
            </a:ln>
          </p:spPr>
        </p:cxnSp>
        <p:sp>
          <p:nvSpPr>
            <p:cNvPr id="74" name="Oval 29"/>
            <p:cNvSpPr>
              <a:spLocks noChangeArrowheads="1"/>
            </p:cNvSpPr>
            <p:nvPr/>
          </p:nvSpPr>
          <p:spPr bwMode="auto">
            <a:xfrm>
              <a:off x="1968500" y="2628900"/>
              <a:ext cx="304800" cy="304800"/>
            </a:xfrm>
            <a:prstGeom prst="ellipse">
              <a:avLst/>
            </a:prstGeom>
            <a:noFill/>
            <a:ln w="9525" algn="ctr">
              <a:solidFill>
                <a:schemeClr val="tx1"/>
              </a:solidFill>
              <a:round/>
              <a:headEnd/>
              <a:tailEnd/>
            </a:ln>
          </p:spPr>
          <p:txBody>
            <a:bodyPr wrap="none" anchor="ctr"/>
            <a:lstStyle/>
            <a:p>
              <a:pPr algn="ctr"/>
              <a:r>
                <a:rPr lang="en-US" sz="1400" b="1" dirty="0">
                  <a:latin typeface="EYInterstate" pitchFamily="2" charset="0"/>
                </a:rPr>
                <a:t>2</a:t>
              </a:r>
            </a:p>
          </p:txBody>
        </p:sp>
        <p:sp>
          <p:nvSpPr>
            <p:cNvPr id="75" name="TextBox 74"/>
            <p:cNvSpPr txBox="1"/>
            <p:nvPr/>
          </p:nvSpPr>
          <p:spPr>
            <a:xfrm>
              <a:off x="759675" y="2438400"/>
              <a:ext cx="1214549" cy="253916"/>
            </a:xfrm>
            <a:prstGeom prst="rect">
              <a:avLst/>
            </a:prstGeom>
            <a:noFill/>
          </p:spPr>
          <p:txBody>
            <a:bodyPr wrap="square" rtlCol="0">
              <a:spAutoFit/>
            </a:bodyPr>
            <a:lstStyle/>
            <a:p>
              <a:r>
                <a:rPr lang="en-US" sz="1050" dirty="0">
                  <a:latin typeface="EYInterstate" pitchFamily="2" charset="0"/>
                </a:rPr>
                <a:t>(Auth)</a:t>
              </a:r>
            </a:p>
          </p:txBody>
        </p:sp>
      </p:grpSp>
      <p:sp>
        <p:nvSpPr>
          <p:cNvPr id="29" name="Title 1"/>
          <p:cNvSpPr>
            <a:spLocks noGrp="1"/>
          </p:cNvSpPr>
          <p:nvPr>
            <p:ph type="title"/>
          </p:nvPr>
        </p:nvSpPr>
        <p:spPr>
          <a:xfrm>
            <a:off x="457200" y="200025"/>
            <a:ext cx="8232775" cy="863600"/>
          </a:xfrm>
        </p:spPr>
        <p:txBody>
          <a:bodyPr/>
          <a:lstStyle/>
          <a:p>
            <a:r>
              <a:rPr lang="en-US" dirty="0">
                <a:latin typeface="EYInterstate" pitchFamily="2" charset="0"/>
              </a:rPr>
              <a:t>Call flow – Roaming Outgoing Call to same operator in roaming circle</a:t>
            </a:r>
            <a:endParaRPr lang="en-US" i="1" dirty="0">
              <a:latin typeface="EYInterstate" pitchFamily="2" charset="0"/>
            </a:endParaRPr>
          </a:p>
        </p:txBody>
      </p:sp>
      <p:sp>
        <p:nvSpPr>
          <p:cNvPr id="32" name="Rectangle 31"/>
          <p:cNvSpPr/>
          <p:nvPr/>
        </p:nvSpPr>
        <p:spPr>
          <a:xfrm>
            <a:off x="6781800" y="1600200"/>
            <a:ext cx="2133600" cy="3276600"/>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buClr>
                <a:srgbClr val="FFC000"/>
              </a:buClr>
            </a:pPr>
            <a:r>
              <a:rPr lang="en-US" sz="1400" b="1" dirty="0">
                <a:solidFill>
                  <a:schemeClr val="tx1">
                    <a:lumMod val="50000"/>
                  </a:schemeClr>
                </a:solidFill>
              </a:rPr>
              <a:t>Call Flow</a:t>
            </a:r>
          </a:p>
          <a:p>
            <a:pPr>
              <a:buClr>
                <a:srgbClr val="FFC000"/>
              </a:buClr>
              <a:buFont typeface="Arial" pitchFamily="34" charset="0"/>
              <a:buChar char="►"/>
            </a:pPr>
            <a:endParaRPr lang="en-US" sz="1400" b="1" dirty="0">
              <a:solidFill>
                <a:schemeClr val="tx1">
                  <a:lumMod val="50000"/>
                </a:schemeClr>
              </a:solidFill>
            </a:endParaRPr>
          </a:p>
          <a:p>
            <a:pPr marL="177800" indent="-177800">
              <a:buClr>
                <a:srgbClr val="FFC000"/>
              </a:buClr>
              <a:buFont typeface="Arial" pitchFamily="34" charset="0"/>
              <a:buChar char="►"/>
            </a:pPr>
            <a:r>
              <a:rPr lang="en-US" sz="1200" dirty="0">
                <a:solidFill>
                  <a:schemeClr val="tx1">
                    <a:lumMod val="50000"/>
                  </a:schemeClr>
                </a:solidFill>
              </a:rPr>
              <a:t>#1 – Subscriber in roaming circle latched to visited operator and initiates a O/G call</a:t>
            </a:r>
          </a:p>
          <a:p>
            <a:pPr marL="177800" indent="-177800">
              <a:buClr>
                <a:srgbClr val="FFC000"/>
              </a:buClr>
              <a:buFont typeface="Arial" pitchFamily="34" charset="0"/>
              <a:buChar char="►"/>
            </a:pPr>
            <a:endParaRPr lang="en-US" sz="1200" dirty="0">
              <a:solidFill>
                <a:schemeClr val="tx1">
                  <a:lumMod val="50000"/>
                </a:schemeClr>
              </a:solidFill>
            </a:endParaRPr>
          </a:p>
          <a:p>
            <a:pPr marL="177800" indent="-177800">
              <a:buClr>
                <a:srgbClr val="FFC000"/>
              </a:buClr>
              <a:buFont typeface="Arial" pitchFamily="34" charset="0"/>
              <a:buChar char="►"/>
            </a:pPr>
            <a:r>
              <a:rPr lang="en-US" sz="1200" dirty="0">
                <a:solidFill>
                  <a:schemeClr val="tx1">
                    <a:lumMod val="50000"/>
                  </a:schemeClr>
                </a:solidFill>
              </a:rPr>
              <a:t>#2 – Visited operator  VLR authenticates with the home operator for allow/disallow the call</a:t>
            </a:r>
          </a:p>
          <a:p>
            <a:pPr marL="177800" indent="-177800">
              <a:buClr>
                <a:srgbClr val="FFC000"/>
              </a:buClr>
              <a:buFont typeface="Arial" pitchFamily="34" charset="0"/>
              <a:buChar char="►"/>
            </a:pPr>
            <a:endParaRPr lang="en-US" sz="1200" dirty="0">
              <a:solidFill>
                <a:schemeClr val="tx1">
                  <a:lumMod val="50000"/>
                </a:schemeClr>
              </a:solidFill>
            </a:endParaRPr>
          </a:p>
          <a:p>
            <a:pPr marL="177800" indent="-177800">
              <a:buClr>
                <a:srgbClr val="FFC000"/>
              </a:buClr>
              <a:buFont typeface="Arial" pitchFamily="34" charset="0"/>
              <a:buChar char="►"/>
            </a:pPr>
            <a:r>
              <a:rPr lang="en-US" sz="1200" dirty="0">
                <a:solidFill>
                  <a:schemeClr val="tx1">
                    <a:lumMod val="50000"/>
                  </a:schemeClr>
                </a:solidFill>
              </a:rPr>
              <a:t>#3 – Once the authentication is being provided visited operator MSC allows the call and connect to the called no</a:t>
            </a:r>
          </a:p>
          <a:p>
            <a:pPr>
              <a:buClr>
                <a:srgbClr val="FFC000"/>
              </a:buClr>
            </a:pPr>
            <a:endParaRPr lang="en-US" sz="1200" dirty="0">
              <a:solidFill>
                <a:schemeClr val="tx1">
                  <a:lumMod val="50000"/>
                </a:schemeClr>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EYInterstate" pitchFamily="2" charset="0"/>
              </a:rPr>
              <a:t>Roaming Incoming Call from other operator in roaming circle</a:t>
            </a:r>
            <a:endParaRPr lang="en-US" i="1" dirty="0">
              <a:latin typeface="EYInterstate" pitchFamily="2" charset="0"/>
            </a:endParaRPr>
          </a:p>
        </p:txBody>
      </p:sp>
      <p:grpSp>
        <p:nvGrpSpPr>
          <p:cNvPr id="33" name="Group 32"/>
          <p:cNvGrpSpPr/>
          <p:nvPr/>
        </p:nvGrpSpPr>
        <p:grpSpPr>
          <a:xfrm>
            <a:off x="152400" y="1219200"/>
            <a:ext cx="6126480" cy="4114800"/>
            <a:chOff x="152400" y="1219200"/>
            <a:chExt cx="8991600" cy="5029200"/>
          </a:xfrm>
        </p:grpSpPr>
        <p:sp>
          <p:nvSpPr>
            <p:cNvPr id="34" name="AutoShape 2"/>
            <p:cNvSpPr>
              <a:spLocks noChangeArrowheads="1"/>
            </p:cNvSpPr>
            <p:nvPr/>
          </p:nvSpPr>
          <p:spPr bwMode="auto">
            <a:xfrm>
              <a:off x="152400" y="2911475"/>
              <a:ext cx="1371600" cy="1219200"/>
            </a:xfrm>
            <a:prstGeom prst="octagon">
              <a:avLst>
                <a:gd name="adj" fmla="val 29287"/>
              </a:avLst>
            </a:prstGeom>
            <a:ln>
              <a:headEnd/>
              <a:tailEnd/>
            </a:ln>
          </p:spPr>
          <p:style>
            <a:lnRef idx="0">
              <a:schemeClr val="accent1"/>
            </a:lnRef>
            <a:fillRef idx="3">
              <a:schemeClr val="accent1"/>
            </a:fillRef>
            <a:effectRef idx="3">
              <a:schemeClr val="accent1"/>
            </a:effectRef>
            <a:fontRef idx="minor">
              <a:schemeClr val="lt1"/>
            </a:fontRef>
          </p:style>
          <p:txBody>
            <a:bodyPr wrap="none" anchor="ctr"/>
            <a:lstStyle/>
            <a:p>
              <a:pPr algn="ctr"/>
              <a:r>
                <a:rPr lang="en-US" sz="1400">
                  <a:latin typeface="EYInterstate" pitchFamily="2" charset="0"/>
                </a:rPr>
                <a:t>Switch</a:t>
              </a:r>
            </a:p>
            <a:p>
              <a:pPr algn="ctr"/>
              <a:r>
                <a:rPr lang="en-US" sz="1400">
                  <a:latin typeface="EYInterstate" pitchFamily="2" charset="0"/>
                </a:rPr>
                <a:t>(MSC)</a:t>
              </a:r>
            </a:p>
          </p:txBody>
        </p:sp>
        <p:sp>
          <p:nvSpPr>
            <p:cNvPr id="35" name="Text Box 4"/>
            <p:cNvSpPr txBox="1">
              <a:spLocks noChangeArrowheads="1"/>
            </p:cNvSpPr>
            <p:nvPr/>
          </p:nvSpPr>
          <p:spPr bwMode="auto">
            <a:xfrm>
              <a:off x="7620000" y="2667000"/>
              <a:ext cx="1524000" cy="430887"/>
            </a:xfrm>
            <a:prstGeom prst="rect">
              <a:avLst/>
            </a:prstGeom>
            <a:noFill/>
            <a:ln w="9525">
              <a:noFill/>
              <a:miter lim="800000"/>
              <a:headEnd/>
              <a:tailEnd/>
            </a:ln>
          </p:spPr>
          <p:txBody>
            <a:bodyPr>
              <a:spAutoFit/>
            </a:bodyPr>
            <a:lstStyle/>
            <a:p>
              <a:pPr algn="ctr"/>
              <a:r>
                <a:rPr lang="en-US" sz="1050" b="1" dirty="0">
                  <a:latin typeface="EYInterstate" pitchFamily="2" charset="0"/>
                </a:rPr>
                <a:t>Calling Number </a:t>
              </a:r>
            </a:p>
            <a:p>
              <a:pPr algn="ctr"/>
              <a:r>
                <a:rPr lang="en-US" sz="1050" b="1" dirty="0">
                  <a:latin typeface="EYInterstate" pitchFamily="2" charset="0"/>
                </a:rPr>
                <a:t>( A Number)</a:t>
              </a:r>
            </a:p>
          </p:txBody>
        </p:sp>
        <p:grpSp>
          <p:nvGrpSpPr>
            <p:cNvPr id="3" name="Group 5"/>
            <p:cNvGrpSpPr>
              <a:grpSpLocks/>
            </p:cNvGrpSpPr>
            <p:nvPr/>
          </p:nvGrpSpPr>
          <p:grpSpPr bwMode="auto">
            <a:xfrm>
              <a:off x="8277225" y="2039938"/>
              <a:ext cx="228600" cy="593725"/>
              <a:chOff x="336" y="1920"/>
              <a:chExt cx="144" cy="374"/>
            </a:xfrm>
            <a:solidFill>
              <a:srgbClr val="C00000"/>
            </a:solidFill>
          </p:grpSpPr>
          <p:sp>
            <p:nvSpPr>
              <p:cNvPr id="37" name="Rectangle 6"/>
              <p:cNvSpPr>
                <a:spLocks noChangeArrowheads="1"/>
              </p:cNvSpPr>
              <p:nvPr/>
            </p:nvSpPr>
            <p:spPr bwMode="auto">
              <a:xfrm>
                <a:off x="336" y="2006"/>
                <a:ext cx="144" cy="288"/>
              </a:xfrm>
              <a:prstGeom prst="rect">
                <a:avLst/>
              </a:prstGeom>
              <a:grpFill/>
              <a:ln>
                <a:headEnd/>
                <a:tailEnd/>
              </a:ln>
            </p:spPr>
            <p:style>
              <a:lnRef idx="0">
                <a:schemeClr val="accent4"/>
              </a:lnRef>
              <a:fillRef idx="3">
                <a:schemeClr val="accent4"/>
              </a:fillRef>
              <a:effectRef idx="3">
                <a:schemeClr val="accent4"/>
              </a:effectRef>
              <a:fontRef idx="minor">
                <a:schemeClr val="lt1"/>
              </a:fontRef>
            </p:style>
            <p:txBody>
              <a:bodyPr wrap="none" anchor="ctr"/>
              <a:lstStyle/>
              <a:p>
                <a:endParaRPr lang="en-US" sz="1400">
                  <a:latin typeface="EYInterstate" pitchFamily="2" charset="0"/>
                </a:endParaRPr>
              </a:p>
            </p:txBody>
          </p:sp>
          <p:sp>
            <p:nvSpPr>
              <p:cNvPr id="38" name="Line 7"/>
              <p:cNvSpPr>
                <a:spLocks noChangeShapeType="1"/>
              </p:cNvSpPr>
              <p:nvPr/>
            </p:nvSpPr>
            <p:spPr bwMode="auto">
              <a:xfrm flipV="1">
                <a:off x="336" y="1920"/>
                <a:ext cx="0" cy="96"/>
              </a:xfrm>
              <a:prstGeom prst="line">
                <a:avLst/>
              </a:prstGeom>
              <a:grpFill/>
              <a:ln w="15875">
                <a:solidFill>
                  <a:schemeClr val="tx1"/>
                </a:solidFill>
                <a:round/>
                <a:headEnd/>
                <a:tailEnd/>
              </a:ln>
            </p:spPr>
            <p:txBody>
              <a:bodyPr wrap="none" anchor="ctr"/>
              <a:lstStyle/>
              <a:p>
                <a:endParaRPr lang="en-US" sz="1400">
                  <a:latin typeface="EYInterstate" pitchFamily="2" charset="0"/>
                </a:endParaRPr>
              </a:p>
            </p:txBody>
          </p:sp>
        </p:grpSp>
        <p:sp>
          <p:nvSpPr>
            <p:cNvPr id="39" name="Line 8"/>
            <p:cNvSpPr>
              <a:spLocks noChangeShapeType="1"/>
            </p:cNvSpPr>
            <p:nvPr/>
          </p:nvSpPr>
          <p:spPr bwMode="auto">
            <a:xfrm>
              <a:off x="2819400" y="1219200"/>
              <a:ext cx="0" cy="5029200"/>
            </a:xfrm>
            <a:prstGeom prst="line">
              <a:avLst/>
            </a:prstGeom>
            <a:noFill/>
            <a:ln w="38100">
              <a:solidFill>
                <a:schemeClr val="tx1"/>
              </a:solidFill>
              <a:round/>
              <a:headEnd/>
              <a:tailEnd/>
            </a:ln>
          </p:spPr>
          <p:txBody>
            <a:bodyPr wrap="none" anchor="ctr"/>
            <a:lstStyle/>
            <a:p>
              <a:endParaRPr lang="en-US" sz="1400">
                <a:latin typeface="EYInterstate" pitchFamily="2" charset="0"/>
              </a:endParaRPr>
            </a:p>
          </p:txBody>
        </p:sp>
        <p:sp>
          <p:nvSpPr>
            <p:cNvPr id="40" name="Text Box 9"/>
            <p:cNvSpPr txBox="1">
              <a:spLocks noChangeArrowheads="1"/>
            </p:cNvSpPr>
            <p:nvPr/>
          </p:nvSpPr>
          <p:spPr bwMode="auto">
            <a:xfrm>
              <a:off x="152400" y="1219200"/>
              <a:ext cx="2057400" cy="677109"/>
            </a:xfrm>
            <a:prstGeom prst="rect">
              <a:avLst/>
            </a:prstGeom>
            <a:noFill/>
            <a:ln w="9525" algn="ctr">
              <a:noFill/>
              <a:miter lim="800000"/>
              <a:headEnd/>
              <a:tailEnd/>
            </a:ln>
          </p:spPr>
          <p:txBody>
            <a:bodyPr>
              <a:spAutoFit/>
            </a:bodyPr>
            <a:lstStyle/>
            <a:p>
              <a:pPr algn="ctr">
                <a:spcBef>
                  <a:spcPct val="50000"/>
                </a:spcBef>
              </a:pPr>
              <a:r>
                <a:rPr lang="en-US" sz="1200" b="1" dirty="0">
                  <a:latin typeface="EYInterstate" pitchFamily="2" charset="0"/>
                </a:rPr>
                <a:t>Home Location</a:t>
              </a:r>
            </a:p>
            <a:p>
              <a:pPr algn="ctr">
                <a:spcBef>
                  <a:spcPct val="50000"/>
                </a:spcBef>
              </a:pPr>
              <a:r>
                <a:rPr lang="en-US" sz="1200" b="1" dirty="0">
                  <a:latin typeface="EYInterstate" pitchFamily="2" charset="0"/>
                </a:rPr>
                <a:t>(Circle 1)</a:t>
              </a:r>
            </a:p>
          </p:txBody>
        </p:sp>
        <p:sp>
          <p:nvSpPr>
            <p:cNvPr id="41" name="Text Box 10"/>
            <p:cNvSpPr txBox="1">
              <a:spLocks noChangeArrowheads="1"/>
            </p:cNvSpPr>
            <p:nvPr/>
          </p:nvSpPr>
          <p:spPr bwMode="auto">
            <a:xfrm>
              <a:off x="3581400" y="1219200"/>
              <a:ext cx="2057400" cy="677109"/>
            </a:xfrm>
            <a:prstGeom prst="rect">
              <a:avLst/>
            </a:prstGeom>
            <a:noFill/>
            <a:ln w="9525" algn="ctr">
              <a:noFill/>
              <a:miter lim="800000"/>
              <a:headEnd/>
              <a:tailEnd/>
            </a:ln>
          </p:spPr>
          <p:txBody>
            <a:bodyPr>
              <a:spAutoFit/>
            </a:bodyPr>
            <a:lstStyle/>
            <a:p>
              <a:pPr algn="ctr">
                <a:spcBef>
                  <a:spcPct val="50000"/>
                </a:spcBef>
              </a:pPr>
              <a:r>
                <a:rPr lang="en-US" sz="1200" b="1" dirty="0">
                  <a:latin typeface="EYInterstate" pitchFamily="2" charset="0"/>
                </a:rPr>
                <a:t>Visitor Location</a:t>
              </a:r>
            </a:p>
            <a:p>
              <a:pPr algn="ctr">
                <a:spcBef>
                  <a:spcPct val="50000"/>
                </a:spcBef>
              </a:pPr>
              <a:r>
                <a:rPr lang="en-US" sz="1200" b="1" dirty="0">
                  <a:latin typeface="EYInterstate" pitchFamily="2" charset="0"/>
                </a:rPr>
                <a:t>(Circle 2)</a:t>
              </a:r>
            </a:p>
          </p:txBody>
        </p:sp>
        <p:sp>
          <p:nvSpPr>
            <p:cNvPr id="42" name="Rectangle 11"/>
            <p:cNvSpPr>
              <a:spLocks noChangeArrowheads="1"/>
            </p:cNvSpPr>
            <p:nvPr/>
          </p:nvSpPr>
          <p:spPr bwMode="auto">
            <a:xfrm>
              <a:off x="1689100" y="4343400"/>
              <a:ext cx="977900" cy="228600"/>
            </a:xfrm>
            <a:prstGeom prst="rect">
              <a:avLst/>
            </a:prstGeom>
            <a:ln>
              <a:headEnd/>
              <a:tailEnd/>
            </a:ln>
          </p:spPr>
          <p:style>
            <a:lnRef idx="0">
              <a:schemeClr val="accent2"/>
            </a:lnRef>
            <a:fillRef idx="3">
              <a:schemeClr val="accent2"/>
            </a:fillRef>
            <a:effectRef idx="3">
              <a:schemeClr val="accent2"/>
            </a:effectRef>
            <a:fontRef idx="minor">
              <a:schemeClr val="lt1"/>
            </a:fontRef>
          </p:style>
          <p:txBody>
            <a:bodyPr wrap="none" anchor="ctr"/>
            <a:lstStyle/>
            <a:p>
              <a:pPr algn="ctr"/>
              <a:r>
                <a:rPr lang="en-US" sz="1400" b="1">
                  <a:solidFill>
                    <a:schemeClr val="tx2">
                      <a:lumMod val="50000"/>
                    </a:schemeClr>
                  </a:solidFill>
                  <a:latin typeface="EYInterstate" pitchFamily="2" charset="0"/>
                </a:rPr>
                <a:t>HLR</a:t>
              </a:r>
              <a:endParaRPr lang="en-US" sz="1050" b="1">
                <a:solidFill>
                  <a:schemeClr val="tx2">
                    <a:lumMod val="50000"/>
                  </a:schemeClr>
                </a:solidFill>
                <a:latin typeface="EYInterstate" pitchFamily="2" charset="0"/>
              </a:endParaRPr>
            </a:p>
          </p:txBody>
        </p:sp>
        <p:cxnSp>
          <p:nvCxnSpPr>
            <p:cNvPr id="43" name="AutoShape 12"/>
            <p:cNvCxnSpPr>
              <a:cxnSpLocks noChangeShapeType="1"/>
              <a:stCxn id="34" idx="2"/>
              <a:endCxn id="42" idx="1"/>
            </p:cNvCxnSpPr>
            <p:nvPr/>
          </p:nvCxnSpPr>
          <p:spPr bwMode="auto">
            <a:xfrm rot="16200000" flipH="1">
              <a:off x="1100137" y="3868738"/>
              <a:ext cx="327025" cy="850900"/>
            </a:xfrm>
            <a:prstGeom prst="bentConnector2">
              <a:avLst/>
            </a:prstGeom>
            <a:noFill/>
            <a:ln w="19050">
              <a:solidFill>
                <a:schemeClr val="tx1"/>
              </a:solidFill>
              <a:miter lim="800000"/>
              <a:headEnd/>
              <a:tailEnd type="triangle" w="med" len="med"/>
            </a:ln>
          </p:spPr>
        </p:cxnSp>
        <p:sp>
          <p:nvSpPr>
            <p:cNvPr id="44" name="AutoShape 13"/>
            <p:cNvSpPr>
              <a:spLocks noChangeArrowheads="1"/>
            </p:cNvSpPr>
            <p:nvPr/>
          </p:nvSpPr>
          <p:spPr bwMode="auto">
            <a:xfrm>
              <a:off x="3733800" y="2911475"/>
              <a:ext cx="1371600" cy="1219200"/>
            </a:xfrm>
            <a:prstGeom prst="octagon">
              <a:avLst>
                <a:gd name="adj" fmla="val 29287"/>
              </a:avLst>
            </a:prstGeom>
            <a:ln>
              <a:headEnd/>
              <a:tailEnd/>
            </a:ln>
          </p:spPr>
          <p:style>
            <a:lnRef idx="0">
              <a:schemeClr val="accent1"/>
            </a:lnRef>
            <a:fillRef idx="3">
              <a:schemeClr val="accent1"/>
            </a:fillRef>
            <a:effectRef idx="3">
              <a:schemeClr val="accent1"/>
            </a:effectRef>
            <a:fontRef idx="minor">
              <a:schemeClr val="lt1"/>
            </a:fontRef>
          </p:style>
          <p:txBody>
            <a:bodyPr wrap="none" anchor="ctr"/>
            <a:lstStyle/>
            <a:p>
              <a:pPr algn="ctr"/>
              <a:r>
                <a:rPr lang="en-US" sz="1400">
                  <a:latin typeface="EYInterstate" pitchFamily="2" charset="0"/>
                </a:rPr>
                <a:t>Switch</a:t>
              </a:r>
            </a:p>
            <a:p>
              <a:pPr algn="ctr"/>
              <a:r>
                <a:rPr lang="en-US" sz="1400">
                  <a:latin typeface="EYInterstate" pitchFamily="2" charset="0"/>
                </a:rPr>
                <a:t>(MSC)</a:t>
              </a:r>
            </a:p>
          </p:txBody>
        </p:sp>
        <p:sp>
          <p:nvSpPr>
            <p:cNvPr id="45" name="Rectangle 14"/>
            <p:cNvSpPr>
              <a:spLocks noChangeArrowheads="1"/>
            </p:cNvSpPr>
            <p:nvPr/>
          </p:nvSpPr>
          <p:spPr bwMode="auto">
            <a:xfrm>
              <a:off x="5270500" y="4343400"/>
              <a:ext cx="977900" cy="228600"/>
            </a:xfrm>
            <a:prstGeom prst="rect">
              <a:avLst/>
            </a:prstGeom>
            <a:ln>
              <a:headEnd/>
              <a:tailEnd/>
            </a:ln>
          </p:spPr>
          <p:style>
            <a:lnRef idx="0">
              <a:schemeClr val="accent2"/>
            </a:lnRef>
            <a:fillRef idx="3">
              <a:schemeClr val="accent2"/>
            </a:fillRef>
            <a:effectRef idx="3">
              <a:schemeClr val="accent2"/>
            </a:effectRef>
            <a:fontRef idx="minor">
              <a:schemeClr val="lt1"/>
            </a:fontRef>
          </p:style>
          <p:txBody>
            <a:bodyPr wrap="none" anchor="ctr"/>
            <a:lstStyle/>
            <a:p>
              <a:pPr algn="ctr"/>
              <a:r>
                <a:rPr lang="en-US" sz="1400" b="1">
                  <a:solidFill>
                    <a:schemeClr val="tx2">
                      <a:lumMod val="50000"/>
                    </a:schemeClr>
                  </a:solidFill>
                  <a:latin typeface="EYInterstate" pitchFamily="2" charset="0"/>
                </a:rPr>
                <a:t>VLR</a:t>
              </a:r>
              <a:endParaRPr lang="en-US" sz="1050" b="1">
                <a:solidFill>
                  <a:schemeClr val="tx2">
                    <a:lumMod val="50000"/>
                  </a:schemeClr>
                </a:solidFill>
                <a:latin typeface="EYInterstate" pitchFamily="2" charset="0"/>
              </a:endParaRPr>
            </a:p>
          </p:txBody>
        </p:sp>
        <p:cxnSp>
          <p:nvCxnSpPr>
            <p:cNvPr id="48" name="AutoShape 15"/>
            <p:cNvCxnSpPr>
              <a:cxnSpLocks noChangeShapeType="1"/>
              <a:stCxn id="44" idx="2"/>
              <a:endCxn id="45" idx="1"/>
            </p:cNvCxnSpPr>
            <p:nvPr/>
          </p:nvCxnSpPr>
          <p:spPr bwMode="auto">
            <a:xfrm rot="16200000" flipH="1">
              <a:off x="4681537" y="3868738"/>
              <a:ext cx="327025" cy="850900"/>
            </a:xfrm>
            <a:prstGeom prst="bentConnector2">
              <a:avLst/>
            </a:prstGeom>
            <a:noFill/>
            <a:ln w="19050">
              <a:solidFill>
                <a:schemeClr val="tx1"/>
              </a:solidFill>
              <a:miter lim="800000"/>
              <a:headEnd/>
              <a:tailEnd type="triangle" w="med" len="med"/>
            </a:ln>
          </p:spPr>
        </p:cxnSp>
        <p:grpSp>
          <p:nvGrpSpPr>
            <p:cNvPr id="4" name="Group 16"/>
            <p:cNvGrpSpPr>
              <a:grpSpLocks/>
            </p:cNvGrpSpPr>
            <p:nvPr/>
          </p:nvGrpSpPr>
          <p:grpSpPr bwMode="auto">
            <a:xfrm>
              <a:off x="3810000" y="4816475"/>
              <a:ext cx="228600" cy="593725"/>
              <a:chOff x="336" y="1920"/>
              <a:chExt cx="144" cy="374"/>
            </a:xfrm>
          </p:grpSpPr>
          <p:sp>
            <p:nvSpPr>
              <p:cNvPr id="73" name="Rectangle 17"/>
              <p:cNvSpPr>
                <a:spLocks noChangeArrowheads="1"/>
              </p:cNvSpPr>
              <p:nvPr/>
            </p:nvSpPr>
            <p:spPr bwMode="auto">
              <a:xfrm>
                <a:off x="336" y="2006"/>
                <a:ext cx="144" cy="288"/>
              </a:xfrm>
              <a:prstGeom prst="rect">
                <a:avLst/>
              </a:prstGeom>
              <a:ln>
                <a:headEnd/>
                <a:tailEnd/>
              </a:ln>
            </p:spPr>
            <p:style>
              <a:lnRef idx="0">
                <a:schemeClr val="accent2"/>
              </a:lnRef>
              <a:fillRef idx="3">
                <a:schemeClr val="accent2"/>
              </a:fillRef>
              <a:effectRef idx="3">
                <a:schemeClr val="accent2"/>
              </a:effectRef>
              <a:fontRef idx="minor">
                <a:schemeClr val="lt1"/>
              </a:fontRef>
            </p:style>
            <p:txBody>
              <a:bodyPr wrap="none" anchor="ctr"/>
              <a:lstStyle/>
              <a:p>
                <a:endParaRPr lang="en-US" sz="1400">
                  <a:latin typeface="EYInterstate" pitchFamily="2" charset="0"/>
                </a:endParaRPr>
              </a:p>
            </p:txBody>
          </p:sp>
          <p:sp>
            <p:nvSpPr>
              <p:cNvPr id="76" name="Line 18"/>
              <p:cNvSpPr>
                <a:spLocks noChangeShapeType="1"/>
              </p:cNvSpPr>
              <p:nvPr/>
            </p:nvSpPr>
            <p:spPr bwMode="auto">
              <a:xfrm flipV="1">
                <a:off x="336" y="1920"/>
                <a:ext cx="0" cy="96"/>
              </a:xfrm>
              <a:prstGeom prst="line">
                <a:avLst/>
              </a:prstGeom>
              <a:noFill/>
              <a:ln w="15875">
                <a:solidFill>
                  <a:schemeClr val="tx1"/>
                </a:solidFill>
                <a:round/>
                <a:headEnd/>
                <a:tailEnd/>
              </a:ln>
            </p:spPr>
            <p:txBody>
              <a:bodyPr wrap="none" anchor="ctr"/>
              <a:lstStyle/>
              <a:p>
                <a:endParaRPr lang="en-US" sz="1400">
                  <a:latin typeface="EYInterstate" pitchFamily="2" charset="0"/>
                </a:endParaRPr>
              </a:p>
            </p:txBody>
          </p:sp>
        </p:grpSp>
        <p:sp>
          <p:nvSpPr>
            <p:cNvPr id="77" name="Text Box 19"/>
            <p:cNvSpPr txBox="1">
              <a:spLocks noChangeArrowheads="1"/>
            </p:cNvSpPr>
            <p:nvPr/>
          </p:nvSpPr>
          <p:spPr bwMode="auto">
            <a:xfrm>
              <a:off x="3200400" y="5715000"/>
              <a:ext cx="1524000" cy="430887"/>
            </a:xfrm>
            <a:prstGeom prst="rect">
              <a:avLst/>
            </a:prstGeom>
            <a:noFill/>
            <a:ln w="9525">
              <a:noFill/>
              <a:miter lim="800000"/>
              <a:headEnd/>
              <a:tailEnd/>
            </a:ln>
          </p:spPr>
          <p:txBody>
            <a:bodyPr>
              <a:spAutoFit/>
            </a:bodyPr>
            <a:lstStyle/>
            <a:p>
              <a:pPr algn="ctr"/>
              <a:r>
                <a:rPr lang="en-US" sz="1050" b="1">
                  <a:latin typeface="EYInterstate" pitchFamily="2" charset="0"/>
                </a:rPr>
                <a:t>Called Number </a:t>
              </a:r>
            </a:p>
            <a:p>
              <a:pPr algn="ctr"/>
              <a:r>
                <a:rPr lang="en-US" sz="1050" b="1">
                  <a:latin typeface="EYInterstate" pitchFamily="2" charset="0"/>
                </a:rPr>
                <a:t>( B Number)</a:t>
              </a:r>
            </a:p>
          </p:txBody>
        </p:sp>
        <p:sp>
          <p:nvSpPr>
            <p:cNvPr id="78" name="AutoShape 20"/>
            <p:cNvSpPr>
              <a:spLocks noChangeArrowheads="1"/>
            </p:cNvSpPr>
            <p:nvPr/>
          </p:nvSpPr>
          <p:spPr bwMode="auto">
            <a:xfrm>
              <a:off x="6629400" y="2911475"/>
              <a:ext cx="1371600" cy="1219200"/>
            </a:xfrm>
            <a:prstGeom prst="octagon">
              <a:avLst>
                <a:gd name="adj" fmla="val 29287"/>
              </a:avLst>
            </a:prstGeom>
            <a:ln>
              <a:headEnd/>
              <a:tailEnd/>
            </a:ln>
          </p:spPr>
          <p:style>
            <a:lnRef idx="0">
              <a:schemeClr val="accent1"/>
            </a:lnRef>
            <a:fillRef idx="3">
              <a:schemeClr val="accent1"/>
            </a:fillRef>
            <a:effectRef idx="3">
              <a:schemeClr val="accent1"/>
            </a:effectRef>
            <a:fontRef idx="minor">
              <a:schemeClr val="lt1"/>
            </a:fontRef>
          </p:style>
          <p:txBody>
            <a:bodyPr wrap="none" anchor="ctr"/>
            <a:lstStyle/>
            <a:p>
              <a:pPr algn="ctr"/>
              <a:r>
                <a:rPr lang="en-US" sz="1400">
                  <a:latin typeface="EYInterstate" pitchFamily="2" charset="0"/>
                </a:rPr>
                <a:t>Switch</a:t>
              </a:r>
            </a:p>
            <a:p>
              <a:pPr algn="ctr"/>
              <a:r>
                <a:rPr lang="en-US" sz="1400">
                  <a:latin typeface="EYInterstate" pitchFamily="2" charset="0"/>
                </a:rPr>
                <a:t>(MSC)</a:t>
              </a:r>
            </a:p>
          </p:txBody>
        </p:sp>
        <p:sp>
          <p:nvSpPr>
            <p:cNvPr id="79" name="Text Box 21"/>
            <p:cNvSpPr txBox="1">
              <a:spLocks noChangeArrowheads="1"/>
            </p:cNvSpPr>
            <p:nvPr/>
          </p:nvSpPr>
          <p:spPr bwMode="auto">
            <a:xfrm>
              <a:off x="6705600" y="1219200"/>
              <a:ext cx="2057400" cy="677109"/>
            </a:xfrm>
            <a:prstGeom prst="rect">
              <a:avLst/>
            </a:prstGeom>
            <a:noFill/>
            <a:ln w="9525" algn="ctr">
              <a:noFill/>
              <a:miter lim="800000"/>
              <a:headEnd/>
              <a:tailEnd/>
            </a:ln>
          </p:spPr>
          <p:txBody>
            <a:bodyPr>
              <a:spAutoFit/>
            </a:bodyPr>
            <a:lstStyle/>
            <a:p>
              <a:pPr algn="ctr">
                <a:spcBef>
                  <a:spcPct val="50000"/>
                </a:spcBef>
              </a:pPr>
              <a:r>
                <a:rPr lang="en-US" sz="1200" b="1" dirty="0">
                  <a:latin typeface="EYInterstate" pitchFamily="2" charset="0"/>
                </a:rPr>
                <a:t>Calling Location</a:t>
              </a:r>
            </a:p>
            <a:p>
              <a:pPr algn="ctr">
                <a:spcBef>
                  <a:spcPct val="50000"/>
                </a:spcBef>
              </a:pPr>
              <a:r>
                <a:rPr lang="en-US" sz="1200" b="1" dirty="0">
                  <a:latin typeface="EYInterstate" pitchFamily="2" charset="0"/>
                </a:rPr>
                <a:t>(Circle 3)</a:t>
              </a:r>
            </a:p>
          </p:txBody>
        </p:sp>
        <p:sp>
          <p:nvSpPr>
            <p:cNvPr id="80" name="Rectangle 22"/>
            <p:cNvSpPr>
              <a:spLocks noChangeArrowheads="1"/>
            </p:cNvSpPr>
            <p:nvPr/>
          </p:nvSpPr>
          <p:spPr bwMode="auto">
            <a:xfrm>
              <a:off x="8001000" y="4343400"/>
              <a:ext cx="977900" cy="228600"/>
            </a:xfrm>
            <a:prstGeom prst="rect">
              <a:avLst/>
            </a:prstGeom>
            <a:ln>
              <a:headEnd/>
              <a:tailEnd/>
            </a:ln>
          </p:spPr>
          <p:style>
            <a:lnRef idx="0">
              <a:schemeClr val="accent2"/>
            </a:lnRef>
            <a:fillRef idx="3">
              <a:schemeClr val="accent2"/>
            </a:fillRef>
            <a:effectRef idx="3">
              <a:schemeClr val="accent2"/>
            </a:effectRef>
            <a:fontRef idx="minor">
              <a:schemeClr val="lt1"/>
            </a:fontRef>
          </p:style>
          <p:txBody>
            <a:bodyPr wrap="none" anchor="ctr"/>
            <a:lstStyle/>
            <a:p>
              <a:pPr algn="ctr"/>
              <a:r>
                <a:rPr lang="en-US" sz="1400" b="1">
                  <a:solidFill>
                    <a:schemeClr val="tx2">
                      <a:lumMod val="50000"/>
                    </a:schemeClr>
                  </a:solidFill>
                  <a:latin typeface="EYInterstate" pitchFamily="2" charset="0"/>
                </a:rPr>
                <a:t>HLR</a:t>
              </a:r>
              <a:endParaRPr lang="en-US" sz="1050" b="1">
                <a:solidFill>
                  <a:schemeClr val="tx2">
                    <a:lumMod val="50000"/>
                  </a:schemeClr>
                </a:solidFill>
                <a:latin typeface="EYInterstate" pitchFamily="2" charset="0"/>
              </a:endParaRPr>
            </a:p>
          </p:txBody>
        </p:sp>
        <p:cxnSp>
          <p:nvCxnSpPr>
            <p:cNvPr id="81" name="AutoShape 23"/>
            <p:cNvCxnSpPr>
              <a:cxnSpLocks noChangeShapeType="1"/>
              <a:stCxn id="78" idx="2"/>
              <a:endCxn id="80" idx="1"/>
            </p:cNvCxnSpPr>
            <p:nvPr/>
          </p:nvCxnSpPr>
          <p:spPr bwMode="auto">
            <a:xfrm rot="16200000" flipH="1">
              <a:off x="7494587" y="3951288"/>
              <a:ext cx="327025" cy="685800"/>
            </a:xfrm>
            <a:prstGeom prst="bentConnector2">
              <a:avLst/>
            </a:prstGeom>
            <a:noFill/>
            <a:ln w="19050">
              <a:solidFill>
                <a:schemeClr val="tx1"/>
              </a:solidFill>
              <a:miter lim="800000"/>
              <a:headEnd/>
              <a:tailEnd type="triangle" w="med" len="med"/>
            </a:ln>
          </p:spPr>
        </p:cxnSp>
        <p:sp>
          <p:nvSpPr>
            <p:cNvPr id="82" name="Line 24"/>
            <p:cNvSpPr>
              <a:spLocks noChangeShapeType="1"/>
            </p:cNvSpPr>
            <p:nvPr/>
          </p:nvSpPr>
          <p:spPr bwMode="auto">
            <a:xfrm>
              <a:off x="6477000" y="1219200"/>
              <a:ext cx="0" cy="5029200"/>
            </a:xfrm>
            <a:prstGeom prst="line">
              <a:avLst/>
            </a:prstGeom>
            <a:noFill/>
            <a:ln w="38100">
              <a:solidFill>
                <a:schemeClr val="tx1"/>
              </a:solidFill>
              <a:round/>
              <a:headEnd/>
              <a:tailEnd/>
            </a:ln>
          </p:spPr>
          <p:txBody>
            <a:bodyPr wrap="none" anchor="ctr"/>
            <a:lstStyle/>
            <a:p>
              <a:endParaRPr lang="en-US" sz="1400">
                <a:latin typeface="EYInterstate" pitchFamily="2" charset="0"/>
              </a:endParaRPr>
            </a:p>
          </p:txBody>
        </p:sp>
        <p:cxnSp>
          <p:nvCxnSpPr>
            <p:cNvPr id="83" name="AutoShape 25"/>
            <p:cNvCxnSpPr>
              <a:cxnSpLocks noChangeShapeType="1"/>
              <a:stCxn id="44" idx="2"/>
              <a:endCxn id="73" idx="1"/>
            </p:cNvCxnSpPr>
            <p:nvPr/>
          </p:nvCxnSpPr>
          <p:spPr bwMode="auto">
            <a:xfrm rot="5400000">
              <a:off x="3589337" y="4351338"/>
              <a:ext cx="1050925" cy="609600"/>
            </a:xfrm>
            <a:prstGeom prst="bentConnector4">
              <a:avLst>
                <a:gd name="adj1" fmla="val 39125"/>
                <a:gd name="adj2" fmla="val 137500"/>
              </a:avLst>
            </a:prstGeom>
            <a:noFill/>
            <a:ln w="31750">
              <a:solidFill>
                <a:schemeClr val="tx1"/>
              </a:solidFill>
              <a:prstDash val="sysDot"/>
              <a:miter lim="800000"/>
              <a:headEnd/>
              <a:tailEnd type="triangle" w="med" len="med"/>
            </a:ln>
          </p:spPr>
        </p:cxnSp>
        <p:cxnSp>
          <p:nvCxnSpPr>
            <p:cNvPr id="84" name="AutoShape 26"/>
            <p:cNvCxnSpPr>
              <a:cxnSpLocks noChangeShapeType="1"/>
              <a:stCxn id="78" idx="3"/>
              <a:endCxn id="34" idx="3"/>
            </p:cNvCxnSpPr>
            <p:nvPr/>
          </p:nvCxnSpPr>
          <p:spPr bwMode="auto">
            <a:xfrm rot="-5400000" flipH="1" flipV="1">
              <a:off x="4075906" y="-326231"/>
              <a:ext cx="1588" cy="6477000"/>
            </a:xfrm>
            <a:prstGeom prst="bentConnector3">
              <a:avLst>
                <a:gd name="adj1" fmla="val -14400005"/>
              </a:avLst>
            </a:prstGeom>
            <a:noFill/>
            <a:ln w="31750">
              <a:solidFill>
                <a:schemeClr val="tx1"/>
              </a:solidFill>
              <a:prstDash val="sysDot"/>
              <a:miter lim="800000"/>
              <a:headEnd/>
              <a:tailEnd type="triangle" w="med" len="med"/>
            </a:ln>
          </p:spPr>
        </p:cxnSp>
        <p:cxnSp>
          <p:nvCxnSpPr>
            <p:cNvPr id="85" name="AutoShape 27"/>
            <p:cNvCxnSpPr>
              <a:cxnSpLocks noChangeShapeType="1"/>
              <a:stCxn id="37" idx="1"/>
              <a:endCxn id="78" idx="3"/>
            </p:cNvCxnSpPr>
            <p:nvPr/>
          </p:nvCxnSpPr>
          <p:spPr bwMode="auto">
            <a:xfrm rot="10800000" flipV="1">
              <a:off x="7315200" y="2405063"/>
              <a:ext cx="962025" cy="506412"/>
            </a:xfrm>
            <a:prstGeom prst="bentConnector2">
              <a:avLst/>
            </a:prstGeom>
            <a:noFill/>
            <a:ln w="31750">
              <a:solidFill>
                <a:schemeClr val="tx1"/>
              </a:solidFill>
              <a:prstDash val="sysDot"/>
              <a:miter lim="800000"/>
              <a:headEnd/>
              <a:tailEnd type="triangle" w="med" len="med"/>
            </a:ln>
          </p:spPr>
        </p:cxnSp>
        <p:sp>
          <p:nvSpPr>
            <p:cNvPr id="86" name="Oval 28"/>
            <p:cNvSpPr>
              <a:spLocks noChangeArrowheads="1"/>
            </p:cNvSpPr>
            <p:nvPr/>
          </p:nvSpPr>
          <p:spPr bwMode="auto">
            <a:xfrm>
              <a:off x="3124200" y="3962400"/>
              <a:ext cx="304800" cy="304800"/>
            </a:xfrm>
            <a:prstGeom prst="ellipse">
              <a:avLst/>
            </a:prstGeom>
            <a:noFill/>
            <a:ln w="9525" algn="ctr">
              <a:solidFill>
                <a:schemeClr val="tx1"/>
              </a:solidFill>
              <a:round/>
              <a:headEnd/>
              <a:tailEnd/>
            </a:ln>
          </p:spPr>
          <p:txBody>
            <a:bodyPr wrap="none" anchor="ctr"/>
            <a:lstStyle/>
            <a:p>
              <a:pPr algn="ctr"/>
              <a:r>
                <a:rPr lang="en-US" sz="1400" b="1">
                  <a:latin typeface="EYInterstate" pitchFamily="2" charset="0"/>
                </a:rPr>
                <a:t>4</a:t>
              </a:r>
            </a:p>
          </p:txBody>
        </p:sp>
        <p:sp>
          <p:nvSpPr>
            <p:cNvPr id="87" name="Oval 29"/>
            <p:cNvSpPr>
              <a:spLocks noChangeArrowheads="1"/>
            </p:cNvSpPr>
            <p:nvPr/>
          </p:nvSpPr>
          <p:spPr bwMode="auto">
            <a:xfrm>
              <a:off x="2286000" y="3124200"/>
              <a:ext cx="304800" cy="304800"/>
            </a:xfrm>
            <a:prstGeom prst="ellipse">
              <a:avLst/>
            </a:prstGeom>
            <a:noFill/>
            <a:ln w="9525" algn="ctr">
              <a:solidFill>
                <a:schemeClr val="tx1"/>
              </a:solidFill>
              <a:round/>
              <a:headEnd/>
              <a:tailEnd/>
            </a:ln>
          </p:spPr>
          <p:txBody>
            <a:bodyPr wrap="none" anchor="ctr"/>
            <a:lstStyle/>
            <a:p>
              <a:pPr algn="ctr"/>
              <a:r>
                <a:rPr lang="en-US" sz="1400" b="1">
                  <a:latin typeface="EYInterstate" pitchFamily="2" charset="0"/>
                </a:rPr>
                <a:t>3</a:t>
              </a:r>
            </a:p>
          </p:txBody>
        </p:sp>
        <p:sp>
          <p:nvSpPr>
            <p:cNvPr id="88" name="Oval 30"/>
            <p:cNvSpPr>
              <a:spLocks noChangeArrowheads="1"/>
            </p:cNvSpPr>
            <p:nvPr/>
          </p:nvSpPr>
          <p:spPr bwMode="auto">
            <a:xfrm>
              <a:off x="7620000" y="2057400"/>
              <a:ext cx="304800" cy="304800"/>
            </a:xfrm>
            <a:prstGeom prst="ellipse">
              <a:avLst/>
            </a:prstGeom>
            <a:noFill/>
            <a:ln w="9525" algn="ctr">
              <a:solidFill>
                <a:schemeClr val="tx1"/>
              </a:solidFill>
              <a:round/>
              <a:headEnd/>
              <a:tailEnd/>
            </a:ln>
          </p:spPr>
          <p:txBody>
            <a:bodyPr wrap="none" anchor="ctr"/>
            <a:lstStyle/>
            <a:p>
              <a:pPr algn="ctr"/>
              <a:r>
                <a:rPr lang="en-US" sz="1400" b="1">
                  <a:latin typeface="EYInterstate" pitchFamily="2" charset="0"/>
                </a:rPr>
                <a:t>1</a:t>
              </a:r>
            </a:p>
          </p:txBody>
        </p:sp>
        <p:sp>
          <p:nvSpPr>
            <p:cNvPr id="89" name="Oval 31"/>
            <p:cNvSpPr>
              <a:spLocks noChangeArrowheads="1"/>
            </p:cNvSpPr>
            <p:nvPr/>
          </p:nvSpPr>
          <p:spPr bwMode="auto">
            <a:xfrm>
              <a:off x="4724400" y="2286000"/>
              <a:ext cx="304800" cy="304800"/>
            </a:xfrm>
            <a:prstGeom prst="ellipse">
              <a:avLst/>
            </a:prstGeom>
            <a:noFill/>
            <a:ln w="9525" algn="ctr">
              <a:solidFill>
                <a:schemeClr val="tx1"/>
              </a:solidFill>
              <a:round/>
              <a:headEnd/>
              <a:tailEnd/>
            </a:ln>
          </p:spPr>
          <p:txBody>
            <a:bodyPr wrap="none" anchor="ctr"/>
            <a:lstStyle/>
            <a:p>
              <a:pPr algn="ctr"/>
              <a:r>
                <a:rPr lang="en-US" sz="1400" b="1">
                  <a:latin typeface="EYInterstate" pitchFamily="2" charset="0"/>
                </a:rPr>
                <a:t>2</a:t>
              </a:r>
            </a:p>
          </p:txBody>
        </p:sp>
        <p:cxnSp>
          <p:nvCxnSpPr>
            <p:cNvPr id="90" name="AutoShape 32"/>
            <p:cNvCxnSpPr>
              <a:cxnSpLocks noChangeShapeType="1"/>
              <a:stCxn id="34" idx="2"/>
              <a:endCxn id="44" idx="3"/>
            </p:cNvCxnSpPr>
            <p:nvPr/>
          </p:nvCxnSpPr>
          <p:spPr bwMode="auto">
            <a:xfrm>
              <a:off x="1524000" y="3521075"/>
              <a:ext cx="2209800" cy="0"/>
            </a:xfrm>
            <a:prstGeom prst="straightConnector1">
              <a:avLst/>
            </a:prstGeom>
            <a:noFill/>
            <a:ln w="31750">
              <a:solidFill>
                <a:schemeClr val="tx1"/>
              </a:solidFill>
              <a:prstDash val="sysDot"/>
              <a:round/>
              <a:headEnd/>
              <a:tailEnd type="triangle" w="med" len="med"/>
            </a:ln>
          </p:spPr>
        </p:cxnSp>
      </p:grpSp>
      <p:sp>
        <p:nvSpPr>
          <p:cNvPr id="36" name="Rectangle 35"/>
          <p:cNvSpPr/>
          <p:nvPr/>
        </p:nvSpPr>
        <p:spPr>
          <a:xfrm>
            <a:off x="6781800" y="1219200"/>
            <a:ext cx="2133600" cy="4800600"/>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buClr>
                <a:srgbClr val="FFC000"/>
              </a:buClr>
            </a:pPr>
            <a:r>
              <a:rPr lang="en-US" sz="1400" b="1" dirty="0">
                <a:solidFill>
                  <a:schemeClr val="tx1">
                    <a:lumMod val="50000"/>
                  </a:schemeClr>
                </a:solidFill>
              </a:rPr>
              <a:t>Call Flow</a:t>
            </a:r>
          </a:p>
          <a:p>
            <a:pPr>
              <a:buClr>
                <a:srgbClr val="FFC000"/>
              </a:buClr>
              <a:buFont typeface="Arial" pitchFamily="34" charset="0"/>
              <a:buChar char="►"/>
            </a:pPr>
            <a:endParaRPr lang="en-US" sz="1400" b="1" dirty="0">
              <a:solidFill>
                <a:schemeClr val="tx1">
                  <a:lumMod val="50000"/>
                </a:schemeClr>
              </a:solidFill>
            </a:endParaRPr>
          </a:p>
          <a:p>
            <a:pPr marL="177800" indent="-177800">
              <a:buClr>
                <a:srgbClr val="FFC000"/>
              </a:buClr>
              <a:buFont typeface="Arial" pitchFamily="34" charset="0"/>
              <a:buChar char="►"/>
            </a:pPr>
            <a:r>
              <a:rPr lang="en-US" sz="1200" dirty="0">
                <a:solidFill>
                  <a:schemeClr val="tx1">
                    <a:lumMod val="50000"/>
                  </a:schemeClr>
                </a:solidFill>
              </a:rPr>
              <a:t>#1 – Calling number makes a call to the Subscriber whose is in roaming circle latched to visited operator</a:t>
            </a:r>
          </a:p>
          <a:p>
            <a:pPr marL="177800" indent="-177800">
              <a:buClr>
                <a:srgbClr val="FFC000"/>
              </a:buClr>
              <a:buFont typeface="Arial" pitchFamily="34" charset="0"/>
              <a:buChar char="►"/>
            </a:pPr>
            <a:endParaRPr lang="en-US" sz="1200" dirty="0">
              <a:solidFill>
                <a:schemeClr val="tx1">
                  <a:lumMod val="50000"/>
                </a:schemeClr>
              </a:solidFill>
            </a:endParaRPr>
          </a:p>
          <a:p>
            <a:pPr marL="177800" indent="-177800">
              <a:buClr>
                <a:srgbClr val="FFC000"/>
              </a:buClr>
              <a:buFont typeface="Arial" pitchFamily="34" charset="0"/>
              <a:buChar char="►"/>
            </a:pPr>
            <a:r>
              <a:rPr lang="en-US" sz="1200" dirty="0">
                <a:solidFill>
                  <a:schemeClr val="tx1">
                    <a:lumMod val="50000"/>
                  </a:schemeClr>
                </a:solidFill>
              </a:rPr>
              <a:t>#2 – Circle 3 Switch will send the call to the roaming subscriber’s home network </a:t>
            </a:r>
          </a:p>
          <a:p>
            <a:pPr marL="177800" indent="-177800">
              <a:buClr>
                <a:srgbClr val="FFC000"/>
              </a:buClr>
              <a:buFont typeface="Arial" pitchFamily="34" charset="0"/>
              <a:buChar char="►"/>
            </a:pPr>
            <a:endParaRPr lang="en-US" sz="1200" dirty="0">
              <a:solidFill>
                <a:schemeClr val="tx1">
                  <a:lumMod val="50000"/>
                </a:schemeClr>
              </a:solidFill>
            </a:endParaRPr>
          </a:p>
          <a:p>
            <a:pPr marL="177800" indent="-177800">
              <a:buClr>
                <a:srgbClr val="FFC000"/>
              </a:buClr>
              <a:buFont typeface="Arial" pitchFamily="34" charset="0"/>
              <a:buChar char="►"/>
            </a:pPr>
            <a:r>
              <a:rPr lang="en-US" sz="1200" dirty="0">
                <a:solidFill>
                  <a:schemeClr val="tx1">
                    <a:lumMod val="50000"/>
                  </a:schemeClr>
                </a:solidFill>
              </a:rPr>
              <a:t>#3 – Home network will than check the customer location in its VLR and than forwards the call to the roaming partner</a:t>
            </a:r>
          </a:p>
          <a:p>
            <a:pPr marL="177800" indent="-177800">
              <a:buClr>
                <a:srgbClr val="FFC000"/>
              </a:buClr>
              <a:buFont typeface="Arial" pitchFamily="34" charset="0"/>
              <a:buChar char="►"/>
            </a:pPr>
            <a:endParaRPr lang="en-US" sz="1200" dirty="0">
              <a:solidFill>
                <a:schemeClr val="tx1">
                  <a:lumMod val="50000"/>
                </a:schemeClr>
              </a:solidFill>
            </a:endParaRPr>
          </a:p>
          <a:p>
            <a:pPr marL="177800" indent="-177800">
              <a:buClr>
                <a:srgbClr val="FFC000"/>
              </a:buClr>
              <a:buFont typeface="Arial" pitchFamily="34" charset="0"/>
              <a:buChar char="►"/>
            </a:pPr>
            <a:r>
              <a:rPr lang="en-US" sz="1200" dirty="0">
                <a:solidFill>
                  <a:schemeClr val="tx1">
                    <a:lumMod val="50000"/>
                  </a:schemeClr>
                </a:solidFill>
              </a:rPr>
              <a:t>#4 – Roaming partner terminates the call the roaming subscriber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 name="Group 27"/>
          <p:cNvGrpSpPr/>
          <p:nvPr/>
        </p:nvGrpSpPr>
        <p:grpSpPr>
          <a:xfrm>
            <a:off x="152400" y="1143000"/>
            <a:ext cx="6035040" cy="4846320"/>
            <a:chOff x="152400" y="1143000"/>
            <a:chExt cx="8991600" cy="5029200"/>
          </a:xfrm>
        </p:grpSpPr>
        <p:sp>
          <p:nvSpPr>
            <p:cNvPr id="33" name="AutoShape 2"/>
            <p:cNvSpPr>
              <a:spLocks noChangeArrowheads="1"/>
            </p:cNvSpPr>
            <p:nvPr/>
          </p:nvSpPr>
          <p:spPr bwMode="auto">
            <a:xfrm>
              <a:off x="152400" y="2911475"/>
              <a:ext cx="1371600" cy="1219200"/>
            </a:xfrm>
            <a:prstGeom prst="octagon">
              <a:avLst>
                <a:gd name="adj" fmla="val 29287"/>
              </a:avLst>
            </a:prstGeom>
            <a:ln>
              <a:headEnd/>
              <a:tailEnd/>
            </a:ln>
          </p:spPr>
          <p:style>
            <a:lnRef idx="0">
              <a:schemeClr val="accent1"/>
            </a:lnRef>
            <a:fillRef idx="3">
              <a:schemeClr val="accent1"/>
            </a:fillRef>
            <a:effectRef idx="3">
              <a:schemeClr val="accent1"/>
            </a:effectRef>
            <a:fontRef idx="minor">
              <a:schemeClr val="lt1"/>
            </a:fontRef>
          </p:style>
          <p:txBody>
            <a:bodyPr wrap="none" anchor="ctr"/>
            <a:lstStyle/>
            <a:p>
              <a:pPr algn="ctr"/>
              <a:r>
                <a:rPr lang="en-US" sz="1400">
                  <a:latin typeface="EYInterstate" pitchFamily="2" charset="0"/>
                </a:rPr>
                <a:t>Switch</a:t>
              </a:r>
            </a:p>
            <a:p>
              <a:pPr algn="ctr"/>
              <a:r>
                <a:rPr lang="en-US" sz="1400">
                  <a:latin typeface="EYInterstate" pitchFamily="2" charset="0"/>
                </a:rPr>
                <a:t>(MSC)</a:t>
              </a:r>
            </a:p>
          </p:txBody>
        </p:sp>
        <p:sp>
          <p:nvSpPr>
            <p:cNvPr id="36" name="Text Box 4"/>
            <p:cNvSpPr txBox="1">
              <a:spLocks noChangeArrowheads="1"/>
            </p:cNvSpPr>
            <p:nvPr/>
          </p:nvSpPr>
          <p:spPr bwMode="auto">
            <a:xfrm>
              <a:off x="7620000" y="2667000"/>
              <a:ext cx="1524000" cy="430887"/>
            </a:xfrm>
            <a:prstGeom prst="rect">
              <a:avLst/>
            </a:prstGeom>
            <a:noFill/>
            <a:ln w="9525">
              <a:noFill/>
              <a:miter lim="800000"/>
              <a:headEnd/>
              <a:tailEnd/>
            </a:ln>
          </p:spPr>
          <p:txBody>
            <a:bodyPr>
              <a:spAutoFit/>
            </a:bodyPr>
            <a:lstStyle/>
            <a:p>
              <a:pPr algn="ctr"/>
              <a:r>
                <a:rPr lang="en-US" sz="1050" b="1">
                  <a:latin typeface="EYInterstate" pitchFamily="2" charset="0"/>
                </a:rPr>
                <a:t>Calling Number </a:t>
              </a:r>
            </a:p>
            <a:p>
              <a:pPr algn="ctr"/>
              <a:r>
                <a:rPr lang="en-US" sz="1050" b="1">
                  <a:latin typeface="EYInterstate" pitchFamily="2" charset="0"/>
                </a:rPr>
                <a:t>( A Number)</a:t>
              </a:r>
            </a:p>
          </p:txBody>
        </p:sp>
        <p:grpSp>
          <p:nvGrpSpPr>
            <p:cNvPr id="3" name="Group 5"/>
            <p:cNvGrpSpPr>
              <a:grpSpLocks/>
            </p:cNvGrpSpPr>
            <p:nvPr/>
          </p:nvGrpSpPr>
          <p:grpSpPr bwMode="auto">
            <a:xfrm>
              <a:off x="8277225" y="2039938"/>
              <a:ext cx="228600" cy="593725"/>
              <a:chOff x="336" y="1920"/>
              <a:chExt cx="144" cy="374"/>
            </a:xfrm>
            <a:solidFill>
              <a:srgbClr val="C00000"/>
            </a:solidFill>
          </p:grpSpPr>
          <p:sp>
            <p:nvSpPr>
              <p:cNvPr id="47" name="Rectangle 6"/>
              <p:cNvSpPr>
                <a:spLocks noChangeArrowheads="1"/>
              </p:cNvSpPr>
              <p:nvPr/>
            </p:nvSpPr>
            <p:spPr bwMode="auto">
              <a:xfrm>
                <a:off x="336" y="2006"/>
                <a:ext cx="144" cy="288"/>
              </a:xfrm>
              <a:prstGeom prst="rect">
                <a:avLst/>
              </a:prstGeom>
              <a:grpFill/>
              <a:ln>
                <a:headEnd/>
                <a:tailEnd/>
              </a:ln>
            </p:spPr>
            <p:style>
              <a:lnRef idx="0">
                <a:schemeClr val="accent2"/>
              </a:lnRef>
              <a:fillRef idx="3">
                <a:schemeClr val="accent2"/>
              </a:fillRef>
              <a:effectRef idx="3">
                <a:schemeClr val="accent2"/>
              </a:effectRef>
              <a:fontRef idx="minor">
                <a:schemeClr val="lt1"/>
              </a:fontRef>
            </p:style>
            <p:txBody>
              <a:bodyPr wrap="none" anchor="ctr"/>
              <a:lstStyle/>
              <a:p>
                <a:endParaRPr lang="en-US" sz="1400">
                  <a:latin typeface="EYInterstate" pitchFamily="2" charset="0"/>
                </a:endParaRPr>
              </a:p>
            </p:txBody>
          </p:sp>
          <p:sp>
            <p:nvSpPr>
              <p:cNvPr id="49" name="Line 7"/>
              <p:cNvSpPr>
                <a:spLocks noChangeShapeType="1"/>
              </p:cNvSpPr>
              <p:nvPr/>
            </p:nvSpPr>
            <p:spPr bwMode="auto">
              <a:xfrm flipV="1">
                <a:off x="336" y="1920"/>
                <a:ext cx="0" cy="96"/>
              </a:xfrm>
              <a:prstGeom prst="line">
                <a:avLst/>
              </a:prstGeom>
              <a:grpFill/>
              <a:ln w="15875">
                <a:solidFill>
                  <a:schemeClr val="tx1"/>
                </a:solidFill>
                <a:round/>
                <a:headEnd/>
                <a:tailEnd/>
              </a:ln>
            </p:spPr>
            <p:txBody>
              <a:bodyPr wrap="none" anchor="ctr"/>
              <a:lstStyle/>
              <a:p>
                <a:endParaRPr lang="en-US" sz="1400">
                  <a:latin typeface="EYInterstate" pitchFamily="2" charset="0"/>
                </a:endParaRPr>
              </a:p>
            </p:txBody>
          </p:sp>
        </p:grpSp>
        <p:sp>
          <p:nvSpPr>
            <p:cNvPr id="50" name="Line 8"/>
            <p:cNvSpPr>
              <a:spLocks noChangeShapeType="1"/>
            </p:cNvSpPr>
            <p:nvPr/>
          </p:nvSpPr>
          <p:spPr bwMode="auto">
            <a:xfrm>
              <a:off x="4558352" y="1143000"/>
              <a:ext cx="0" cy="5029200"/>
            </a:xfrm>
            <a:prstGeom prst="line">
              <a:avLst/>
            </a:prstGeom>
            <a:noFill/>
            <a:ln w="38100">
              <a:solidFill>
                <a:schemeClr val="tx1"/>
              </a:solidFill>
              <a:round/>
              <a:headEnd/>
              <a:tailEnd/>
            </a:ln>
          </p:spPr>
          <p:txBody>
            <a:bodyPr wrap="none" anchor="ctr"/>
            <a:lstStyle/>
            <a:p>
              <a:endParaRPr lang="en-US" sz="1400">
                <a:latin typeface="EYInterstate" pitchFamily="2" charset="0"/>
              </a:endParaRPr>
            </a:p>
          </p:txBody>
        </p:sp>
        <p:sp>
          <p:nvSpPr>
            <p:cNvPr id="51" name="Text Box 9"/>
            <p:cNvSpPr txBox="1">
              <a:spLocks noChangeArrowheads="1"/>
            </p:cNvSpPr>
            <p:nvPr/>
          </p:nvSpPr>
          <p:spPr bwMode="auto">
            <a:xfrm>
              <a:off x="152400" y="1219200"/>
              <a:ext cx="2057400" cy="630942"/>
            </a:xfrm>
            <a:prstGeom prst="rect">
              <a:avLst/>
            </a:prstGeom>
            <a:noFill/>
            <a:ln w="9525" algn="ctr">
              <a:noFill/>
              <a:miter lim="800000"/>
              <a:headEnd/>
              <a:tailEnd/>
            </a:ln>
          </p:spPr>
          <p:txBody>
            <a:bodyPr>
              <a:spAutoFit/>
            </a:bodyPr>
            <a:lstStyle/>
            <a:p>
              <a:pPr algn="ctr">
                <a:spcBef>
                  <a:spcPct val="50000"/>
                </a:spcBef>
              </a:pPr>
              <a:r>
                <a:rPr lang="en-US" sz="1400" b="1" dirty="0">
                  <a:latin typeface="EYInterstate" pitchFamily="2" charset="0"/>
                </a:rPr>
                <a:t>Home Location</a:t>
              </a:r>
            </a:p>
            <a:p>
              <a:pPr algn="ctr">
                <a:spcBef>
                  <a:spcPct val="50000"/>
                </a:spcBef>
              </a:pPr>
              <a:r>
                <a:rPr lang="en-US" sz="1400" b="1" dirty="0">
                  <a:latin typeface="EYInterstate" pitchFamily="2" charset="0"/>
                </a:rPr>
                <a:t>(Circle 1)</a:t>
              </a:r>
            </a:p>
          </p:txBody>
        </p:sp>
        <p:sp>
          <p:nvSpPr>
            <p:cNvPr id="52" name="Text Box 10"/>
            <p:cNvSpPr txBox="1">
              <a:spLocks noChangeArrowheads="1"/>
            </p:cNvSpPr>
            <p:nvPr/>
          </p:nvSpPr>
          <p:spPr bwMode="auto">
            <a:xfrm>
              <a:off x="5181600" y="1219200"/>
              <a:ext cx="2057400" cy="630942"/>
            </a:xfrm>
            <a:prstGeom prst="rect">
              <a:avLst/>
            </a:prstGeom>
            <a:noFill/>
            <a:ln w="9525" algn="ctr">
              <a:noFill/>
              <a:miter lim="800000"/>
              <a:headEnd/>
              <a:tailEnd/>
            </a:ln>
          </p:spPr>
          <p:txBody>
            <a:bodyPr>
              <a:spAutoFit/>
            </a:bodyPr>
            <a:lstStyle/>
            <a:p>
              <a:pPr algn="ctr">
                <a:spcBef>
                  <a:spcPct val="50000"/>
                </a:spcBef>
              </a:pPr>
              <a:r>
                <a:rPr lang="en-US" sz="1400" b="1" dirty="0">
                  <a:latin typeface="EYInterstate" pitchFamily="2" charset="0"/>
                </a:rPr>
                <a:t>Visitor Location</a:t>
              </a:r>
            </a:p>
            <a:p>
              <a:pPr algn="ctr">
                <a:spcBef>
                  <a:spcPct val="50000"/>
                </a:spcBef>
              </a:pPr>
              <a:r>
                <a:rPr lang="en-US" sz="1400" b="1" dirty="0">
                  <a:latin typeface="EYInterstate" pitchFamily="2" charset="0"/>
                </a:rPr>
                <a:t>(Circle 2)</a:t>
              </a:r>
            </a:p>
          </p:txBody>
        </p:sp>
        <p:sp>
          <p:nvSpPr>
            <p:cNvPr id="53" name="Rectangle 11"/>
            <p:cNvSpPr>
              <a:spLocks noChangeArrowheads="1"/>
            </p:cNvSpPr>
            <p:nvPr/>
          </p:nvSpPr>
          <p:spPr bwMode="auto">
            <a:xfrm>
              <a:off x="1689100" y="4343400"/>
              <a:ext cx="977900" cy="228600"/>
            </a:xfrm>
            <a:prstGeom prst="rect">
              <a:avLst/>
            </a:prstGeom>
            <a:ln>
              <a:headEnd/>
              <a:tailEnd/>
            </a:ln>
          </p:spPr>
          <p:style>
            <a:lnRef idx="0">
              <a:schemeClr val="accent2"/>
            </a:lnRef>
            <a:fillRef idx="3">
              <a:schemeClr val="accent2"/>
            </a:fillRef>
            <a:effectRef idx="3">
              <a:schemeClr val="accent2"/>
            </a:effectRef>
            <a:fontRef idx="minor">
              <a:schemeClr val="lt1"/>
            </a:fontRef>
          </p:style>
          <p:txBody>
            <a:bodyPr wrap="none" anchor="ctr"/>
            <a:lstStyle/>
            <a:p>
              <a:pPr algn="ctr"/>
              <a:r>
                <a:rPr lang="en-US" sz="1400" b="1">
                  <a:solidFill>
                    <a:schemeClr val="tx2">
                      <a:lumMod val="50000"/>
                    </a:schemeClr>
                  </a:solidFill>
                  <a:latin typeface="EYInterstate" pitchFamily="2" charset="0"/>
                </a:rPr>
                <a:t>HLR</a:t>
              </a:r>
              <a:endParaRPr lang="en-US" sz="1050" b="1">
                <a:solidFill>
                  <a:schemeClr val="tx2">
                    <a:lumMod val="50000"/>
                  </a:schemeClr>
                </a:solidFill>
                <a:latin typeface="EYInterstate" pitchFamily="2" charset="0"/>
              </a:endParaRPr>
            </a:p>
          </p:txBody>
        </p:sp>
        <p:cxnSp>
          <p:nvCxnSpPr>
            <p:cNvPr id="54" name="AutoShape 12"/>
            <p:cNvCxnSpPr>
              <a:cxnSpLocks noChangeShapeType="1"/>
              <a:stCxn id="33" idx="2"/>
              <a:endCxn id="53" idx="1"/>
            </p:cNvCxnSpPr>
            <p:nvPr/>
          </p:nvCxnSpPr>
          <p:spPr bwMode="auto">
            <a:xfrm rot="16200000" flipH="1">
              <a:off x="1100137" y="3868738"/>
              <a:ext cx="327025" cy="850900"/>
            </a:xfrm>
            <a:prstGeom prst="bentConnector2">
              <a:avLst/>
            </a:prstGeom>
            <a:noFill/>
            <a:ln w="19050">
              <a:solidFill>
                <a:schemeClr val="tx1"/>
              </a:solidFill>
              <a:miter lim="800000"/>
              <a:headEnd/>
              <a:tailEnd type="triangle" w="med" len="med"/>
            </a:ln>
          </p:spPr>
        </p:cxnSp>
        <p:sp>
          <p:nvSpPr>
            <p:cNvPr id="55" name="AutoShape 13"/>
            <p:cNvSpPr>
              <a:spLocks noChangeArrowheads="1"/>
            </p:cNvSpPr>
            <p:nvPr/>
          </p:nvSpPr>
          <p:spPr bwMode="auto">
            <a:xfrm>
              <a:off x="5334000" y="2911475"/>
              <a:ext cx="1371600" cy="1219200"/>
            </a:xfrm>
            <a:prstGeom prst="octagon">
              <a:avLst>
                <a:gd name="adj" fmla="val 29287"/>
              </a:avLst>
            </a:prstGeom>
            <a:ln>
              <a:headEnd/>
              <a:tailEnd/>
            </a:ln>
          </p:spPr>
          <p:style>
            <a:lnRef idx="0">
              <a:schemeClr val="accent1"/>
            </a:lnRef>
            <a:fillRef idx="3">
              <a:schemeClr val="accent1"/>
            </a:fillRef>
            <a:effectRef idx="3">
              <a:schemeClr val="accent1"/>
            </a:effectRef>
            <a:fontRef idx="minor">
              <a:schemeClr val="lt1"/>
            </a:fontRef>
          </p:style>
          <p:txBody>
            <a:bodyPr wrap="none" anchor="ctr"/>
            <a:lstStyle/>
            <a:p>
              <a:pPr algn="ctr"/>
              <a:r>
                <a:rPr lang="en-US" sz="1400">
                  <a:latin typeface="EYInterstate" pitchFamily="2" charset="0"/>
                </a:rPr>
                <a:t>Switch</a:t>
              </a:r>
            </a:p>
            <a:p>
              <a:pPr algn="ctr"/>
              <a:r>
                <a:rPr lang="en-US" sz="1400">
                  <a:latin typeface="EYInterstate" pitchFamily="2" charset="0"/>
                </a:rPr>
                <a:t>(MSC)</a:t>
              </a:r>
            </a:p>
          </p:txBody>
        </p:sp>
        <p:sp>
          <p:nvSpPr>
            <p:cNvPr id="56" name="Rectangle 14"/>
            <p:cNvSpPr>
              <a:spLocks noChangeArrowheads="1"/>
            </p:cNvSpPr>
            <p:nvPr/>
          </p:nvSpPr>
          <p:spPr bwMode="auto">
            <a:xfrm>
              <a:off x="6870700" y="4343400"/>
              <a:ext cx="977900" cy="228600"/>
            </a:xfrm>
            <a:prstGeom prst="rect">
              <a:avLst/>
            </a:prstGeom>
            <a:ln>
              <a:headEnd/>
              <a:tailEnd/>
            </a:ln>
          </p:spPr>
          <p:style>
            <a:lnRef idx="0">
              <a:schemeClr val="accent2"/>
            </a:lnRef>
            <a:fillRef idx="3">
              <a:schemeClr val="accent2"/>
            </a:fillRef>
            <a:effectRef idx="3">
              <a:schemeClr val="accent2"/>
            </a:effectRef>
            <a:fontRef idx="minor">
              <a:schemeClr val="lt1"/>
            </a:fontRef>
          </p:style>
          <p:txBody>
            <a:bodyPr wrap="none" anchor="ctr"/>
            <a:lstStyle/>
            <a:p>
              <a:pPr algn="ctr"/>
              <a:r>
                <a:rPr lang="en-US" sz="1400" b="1">
                  <a:solidFill>
                    <a:schemeClr val="tx2">
                      <a:lumMod val="50000"/>
                    </a:schemeClr>
                  </a:solidFill>
                  <a:latin typeface="EYInterstate" pitchFamily="2" charset="0"/>
                </a:rPr>
                <a:t>VLR</a:t>
              </a:r>
              <a:endParaRPr lang="en-US" sz="1050" b="1">
                <a:solidFill>
                  <a:schemeClr val="tx2">
                    <a:lumMod val="50000"/>
                  </a:schemeClr>
                </a:solidFill>
                <a:latin typeface="EYInterstate" pitchFamily="2" charset="0"/>
              </a:endParaRPr>
            </a:p>
          </p:txBody>
        </p:sp>
        <p:cxnSp>
          <p:nvCxnSpPr>
            <p:cNvPr id="57" name="AutoShape 15"/>
            <p:cNvCxnSpPr>
              <a:cxnSpLocks noChangeShapeType="1"/>
              <a:stCxn id="55" idx="2"/>
              <a:endCxn id="56" idx="1"/>
            </p:cNvCxnSpPr>
            <p:nvPr/>
          </p:nvCxnSpPr>
          <p:spPr bwMode="auto">
            <a:xfrm rot="16200000" flipH="1">
              <a:off x="6281737" y="3868738"/>
              <a:ext cx="327025" cy="850900"/>
            </a:xfrm>
            <a:prstGeom prst="bentConnector2">
              <a:avLst/>
            </a:prstGeom>
            <a:noFill/>
            <a:ln w="19050">
              <a:solidFill>
                <a:schemeClr val="tx1"/>
              </a:solidFill>
              <a:miter lim="800000"/>
              <a:headEnd/>
              <a:tailEnd type="triangle" w="med" len="med"/>
            </a:ln>
          </p:spPr>
        </p:cxnSp>
        <p:grpSp>
          <p:nvGrpSpPr>
            <p:cNvPr id="4" name="Group 16"/>
            <p:cNvGrpSpPr>
              <a:grpSpLocks/>
            </p:cNvGrpSpPr>
            <p:nvPr/>
          </p:nvGrpSpPr>
          <p:grpSpPr bwMode="auto">
            <a:xfrm>
              <a:off x="5410200" y="4816475"/>
              <a:ext cx="228600" cy="593725"/>
              <a:chOff x="336" y="1920"/>
              <a:chExt cx="144" cy="374"/>
            </a:xfrm>
          </p:grpSpPr>
          <p:sp>
            <p:nvSpPr>
              <p:cNvPr id="59" name="Rectangle 17"/>
              <p:cNvSpPr>
                <a:spLocks noChangeArrowheads="1"/>
              </p:cNvSpPr>
              <p:nvPr/>
            </p:nvSpPr>
            <p:spPr bwMode="auto">
              <a:xfrm>
                <a:off x="336" y="2006"/>
                <a:ext cx="144" cy="288"/>
              </a:xfrm>
              <a:prstGeom prst="rect">
                <a:avLst/>
              </a:prstGeom>
              <a:ln>
                <a:headEnd/>
                <a:tailEnd/>
              </a:ln>
            </p:spPr>
            <p:style>
              <a:lnRef idx="0">
                <a:schemeClr val="accent2"/>
              </a:lnRef>
              <a:fillRef idx="3">
                <a:schemeClr val="accent2"/>
              </a:fillRef>
              <a:effectRef idx="3">
                <a:schemeClr val="accent2"/>
              </a:effectRef>
              <a:fontRef idx="minor">
                <a:schemeClr val="lt1"/>
              </a:fontRef>
            </p:style>
            <p:txBody>
              <a:bodyPr wrap="none" anchor="ctr"/>
              <a:lstStyle/>
              <a:p>
                <a:endParaRPr lang="en-US" sz="1400">
                  <a:latin typeface="EYInterstate" pitchFamily="2" charset="0"/>
                </a:endParaRPr>
              </a:p>
            </p:txBody>
          </p:sp>
          <p:sp>
            <p:nvSpPr>
              <p:cNvPr id="60" name="Line 18"/>
              <p:cNvSpPr>
                <a:spLocks noChangeShapeType="1"/>
              </p:cNvSpPr>
              <p:nvPr/>
            </p:nvSpPr>
            <p:spPr bwMode="auto">
              <a:xfrm flipV="1">
                <a:off x="336" y="1920"/>
                <a:ext cx="0" cy="96"/>
              </a:xfrm>
              <a:prstGeom prst="line">
                <a:avLst/>
              </a:prstGeom>
              <a:noFill/>
              <a:ln w="15875">
                <a:solidFill>
                  <a:schemeClr val="tx1"/>
                </a:solidFill>
                <a:round/>
                <a:headEnd/>
                <a:tailEnd/>
              </a:ln>
            </p:spPr>
            <p:txBody>
              <a:bodyPr wrap="none" anchor="ctr"/>
              <a:lstStyle/>
              <a:p>
                <a:endParaRPr lang="en-US" sz="1400">
                  <a:latin typeface="EYInterstate" pitchFamily="2" charset="0"/>
                </a:endParaRPr>
              </a:p>
            </p:txBody>
          </p:sp>
        </p:grpSp>
        <p:sp>
          <p:nvSpPr>
            <p:cNvPr id="61" name="Text Box 19"/>
            <p:cNvSpPr txBox="1">
              <a:spLocks noChangeArrowheads="1"/>
            </p:cNvSpPr>
            <p:nvPr/>
          </p:nvSpPr>
          <p:spPr bwMode="auto">
            <a:xfrm>
              <a:off x="4800600" y="5715000"/>
              <a:ext cx="1524000" cy="430887"/>
            </a:xfrm>
            <a:prstGeom prst="rect">
              <a:avLst/>
            </a:prstGeom>
            <a:noFill/>
            <a:ln w="9525">
              <a:noFill/>
              <a:miter lim="800000"/>
              <a:headEnd/>
              <a:tailEnd/>
            </a:ln>
          </p:spPr>
          <p:txBody>
            <a:bodyPr>
              <a:spAutoFit/>
            </a:bodyPr>
            <a:lstStyle/>
            <a:p>
              <a:pPr algn="ctr"/>
              <a:r>
                <a:rPr lang="en-US" sz="1050" b="1">
                  <a:latin typeface="EYInterstate" pitchFamily="2" charset="0"/>
                </a:rPr>
                <a:t>Called Number </a:t>
              </a:r>
            </a:p>
            <a:p>
              <a:pPr algn="ctr"/>
              <a:r>
                <a:rPr lang="en-US" sz="1050" b="1">
                  <a:latin typeface="EYInterstate" pitchFamily="2" charset="0"/>
                </a:rPr>
                <a:t>( B Number)</a:t>
              </a:r>
            </a:p>
          </p:txBody>
        </p:sp>
        <p:cxnSp>
          <p:nvCxnSpPr>
            <p:cNvPr id="62" name="AutoShape 20"/>
            <p:cNvCxnSpPr>
              <a:cxnSpLocks noChangeShapeType="1"/>
              <a:stCxn id="55" idx="2"/>
              <a:endCxn id="59" idx="1"/>
            </p:cNvCxnSpPr>
            <p:nvPr/>
          </p:nvCxnSpPr>
          <p:spPr bwMode="auto">
            <a:xfrm rot="5400000">
              <a:off x="5189537" y="4351338"/>
              <a:ext cx="1050925" cy="609600"/>
            </a:xfrm>
            <a:prstGeom prst="bentConnector4">
              <a:avLst>
                <a:gd name="adj1" fmla="val 39125"/>
                <a:gd name="adj2" fmla="val 137500"/>
              </a:avLst>
            </a:prstGeom>
            <a:noFill/>
            <a:ln w="31750">
              <a:solidFill>
                <a:schemeClr val="tx1"/>
              </a:solidFill>
              <a:prstDash val="sysDot"/>
              <a:miter lim="800000"/>
              <a:headEnd/>
              <a:tailEnd type="triangle" w="med" len="med"/>
            </a:ln>
          </p:spPr>
        </p:cxnSp>
        <p:cxnSp>
          <p:nvCxnSpPr>
            <p:cNvPr id="63" name="AutoShape 21"/>
            <p:cNvCxnSpPr>
              <a:cxnSpLocks noChangeShapeType="1"/>
              <a:stCxn id="55" idx="3"/>
              <a:endCxn id="33" idx="3"/>
            </p:cNvCxnSpPr>
            <p:nvPr/>
          </p:nvCxnSpPr>
          <p:spPr bwMode="auto">
            <a:xfrm rot="-5400000" flipH="1" flipV="1">
              <a:off x="3428206" y="321469"/>
              <a:ext cx="1588" cy="5181600"/>
            </a:xfrm>
            <a:prstGeom prst="bentConnector3">
              <a:avLst>
                <a:gd name="adj1" fmla="val -14400005"/>
              </a:avLst>
            </a:prstGeom>
            <a:noFill/>
            <a:ln w="31750">
              <a:solidFill>
                <a:schemeClr val="tx1"/>
              </a:solidFill>
              <a:prstDash val="sysDot"/>
              <a:miter lim="800000"/>
              <a:headEnd/>
              <a:tailEnd type="triangle" w="med" len="med"/>
            </a:ln>
          </p:spPr>
        </p:cxnSp>
        <p:sp>
          <p:nvSpPr>
            <p:cNvPr id="64" name="Oval 22"/>
            <p:cNvSpPr>
              <a:spLocks noChangeArrowheads="1"/>
            </p:cNvSpPr>
            <p:nvPr/>
          </p:nvSpPr>
          <p:spPr bwMode="auto">
            <a:xfrm>
              <a:off x="5410200" y="4191000"/>
              <a:ext cx="304800" cy="304800"/>
            </a:xfrm>
            <a:prstGeom prst="ellipse">
              <a:avLst/>
            </a:prstGeom>
            <a:noFill/>
            <a:ln w="9525" algn="ctr">
              <a:solidFill>
                <a:schemeClr val="tx1"/>
              </a:solidFill>
              <a:round/>
              <a:headEnd/>
              <a:tailEnd/>
            </a:ln>
          </p:spPr>
          <p:txBody>
            <a:bodyPr wrap="none" anchor="ctr"/>
            <a:lstStyle/>
            <a:p>
              <a:pPr algn="ctr"/>
              <a:r>
                <a:rPr lang="en-US" sz="1400" b="1" dirty="0">
                  <a:latin typeface="EYInterstate" pitchFamily="2" charset="0"/>
                </a:rPr>
                <a:t>4</a:t>
              </a:r>
            </a:p>
          </p:txBody>
        </p:sp>
        <p:sp>
          <p:nvSpPr>
            <p:cNvPr id="65" name="Oval 23"/>
            <p:cNvSpPr>
              <a:spLocks noChangeArrowheads="1"/>
            </p:cNvSpPr>
            <p:nvPr/>
          </p:nvSpPr>
          <p:spPr bwMode="auto">
            <a:xfrm>
              <a:off x="2286000" y="3124200"/>
              <a:ext cx="304800" cy="304800"/>
            </a:xfrm>
            <a:prstGeom prst="ellipse">
              <a:avLst/>
            </a:prstGeom>
            <a:noFill/>
            <a:ln w="9525" algn="ctr">
              <a:solidFill>
                <a:schemeClr val="tx1"/>
              </a:solidFill>
              <a:round/>
              <a:headEnd/>
              <a:tailEnd/>
            </a:ln>
          </p:spPr>
          <p:txBody>
            <a:bodyPr wrap="none" anchor="ctr"/>
            <a:lstStyle/>
            <a:p>
              <a:pPr algn="ctr"/>
              <a:r>
                <a:rPr lang="en-US" sz="1400" b="1">
                  <a:latin typeface="EYInterstate" pitchFamily="2" charset="0"/>
                </a:rPr>
                <a:t>3</a:t>
              </a:r>
            </a:p>
          </p:txBody>
        </p:sp>
        <p:sp>
          <p:nvSpPr>
            <p:cNvPr id="66" name="Oval 24"/>
            <p:cNvSpPr>
              <a:spLocks noChangeArrowheads="1"/>
            </p:cNvSpPr>
            <p:nvPr/>
          </p:nvSpPr>
          <p:spPr bwMode="auto">
            <a:xfrm>
              <a:off x="5029200" y="2286000"/>
              <a:ext cx="304800" cy="304800"/>
            </a:xfrm>
            <a:prstGeom prst="ellipse">
              <a:avLst/>
            </a:prstGeom>
            <a:noFill/>
            <a:ln w="9525" algn="ctr">
              <a:solidFill>
                <a:schemeClr val="tx1"/>
              </a:solidFill>
              <a:round/>
              <a:headEnd/>
              <a:tailEnd/>
            </a:ln>
          </p:spPr>
          <p:txBody>
            <a:bodyPr wrap="none" anchor="ctr"/>
            <a:lstStyle/>
            <a:p>
              <a:pPr algn="ctr"/>
              <a:r>
                <a:rPr lang="en-US" sz="1400" b="1">
                  <a:latin typeface="EYInterstate" pitchFamily="2" charset="0"/>
                </a:rPr>
                <a:t>2</a:t>
              </a:r>
            </a:p>
          </p:txBody>
        </p:sp>
        <p:cxnSp>
          <p:nvCxnSpPr>
            <p:cNvPr id="67" name="AutoShape 25"/>
            <p:cNvCxnSpPr>
              <a:cxnSpLocks noChangeShapeType="1"/>
              <a:stCxn id="33" idx="2"/>
              <a:endCxn id="55" idx="3"/>
            </p:cNvCxnSpPr>
            <p:nvPr/>
          </p:nvCxnSpPr>
          <p:spPr bwMode="auto">
            <a:xfrm>
              <a:off x="1524000" y="3521075"/>
              <a:ext cx="3810000" cy="0"/>
            </a:xfrm>
            <a:prstGeom prst="straightConnector1">
              <a:avLst/>
            </a:prstGeom>
            <a:noFill/>
            <a:ln w="31750">
              <a:solidFill>
                <a:schemeClr val="tx1"/>
              </a:solidFill>
              <a:prstDash val="sysDot"/>
              <a:round/>
              <a:headEnd/>
              <a:tailEnd type="triangle" w="med" len="med"/>
            </a:ln>
          </p:spPr>
        </p:cxnSp>
        <p:cxnSp>
          <p:nvCxnSpPr>
            <p:cNvPr id="68" name="AutoShape 26"/>
            <p:cNvCxnSpPr>
              <a:cxnSpLocks noChangeShapeType="1"/>
              <a:stCxn id="47" idx="1"/>
              <a:endCxn id="55" idx="3"/>
            </p:cNvCxnSpPr>
            <p:nvPr/>
          </p:nvCxnSpPr>
          <p:spPr bwMode="auto">
            <a:xfrm rot="10800000" flipV="1">
              <a:off x="6019800" y="2405063"/>
              <a:ext cx="2257425" cy="506412"/>
            </a:xfrm>
            <a:prstGeom prst="bentConnector2">
              <a:avLst/>
            </a:prstGeom>
            <a:noFill/>
            <a:ln w="31750">
              <a:solidFill>
                <a:schemeClr val="tx1"/>
              </a:solidFill>
              <a:prstDash val="sysDot"/>
              <a:miter lim="800000"/>
              <a:headEnd/>
              <a:tailEnd type="triangle" w="med" len="med"/>
            </a:ln>
          </p:spPr>
        </p:cxnSp>
        <p:sp>
          <p:nvSpPr>
            <p:cNvPr id="69" name="Oval 27"/>
            <p:cNvSpPr>
              <a:spLocks noChangeArrowheads="1"/>
            </p:cNvSpPr>
            <p:nvPr/>
          </p:nvSpPr>
          <p:spPr bwMode="auto">
            <a:xfrm>
              <a:off x="7134225" y="2009775"/>
              <a:ext cx="304800" cy="304800"/>
            </a:xfrm>
            <a:prstGeom prst="ellipse">
              <a:avLst/>
            </a:prstGeom>
            <a:noFill/>
            <a:ln w="9525" algn="ctr">
              <a:solidFill>
                <a:schemeClr val="tx1"/>
              </a:solidFill>
              <a:round/>
              <a:headEnd/>
              <a:tailEnd/>
            </a:ln>
          </p:spPr>
          <p:txBody>
            <a:bodyPr wrap="none" anchor="ctr"/>
            <a:lstStyle/>
            <a:p>
              <a:pPr algn="ctr"/>
              <a:r>
                <a:rPr lang="en-US" sz="1400" b="1">
                  <a:latin typeface="EYInterstate" pitchFamily="2" charset="0"/>
                </a:rPr>
                <a:t>1</a:t>
              </a:r>
            </a:p>
          </p:txBody>
        </p:sp>
      </p:grpSp>
      <p:sp>
        <p:nvSpPr>
          <p:cNvPr id="31" name="Title 1"/>
          <p:cNvSpPr>
            <a:spLocks noGrp="1"/>
          </p:cNvSpPr>
          <p:nvPr>
            <p:ph type="title"/>
          </p:nvPr>
        </p:nvSpPr>
        <p:spPr>
          <a:xfrm>
            <a:off x="457200" y="152400"/>
            <a:ext cx="8232775" cy="863600"/>
          </a:xfrm>
        </p:spPr>
        <p:txBody>
          <a:bodyPr/>
          <a:lstStyle/>
          <a:p>
            <a:r>
              <a:rPr lang="en-US" dirty="0">
                <a:latin typeface="EYInterstate" pitchFamily="2" charset="0"/>
              </a:rPr>
              <a:t>Roaming Incoming Call from same operator in roaming circle</a:t>
            </a:r>
            <a:endParaRPr lang="en-US" i="1" dirty="0">
              <a:latin typeface="EYInterstate" pitchFamily="2" charset="0"/>
            </a:endParaRPr>
          </a:p>
        </p:txBody>
      </p:sp>
      <p:sp>
        <p:nvSpPr>
          <p:cNvPr id="32" name="Rectangle 31"/>
          <p:cNvSpPr/>
          <p:nvPr/>
        </p:nvSpPr>
        <p:spPr>
          <a:xfrm>
            <a:off x="6679704" y="1143000"/>
            <a:ext cx="2133600" cy="4800600"/>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buClr>
                <a:srgbClr val="FFC000"/>
              </a:buClr>
            </a:pPr>
            <a:r>
              <a:rPr lang="en-US" sz="1400" b="1" dirty="0">
                <a:solidFill>
                  <a:schemeClr val="tx1">
                    <a:lumMod val="50000"/>
                  </a:schemeClr>
                </a:solidFill>
              </a:rPr>
              <a:t>Call Flow</a:t>
            </a:r>
          </a:p>
          <a:p>
            <a:pPr>
              <a:buClr>
                <a:srgbClr val="FFC000"/>
              </a:buClr>
              <a:buFont typeface="Arial" pitchFamily="34" charset="0"/>
              <a:buChar char="►"/>
            </a:pPr>
            <a:endParaRPr lang="en-US" sz="1400" b="1" dirty="0">
              <a:solidFill>
                <a:schemeClr val="tx1">
                  <a:lumMod val="50000"/>
                </a:schemeClr>
              </a:solidFill>
            </a:endParaRPr>
          </a:p>
          <a:p>
            <a:pPr marL="177800" indent="-177800">
              <a:buClr>
                <a:srgbClr val="FFC000"/>
              </a:buClr>
              <a:buFont typeface="Arial" pitchFamily="34" charset="0"/>
              <a:buChar char="►"/>
            </a:pPr>
            <a:r>
              <a:rPr lang="en-US" sz="1200" dirty="0">
                <a:solidFill>
                  <a:schemeClr val="tx1">
                    <a:lumMod val="50000"/>
                  </a:schemeClr>
                </a:solidFill>
              </a:rPr>
              <a:t>#1 – Calling number makes a call to the Subscriber whose is in roaming circle latched to visited operator</a:t>
            </a:r>
          </a:p>
          <a:p>
            <a:pPr marL="177800" indent="-177800">
              <a:buClr>
                <a:srgbClr val="FFC000"/>
              </a:buClr>
              <a:buFont typeface="Arial" pitchFamily="34" charset="0"/>
              <a:buChar char="►"/>
            </a:pPr>
            <a:endParaRPr lang="en-US" sz="1200" dirty="0">
              <a:solidFill>
                <a:schemeClr val="tx1">
                  <a:lumMod val="50000"/>
                </a:schemeClr>
              </a:solidFill>
            </a:endParaRPr>
          </a:p>
          <a:p>
            <a:pPr marL="177800" indent="-177800">
              <a:buClr>
                <a:srgbClr val="FFC000"/>
              </a:buClr>
              <a:buFont typeface="Arial" pitchFamily="34" charset="0"/>
              <a:buChar char="►"/>
            </a:pPr>
            <a:r>
              <a:rPr lang="en-US" sz="1200" dirty="0">
                <a:solidFill>
                  <a:schemeClr val="tx1">
                    <a:lumMod val="50000"/>
                  </a:schemeClr>
                </a:solidFill>
              </a:rPr>
              <a:t>#2 – Circle 2 Switch will send the call to the roaming subscriber’s home network </a:t>
            </a:r>
          </a:p>
          <a:p>
            <a:pPr marL="177800" indent="-177800">
              <a:buClr>
                <a:srgbClr val="FFC000"/>
              </a:buClr>
              <a:buFont typeface="Arial" pitchFamily="34" charset="0"/>
              <a:buChar char="►"/>
            </a:pPr>
            <a:endParaRPr lang="en-US" sz="1200" dirty="0">
              <a:solidFill>
                <a:schemeClr val="tx1">
                  <a:lumMod val="50000"/>
                </a:schemeClr>
              </a:solidFill>
            </a:endParaRPr>
          </a:p>
          <a:p>
            <a:pPr marL="177800" indent="-177800">
              <a:buClr>
                <a:srgbClr val="FFC000"/>
              </a:buClr>
              <a:buFont typeface="Arial" pitchFamily="34" charset="0"/>
              <a:buChar char="►"/>
            </a:pPr>
            <a:r>
              <a:rPr lang="en-US" sz="1200" dirty="0">
                <a:solidFill>
                  <a:schemeClr val="tx1">
                    <a:lumMod val="50000"/>
                  </a:schemeClr>
                </a:solidFill>
              </a:rPr>
              <a:t>#3 – Home network will than check the customer location in its VLR and than forwards the call to the roaming partner</a:t>
            </a:r>
          </a:p>
          <a:p>
            <a:pPr marL="177800" indent="-177800">
              <a:buClr>
                <a:srgbClr val="FFC000"/>
              </a:buClr>
              <a:buFont typeface="Arial" pitchFamily="34" charset="0"/>
              <a:buChar char="►"/>
            </a:pPr>
            <a:endParaRPr lang="en-US" sz="1200" dirty="0">
              <a:solidFill>
                <a:schemeClr val="tx1">
                  <a:lumMod val="50000"/>
                </a:schemeClr>
              </a:solidFill>
            </a:endParaRPr>
          </a:p>
          <a:p>
            <a:pPr marL="177800" indent="-177800">
              <a:buClr>
                <a:srgbClr val="FFC000"/>
              </a:buClr>
              <a:buFont typeface="Arial" pitchFamily="34" charset="0"/>
              <a:buChar char="►"/>
            </a:pPr>
            <a:r>
              <a:rPr lang="en-US" sz="1200" dirty="0">
                <a:solidFill>
                  <a:schemeClr val="tx1">
                    <a:lumMod val="50000"/>
                  </a:schemeClr>
                </a:solidFill>
              </a:rPr>
              <a:t>#4 – Roaming partner terminates the call the roaming subscriber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Rounded Rectangle 55"/>
          <p:cNvSpPr/>
          <p:nvPr/>
        </p:nvSpPr>
        <p:spPr>
          <a:xfrm>
            <a:off x="2895600" y="2209800"/>
            <a:ext cx="2057400" cy="2209800"/>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txBox="1">
            <a:spLocks/>
          </p:cNvSpPr>
          <p:nvPr/>
        </p:nvSpPr>
        <p:spPr>
          <a:xfrm>
            <a:off x="457200" y="152400"/>
            <a:ext cx="8232775" cy="863600"/>
          </a:xfrm>
          <a:prstGeom prst="rect">
            <a:avLst/>
          </a:prstGeom>
        </p:spPr>
        <p:txBody>
          <a:bodyPr/>
          <a:lstStyle/>
          <a:p>
            <a:pPr marL="0" marR="0" lvl="0" indent="0" algn="l" defTabSz="914400" rtl="0" eaLnBrk="1" fontAlgn="base" latinLnBrk="0" hangingPunct="1">
              <a:lnSpc>
                <a:spcPct val="85000"/>
              </a:lnSpc>
              <a:spcBef>
                <a:spcPct val="0"/>
              </a:spcBef>
              <a:spcAft>
                <a:spcPct val="0"/>
              </a:spcAft>
              <a:buClrTx/>
              <a:buSzTx/>
              <a:buFontTx/>
              <a:buNone/>
              <a:tabLst/>
              <a:defRPr/>
            </a:pPr>
            <a:r>
              <a:rPr kumimoji="0" lang="en-US" sz="3000" b="1" i="0" u="none" strike="noStrike" kern="0" cap="none" spc="0" normalizeH="0" baseline="0" noProof="0" dirty="0">
                <a:ln>
                  <a:noFill/>
                </a:ln>
                <a:solidFill>
                  <a:srgbClr val="646464"/>
                </a:solidFill>
                <a:effectLst/>
                <a:uLnTx/>
                <a:uFillTx/>
                <a:latin typeface="EYInterstate" pitchFamily="2" charset="0"/>
                <a:ea typeface="+mj-ea"/>
                <a:cs typeface="+mj-cs"/>
              </a:rPr>
              <a:t>TAP exchange</a:t>
            </a:r>
            <a:r>
              <a:rPr kumimoji="0" lang="en-US" sz="3000" b="1" i="0" u="none" strike="noStrike" kern="0" cap="none" spc="0" normalizeH="0" noProof="0" dirty="0">
                <a:ln>
                  <a:noFill/>
                </a:ln>
                <a:solidFill>
                  <a:srgbClr val="646464"/>
                </a:solidFill>
                <a:effectLst/>
                <a:uLnTx/>
                <a:uFillTx/>
                <a:latin typeface="EYInterstate" pitchFamily="2" charset="0"/>
                <a:ea typeface="+mj-ea"/>
                <a:cs typeface="+mj-cs"/>
              </a:rPr>
              <a:t> </a:t>
            </a:r>
            <a:r>
              <a:rPr kumimoji="0" lang="en-US" sz="3000" b="1" i="0" u="none" strike="noStrike" kern="0" cap="none" spc="0" normalizeH="0" baseline="0" noProof="0" dirty="0">
                <a:ln>
                  <a:noFill/>
                </a:ln>
                <a:solidFill>
                  <a:srgbClr val="646464"/>
                </a:solidFill>
                <a:effectLst/>
                <a:uLnTx/>
                <a:uFillTx/>
                <a:latin typeface="EYInterstate" pitchFamily="2" charset="0"/>
                <a:ea typeface="+mj-ea"/>
                <a:cs typeface="+mj-cs"/>
              </a:rPr>
              <a:t>process</a:t>
            </a:r>
            <a:endParaRPr kumimoji="0" lang="en-US" sz="3000" b="1" i="1" u="none" strike="noStrike" kern="0" cap="none" spc="0" normalizeH="0" baseline="0" noProof="0" dirty="0">
              <a:ln>
                <a:noFill/>
              </a:ln>
              <a:solidFill>
                <a:srgbClr val="646464"/>
              </a:solidFill>
              <a:effectLst/>
              <a:uLnTx/>
              <a:uFillTx/>
              <a:latin typeface="EYInterstate" pitchFamily="2" charset="0"/>
              <a:ea typeface="+mj-ea"/>
              <a:cs typeface="+mj-cs"/>
            </a:endParaRPr>
          </a:p>
        </p:txBody>
      </p:sp>
      <p:sp>
        <p:nvSpPr>
          <p:cNvPr id="3" name="Rounded Rectangle 2"/>
          <p:cNvSpPr/>
          <p:nvPr/>
        </p:nvSpPr>
        <p:spPr>
          <a:xfrm>
            <a:off x="228600" y="2286000"/>
            <a:ext cx="1752600" cy="1981200"/>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ounded Rectangle 3"/>
          <p:cNvSpPr/>
          <p:nvPr/>
        </p:nvSpPr>
        <p:spPr>
          <a:xfrm>
            <a:off x="5745480" y="1295400"/>
            <a:ext cx="3169920" cy="4648200"/>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381000" y="2362200"/>
            <a:ext cx="2209800" cy="338554"/>
          </a:xfrm>
          <a:prstGeom prst="rect">
            <a:avLst/>
          </a:prstGeom>
          <a:noFill/>
        </p:spPr>
        <p:txBody>
          <a:bodyPr wrap="square" rtlCol="0">
            <a:spAutoFit/>
          </a:bodyPr>
          <a:lstStyle/>
          <a:p>
            <a:r>
              <a:rPr lang="en-US" sz="1600" b="1" dirty="0"/>
              <a:t>Home Operator </a:t>
            </a:r>
          </a:p>
        </p:txBody>
      </p:sp>
      <p:sp>
        <p:nvSpPr>
          <p:cNvPr id="6" name="TextBox 5"/>
          <p:cNvSpPr txBox="1"/>
          <p:nvPr/>
        </p:nvSpPr>
        <p:spPr>
          <a:xfrm>
            <a:off x="6324600" y="1524000"/>
            <a:ext cx="2209800" cy="369332"/>
          </a:xfrm>
          <a:prstGeom prst="rect">
            <a:avLst/>
          </a:prstGeom>
          <a:noFill/>
        </p:spPr>
        <p:txBody>
          <a:bodyPr wrap="square" rtlCol="0">
            <a:spAutoFit/>
          </a:bodyPr>
          <a:lstStyle/>
          <a:p>
            <a:r>
              <a:rPr lang="en-US" b="1" dirty="0"/>
              <a:t>Roaming Partner</a:t>
            </a:r>
          </a:p>
        </p:txBody>
      </p:sp>
      <p:pic>
        <p:nvPicPr>
          <p:cNvPr id="1026" name="Picture 2"/>
          <p:cNvPicPr>
            <a:picLocks noChangeAspect="1" noChangeArrowheads="1"/>
          </p:cNvPicPr>
          <p:nvPr/>
        </p:nvPicPr>
        <p:blipFill>
          <a:blip r:embed="rId2" cstate="print"/>
          <a:srcRect/>
          <a:stretch>
            <a:fillRect/>
          </a:stretch>
        </p:blipFill>
        <p:spPr bwMode="auto">
          <a:xfrm>
            <a:off x="8001000" y="5105400"/>
            <a:ext cx="295275" cy="295275"/>
          </a:xfrm>
          <a:prstGeom prst="rect">
            <a:avLst/>
          </a:prstGeom>
          <a:noFill/>
          <a:ln w="9525">
            <a:noFill/>
            <a:miter lim="800000"/>
            <a:headEnd/>
            <a:tailEnd/>
          </a:ln>
        </p:spPr>
      </p:pic>
      <p:pic>
        <p:nvPicPr>
          <p:cNvPr id="1027" name="Picture 3"/>
          <p:cNvPicPr>
            <a:picLocks noChangeAspect="1" noChangeArrowheads="1"/>
          </p:cNvPicPr>
          <p:nvPr/>
        </p:nvPicPr>
        <p:blipFill>
          <a:blip r:embed="rId3" cstate="print"/>
          <a:srcRect/>
          <a:stretch>
            <a:fillRect/>
          </a:stretch>
        </p:blipFill>
        <p:spPr bwMode="auto">
          <a:xfrm>
            <a:off x="7696200" y="3657600"/>
            <a:ext cx="285750" cy="590550"/>
          </a:xfrm>
          <a:prstGeom prst="rect">
            <a:avLst/>
          </a:prstGeom>
          <a:noFill/>
          <a:ln w="9525">
            <a:noFill/>
            <a:miter lim="800000"/>
            <a:headEnd/>
            <a:tailEnd/>
          </a:ln>
        </p:spPr>
      </p:pic>
      <p:pic>
        <p:nvPicPr>
          <p:cNvPr id="1028" name="Picture 4"/>
          <p:cNvPicPr>
            <a:picLocks noChangeAspect="1" noChangeArrowheads="1"/>
          </p:cNvPicPr>
          <p:nvPr/>
        </p:nvPicPr>
        <p:blipFill>
          <a:blip r:embed="rId4" cstate="print"/>
          <a:srcRect/>
          <a:stretch>
            <a:fillRect/>
          </a:stretch>
        </p:blipFill>
        <p:spPr bwMode="auto">
          <a:xfrm>
            <a:off x="5943600" y="3429000"/>
            <a:ext cx="552450" cy="731623"/>
          </a:xfrm>
          <a:prstGeom prst="rect">
            <a:avLst/>
          </a:prstGeom>
          <a:noFill/>
          <a:ln w="9525">
            <a:noFill/>
            <a:miter lim="800000"/>
            <a:headEnd/>
            <a:tailEnd/>
          </a:ln>
        </p:spPr>
      </p:pic>
      <p:pic>
        <p:nvPicPr>
          <p:cNvPr id="1029" name="Picture 5"/>
          <p:cNvPicPr>
            <a:picLocks noChangeAspect="1" noChangeArrowheads="1"/>
          </p:cNvPicPr>
          <p:nvPr/>
        </p:nvPicPr>
        <p:blipFill>
          <a:blip r:embed="rId5" cstate="print"/>
          <a:srcRect/>
          <a:stretch>
            <a:fillRect/>
          </a:stretch>
        </p:blipFill>
        <p:spPr bwMode="auto">
          <a:xfrm>
            <a:off x="6400800" y="1905000"/>
            <a:ext cx="661988" cy="903273"/>
          </a:xfrm>
          <a:prstGeom prst="rect">
            <a:avLst/>
          </a:prstGeom>
          <a:noFill/>
          <a:ln w="9525">
            <a:noFill/>
            <a:miter lim="800000"/>
            <a:headEnd/>
            <a:tailEnd/>
          </a:ln>
        </p:spPr>
      </p:pic>
      <p:pic>
        <p:nvPicPr>
          <p:cNvPr id="1030" name="Picture 6"/>
          <p:cNvPicPr>
            <a:picLocks noChangeAspect="1" noChangeArrowheads="1"/>
          </p:cNvPicPr>
          <p:nvPr/>
        </p:nvPicPr>
        <p:blipFill>
          <a:blip r:embed="rId6" cstate="print"/>
          <a:srcRect/>
          <a:stretch>
            <a:fillRect/>
          </a:stretch>
        </p:blipFill>
        <p:spPr bwMode="auto">
          <a:xfrm>
            <a:off x="3505200" y="2895600"/>
            <a:ext cx="704850" cy="971550"/>
          </a:xfrm>
          <a:prstGeom prst="rect">
            <a:avLst/>
          </a:prstGeom>
          <a:noFill/>
          <a:ln w="9525">
            <a:noFill/>
            <a:miter lim="800000"/>
            <a:headEnd/>
            <a:tailEnd/>
          </a:ln>
        </p:spPr>
      </p:pic>
      <p:pic>
        <p:nvPicPr>
          <p:cNvPr id="12" name="Picture 4"/>
          <p:cNvPicPr>
            <a:picLocks noChangeAspect="1" noChangeArrowheads="1"/>
          </p:cNvPicPr>
          <p:nvPr/>
        </p:nvPicPr>
        <p:blipFill>
          <a:blip r:embed="rId4" cstate="print"/>
          <a:srcRect/>
          <a:stretch>
            <a:fillRect/>
          </a:stretch>
        </p:blipFill>
        <p:spPr bwMode="auto">
          <a:xfrm>
            <a:off x="685800" y="2895600"/>
            <a:ext cx="552450" cy="731623"/>
          </a:xfrm>
          <a:prstGeom prst="rect">
            <a:avLst/>
          </a:prstGeom>
          <a:noFill/>
          <a:ln w="9525">
            <a:noFill/>
            <a:miter lim="800000"/>
            <a:headEnd/>
            <a:tailEnd/>
          </a:ln>
        </p:spPr>
      </p:pic>
      <p:cxnSp>
        <p:nvCxnSpPr>
          <p:cNvPr id="14" name="Straight Arrow Connector 13"/>
          <p:cNvCxnSpPr>
            <a:stCxn id="1026" idx="0"/>
            <a:endCxn id="1027" idx="2"/>
          </p:cNvCxnSpPr>
          <p:nvPr/>
        </p:nvCxnSpPr>
        <p:spPr>
          <a:xfrm flipH="1" flipV="1">
            <a:off x="7839075" y="4248150"/>
            <a:ext cx="309563" cy="85725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stCxn id="1027" idx="0"/>
            <a:endCxn id="1029" idx="2"/>
          </p:cNvCxnSpPr>
          <p:nvPr/>
        </p:nvCxnSpPr>
        <p:spPr>
          <a:xfrm flipH="1" flipV="1">
            <a:off x="6731794" y="2808273"/>
            <a:ext cx="1107281" cy="84932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1029" idx="1"/>
            <a:endCxn id="1028" idx="0"/>
          </p:cNvCxnSpPr>
          <p:nvPr/>
        </p:nvCxnSpPr>
        <p:spPr>
          <a:xfrm flipH="1">
            <a:off x="6219825" y="2356637"/>
            <a:ext cx="180975" cy="107236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1028" idx="1"/>
            <a:endCxn id="1030" idx="3"/>
          </p:cNvCxnSpPr>
          <p:nvPr/>
        </p:nvCxnSpPr>
        <p:spPr>
          <a:xfrm flipH="1" flipV="1">
            <a:off x="4210050" y="3381375"/>
            <a:ext cx="1733550" cy="41343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1030" idx="1"/>
            <a:endCxn id="12" idx="3"/>
          </p:cNvCxnSpPr>
          <p:nvPr/>
        </p:nvCxnSpPr>
        <p:spPr>
          <a:xfrm flipH="1" flipV="1">
            <a:off x="1238250" y="3261412"/>
            <a:ext cx="2266950" cy="11996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7467600" y="5486400"/>
            <a:ext cx="1371600" cy="246221"/>
          </a:xfrm>
          <a:prstGeom prst="rect">
            <a:avLst/>
          </a:prstGeom>
          <a:noFill/>
        </p:spPr>
        <p:txBody>
          <a:bodyPr wrap="square" rtlCol="0">
            <a:spAutoFit/>
          </a:bodyPr>
          <a:lstStyle/>
          <a:p>
            <a:r>
              <a:rPr lang="en-US" sz="1000" dirty="0"/>
              <a:t>Roaming Customer</a:t>
            </a:r>
            <a:endParaRPr lang="en-US" sz="1200" dirty="0"/>
          </a:p>
        </p:txBody>
      </p:sp>
      <p:sp>
        <p:nvSpPr>
          <p:cNvPr id="35" name="TextBox 34"/>
          <p:cNvSpPr txBox="1"/>
          <p:nvPr/>
        </p:nvSpPr>
        <p:spPr>
          <a:xfrm>
            <a:off x="8077200" y="3657600"/>
            <a:ext cx="838200" cy="707886"/>
          </a:xfrm>
          <a:prstGeom prst="rect">
            <a:avLst/>
          </a:prstGeom>
          <a:noFill/>
        </p:spPr>
        <p:txBody>
          <a:bodyPr wrap="square" rtlCol="0">
            <a:spAutoFit/>
          </a:bodyPr>
          <a:lstStyle/>
          <a:p>
            <a:r>
              <a:rPr lang="en-US" sz="1000" dirty="0"/>
              <a:t>Latches on to Roaming partner network</a:t>
            </a:r>
            <a:endParaRPr lang="en-US" sz="1200" dirty="0"/>
          </a:p>
        </p:txBody>
      </p:sp>
      <p:sp>
        <p:nvSpPr>
          <p:cNvPr id="36" name="TextBox 35"/>
          <p:cNvSpPr txBox="1"/>
          <p:nvPr/>
        </p:nvSpPr>
        <p:spPr>
          <a:xfrm>
            <a:off x="7086600" y="1981200"/>
            <a:ext cx="1600200" cy="707886"/>
          </a:xfrm>
          <a:prstGeom prst="rect">
            <a:avLst/>
          </a:prstGeom>
          <a:noFill/>
        </p:spPr>
        <p:txBody>
          <a:bodyPr wrap="square" rtlCol="0">
            <a:spAutoFit/>
          </a:bodyPr>
          <a:lstStyle/>
          <a:p>
            <a:r>
              <a:rPr lang="en-US" sz="1000" dirty="0"/>
              <a:t>All calls made by roaming customer are transited by Roaming partner MSC</a:t>
            </a:r>
            <a:endParaRPr lang="en-US" sz="1200" dirty="0"/>
          </a:p>
        </p:txBody>
      </p:sp>
      <p:sp>
        <p:nvSpPr>
          <p:cNvPr id="49" name="TextBox 48"/>
          <p:cNvSpPr txBox="1"/>
          <p:nvPr/>
        </p:nvSpPr>
        <p:spPr>
          <a:xfrm>
            <a:off x="5943600" y="4267200"/>
            <a:ext cx="1371600" cy="1323439"/>
          </a:xfrm>
          <a:prstGeom prst="rect">
            <a:avLst/>
          </a:prstGeom>
          <a:noFill/>
        </p:spPr>
        <p:txBody>
          <a:bodyPr wrap="square" rtlCol="0">
            <a:spAutoFit/>
          </a:bodyPr>
          <a:lstStyle/>
          <a:p>
            <a:r>
              <a:rPr lang="en-US" sz="1000" dirty="0"/>
              <a:t>All CDR’s generated at RP MSC are being sent to his roaming billing system thru which TAPIN file is being generated and sent to DCH</a:t>
            </a:r>
            <a:endParaRPr lang="en-US" sz="1200" dirty="0"/>
          </a:p>
        </p:txBody>
      </p:sp>
      <p:sp>
        <p:nvSpPr>
          <p:cNvPr id="57" name="TextBox 56"/>
          <p:cNvSpPr txBox="1"/>
          <p:nvPr/>
        </p:nvSpPr>
        <p:spPr>
          <a:xfrm>
            <a:off x="2971800" y="2286000"/>
            <a:ext cx="1828800" cy="523220"/>
          </a:xfrm>
          <a:prstGeom prst="rect">
            <a:avLst/>
          </a:prstGeom>
          <a:noFill/>
        </p:spPr>
        <p:txBody>
          <a:bodyPr wrap="square" rtlCol="0">
            <a:spAutoFit/>
          </a:bodyPr>
          <a:lstStyle/>
          <a:p>
            <a:pPr algn="ctr"/>
            <a:r>
              <a:rPr lang="en-US" sz="1400" b="1" dirty="0"/>
              <a:t>Data Clearing House</a:t>
            </a:r>
          </a:p>
        </p:txBody>
      </p:sp>
      <p:sp>
        <p:nvSpPr>
          <p:cNvPr id="58" name="TextBox 57"/>
          <p:cNvSpPr txBox="1"/>
          <p:nvPr/>
        </p:nvSpPr>
        <p:spPr>
          <a:xfrm>
            <a:off x="2971800" y="4772561"/>
            <a:ext cx="2209800" cy="1200329"/>
          </a:xfrm>
          <a:prstGeom prst="rect">
            <a:avLst/>
          </a:prstGeom>
          <a:solidFill>
            <a:schemeClr val="bg1">
              <a:lumMod val="50000"/>
            </a:schemeClr>
          </a:solidFill>
        </p:spPr>
        <p:txBody>
          <a:bodyPr wrap="square" rtlCol="0">
            <a:spAutoFit/>
          </a:bodyPr>
          <a:lstStyle/>
          <a:p>
            <a:r>
              <a:rPr lang="en-US" sz="1000" dirty="0">
                <a:solidFill>
                  <a:schemeClr val="bg1"/>
                </a:solidFill>
              </a:rPr>
              <a:t>DCH performs the basic validation on the TAP file received from the roaming partner  like</a:t>
            </a:r>
          </a:p>
          <a:p>
            <a:pPr>
              <a:buClr>
                <a:srgbClr val="FFC000"/>
              </a:buClr>
              <a:buFont typeface="Arial" pitchFamily="34" charset="0"/>
              <a:buChar char="►"/>
            </a:pPr>
            <a:r>
              <a:rPr lang="en-US" sz="1000" dirty="0">
                <a:solidFill>
                  <a:schemeClr val="bg1"/>
                </a:solidFill>
              </a:rPr>
              <a:t>File Format</a:t>
            </a:r>
          </a:p>
          <a:p>
            <a:pPr>
              <a:buClr>
                <a:srgbClr val="FFC000"/>
              </a:buClr>
              <a:buFont typeface="Arial" pitchFamily="34" charset="0"/>
              <a:buChar char="►"/>
            </a:pPr>
            <a:r>
              <a:rPr lang="en-US" sz="1000" dirty="0">
                <a:solidFill>
                  <a:schemeClr val="bg1"/>
                </a:solidFill>
              </a:rPr>
              <a:t>CDR format</a:t>
            </a:r>
          </a:p>
          <a:p>
            <a:pPr>
              <a:buClr>
                <a:srgbClr val="FFC000"/>
              </a:buClr>
              <a:buFont typeface="Arial" pitchFamily="34" charset="0"/>
              <a:buChar char="►"/>
            </a:pPr>
            <a:r>
              <a:rPr lang="en-US" sz="1000" dirty="0">
                <a:solidFill>
                  <a:schemeClr val="bg1"/>
                </a:solidFill>
              </a:rPr>
              <a:t>Tariff charged</a:t>
            </a:r>
          </a:p>
          <a:p>
            <a:pPr>
              <a:buClr>
                <a:srgbClr val="FFC000"/>
              </a:buClr>
              <a:buFont typeface="Arial" pitchFamily="34" charset="0"/>
              <a:buChar char="►"/>
            </a:pPr>
            <a:r>
              <a:rPr lang="en-US" sz="1000" dirty="0">
                <a:solidFill>
                  <a:schemeClr val="bg1"/>
                </a:solidFill>
              </a:rPr>
              <a:t>Ageing of CDR</a:t>
            </a:r>
            <a:endParaRPr lang="en-US" sz="1200" dirty="0">
              <a:solidFill>
                <a:schemeClr val="bg1"/>
              </a:solidFill>
            </a:endParaRPr>
          </a:p>
        </p:txBody>
      </p:sp>
      <p:cxnSp>
        <p:nvCxnSpPr>
          <p:cNvPr id="60" name="Straight Arrow Connector 59"/>
          <p:cNvCxnSpPr>
            <a:stCxn id="58" idx="0"/>
            <a:endCxn id="1030" idx="2"/>
          </p:cNvCxnSpPr>
          <p:nvPr/>
        </p:nvCxnSpPr>
        <p:spPr>
          <a:xfrm flipH="1" flipV="1">
            <a:off x="3857625" y="3867150"/>
            <a:ext cx="219075" cy="905411"/>
          </a:xfrm>
          <a:prstGeom prst="straightConnector1">
            <a:avLst/>
          </a:prstGeom>
          <a:ln w="25400">
            <a:prstDash val="dash"/>
            <a:tailEnd type="arrow"/>
          </a:ln>
        </p:spPr>
        <p:style>
          <a:lnRef idx="1">
            <a:schemeClr val="accent1"/>
          </a:lnRef>
          <a:fillRef idx="0">
            <a:schemeClr val="accent1"/>
          </a:fillRef>
          <a:effectRef idx="0">
            <a:schemeClr val="accent1"/>
          </a:effectRef>
          <a:fontRef idx="minor">
            <a:schemeClr val="tx1"/>
          </a:fontRef>
        </p:style>
      </p:cxnSp>
      <p:sp>
        <p:nvSpPr>
          <p:cNvPr id="63" name="TextBox 62"/>
          <p:cNvSpPr txBox="1"/>
          <p:nvPr/>
        </p:nvSpPr>
        <p:spPr>
          <a:xfrm>
            <a:off x="152400" y="4572000"/>
            <a:ext cx="2209800" cy="1477328"/>
          </a:xfrm>
          <a:prstGeom prst="rect">
            <a:avLst/>
          </a:prstGeom>
          <a:solidFill>
            <a:schemeClr val="bg1">
              <a:lumMod val="50000"/>
            </a:schemeClr>
          </a:solidFill>
        </p:spPr>
        <p:txBody>
          <a:bodyPr wrap="square" rtlCol="0">
            <a:spAutoFit/>
          </a:bodyPr>
          <a:lstStyle/>
          <a:p>
            <a:r>
              <a:rPr lang="en-US" sz="1000" dirty="0">
                <a:solidFill>
                  <a:schemeClr val="bg1"/>
                </a:solidFill>
              </a:rPr>
              <a:t>TAPIN received by the home operator and processed in there roaming billing system.</a:t>
            </a:r>
          </a:p>
          <a:p>
            <a:pPr marL="177800" indent="-177800">
              <a:buClr>
                <a:srgbClr val="FFC000"/>
              </a:buClr>
              <a:buFont typeface="Arial" pitchFamily="34" charset="0"/>
              <a:buChar char="►"/>
            </a:pPr>
            <a:r>
              <a:rPr lang="en-US" sz="1000" dirty="0">
                <a:solidFill>
                  <a:schemeClr val="bg1"/>
                </a:solidFill>
              </a:rPr>
              <a:t>In case of postpaid CDR’s are being sent to postpaid billing for rating</a:t>
            </a:r>
          </a:p>
          <a:p>
            <a:pPr marL="177800" indent="-177800">
              <a:buClr>
                <a:srgbClr val="FFC000"/>
              </a:buClr>
              <a:buFont typeface="Arial" pitchFamily="34" charset="0"/>
              <a:buChar char="►"/>
            </a:pPr>
            <a:r>
              <a:rPr lang="en-US" sz="1000" dirty="0">
                <a:solidFill>
                  <a:schemeClr val="bg1"/>
                </a:solidFill>
              </a:rPr>
              <a:t>Prepaid CDR’s are being filtered as charging for the same happens online at IN </a:t>
            </a:r>
          </a:p>
        </p:txBody>
      </p:sp>
      <p:cxnSp>
        <p:nvCxnSpPr>
          <p:cNvPr id="64" name="Straight Arrow Connector 63"/>
          <p:cNvCxnSpPr>
            <a:endCxn id="12" idx="2"/>
          </p:cNvCxnSpPr>
          <p:nvPr/>
        </p:nvCxnSpPr>
        <p:spPr>
          <a:xfrm flipH="1" flipV="1">
            <a:off x="962025" y="3627223"/>
            <a:ext cx="323851" cy="1088189"/>
          </a:xfrm>
          <a:prstGeom prst="straightConnector1">
            <a:avLst/>
          </a:prstGeom>
          <a:ln w="25400">
            <a:prstDash val="dash"/>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ox(in)">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1026"/>
                                        </p:tgtEl>
                                        <p:attrNameLst>
                                          <p:attrName>style.visibility</p:attrName>
                                        </p:attrNameLst>
                                      </p:cBhvr>
                                      <p:to>
                                        <p:strVal val="visible"/>
                                      </p:to>
                                    </p:set>
                                    <p:animEffect transition="in" filter="checkerboard(across)">
                                      <p:cBhvr>
                                        <p:cTn id="17" dur="500"/>
                                        <p:tgtEl>
                                          <p:spTgt spid="1026"/>
                                        </p:tgtEl>
                                      </p:cBhvr>
                                    </p:animEffect>
                                  </p:childTnLst>
                                </p:cTn>
                              </p:par>
                              <p:par>
                                <p:cTn id="18" presetID="5" presetClass="entr" presetSubtype="10" fill="hold" grpId="0" nodeType="withEffect">
                                  <p:stCondLst>
                                    <p:cond delay="0"/>
                                  </p:stCondLst>
                                  <p:childTnLst>
                                    <p:set>
                                      <p:cBhvr>
                                        <p:cTn id="19" dur="1" fill="hold">
                                          <p:stCondLst>
                                            <p:cond delay="0"/>
                                          </p:stCondLst>
                                        </p:cTn>
                                        <p:tgtEl>
                                          <p:spTgt spid="34"/>
                                        </p:tgtEl>
                                        <p:attrNameLst>
                                          <p:attrName>style.visibility</p:attrName>
                                        </p:attrNameLst>
                                      </p:cBhvr>
                                      <p:to>
                                        <p:strVal val="visible"/>
                                      </p:to>
                                    </p:set>
                                    <p:animEffect transition="in" filter="checkerboard(across)">
                                      <p:cBhvr>
                                        <p:cTn id="20" dur="500"/>
                                        <p:tgtEl>
                                          <p:spTgt spid="34"/>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1027"/>
                                        </p:tgtEl>
                                        <p:attrNameLst>
                                          <p:attrName>style.visibility</p:attrName>
                                        </p:attrNameLst>
                                      </p:cBhvr>
                                      <p:to>
                                        <p:strVal val="visible"/>
                                      </p:to>
                                    </p:set>
                                    <p:animEffect transition="in" filter="blinds(horizontal)">
                                      <p:cBhvr>
                                        <p:cTn id="25" dur="500"/>
                                        <p:tgtEl>
                                          <p:spTgt spid="1027"/>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35"/>
                                        </p:tgtEl>
                                        <p:attrNameLst>
                                          <p:attrName>style.visibility</p:attrName>
                                        </p:attrNameLst>
                                      </p:cBhvr>
                                      <p:to>
                                        <p:strVal val="visible"/>
                                      </p:to>
                                    </p:set>
                                    <p:animEffect transition="in" filter="blinds(horizontal)">
                                      <p:cBhvr>
                                        <p:cTn id="28" dur="500"/>
                                        <p:tgtEl>
                                          <p:spTgt spid="35"/>
                                        </p:tgtEl>
                                      </p:cBhvr>
                                    </p:animEffect>
                                  </p:childTnLst>
                                </p:cTn>
                              </p:par>
                              <p:par>
                                <p:cTn id="29" presetID="3" presetClass="entr" presetSubtype="10"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blinds(horizontal)">
                                      <p:cBhvr>
                                        <p:cTn id="31" dur="500"/>
                                        <p:tgtEl>
                                          <p:spTgt spid="14"/>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nodeType="click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blinds(horizontal)">
                                      <p:cBhvr>
                                        <p:cTn id="36" dur="500"/>
                                        <p:tgtEl>
                                          <p:spTgt spid="19"/>
                                        </p:tgtEl>
                                      </p:cBhvr>
                                    </p:animEffect>
                                  </p:childTnLst>
                                </p:cTn>
                              </p:par>
                              <p:par>
                                <p:cTn id="37" presetID="3" presetClass="entr" presetSubtype="10" fill="hold" nodeType="withEffect">
                                  <p:stCondLst>
                                    <p:cond delay="0"/>
                                  </p:stCondLst>
                                  <p:childTnLst>
                                    <p:set>
                                      <p:cBhvr>
                                        <p:cTn id="38" dur="1" fill="hold">
                                          <p:stCondLst>
                                            <p:cond delay="0"/>
                                          </p:stCondLst>
                                        </p:cTn>
                                        <p:tgtEl>
                                          <p:spTgt spid="1029"/>
                                        </p:tgtEl>
                                        <p:attrNameLst>
                                          <p:attrName>style.visibility</p:attrName>
                                        </p:attrNameLst>
                                      </p:cBhvr>
                                      <p:to>
                                        <p:strVal val="visible"/>
                                      </p:to>
                                    </p:set>
                                    <p:animEffect transition="in" filter="blinds(horizontal)">
                                      <p:cBhvr>
                                        <p:cTn id="39" dur="500"/>
                                        <p:tgtEl>
                                          <p:spTgt spid="1029"/>
                                        </p:tgtEl>
                                      </p:cBhvr>
                                    </p:animEffect>
                                  </p:childTnLst>
                                </p:cTn>
                              </p:par>
                              <p:par>
                                <p:cTn id="40" presetID="3" presetClass="entr" presetSubtype="10" fill="hold" grpId="0" nodeType="withEffect">
                                  <p:stCondLst>
                                    <p:cond delay="0"/>
                                  </p:stCondLst>
                                  <p:childTnLst>
                                    <p:set>
                                      <p:cBhvr>
                                        <p:cTn id="41" dur="1" fill="hold">
                                          <p:stCondLst>
                                            <p:cond delay="0"/>
                                          </p:stCondLst>
                                        </p:cTn>
                                        <p:tgtEl>
                                          <p:spTgt spid="36"/>
                                        </p:tgtEl>
                                        <p:attrNameLst>
                                          <p:attrName>style.visibility</p:attrName>
                                        </p:attrNameLst>
                                      </p:cBhvr>
                                      <p:to>
                                        <p:strVal val="visible"/>
                                      </p:to>
                                    </p:set>
                                    <p:animEffect transition="in" filter="blinds(horizontal)">
                                      <p:cBhvr>
                                        <p:cTn id="42" dur="500"/>
                                        <p:tgtEl>
                                          <p:spTgt spid="36"/>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blinds(horizontal)">
                                      <p:cBhvr>
                                        <p:cTn id="47" dur="500"/>
                                        <p:tgtEl>
                                          <p:spTgt spid="21"/>
                                        </p:tgtEl>
                                      </p:cBhvr>
                                    </p:animEffect>
                                  </p:childTnLst>
                                </p:cTn>
                              </p:par>
                              <p:par>
                                <p:cTn id="48" presetID="3" presetClass="entr" presetSubtype="10" fill="hold" nodeType="withEffect">
                                  <p:stCondLst>
                                    <p:cond delay="0"/>
                                  </p:stCondLst>
                                  <p:childTnLst>
                                    <p:set>
                                      <p:cBhvr>
                                        <p:cTn id="49" dur="1" fill="hold">
                                          <p:stCondLst>
                                            <p:cond delay="0"/>
                                          </p:stCondLst>
                                        </p:cTn>
                                        <p:tgtEl>
                                          <p:spTgt spid="1028"/>
                                        </p:tgtEl>
                                        <p:attrNameLst>
                                          <p:attrName>style.visibility</p:attrName>
                                        </p:attrNameLst>
                                      </p:cBhvr>
                                      <p:to>
                                        <p:strVal val="visible"/>
                                      </p:to>
                                    </p:set>
                                    <p:animEffect transition="in" filter="blinds(horizontal)">
                                      <p:cBhvr>
                                        <p:cTn id="50" dur="500"/>
                                        <p:tgtEl>
                                          <p:spTgt spid="1028"/>
                                        </p:tgtEl>
                                      </p:cBhvr>
                                    </p:animEffect>
                                  </p:childTnLst>
                                </p:cTn>
                              </p:par>
                              <p:par>
                                <p:cTn id="51" presetID="3" presetClass="entr" presetSubtype="10" fill="hold" grpId="0" nodeType="withEffect">
                                  <p:stCondLst>
                                    <p:cond delay="0"/>
                                  </p:stCondLst>
                                  <p:childTnLst>
                                    <p:set>
                                      <p:cBhvr>
                                        <p:cTn id="52" dur="1" fill="hold">
                                          <p:stCondLst>
                                            <p:cond delay="0"/>
                                          </p:stCondLst>
                                        </p:cTn>
                                        <p:tgtEl>
                                          <p:spTgt spid="49"/>
                                        </p:tgtEl>
                                        <p:attrNameLst>
                                          <p:attrName>style.visibility</p:attrName>
                                        </p:attrNameLst>
                                      </p:cBhvr>
                                      <p:to>
                                        <p:strVal val="visible"/>
                                      </p:to>
                                    </p:set>
                                    <p:animEffect transition="in" filter="blinds(horizontal)">
                                      <p:cBhvr>
                                        <p:cTn id="53" dur="500"/>
                                        <p:tgtEl>
                                          <p:spTgt spid="49"/>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grpId="0" nodeType="clickEffect">
                                  <p:stCondLst>
                                    <p:cond delay="0"/>
                                  </p:stCondLst>
                                  <p:childTnLst>
                                    <p:set>
                                      <p:cBhvr>
                                        <p:cTn id="57" dur="1" fill="hold">
                                          <p:stCondLst>
                                            <p:cond delay="0"/>
                                          </p:stCondLst>
                                        </p:cTn>
                                        <p:tgtEl>
                                          <p:spTgt spid="56"/>
                                        </p:tgtEl>
                                        <p:attrNameLst>
                                          <p:attrName>style.visibility</p:attrName>
                                        </p:attrNameLst>
                                      </p:cBhvr>
                                      <p:to>
                                        <p:strVal val="visible"/>
                                      </p:to>
                                    </p:set>
                                    <p:animEffect transition="in" filter="blinds(horizontal)">
                                      <p:cBhvr>
                                        <p:cTn id="58" dur="500"/>
                                        <p:tgtEl>
                                          <p:spTgt spid="56"/>
                                        </p:tgtEl>
                                      </p:cBhvr>
                                    </p:animEffect>
                                  </p:childTnLst>
                                </p:cTn>
                              </p:par>
                              <p:par>
                                <p:cTn id="59" presetID="3" presetClass="entr" presetSubtype="10" fill="hold" nodeType="withEffect">
                                  <p:stCondLst>
                                    <p:cond delay="0"/>
                                  </p:stCondLst>
                                  <p:childTnLst>
                                    <p:set>
                                      <p:cBhvr>
                                        <p:cTn id="60" dur="1" fill="hold">
                                          <p:stCondLst>
                                            <p:cond delay="0"/>
                                          </p:stCondLst>
                                        </p:cTn>
                                        <p:tgtEl>
                                          <p:spTgt spid="1030"/>
                                        </p:tgtEl>
                                        <p:attrNameLst>
                                          <p:attrName>style.visibility</p:attrName>
                                        </p:attrNameLst>
                                      </p:cBhvr>
                                      <p:to>
                                        <p:strVal val="visible"/>
                                      </p:to>
                                    </p:set>
                                    <p:animEffect transition="in" filter="blinds(horizontal)">
                                      <p:cBhvr>
                                        <p:cTn id="61" dur="500"/>
                                        <p:tgtEl>
                                          <p:spTgt spid="1030"/>
                                        </p:tgtEl>
                                      </p:cBhvr>
                                    </p:animEffect>
                                  </p:childTnLst>
                                </p:cTn>
                              </p:par>
                              <p:par>
                                <p:cTn id="62" presetID="3" presetClass="entr" presetSubtype="10" fill="hold" grpId="0" nodeType="withEffect">
                                  <p:stCondLst>
                                    <p:cond delay="0"/>
                                  </p:stCondLst>
                                  <p:childTnLst>
                                    <p:set>
                                      <p:cBhvr>
                                        <p:cTn id="63" dur="1" fill="hold">
                                          <p:stCondLst>
                                            <p:cond delay="0"/>
                                          </p:stCondLst>
                                        </p:cTn>
                                        <p:tgtEl>
                                          <p:spTgt spid="57"/>
                                        </p:tgtEl>
                                        <p:attrNameLst>
                                          <p:attrName>style.visibility</p:attrName>
                                        </p:attrNameLst>
                                      </p:cBhvr>
                                      <p:to>
                                        <p:strVal val="visible"/>
                                      </p:to>
                                    </p:set>
                                    <p:animEffect transition="in" filter="blinds(horizontal)">
                                      <p:cBhvr>
                                        <p:cTn id="64" dur="500"/>
                                        <p:tgtEl>
                                          <p:spTgt spid="57"/>
                                        </p:tgtEl>
                                      </p:cBhvr>
                                    </p:animEffect>
                                  </p:childTnLst>
                                </p:cTn>
                              </p:par>
                            </p:childTnLst>
                          </p:cTn>
                        </p:par>
                      </p:childTnLst>
                    </p:cTn>
                  </p:par>
                  <p:par>
                    <p:cTn id="65" fill="hold">
                      <p:stCondLst>
                        <p:cond delay="indefinite"/>
                      </p:stCondLst>
                      <p:childTnLst>
                        <p:par>
                          <p:cTn id="66" fill="hold">
                            <p:stCondLst>
                              <p:cond delay="0"/>
                            </p:stCondLst>
                            <p:childTnLst>
                              <p:par>
                                <p:cTn id="67" presetID="2" presetClass="entr" presetSubtype="4" fill="hold" nodeType="clickEffect">
                                  <p:stCondLst>
                                    <p:cond delay="0"/>
                                  </p:stCondLst>
                                  <p:childTnLst>
                                    <p:set>
                                      <p:cBhvr>
                                        <p:cTn id="68" dur="1" fill="hold">
                                          <p:stCondLst>
                                            <p:cond delay="0"/>
                                          </p:stCondLst>
                                        </p:cTn>
                                        <p:tgtEl>
                                          <p:spTgt spid="22"/>
                                        </p:tgtEl>
                                        <p:attrNameLst>
                                          <p:attrName>style.visibility</p:attrName>
                                        </p:attrNameLst>
                                      </p:cBhvr>
                                      <p:to>
                                        <p:strVal val="visible"/>
                                      </p:to>
                                    </p:set>
                                    <p:anim calcmode="lin" valueType="num">
                                      <p:cBhvr additive="base">
                                        <p:cTn id="69" dur="500" fill="hold"/>
                                        <p:tgtEl>
                                          <p:spTgt spid="22"/>
                                        </p:tgtEl>
                                        <p:attrNameLst>
                                          <p:attrName>ppt_x</p:attrName>
                                        </p:attrNameLst>
                                      </p:cBhvr>
                                      <p:tavLst>
                                        <p:tav tm="0">
                                          <p:val>
                                            <p:strVal val="#ppt_x"/>
                                          </p:val>
                                        </p:tav>
                                        <p:tav tm="100000">
                                          <p:val>
                                            <p:strVal val="#ppt_x"/>
                                          </p:val>
                                        </p:tav>
                                      </p:tavLst>
                                    </p:anim>
                                    <p:anim calcmode="lin" valueType="num">
                                      <p:cBhvr additive="base">
                                        <p:cTn id="70"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3" presetClass="entr" presetSubtype="10" fill="hold" nodeType="clickEffect">
                                  <p:stCondLst>
                                    <p:cond delay="0"/>
                                  </p:stCondLst>
                                  <p:childTnLst>
                                    <p:set>
                                      <p:cBhvr>
                                        <p:cTn id="74" dur="1" fill="hold">
                                          <p:stCondLst>
                                            <p:cond delay="0"/>
                                          </p:stCondLst>
                                        </p:cTn>
                                        <p:tgtEl>
                                          <p:spTgt spid="60"/>
                                        </p:tgtEl>
                                        <p:attrNameLst>
                                          <p:attrName>style.visibility</p:attrName>
                                        </p:attrNameLst>
                                      </p:cBhvr>
                                      <p:to>
                                        <p:strVal val="visible"/>
                                      </p:to>
                                    </p:set>
                                    <p:animEffect transition="in" filter="blinds(horizontal)">
                                      <p:cBhvr>
                                        <p:cTn id="75" dur="500"/>
                                        <p:tgtEl>
                                          <p:spTgt spid="60"/>
                                        </p:tgtEl>
                                      </p:cBhvr>
                                    </p:animEffect>
                                  </p:childTnLst>
                                </p:cTn>
                              </p:par>
                              <p:par>
                                <p:cTn id="76" presetID="3" presetClass="entr" presetSubtype="10" fill="hold" grpId="0" nodeType="withEffect">
                                  <p:stCondLst>
                                    <p:cond delay="0"/>
                                  </p:stCondLst>
                                  <p:childTnLst>
                                    <p:set>
                                      <p:cBhvr>
                                        <p:cTn id="77" dur="1" fill="hold">
                                          <p:stCondLst>
                                            <p:cond delay="0"/>
                                          </p:stCondLst>
                                        </p:cTn>
                                        <p:tgtEl>
                                          <p:spTgt spid="58"/>
                                        </p:tgtEl>
                                        <p:attrNameLst>
                                          <p:attrName>style.visibility</p:attrName>
                                        </p:attrNameLst>
                                      </p:cBhvr>
                                      <p:to>
                                        <p:strVal val="visible"/>
                                      </p:to>
                                    </p:set>
                                    <p:animEffect transition="in" filter="blinds(horizontal)">
                                      <p:cBhvr>
                                        <p:cTn id="78" dur="500"/>
                                        <p:tgtEl>
                                          <p:spTgt spid="58"/>
                                        </p:tgtEl>
                                      </p:cBhvr>
                                    </p:animEffect>
                                  </p:childTnLst>
                                </p:cTn>
                              </p:par>
                            </p:childTnLst>
                          </p:cTn>
                        </p:par>
                      </p:childTnLst>
                    </p:cTn>
                  </p:par>
                  <p:par>
                    <p:cTn id="79" fill="hold">
                      <p:stCondLst>
                        <p:cond delay="indefinite"/>
                      </p:stCondLst>
                      <p:childTnLst>
                        <p:par>
                          <p:cTn id="80" fill="hold">
                            <p:stCondLst>
                              <p:cond delay="0"/>
                            </p:stCondLst>
                            <p:childTnLst>
                              <p:par>
                                <p:cTn id="81" presetID="3" presetClass="entr" presetSubtype="10" fill="hold" grpId="0" nodeType="clickEffect">
                                  <p:stCondLst>
                                    <p:cond delay="0"/>
                                  </p:stCondLst>
                                  <p:childTnLst>
                                    <p:set>
                                      <p:cBhvr>
                                        <p:cTn id="82" dur="1" fill="hold">
                                          <p:stCondLst>
                                            <p:cond delay="0"/>
                                          </p:stCondLst>
                                        </p:cTn>
                                        <p:tgtEl>
                                          <p:spTgt spid="3"/>
                                        </p:tgtEl>
                                        <p:attrNameLst>
                                          <p:attrName>style.visibility</p:attrName>
                                        </p:attrNameLst>
                                      </p:cBhvr>
                                      <p:to>
                                        <p:strVal val="visible"/>
                                      </p:to>
                                    </p:set>
                                    <p:animEffect transition="in" filter="blinds(horizontal)">
                                      <p:cBhvr>
                                        <p:cTn id="83" dur="500"/>
                                        <p:tgtEl>
                                          <p:spTgt spid="3"/>
                                        </p:tgtEl>
                                      </p:cBhvr>
                                    </p:animEffect>
                                  </p:childTnLst>
                                </p:cTn>
                              </p:par>
                              <p:par>
                                <p:cTn id="84" presetID="3" presetClass="entr" presetSubtype="10" fill="hold" grpId="0" nodeType="withEffect">
                                  <p:stCondLst>
                                    <p:cond delay="0"/>
                                  </p:stCondLst>
                                  <p:childTnLst>
                                    <p:set>
                                      <p:cBhvr>
                                        <p:cTn id="85" dur="1" fill="hold">
                                          <p:stCondLst>
                                            <p:cond delay="0"/>
                                          </p:stCondLst>
                                        </p:cTn>
                                        <p:tgtEl>
                                          <p:spTgt spid="5"/>
                                        </p:tgtEl>
                                        <p:attrNameLst>
                                          <p:attrName>style.visibility</p:attrName>
                                        </p:attrNameLst>
                                      </p:cBhvr>
                                      <p:to>
                                        <p:strVal val="visible"/>
                                      </p:to>
                                    </p:set>
                                    <p:animEffect transition="in" filter="blinds(horizontal)">
                                      <p:cBhvr>
                                        <p:cTn id="86" dur="500"/>
                                        <p:tgtEl>
                                          <p:spTgt spid="5"/>
                                        </p:tgtEl>
                                      </p:cBhvr>
                                    </p:animEffect>
                                  </p:childTnLst>
                                </p:cTn>
                              </p:par>
                              <p:par>
                                <p:cTn id="87" presetID="3" presetClass="entr" presetSubtype="10" fill="hold" nodeType="withEffect">
                                  <p:stCondLst>
                                    <p:cond delay="0"/>
                                  </p:stCondLst>
                                  <p:childTnLst>
                                    <p:set>
                                      <p:cBhvr>
                                        <p:cTn id="88" dur="1" fill="hold">
                                          <p:stCondLst>
                                            <p:cond delay="0"/>
                                          </p:stCondLst>
                                        </p:cTn>
                                        <p:tgtEl>
                                          <p:spTgt spid="12"/>
                                        </p:tgtEl>
                                        <p:attrNameLst>
                                          <p:attrName>style.visibility</p:attrName>
                                        </p:attrNameLst>
                                      </p:cBhvr>
                                      <p:to>
                                        <p:strVal val="visible"/>
                                      </p:to>
                                    </p:set>
                                    <p:animEffect transition="in" filter="blinds(horizontal)">
                                      <p:cBhvr>
                                        <p:cTn id="89" dur="500"/>
                                        <p:tgtEl>
                                          <p:spTgt spid="12"/>
                                        </p:tgtEl>
                                      </p:cBhvr>
                                    </p:animEffect>
                                  </p:childTnLst>
                                </p:cTn>
                              </p:par>
                            </p:childTnLst>
                          </p:cTn>
                        </p:par>
                      </p:childTnLst>
                    </p:cTn>
                  </p:par>
                  <p:par>
                    <p:cTn id="90" fill="hold">
                      <p:stCondLst>
                        <p:cond delay="indefinite"/>
                      </p:stCondLst>
                      <p:childTnLst>
                        <p:par>
                          <p:cTn id="91" fill="hold">
                            <p:stCondLst>
                              <p:cond delay="0"/>
                            </p:stCondLst>
                            <p:childTnLst>
                              <p:par>
                                <p:cTn id="92" presetID="3" presetClass="entr" presetSubtype="10" fill="hold" nodeType="clickEffect">
                                  <p:stCondLst>
                                    <p:cond delay="0"/>
                                  </p:stCondLst>
                                  <p:childTnLst>
                                    <p:set>
                                      <p:cBhvr>
                                        <p:cTn id="93" dur="1" fill="hold">
                                          <p:stCondLst>
                                            <p:cond delay="0"/>
                                          </p:stCondLst>
                                        </p:cTn>
                                        <p:tgtEl>
                                          <p:spTgt spid="25"/>
                                        </p:tgtEl>
                                        <p:attrNameLst>
                                          <p:attrName>style.visibility</p:attrName>
                                        </p:attrNameLst>
                                      </p:cBhvr>
                                      <p:to>
                                        <p:strVal val="visible"/>
                                      </p:to>
                                    </p:set>
                                    <p:animEffect transition="in" filter="blinds(horizontal)">
                                      <p:cBhvr>
                                        <p:cTn id="94" dur="500"/>
                                        <p:tgtEl>
                                          <p:spTgt spid="25"/>
                                        </p:tgtEl>
                                      </p:cBhvr>
                                    </p:animEffect>
                                  </p:childTnLst>
                                </p:cTn>
                              </p:par>
                            </p:childTnLst>
                          </p:cTn>
                        </p:par>
                      </p:childTnLst>
                    </p:cTn>
                  </p:par>
                  <p:par>
                    <p:cTn id="95" fill="hold">
                      <p:stCondLst>
                        <p:cond delay="indefinite"/>
                      </p:stCondLst>
                      <p:childTnLst>
                        <p:par>
                          <p:cTn id="96" fill="hold">
                            <p:stCondLst>
                              <p:cond delay="0"/>
                            </p:stCondLst>
                            <p:childTnLst>
                              <p:par>
                                <p:cTn id="97" presetID="3" presetClass="entr" presetSubtype="10" fill="hold" nodeType="clickEffect">
                                  <p:stCondLst>
                                    <p:cond delay="0"/>
                                  </p:stCondLst>
                                  <p:childTnLst>
                                    <p:set>
                                      <p:cBhvr>
                                        <p:cTn id="98" dur="1" fill="hold">
                                          <p:stCondLst>
                                            <p:cond delay="0"/>
                                          </p:stCondLst>
                                        </p:cTn>
                                        <p:tgtEl>
                                          <p:spTgt spid="64"/>
                                        </p:tgtEl>
                                        <p:attrNameLst>
                                          <p:attrName>style.visibility</p:attrName>
                                        </p:attrNameLst>
                                      </p:cBhvr>
                                      <p:to>
                                        <p:strVal val="visible"/>
                                      </p:to>
                                    </p:set>
                                    <p:animEffect transition="in" filter="blinds(horizontal)">
                                      <p:cBhvr>
                                        <p:cTn id="99" dur="500"/>
                                        <p:tgtEl>
                                          <p:spTgt spid="64"/>
                                        </p:tgtEl>
                                      </p:cBhvr>
                                    </p:animEffect>
                                  </p:childTnLst>
                                </p:cTn>
                              </p:par>
                              <p:par>
                                <p:cTn id="100" presetID="3" presetClass="entr" presetSubtype="10" fill="hold" grpId="0" nodeType="withEffect">
                                  <p:stCondLst>
                                    <p:cond delay="0"/>
                                  </p:stCondLst>
                                  <p:childTnLst>
                                    <p:set>
                                      <p:cBhvr>
                                        <p:cTn id="101" dur="1" fill="hold">
                                          <p:stCondLst>
                                            <p:cond delay="0"/>
                                          </p:stCondLst>
                                        </p:cTn>
                                        <p:tgtEl>
                                          <p:spTgt spid="63"/>
                                        </p:tgtEl>
                                        <p:attrNameLst>
                                          <p:attrName>style.visibility</p:attrName>
                                        </p:attrNameLst>
                                      </p:cBhvr>
                                      <p:to>
                                        <p:strVal val="visible"/>
                                      </p:to>
                                    </p:set>
                                    <p:animEffect transition="in" filter="blinds(horizontal)">
                                      <p:cBhvr>
                                        <p:cTn id="102"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animBg="1"/>
      <p:bldP spid="3" grpId="0" animBg="1"/>
      <p:bldP spid="4" grpId="0" animBg="1"/>
      <p:bldP spid="5" grpId="0"/>
      <p:bldP spid="6" grpId="0"/>
      <p:bldP spid="34" grpId="0"/>
      <p:bldP spid="35" grpId="0"/>
      <p:bldP spid="36" grpId="0"/>
      <p:bldP spid="49" grpId="0"/>
      <p:bldP spid="57" grpId="0"/>
      <p:bldP spid="58" grpId="0" animBg="1"/>
      <p:bldP spid="6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tabLst>
                <a:tab pos="400050" algn="l"/>
              </a:tabLst>
              <a:defRPr/>
            </a:pPr>
            <a:r>
              <a:rPr lang="en-US" sz="2400" dirty="0">
                <a:latin typeface="EYInterstate" pitchFamily="2" charset="0"/>
              </a:rPr>
              <a:t>General Roaming Terminologies</a:t>
            </a:r>
          </a:p>
        </p:txBody>
      </p:sp>
      <p:sp>
        <p:nvSpPr>
          <p:cNvPr id="60" name="Isosceles Triangle 59"/>
          <p:cNvSpPr/>
          <p:nvPr/>
        </p:nvSpPr>
        <p:spPr>
          <a:xfrm rot="5400000">
            <a:off x="1600200" y="6111320"/>
            <a:ext cx="161925"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64" name="Isosceles Triangle 63"/>
          <p:cNvSpPr/>
          <p:nvPr/>
        </p:nvSpPr>
        <p:spPr>
          <a:xfrm rot="5400000">
            <a:off x="4308792" y="6075188"/>
            <a:ext cx="161925"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82" name="Rectangle 81"/>
          <p:cNvSpPr/>
          <p:nvPr/>
        </p:nvSpPr>
        <p:spPr>
          <a:xfrm>
            <a:off x="446913" y="5614432"/>
            <a:ext cx="457200"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a:solidFill>
                  <a:schemeClr val="bg1"/>
                </a:solidFill>
                <a:latin typeface="EYInterstate Light" pitchFamily="2" charset="0"/>
              </a:rPr>
              <a:t>7.</a:t>
            </a:r>
          </a:p>
        </p:txBody>
      </p:sp>
      <p:sp>
        <p:nvSpPr>
          <p:cNvPr id="83" name="Rectangle 82"/>
          <p:cNvSpPr/>
          <p:nvPr/>
        </p:nvSpPr>
        <p:spPr>
          <a:xfrm>
            <a:off x="3151632" y="5623576"/>
            <a:ext cx="457200"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a:solidFill>
                  <a:schemeClr val="bg1"/>
                </a:solidFill>
                <a:latin typeface="EYInterstate Light" pitchFamily="2" charset="0"/>
              </a:rPr>
              <a:t>8.</a:t>
            </a:r>
          </a:p>
        </p:txBody>
      </p:sp>
      <p:grpSp>
        <p:nvGrpSpPr>
          <p:cNvPr id="51" name="Group 50"/>
          <p:cNvGrpSpPr/>
          <p:nvPr/>
        </p:nvGrpSpPr>
        <p:grpSpPr>
          <a:xfrm>
            <a:off x="914400" y="1993408"/>
            <a:ext cx="7315200" cy="2856040"/>
            <a:chOff x="914400" y="1993408"/>
            <a:chExt cx="7315200" cy="2856040"/>
          </a:xfrm>
        </p:grpSpPr>
        <p:sp>
          <p:nvSpPr>
            <p:cNvPr id="52" name="Rectangle 51"/>
            <p:cNvSpPr/>
            <p:nvPr/>
          </p:nvSpPr>
          <p:spPr>
            <a:xfrm>
              <a:off x="4599787" y="3432381"/>
              <a:ext cx="1185681" cy="140176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53" name="Rectangle 52"/>
            <p:cNvSpPr/>
            <p:nvPr/>
          </p:nvSpPr>
          <p:spPr>
            <a:xfrm>
              <a:off x="3371835" y="1993408"/>
              <a:ext cx="1185681" cy="140335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54" name="Rectangle 53"/>
            <p:cNvSpPr/>
            <p:nvPr/>
          </p:nvSpPr>
          <p:spPr>
            <a:xfrm>
              <a:off x="3418582" y="1998170"/>
              <a:ext cx="1090770" cy="181268"/>
            </a:xfrm>
            <a:prstGeom prst="rect">
              <a:avLst/>
            </a:prstGeom>
          </p:spPr>
          <p:txBody>
            <a:bodyPr lIns="0" tIns="0" rIns="0" bIns="0">
              <a:spAutoFit/>
            </a:bodyPr>
            <a:lstStyle/>
            <a:p>
              <a:pPr>
                <a:lnSpc>
                  <a:spcPts val="1500"/>
                </a:lnSpc>
                <a:buClr>
                  <a:srgbClr val="FFD200"/>
                </a:buClr>
                <a:buSzPct val="75000"/>
                <a:buFont typeface="Arial" charset="0"/>
                <a:buNone/>
                <a:tabLst>
                  <a:tab pos="400050" algn="l"/>
                </a:tabLst>
                <a:defRPr/>
              </a:pPr>
              <a:r>
                <a:rPr lang="en-US" sz="1200" dirty="0">
                  <a:latin typeface="EYInterstate" pitchFamily="2" charset="0"/>
                </a:rPr>
                <a:t>Key Concepts</a:t>
              </a:r>
            </a:p>
          </p:txBody>
        </p:sp>
        <p:sp>
          <p:nvSpPr>
            <p:cNvPr id="55" name="Rectangle 54"/>
            <p:cNvSpPr/>
            <p:nvPr/>
          </p:nvSpPr>
          <p:spPr>
            <a:xfrm>
              <a:off x="2141049" y="3438477"/>
              <a:ext cx="1185681" cy="1401763"/>
            </a:xfrm>
            <a:prstGeom prst="rect">
              <a:avLst/>
            </a:prstGeom>
            <a:solidFill>
              <a:srgbClr val="FFD2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56" name="Rectangle 20"/>
            <p:cNvSpPr>
              <a:spLocks noChangeArrowheads="1"/>
            </p:cNvSpPr>
            <p:nvPr/>
          </p:nvSpPr>
          <p:spPr bwMode="auto">
            <a:xfrm>
              <a:off x="2178107" y="4094686"/>
              <a:ext cx="1014275" cy="553998"/>
            </a:xfrm>
            <a:prstGeom prst="rect">
              <a:avLst/>
            </a:prstGeom>
            <a:noFill/>
            <a:ln w="9525">
              <a:noFill/>
              <a:miter lim="800000"/>
              <a:headEnd/>
              <a:tailEnd/>
            </a:ln>
          </p:spPr>
          <p:txBody>
            <a:bodyPr lIns="0" tIns="0" rIns="0" bIns="0">
              <a:spAutoFit/>
            </a:bodyPr>
            <a:lstStyle/>
            <a:p>
              <a:pPr>
                <a:buClr>
                  <a:srgbClr val="FFD200"/>
                </a:buClr>
                <a:buSzPct val="75000"/>
                <a:buFont typeface="Arial" pitchFamily="34" charset="0"/>
                <a:buNone/>
                <a:tabLst>
                  <a:tab pos="400050" algn="l"/>
                </a:tabLst>
              </a:pPr>
              <a:r>
                <a:rPr lang="en-US" sz="1200" dirty="0">
                  <a:latin typeface="EYInterstate" pitchFamily="2" charset="0"/>
                </a:rPr>
                <a:t>General Roaming</a:t>
              </a:r>
            </a:p>
            <a:p>
              <a:pPr>
                <a:buClr>
                  <a:srgbClr val="FFD200"/>
                </a:buClr>
                <a:buSzPct val="75000"/>
                <a:buFont typeface="Arial" pitchFamily="34" charset="0"/>
                <a:buNone/>
                <a:tabLst>
                  <a:tab pos="400050" algn="l"/>
                </a:tabLst>
              </a:pPr>
              <a:r>
                <a:rPr lang="en-US" sz="1200" dirty="0">
                  <a:latin typeface="EYInterstate" pitchFamily="2" charset="0"/>
                </a:rPr>
                <a:t>Terminologies</a:t>
              </a:r>
              <a:endParaRPr lang="en-US" sz="1200" dirty="0">
                <a:solidFill>
                  <a:srgbClr val="000000"/>
                </a:solidFill>
                <a:latin typeface="EYInterstate Light" pitchFamily="2" charset="0"/>
              </a:endParaRPr>
            </a:p>
          </p:txBody>
        </p:sp>
        <p:grpSp>
          <p:nvGrpSpPr>
            <p:cNvPr id="59" name="Group 33"/>
            <p:cNvGrpSpPr>
              <a:grpSpLocks/>
            </p:cNvGrpSpPr>
            <p:nvPr/>
          </p:nvGrpSpPr>
          <p:grpSpPr bwMode="auto">
            <a:xfrm>
              <a:off x="5820601" y="2004145"/>
              <a:ext cx="1187098" cy="1401763"/>
              <a:chOff x="4599803" y="2102667"/>
              <a:chExt cx="1329095" cy="1401653"/>
            </a:xfrm>
          </p:grpSpPr>
          <p:sp>
            <p:nvSpPr>
              <p:cNvPr id="101" name="Rectangle 100"/>
              <p:cNvSpPr/>
              <p:nvPr/>
            </p:nvSpPr>
            <p:spPr>
              <a:xfrm>
                <a:off x="4599803" y="2102667"/>
                <a:ext cx="1329095" cy="140165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102" name="Rectangle 23"/>
              <p:cNvSpPr>
                <a:spLocks noChangeArrowheads="1"/>
              </p:cNvSpPr>
              <p:nvPr/>
            </p:nvSpPr>
            <p:spPr bwMode="auto">
              <a:xfrm>
                <a:off x="4633035" y="2162263"/>
                <a:ext cx="1136666" cy="384691"/>
              </a:xfrm>
              <a:prstGeom prst="rect">
                <a:avLst/>
              </a:prstGeom>
              <a:noFill/>
              <a:ln w="9525">
                <a:noFill/>
                <a:miter lim="800000"/>
                <a:headEnd/>
                <a:tailEnd/>
              </a:ln>
            </p:spPr>
            <p:txBody>
              <a:bodyPr lIns="0" tIns="0" rIns="0" bIns="0">
                <a:spAutoFit/>
              </a:bodyPr>
              <a:lstStyle/>
              <a:p>
                <a:pPr>
                  <a:lnSpc>
                    <a:spcPts val="1500"/>
                  </a:lnSpc>
                  <a:buClr>
                    <a:srgbClr val="FFD200"/>
                  </a:buClr>
                  <a:buSzPct val="75000"/>
                  <a:tabLst>
                    <a:tab pos="400050" algn="l"/>
                  </a:tabLst>
                  <a:defRPr/>
                </a:pPr>
                <a:r>
                  <a:rPr lang="en-US" sz="1200" dirty="0">
                    <a:latin typeface="EYInterstate" pitchFamily="2" charset="0"/>
                  </a:rPr>
                  <a:t>Intra Circle  Roaming</a:t>
                </a:r>
              </a:p>
            </p:txBody>
          </p:sp>
        </p:grpSp>
        <p:sp>
          <p:nvSpPr>
            <p:cNvPr id="61" name="Rectangle 22"/>
            <p:cNvSpPr>
              <a:spLocks noChangeArrowheads="1"/>
            </p:cNvSpPr>
            <p:nvPr/>
          </p:nvSpPr>
          <p:spPr bwMode="auto">
            <a:xfrm>
              <a:off x="4636782" y="4350772"/>
              <a:ext cx="1105972" cy="373628"/>
            </a:xfrm>
            <a:prstGeom prst="rect">
              <a:avLst/>
            </a:prstGeom>
            <a:noFill/>
            <a:ln w="9525">
              <a:noFill/>
              <a:miter lim="800000"/>
              <a:headEnd/>
              <a:tailEnd/>
            </a:ln>
          </p:spPr>
          <p:txBody>
            <a:bodyPr lIns="0" tIns="0" rIns="0" bIns="0">
              <a:spAutoFit/>
            </a:bodyPr>
            <a:lstStyle/>
            <a:p>
              <a:pPr>
                <a:lnSpc>
                  <a:spcPts val="1500"/>
                </a:lnSpc>
                <a:buClr>
                  <a:srgbClr val="FFD200"/>
                </a:buClr>
                <a:buSzPct val="75000"/>
                <a:buFont typeface="Arial" charset="0"/>
                <a:buNone/>
                <a:tabLst>
                  <a:tab pos="400050" algn="l"/>
                </a:tabLst>
                <a:defRPr/>
              </a:pPr>
              <a:r>
                <a:rPr lang="en-US" sz="1200" dirty="0">
                  <a:latin typeface="EYInterstate" pitchFamily="2" charset="0"/>
                </a:rPr>
                <a:t>Roaming Revenue Cycle</a:t>
              </a:r>
            </a:p>
          </p:txBody>
        </p:sp>
        <p:grpSp>
          <p:nvGrpSpPr>
            <p:cNvPr id="62" name="Group 44"/>
            <p:cNvGrpSpPr>
              <a:grpSpLocks/>
            </p:cNvGrpSpPr>
            <p:nvPr/>
          </p:nvGrpSpPr>
          <p:grpSpPr bwMode="auto">
            <a:xfrm>
              <a:off x="7035528" y="3447686"/>
              <a:ext cx="1185683" cy="1401762"/>
              <a:chOff x="5972094" y="3483677"/>
              <a:chExt cx="1329077" cy="1401653"/>
            </a:xfrm>
          </p:grpSpPr>
          <p:sp>
            <p:nvSpPr>
              <p:cNvPr id="99" name="Rectangle 98"/>
              <p:cNvSpPr/>
              <p:nvPr/>
            </p:nvSpPr>
            <p:spPr>
              <a:xfrm>
                <a:off x="5972094" y="3483677"/>
                <a:ext cx="1329077" cy="140165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100" name="Rectangle 24"/>
              <p:cNvSpPr>
                <a:spLocks noChangeArrowheads="1"/>
              </p:cNvSpPr>
              <p:nvPr/>
            </p:nvSpPr>
            <p:spPr bwMode="auto">
              <a:xfrm>
                <a:off x="6011147" y="4575640"/>
                <a:ext cx="1136650" cy="184652"/>
              </a:xfrm>
              <a:prstGeom prst="rect">
                <a:avLst/>
              </a:prstGeom>
              <a:noFill/>
              <a:ln w="9525">
                <a:noFill/>
                <a:miter lim="800000"/>
                <a:headEnd/>
                <a:tailEnd/>
              </a:ln>
            </p:spPr>
            <p:txBody>
              <a:bodyPr lIns="0" tIns="0" rIns="0" bIns="0">
                <a:spAutoFit/>
              </a:bodyPr>
              <a:lstStyle/>
              <a:p>
                <a:pPr>
                  <a:buClr>
                    <a:srgbClr val="FFD200"/>
                  </a:buClr>
                  <a:buSzPct val="75000"/>
                  <a:tabLst>
                    <a:tab pos="400050" algn="l"/>
                  </a:tabLst>
                </a:pPr>
                <a:r>
                  <a:rPr lang="en-US" sz="1200" dirty="0">
                    <a:latin typeface="EYInterstate" pitchFamily="2" charset="0"/>
                  </a:rPr>
                  <a:t>Glossary </a:t>
                </a:r>
              </a:p>
            </p:txBody>
          </p:sp>
        </p:grpSp>
        <p:pic>
          <p:nvPicPr>
            <p:cNvPr id="63" name="Picture 4" descr="investment"/>
            <p:cNvPicPr>
              <a:picLocks noChangeArrowheads="1"/>
            </p:cNvPicPr>
            <p:nvPr/>
          </p:nvPicPr>
          <p:blipFill>
            <a:blip r:embed="rId2" cstate="print"/>
            <a:srcRect/>
            <a:stretch>
              <a:fillRect/>
            </a:stretch>
          </p:blipFill>
          <p:spPr bwMode="auto">
            <a:xfrm>
              <a:off x="4588908" y="2005600"/>
              <a:ext cx="1183132" cy="1399032"/>
            </a:xfrm>
            <a:prstGeom prst="rect">
              <a:avLst/>
            </a:prstGeom>
            <a:noFill/>
          </p:spPr>
        </p:pic>
        <p:pic>
          <p:nvPicPr>
            <p:cNvPr id="70" name="Picture 29" descr="14H02278_RF.jpg"/>
            <p:cNvPicPr>
              <a:picLocks noChangeAspect="1"/>
            </p:cNvPicPr>
            <p:nvPr/>
          </p:nvPicPr>
          <p:blipFill>
            <a:blip r:embed="rId3" cstate="print"/>
            <a:srcRect b="29448"/>
            <a:stretch>
              <a:fillRect/>
            </a:stretch>
          </p:blipFill>
          <p:spPr bwMode="auto">
            <a:xfrm>
              <a:off x="3375858" y="3432064"/>
              <a:ext cx="1182848" cy="1401763"/>
            </a:xfrm>
            <a:prstGeom prst="rect">
              <a:avLst/>
            </a:prstGeom>
            <a:noFill/>
            <a:ln w="9525">
              <a:noFill/>
              <a:miter lim="800000"/>
              <a:headEnd/>
              <a:tailEnd/>
            </a:ln>
          </p:spPr>
        </p:pic>
        <p:grpSp>
          <p:nvGrpSpPr>
            <p:cNvPr id="73" name="Group 44"/>
            <p:cNvGrpSpPr/>
            <p:nvPr/>
          </p:nvGrpSpPr>
          <p:grpSpPr>
            <a:xfrm>
              <a:off x="914400" y="1993408"/>
              <a:ext cx="1185681" cy="1479901"/>
              <a:chOff x="402336" y="1993408"/>
              <a:chExt cx="1185681" cy="1479901"/>
            </a:xfrm>
          </p:grpSpPr>
          <p:sp>
            <p:nvSpPr>
              <p:cNvPr id="95" name="Rectangle 94"/>
              <p:cNvSpPr/>
              <p:nvPr/>
            </p:nvSpPr>
            <p:spPr>
              <a:xfrm>
                <a:off x="402336" y="1993408"/>
                <a:ext cx="1185681" cy="140176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96" name="Rectangle 9"/>
              <p:cNvSpPr/>
              <p:nvPr/>
            </p:nvSpPr>
            <p:spPr>
              <a:xfrm>
                <a:off x="414915" y="2734645"/>
                <a:ext cx="407976"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a:solidFill>
                      <a:schemeClr val="bg1"/>
                    </a:solidFill>
                    <a:latin typeface="EYInterstate Light" pitchFamily="2" charset="0"/>
                  </a:rPr>
                  <a:t>1.</a:t>
                </a:r>
              </a:p>
            </p:txBody>
          </p:sp>
          <p:sp>
            <p:nvSpPr>
              <p:cNvPr id="97" name="Isosceles Triangle 10"/>
              <p:cNvSpPr/>
              <p:nvPr/>
            </p:nvSpPr>
            <p:spPr>
              <a:xfrm rot="10800000">
                <a:off x="1427830" y="3303477"/>
                <a:ext cx="144492"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98" name="Rectangle 20"/>
              <p:cNvSpPr>
                <a:spLocks noChangeArrowheads="1"/>
              </p:cNvSpPr>
              <p:nvPr/>
            </p:nvSpPr>
            <p:spPr bwMode="auto">
              <a:xfrm>
                <a:off x="429534" y="2022110"/>
                <a:ext cx="1014275" cy="553998"/>
              </a:xfrm>
              <a:prstGeom prst="rect">
                <a:avLst/>
              </a:prstGeom>
              <a:noFill/>
              <a:ln w="9525">
                <a:noFill/>
                <a:miter lim="800000"/>
                <a:headEnd/>
                <a:tailEnd/>
              </a:ln>
            </p:spPr>
            <p:txBody>
              <a:bodyPr lIns="0" tIns="0" rIns="0" bIns="0">
                <a:spAutoFit/>
              </a:bodyPr>
              <a:lstStyle/>
              <a:p>
                <a:pPr>
                  <a:buClr>
                    <a:srgbClr val="FFD200"/>
                  </a:buClr>
                  <a:buSzPct val="75000"/>
                  <a:buFont typeface="Arial" pitchFamily="34" charset="0"/>
                  <a:buNone/>
                  <a:tabLst>
                    <a:tab pos="400050" algn="l"/>
                  </a:tabLst>
                </a:pPr>
                <a:r>
                  <a:rPr lang="en-US" sz="1200" dirty="0">
                    <a:latin typeface="EYInterstate" pitchFamily="2" charset="0"/>
                  </a:rPr>
                  <a:t>Introduction to Roaming</a:t>
                </a:r>
              </a:p>
              <a:p>
                <a:pPr>
                  <a:buClr>
                    <a:srgbClr val="FFD200"/>
                  </a:buClr>
                  <a:buSzPct val="75000"/>
                  <a:buFont typeface="Arial" pitchFamily="34" charset="0"/>
                  <a:buNone/>
                  <a:tabLst>
                    <a:tab pos="400050" algn="l"/>
                  </a:tabLst>
                </a:pPr>
                <a:endParaRPr lang="en-US" sz="1200" dirty="0">
                  <a:solidFill>
                    <a:srgbClr val="000000"/>
                  </a:solidFill>
                  <a:latin typeface="EYInterstate Light" pitchFamily="2" charset="0"/>
                </a:endParaRPr>
              </a:p>
            </p:txBody>
          </p:sp>
        </p:grpSp>
        <p:sp>
          <p:nvSpPr>
            <p:cNvPr id="74" name="Isosceles Triangle 73"/>
            <p:cNvSpPr/>
            <p:nvPr/>
          </p:nvSpPr>
          <p:spPr bwMode="auto">
            <a:xfrm>
              <a:off x="3154587" y="3474673"/>
              <a:ext cx="145908"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75" name="Isosceles Triangle 74"/>
            <p:cNvSpPr/>
            <p:nvPr/>
          </p:nvSpPr>
          <p:spPr>
            <a:xfrm rot="10800000">
              <a:off x="4373700" y="3297381"/>
              <a:ext cx="144492"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76" name="Isosceles Triangle 75"/>
            <p:cNvSpPr/>
            <p:nvPr/>
          </p:nvSpPr>
          <p:spPr bwMode="auto">
            <a:xfrm>
              <a:off x="5607093" y="3486928"/>
              <a:ext cx="145908"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84" name="Isosceles Triangle 83"/>
            <p:cNvSpPr/>
            <p:nvPr/>
          </p:nvSpPr>
          <p:spPr>
            <a:xfrm rot="10800000">
              <a:off x="6824279" y="3315669"/>
              <a:ext cx="144492"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85" name="Isosceles Triangle 84"/>
            <p:cNvSpPr/>
            <p:nvPr/>
          </p:nvSpPr>
          <p:spPr bwMode="auto">
            <a:xfrm>
              <a:off x="8027753" y="3493024"/>
              <a:ext cx="145908"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86" name="Rectangle 85"/>
            <p:cNvSpPr/>
            <p:nvPr/>
          </p:nvSpPr>
          <p:spPr>
            <a:xfrm>
              <a:off x="3364979" y="2752933"/>
              <a:ext cx="407976"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a:solidFill>
                    <a:schemeClr val="bg1"/>
                  </a:solidFill>
                  <a:latin typeface="EYInterstate Light" pitchFamily="2" charset="0"/>
                </a:rPr>
                <a:t>3.</a:t>
              </a:r>
            </a:p>
          </p:txBody>
        </p:sp>
        <p:sp>
          <p:nvSpPr>
            <p:cNvPr id="87" name="Rectangle 86"/>
            <p:cNvSpPr/>
            <p:nvPr/>
          </p:nvSpPr>
          <p:spPr>
            <a:xfrm>
              <a:off x="5801958" y="2769765"/>
              <a:ext cx="407976"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a:solidFill>
                    <a:schemeClr val="bg1"/>
                  </a:solidFill>
                  <a:latin typeface="EYInterstate Light" pitchFamily="2" charset="0"/>
                </a:rPr>
                <a:t>5.</a:t>
              </a:r>
            </a:p>
          </p:txBody>
        </p:sp>
        <p:sp>
          <p:nvSpPr>
            <p:cNvPr id="88" name="Rectangle 87"/>
            <p:cNvSpPr/>
            <p:nvPr/>
          </p:nvSpPr>
          <p:spPr>
            <a:xfrm>
              <a:off x="2154648" y="3453400"/>
              <a:ext cx="407976"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a:solidFill>
                    <a:schemeClr val="bg1"/>
                  </a:solidFill>
                  <a:latin typeface="EYInterstate Light" pitchFamily="2" charset="0"/>
                </a:rPr>
                <a:t>2.</a:t>
              </a:r>
            </a:p>
          </p:txBody>
        </p:sp>
        <p:sp>
          <p:nvSpPr>
            <p:cNvPr id="89" name="Rectangle 88"/>
            <p:cNvSpPr/>
            <p:nvPr/>
          </p:nvSpPr>
          <p:spPr>
            <a:xfrm>
              <a:off x="4632425" y="3450352"/>
              <a:ext cx="407976"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a:solidFill>
                    <a:schemeClr val="bg1"/>
                  </a:solidFill>
                  <a:latin typeface="EYInterstate Light" pitchFamily="2" charset="0"/>
                </a:rPr>
                <a:t>4.</a:t>
              </a:r>
            </a:p>
          </p:txBody>
        </p:sp>
        <p:sp>
          <p:nvSpPr>
            <p:cNvPr id="90" name="Rectangle 89"/>
            <p:cNvSpPr/>
            <p:nvPr/>
          </p:nvSpPr>
          <p:spPr>
            <a:xfrm>
              <a:off x="7063965" y="3461496"/>
              <a:ext cx="407976"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a:solidFill>
                    <a:schemeClr val="bg1"/>
                  </a:solidFill>
                  <a:latin typeface="EYInterstate Light" pitchFamily="2" charset="0"/>
                </a:rPr>
                <a:t>6. </a:t>
              </a:r>
            </a:p>
          </p:txBody>
        </p:sp>
        <p:pic>
          <p:nvPicPr>
            <p:cNvPr id="91" name="Picture 1" descr="C:\TechM Warehouse\Data 1\Useful Presentations\Useful Pics\Cong 1.jpg"/>
            <p:cNvPicPr>
              <a:picLocks noChangeArrowheads="1"/>
            </p:cNvPicPr>
            <p:nvPr/>
          </p:nvPicPr>
          <p:blipFill>
            <a:blip r:embed="rId4" cstate="print"/>
            <a:srcRect/>
            <a:stretch>
              <a:fillRect/>
            </a:stretch>
          </p:blipFill>
          <p:spPr bwMode="auto">
            <a:xfrm>
              <a:off x="919718" y="3429016"/>
              <a:ext cx="1183132" cy="1399032"/>
            </a:xfrm>
            <a:prstGeom prst="rect">
              <a:avLst/>
            </a:prstGeom>
            <a:noFill/>
          </p:spPr>
        </p:pic>
        <p:pic>
          <p:nvPicPr>
            <p:cNvPr id="92" name="Picture 3"/>
            <p:cNvPicPr>
              <a:picLocks noChangeArrowheads="1"/>
            </p:cNvPicPr>
            <p:nvPr/>
          </p:nvPicPr>
          <p:blipFill>
            <a:blip r:embed="rId5" cstate="print"/>
            <a:srcRect/>
            <a:stretch>
              <a:fillRect/>
            </a:stretch>
          </p:blipFill>
          <p:spPr bwMode="auto">
            <a:xfrm>
              <a:off x="2145675" y="1994864"/>
              <a:ext cx="1183132" cy="1399032"/>
            </a:xfrm>
            <a:prstGeom prst="rect">
              <a:avLst/>
            </a:prstGeom>
            <a:noFill/>
            <a:ln w="9525">
              <a:noFill/>
              <a:miter lim="800000"/>
              <a:headEnd/>
              <a:tailEnd/>
            </a:ln>
            <a:effectLst/>
          </p:spPr>
        </p:pic>
        <p:pic>
          <p:nvPicPr>
            <p:cNvPr id="93" name="Picture 4"/>
            <p:cNvPicPr>
              <a:picLocks noChangeArrowheads="1"/>
            </p:cNvPicPr>
            <p:nvPr/>
          </p:nvPicPr>
          <p:blipFill>
            <a:blip r:embed="rId6" cstate="print"/>
            <a:srcRect/>
            <a:stretch>
              <a:fillRect/>
            </a:stretch>
          </p:blipFill>
          <p:spPr bwMode="auto">
            <a:xfrm>
              <a:off x="5810360" y="3444936"/>
              <a:ext cx="1183132" cy="1399032"/>
            </a:xfrm>
            <a:prstGeom prst="rect">
              <a:avLst/>
            </a:prstGeom>
            <a:noFill/>
            <a:ln w="9525">
              <a:noFill/>
              <a:miter lim="800000"/>
              <a:headEnd/>
              <a:tailEnd/>
            </a:ln>
            <a:effectLst/>
          </p:spPr>
        </p:pic>
        <p:pic>
          <p:nvPicPr>
            <p:cNvPr id="94" name="Picture 5"/>
            <p:cNvPicPr>
              <a:picLocks noChangeArrowheads="1"/>
            </p:cNvPicPr>
            <p:nvPr/>
          </p:nvPicPr>
          <p:blipFill>
            <a:blip r:embed="rId7" cstate="print"/>
            <a:srcRect/>
            <a:stretch>
              <a:fillRect/>
            </a:stretch>
          </p:blipFill>
          <p:spPr bwMode="auto">
            <a:xfrm>
              <a:off x="7046468" y="2013039"/>
              <a:ext cx="1183132" cy="1399032"/>
            </a:xfrm>
            <a:prstGeom prst="rect">
              <a:avLst/>
            </a:prstGeom>
            <a:noFill/>
            <a:ln w="9525">
              <a:noFill/>
              <a:miter lim="800000"/>
              <a:headEnd/>
              <a:tailEnd/>
            </a:ln>
            <a:effectLst/>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latin typeface="EYInterstate" pitchFamily="2" charset="0"/>
              </a:rPr>
              <a:t>General Roaming Terminologies</a:t>
            </a:r>
            <a:endParaRPr lang="en-US" dirty="0">
              <a:latin typeface="EYInterstate" pitchFamily="2" charset="0"/>
            </a:endParaRPr>
          </a:p>
        </p:txBody>
      </p:sp>
      <p:sp>
        <p:nvSpPr>
          <p:cNvPr id="4" name="Rectangle 3"/>
          <p:cNvSpPr/>
          <p:nvPr/>
        </p:nvSpPr>
        <p:spPr>
          <a:xfrm>
            <a:off x="457200" y="1143000"/>
            <a:ext cx="8229600" cy="838200"/>
          </a:xfrm>
          <a:prstGeom prst="rect">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7800" indent="-177800">
              <a:buClr>
                <a:srgbClr val="FFC000"/>
              </a:buClr>
              <a:buFont typeface="Arial" pitchFamily="34" charset="0"/>
              <a:buChar char="►"/>
            </a:pPr>
            <a:r>
              <a:rPr lang="en-US" sz="1200" b="1" dirty="0">
                <a:latin typeface="EYInterstate" pitchFamily="2" charset="0"/>
              </a:rPr>
              <a:t> TAP </a:t>
            </a:r>
            <a:r>
              <a:rPr lang="en-US" sz="1200" dirty="0">
                <a:latin typeface="EYInterstate" pitchFamily="2" charset="0"/>
              </a:rPr>
              <a:t>-The Transferred Account Procedure is the mechanism by which operators exchange roaming billing information. This is how roaming partners are able to bill each other for the use of networks and services through a standard process.</a:t>
            </a:r>
          </a:p>
        </p:txBody>
      </p:sp>
      <p:sp>
        <p:nvSpPr>
          <p:cNvPr id="5" name="Rectangle 4"/>
          <p:cNvSpPr/>
          <p:nvPr/>
        </p:nvSpPr>
        <p:spPr>
          <a:xfrm>
            <a:off x="457200" y="2057400"/>
            <a:ext cx="8229600" cy="457200"/>
          </a:xfrm>
          <a:prstGeom prst="rect">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7800" indent="-177800">
              <a:buClr>
                <a:srgbClr val="FFC000"/>
              </a:buClr>
              <a:buFont typeface="Arial" pitchFamily="34" charset="0"/>
              <a:buChar char="►"/>
            </a:pPr>
            <a:r>
              <a:rPr lang="en-US" sz="1200" b="1" dirty="0">
                <a:solidFill>
                  <a:schemeClr val="tx1">
                    <a:lumMod val="50000"/>
                  </a:schemeClr>
                </a:solidFill>
                <a:latin typeface="EYInterstate" pitchFamily="2" charset="0"/>
              </a:rPr>
              <a:t> TAPIN </a:t>
            </a:r>
            <a:r>
              <a:rPr lang="en-US" sz="1200" dirty="0">
                <a:solidFill>
                  <a:schemeClr val="tx1">
                    <a:lumMod val="50000"/>
                  </a:schemeClr>
                </a:solidFill>
                <a:latin typeface="EYInterstate" pitchFamily="2" charset="0"/>
              </a:rPr>
              <a:t>-File received from third party operator for customers roaming (using) their network</a:t>
            </a:r>
          </a:p>
        </p:txBody>
      </p:sp>
      <p:sp>
        <p:nvSpPr>
          <p:cNvPr id="6" name="Rectangle 5"/>
          <p:cNvSpPr/>
          <p:nvPr/>
        </p:nvSpPr>
        <p:spPr>
          <a:xfrm>
            <a:off x="457200" y="2590800"/>
            <a:ext cx="8229600" cy="457200"/>
          </a:xfrm>
          <a:prstGeom prst="rect">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7800" indent="-177800">
              <a:buClr>
                <a:srgbClr val="FFC000"/>
              </a:buClr>
              <a:buFont typeface="Arial" pitchFamily="34" charset="0"/>
              <a:buChar char="►"/>
            </a:pPr>
            <a:r>
              <a:rPr lang="en-US" sz="1200" b="1" dirty="0">
                <a:latin typeface="EYInterstate" pitchFamily="2" charset="0"/>
              </a:rPr>
              <a:t> TAPOUT - </a:t>
            </a:r>
            <a:r>
              <a:rPr lang="en-US" sz="1200" dirty="0">
                <a:latin typeface="EYInterstate" pitchFamily="2" charset="0"/>
              </a:rPr>
              <a:t>File prepared with all visitors on the network. This file is sent to the clearing house or directly to the involved third party operator (operator of which the visitor is a customer)</a:t>
            </a:r>
          </a:p>
        </p:txBody>
      </p:sp>
      <p:sp>
        <p:nvSpPr>
          <p:cNvPr id="7" name="Rectangle 6"/>
          <p:cNvSpPr/>
          <p:nvPr/>
        </p:nvSpPr>
        <p:spPr>
          <a:xfrm>
            <a:off x="457200" y="3124200"/>
            <a:ext cx="8229600" cy="914400"/>
          </a:xfrm>
          <a:prstGeom prst="rect">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7800" indent="-177800">
              <a:buClr>
                <a:srgbClr val="FFC000"/>
              </a:buClr>
              <a:buFont typeface="Arial" pitchFamily="34" charset="0"/>
              <a:buChar char="►"/>
            </a:pPr>
            <a:r>
              <a:rPr lang="en-US" sz="1200" b="1" dirty="0">
                <a:solidFill>
                  <a:schemeClr val="tx1">
                    <a:lumMod val="50000"/>
                  </a:schemeClr>
                </a:solidFill>
                <a:latin typeface="EYInterstate" pitchFamily="2" charset="0"/>
              </a:rPr>
              <a:t> DCH </a:t>
            </a:r>
            <a:r>
              <a:rPr lang="en-US" sz="1200" dirty="0">
                <a:solidFill>
                  <a:schemeClr val="tx1">
                    <a:lumMod val="50000"/>
                  </a:schemeClr>
                </a:solidFill>
                <a:latin typeface="EYInterstate" pitchFamily="2" charset="0"/>
              </a:rPr>
              <a:t>–Data Clearing House services may be employed by an operator to act as its agent.  Data Clearing Houses can provide a single point of contact to send and distribute files to and from roaming partners. Data Clearing Houses (DCH), where employed, are responsible to their customer for the error free transfer of TAP files between the roaming partners.</a:t>
            </a:r>
          </a:p>
        </p:txBody>
      </p:sp>
      <p:sp>
        <p:nvSpPr>
          <p:cNvPr id="9" name="Rectangle 8"/>
          <p:cNvSpPr/>
          <p:nvPr/>
        </p:nvSpPr>
        <p:spPr>
          <a:xfrm>
            <a:off x="457200" y="4114800"/>
            <a:ext cx="8229600" cy="457200"/>
          </a:xfrm>
          <a:prstGeom prst="rect">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7800" indent="-177800">
              <a:buClr>
                <a:srgbClr val="FFC000"/>
              </a:buClr>
              <a:buFont typeface="Arial" pitchFamily="34" charset="0"/>
              <a:buChar char="►"/>
            </a:pPr>
            <a:r>
              <a:rPr lang="en-US" sz="1200" b="1" dirty="0">
                <a:latin typeface="EYInterstate" pitchFamily="2" charset="0"/>
              </a:rPr>
              <a:t> Roaming in - </a:t>
            </a:r>
            <a:r>
              <a:rPr lang="en-US" sz="1200" dirty="0">
                <a:latin typeface="EYInterstate" pitchFamily="2" charset="0"/>
              </a:rPr>
              <a:t>A wireless-subscriber of a third party operator roaming on your network</a:t>
            </a:r>
          </a:p>
        </p:txBody>
      </p:sp>
      <p:sp>
        <p:nvSpPr>
          <p:cNvPr id="10" name="Rectangle 9"/>
          <p:cNvSpPr/>
          <p:nvPr/>
        </p:nvSpPr>
        <p:spPr>
          <a:xfrm>
            <a:off x="457200" y="4648200"/>
            <a:ext cx="8229600" cy="457200"/>
          </a:xfrm>
          <a:prstGeom prst="rect">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7800" indent="-177800">
              <a:buClr>
                <a:srgbClr val="FFC000"/>
              </a:buClr>
              <a:buFont typeface="Arial" pitchFamily="34" charset="0"/>
              <a:buChar char="►"/>
            </a:pPr>
            <a:r>
              <a:rPr lang="en-US" sz="1200" b="1" dirty="0">
                <a:solidFill>
                  <a:schemeClr val="tx1">
                    <a:lumMod val="50000"/>
                  </a:schemeClr>
                </a:solidFill>
                <a:latin typeface="EYInterstate" pitchFamily="2" charset="0"/>
              </a:rPr>
              <a:t> Roaming out - </a:t>
            </a:r>
            <a:r>
              <a:rPr lang="en-US" sz="1200" dirty="0">
                <a:solidFill>
                  <a:schemeClr val="tx1">
                    <a:lumMod val="50000"/>
                  </a:schemeClr>
                </a:solidFill>
                <a:latin typeface="EYInterstate" pitchFamily="2" charset="0"/>
              </a:rPr>
              <a:t>A wireless-subscriber of own network roaming on a third party network</a:t>
            </a:r>
          </a:p>
        </p:txBody>
      </p:sp>
      <p:sp>
        <p:nvSpPr>
          <p:cNvPr id="11" name="Rectangle 10"/>
          <p:cNvSpPr/>
          <p:nvPr/>
        </p:nvSpPr>
        <p:spPr>
          <a:xfrm>
            <a:off x="457200" y="5181600"/>
            <a:ext cx="8229600" cy="990600"/>
          </a:xfrm>
          <a:prstGeom prst="rect">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7800" indent="-177800">
              <a:buClr>
                <a:srgbClr val="FFC000"/>
              </a:buClr>
              <a:buFont typeface="Arial" pitchFamily="34" charset="0"/>
              <a:buChar char="►"/>
            </a:pPr>
            <a:r>
              <a:rPr lang="en-US" sz="1200" b="1" dirty="0">
                <a:latin typeface="EYInterstate" pitchFamily="2" charset="0"/>
              </a:rPr>
              <a:t>SDR(</a:t>
            </a:r>
            <a:r>
              <a:rPr lang="en-GB" sz="1200" b="1" dirty="0"/>
              <a:t>Special Drawing Rights)</a:t>
            </a:r>
            <a:r>
              <a:rPr lang="en-US" sz="1200" b="1" dirty="0">
                <a:latin typeface="EYInterstate" pitchFamily="2" charset="0"/>
              </a:rPr>
              <a:t> – </a:t>
            </a:r>
            <a:r>
              <a:rPr lang="en-US" sz="1200" dirty="0">
                <a:latin typeface="EYInterstate" pitchFamily="2" charset="0"/>
              </a:rPr>
              <a:t>Currency used for charging of a calls made by customers in roaming network which is sent in Tap File. an IMF basket currency. For the conversion of SDR into the currency of payment operators must apply the pegged SDR rate quoted by the International Monetary Fund (IMF) on the twenty third (23rd) of the month preceding the invoicing period, or in case this is a US public holiday, the previous business day of the month preceding the invoicing period which is published from IMF.</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latin typeface="EYInterstate" pitchFamily="2" charset="0"/>
              </a:rPr>
              <a:t>General Roaming Terminologies…</a:t>
            </a:r>
            <a:r>
              <a:rPr lang="en-US" sz="3200" dirty="0" err="1">
                <a:latin typeface="EYInterstate" pitchFamily="2" charset="0"/>
              </a:rPr>
              <a:t>contd</a:t>
            </a:r>
            <a:endParaRPr lang="en-US" dirty="0">
              <a:latin typeface="EYInterstate" pitchFamily="2" charset="0"/>
            </a:endParaRPr>
          </a:p>
        </p:txBody>
      </p:sp>
      <p:sp>
        <p:nvSpPr>
          <p:cNvPr id="4" name="Rectangle 3"/>
          <p:cNvSpPr/>
          <p:nvPr/>
        </p:nvSpPr>
        <p:spPr>
          <a:xfrm>
            <a:off x="457200" y="1143000"/>
            <a:ext cx="8229600" cy="457200"/>
          </a:xfrm>
          <a:prstGeom prst="rect">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7800" indent="-177800">
              <a:buClr>
                <a:srgbClr val="FFC000"/>
              </a:buClr>
              <a:buFont typeface="Arial" pitchFamily="34" charset="0"/>
              <a:buChar char="►"/>
            </a:pPr>
            <a:r>
              <a:rPr lang="en-US" sz="1200" b="1" dirty="0">
                <a:latin typeface="EYInterstate" pitchFamily="2" charset="0"/>
              </a:rPr>
              <a:t> VPLMN </a:t>
            </a:r>
            <a:r>
              <a:rPr lang="en-US" sz="1200" dirty="0">
                <a:latin typeface="EYInterstate" pitchFamily="2" charset="0"/>
              </a:rPr>
              <a:t>-Visiting Public (Land) Mobile Network -acronym used to indicate a roaming partner on which one of your subscribers is roaming.</a:t>
            </a:r>
          </a:p>
        </p:txBody>
      </p:sp>
      <p:sp>
        <p:nvSpPr>
          <p:cNvPr id="5" name="Rectangle 4"/>
          <p:cNvSpPr/>
          <p:nvPr/>
        </p:nvSpPr>
        <p:spPr>
          <a:xfrm>
            <a:off x="457200" y="1676400"/>
            <a:ext cx="8229600" cy="274320"/>
          </a:xfrm>
          <a:prstGeom prst="rect">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7800" indent="-177800">
              <a:buClr>
                <a:srgbClr val="FFC000"/>
              </a:buClr>
              <a:buFont typeface="Arial" pitchFamily="34" charset="0"/>
              <a:buChar char="►"/>
            </a:pPr>
            <a:r>
              <a:rPr lang="en-US" sz="1200" b="1" dirty="0">
                <a:solidFill>
                  <a:schemeClr val="tx1">
                    <a:lumMod val="50000"/>
                  </a:schemeClr>
                </a:solidFill>
                <a:latin typeface="EYInterstate" pitchFamily="2" charset="0"/>
              </a:rPr>
              <a:t> HPLMN </a:t>
            </a:r>
            <a:r>
              <a:rPr lang="en-US" sz="1200" dirty="0">
                <a:solidFill>
                  <a:schemeClr val="tx1">
                    <a:lumMod val="50000"/>
                  </a:schemeClr>
                </a:solidFill>
                <a:latin typeface="EYInterstate" pitchFamily="2" charset="0"/>
              </a:rPr>
              <a:t>-Home Public (Land) Mobile Network -network operator of the subscriber that is roaming</a:t>
            </a:r>
          </a:p>
        </p:txBody>
      </p:sp>
      <p:sp>
        <p:nvSpPr>
          <p:cNvPr id="6" name="Rectangle 5"/>
          <p:cNvSpPr/>
          <p:nvPr/>
        </p:nvSpPr>
        <p:spPr>
          <a:xfrm>
            <a:off x="457200" y="2057400"/>
            <a:ext cx="8229600" cy="685800"/>
          </a:xfrm>
          <a:prstGeom prst="rect">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7800" indent="-177800">
              <a:buClr>
                <a:srgbClr val="FFC000"/>
              </a:buClr>
              <a:buFont typeface="Arial" pitchFamily="34" charset="0"/>
              <a:buChar char="►"/>
            </a:pPr>
            <a:r>
              <a:rPr lang="en-US" sz="1200" b="1" dirty="0">
                <a:latin typeface="EYInterstate" pitchFamily="2" charset="0"/>
              </a:rPr>
              <a:t> CAMEL - </a:t>
            </a:r>
            <a:r>
              <a:rPr lang="en-US" sz="1200" b="1" i="1" dirty="0">
                <a:latin typeface="EYInterstate" pitchFamily="2" charset="0"/>
              </a:rPr>
              <a:t>Customized Applications for Mobile networks Enhanced Logic</a:t>
            </a:r>
            <a:r>
              <a:rPr lang="en-US" sz="1200" dirty="0">
                <a:latin typeface="EYInterstate" pitchFamily="2" charset="0"/>
              </a:rPr>
              <a:t> is an adaptation of the Intelligent Network (IN) for GSM networks that allows prepaid subscribers to roam seamlessly in other networks an able to charge the prepaid roaming calls on real-time basis.</a:t>
            </a:r>
          </a:p>
        </p:txBody>
      </p:sp>
      <p:sp>
        <p:nvSpPr>
          <p:cNvPr id="7" name="Rectangle 6"/>
          <p:cNvSpPr/>
          <p:nvPr/>
        </p:nvSpPr>
        <p:spPr>
          <a:xfrm>
            <a:off x="457200" y="2819400"/>
            <a:ext cx="8229600" cy="548640"/>
          </a:xfrm>
          <a:prstGeom prst="rect">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7800" indent="-177800">
              <a:buClr>
                <a:srgbClr val="FFC000"/>
              </a:buClr>
              <a:buFont typeface="Arial" pitchFamily="34" charset="0"/>
              <a:buChar char="►"/>
            </a:pPr>
            <a:r>
              <a:rPr lang="en-US" sz="1200" b="1" dirty="0">
                <a:solidFill>
                  <a:schemeClr val="tx1">
                    <a:lumMod val="50000"/>
                  </a:schemeClr>
                </a:solidFill>
                <a:latin typeface="EYInterstate" pitchFamily="2" charset="0"/>
              </a:rPr>
              <a:t> HUR - </a:t>
            </a:r>
            <a:r>
              <a:rPr lang="en-US" sz="1200" dirty="0">
                <a:solidFill>
                  <a:schemeClr val="tx1">
                    <a:lumMod val="50000"/>
                  </a:schemeClr>
                </a:solidFill>
                <a:latin typeface="EYInterstate" pitchFamily="2" charset="0"/>
              </a:rPr>
              <a:t>High Usage Reports are generated by roaming partners to capture any high usage of roamers on their respective networks.  These HURs are provided to roaming partners on a periodic basis as an alert for fraud. </a:t>
            </a:r>
          </a:p>
        </p:txBody>
      </p:sp>
      <p:sp>
        <p:nvSpPr>
          <p:cNvPr id="12" name="Rectangle 11"/>
          <p:cNvSpPr/>
          <p:nvPr/>
        </p:nvSpPr>
        <p:spPr>
          <a:xfrm>
            <a:off x="457200" y="3429000"/>
            <a:ext cx="8229600" cy="838200"/>
          </a:xfrm>
          <a:prstGeom prst="rect">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7800" indent="-177800">
              <a:buClr>
                <a:srgbClr val="FFC000"/>
              </a:buClr>
              <a:buFont typeface="Arial" pitchFamily="34" charset="0"/>
              <a:buChar char="►"/>
            </a:pPr>
            <a:r>
              <a:rPr lang="en-US" sz="1200" b="1" dirty="0">
                <a:latin typeface="EYInterstate" pitchFamily="2" charset="0"/>
              </a:rPr>
              <a:t> MCC-MCN – M</a:t>
            </a:r>
            <a:r>
              <a:rPr lang="en-US" sz="1200" dirty="0">
                <a:latin typeface="EYInterstate" pitchFamily="2" charset="0"/>
              </a:rPr>
              <a:t>obile </a:t>
            </a:r>
            <a:r>
              <a:rPr lang="en-US" sz="1200" b="1" dirty="0">
                <a:latin typeface="EYInterstate" pitchFamily="2" charset="0"/>
              </a:rPr>
              <a:t>C</a:t>
            </a:r>
            <a:r>
              <a:rPr lang="en-US" sz="1200" dirty="0">
                <a:latin typeface="EYInterstate" pitchFamily="2" charset="0"/>
              </a:rPr>
              <a:t>ountry </a:t>
            </a:r>
            <a:r>
              <a:rPr lang="en-US" sz="1200" b="1" dirty="0">
                <a:latin typeface="EYInterstate" pitchFamily="2" charset="0"/>
              </a:rPr>
              <a:t>C</a:t>
            </a:r>
            <a:r>
              <a:rPr lang="en-US" sz="1200" dirty="0">
                <a:latin typeface="EYInterstate" pitchFamily="2" charset="0"/>
              </a:rPr>
              <a:t>ode &amp; </a:t>
            </a:r>
            <a:r>
              <a:rPr lang="en-US" sz="1200" b="1" dirty="0">
                <a:latin typeface="EYInterstate" pitchFamily="2" charset="0"/>
              </a:rPr>
              <a:t>M</a:t>
            </a:r>
            <a:r>
              <a:rPr lang="en-US" sz="1200" dirty="0">
                <a:latin typeface="EYInterstate" pitchFamily="2" charset="0"/>
              </a:rPr>
              <a:t>obile </a:t>
            </a:r>
            <a:r>
              <a:rPr lang="en-US" sz="1200" b="1" dirty="0">
                <a:latin typeface="EYInterstate" pitchFamily="2" charset="0"/>
              </a:rPr>
              <a:t>N</a:t>
            </a:r>
            <a:r>
              <a:rPr lang="en-US" sz="1200" dirty="0">
                <a:latin typeface="EYInterstate" pitchFamily="2" charset="0"/>
              </a:rPr>
              <a:t>etwork </a:t>
            </a:r>
            <a:r>
              <a:rPr lang="en-US" sz="1200" b="1" dirty="0">
                <a:latin typeface="EYInterstate" pitchFamily="2" charset="0"/>
              </a:rPr>
              <a:t>C</a:t>
            </a:r>
            <a:r>
              <a:rPr lang="en-US" sz="1200" dirty="0">
                <a:latin typeface="EYInterstate" pitchFamily="2" charset="0"/>
              </a:rPr>
              <a:t>ode are used in combination to uniquely identify  a mobile phone operator. MCC &amp; MNC are primarily first five digits of the IMSI and are configured in all network elements like Switch &amp; SGSN and IT systems like mediation &amp; Billing System for allowing roaming, rating &amp; billing</a:t>
            </a:r>
          </a:p>
        </p:txBody>
      </p:sp>
      <p:sp>
        <p:nvSpPr>
          <p:cNvPr id="10" name="Rectangle 9"/>
          <p:cNvSpPr/>
          <p:nvPr/>
        </p:nvSpPr>
        <p:spPr>
          <a:xfrm>
            <a:off x="457200" y="4343400"/>
            <a:ext cx="8229600" cy="548640"/>
          </a:xfrm>
          <a:prstGeom prst="rect">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7800" indent="-177800">
              <a:buClr>
                <a:srgbClr val="FFC000"/>
              </a:buClr>
              <a:buFont typeface="Arial" pitchFamily="34" charset="0"/>
              <a:buChar char="►"/>
            </a:pPr>
            <a:r>
              <a:rPr lang="en-US" sz="1200" b="1" dirty="0">
                <a:solidFill>
                  <a:schemeClr val="tx1">
                    <a:lumMod val="50000"/>
                  </a:schemeClr>
                </a:solidFill>
                <a:latin typeface="EYInterstate" pitchFamily="2" charset="0"/>
              </a:rPr>
              <a:t> Roaming Revenue – </a:t>
            </a:r>
            <a:r>
              <a:rPr lang="en-US" sz="1200" dirty="0">
                <a:solidFill>
                  <a:schemeClr val="tx1">
                    <a:lumMod val="50000"/>
                  </a:schemeClr>
                </a:solidFill>
                <a:latin typeface="EYInterstate" pitchFamily="2" charset="0"/>
              </a:rPr>
              <a:t>Operator will get the roaming revenue when customer from visited operator latches on to his network and does the usage</a:t>
            </a:r>
          </a:p>
        </p:txBody>
      </p:sp>
      <p:sp>
        <p:nvSpPr>
          <p:cNvPr id="11" name="Rectangle 10"/>
          <p:cNvSpPr/>
          <p:nvPr/>
        </p:nvSpPr>
        <p:spPr>
          <a:xfrm>
            <a:off x="457200" y="4953000"/>
            <a:ext cx="8229600" cy="548640"/>
          </a:xfrm>
          <a:prstGeom prst="rect">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7800" indent="-177800">
              <a:buClr>
                <a:srgbClr val="FFC000"/>
              </a:buClr>
              <a:buFont typeface="Arial" pitchFamily="34" charset="0"/>
              <a:buChar char="►"/>
            </a:pPr>
            <a:r>
              <a:rPr lang="en-US" sz="1200" b="1" dirty="0">
                <a:latin typeface="EYInterstate" pitchFamily="2" charset="0"/>
              </a:rPr>
              <a:t> Roaming Expense - </a:t>
            </a:r>
            <a:r>
              <a:rPr lang="en-US" sz="1200" dirty="0">
                <a:latin typeface="EYInterstate" pitchFamily="2" charset="0"/>
              </a:rPr>
              <a:t>Operator expense will be if his customer latches on to visited network and does the usage there</a:t>
            </a:r>
          </a:p>
        </p:txBody>
      </p:sp>
      <p:sp>
        <p:nvSpPr>
          <p:cNvPr id="14" name="Rectangle 13"/>
          <p:cNvSpPr/>
          <p:nvPr/>
        </p:nvSpPr>
        <p:spPr>
          <a:xfrm>
            <a:off x="457200" y="5562600"/>
            <a:ext cx="8229600" cy="548640"/>
          </a:xfrm>
          <a:prstGeom prst="rect">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7800" indent="-177800">
              <a:buClr>
                <a:srgbClr val="FFC000"/>
              </a:buClr>
              <a:buFont typeface="Arial" pitchFamily="34" charset="0"/>
              <a:buChar char="►"/>
            </a:pPr>
            <a:r>
              <a:rPr lang="en-US" sz="1200" b="1" dirty="0">
                <a:solidFill>
                  <a:schemeClr val="tx1">
                    <a:lumMod val="50000"/>
                  </a:schemeClr>
                </a:solidFill>
                <a:latin typeface="EYInterstate" pitchFamily="2" charset="0"/>
              </a:rPr>
              <a:t> RCF (Roaming Call Forward) – </a:t>
            </a:r>
            <a:r>
              <a:rPr lang="en-US" sz="1200" dirty="0">
                <a:solidFill>
                  <a:schemeClr val="tx1">
                    <a:lumMod val="50000"/>
                  </a:schemeClr>
                </a:solidFill>
                <a:latin typeface="EYInterstate" pitchFamily="2" charset="0"/>
              </a:rPr>
              <a:t>Forwarding CDR generated at home network to roaming operator when an out roamer of home network receives incoming call.</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tabLst>
                <a:tab pos="400050" algn="l"/>
              </a:tabLst>
              <a:defRPr/>
            </a:pPr>
            <a:r>
              <a:rPr lang="en-US" sz="2400" dirty="0">
                <a:latin typeface="EYInterstate" pitchFamily="2" charset="0"/>
              </a:rPr>
              <a:t>Key Concepts</a:t>
            </a:r>
          </a:p>
        </p:txBody>
      </p:sp>
      <p:sp>
        <p:nvSpPr>
          <p:cNvPr id="60" name="Isosceles Triangle 59"/>
          <p:cNvSpPr/>
          <p:nvPr/>
        </p:nvSpPr>
        <p:spPr>
          <a:xfrm rot="5400000">
            <a:off x="1600200" y="6111320"/>
            <a:ext cx="161925"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64" name="Isosceles Triangle 63"/>
          <p:cNvSpPr/>
          <p:nvPr/>
        </p:nvSpPr>
        <p:spPr>
          <a:xfrm rot="5400000">
            <a:off x="4308792" y="6075188"/>
            <a:ext cx="161925"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82" name="Rectangle 81"/>
          <p:cNvSpPr/>
          <p:nvPr/>
        </p:nvSpPr>
        <p:spPr>
          <a:xfrm>
            <a:off x="446913" y="5614432"/>
            <a:ext cx="457200"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a:solidFill>
                  <a:schemeClr val="bg1"/>
                </a:solidFill>
                <a:latin typeface="EYInterstate Light" pitchFamily="2" charset="0"/>
              </a:rPr>
              <a:t>7.</a:t>
            </a:r>
          </a:p>
        </p:txBody>
      </p:sp>
      <p:sp>
        <p:nvSpPr>
          <p:cNvPr id="83" name="Rectangle 82"/>
          <p:cNvSpPr/>
          <p:nvPr/>
        </p:nvSpPr>
        <p:spPr>
          <a:xfrm>
            <a:off x="3151632" y="5623576"/>
            <a:ext cx="457200"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a:solidFill>
                  <a:schemeClr val="bg1"/>
                </a:solidFill>
                <a:latin typeface="EYInterstate Light" pitchFamily="2" charset="0"/>
              </a:rPr>
              <a:t>8.</a:t>
            </a:r>
          </a:p>
        </p:txBody>
      </p:sp>
      <p:grpSp>
        <p:nvGrpSpPr>
          <p:cNvPr id="51" name="Group 50"/>
          <p:cNvGrpSpPr/>
          <p:nvPr/>
        </p:nvGrpSpPr>
        <p:grpSpPr>
          <a:xfrm>
            <a:off x="914400" y="1993408"/>
            <a:ext cx="7315200" cy="2856040"/>
            <a:chOff x="914400" y="1993408"/>
            <a:chExt cx="7315200" cy="2856040"/>
          </a:xfrm>
        </p:grpSpPr>
        <p:sp>
          <p:nvSpPr>
            <p:cNvPr id="52" name="Rectangle 51"/>
            <p:cNvSpPr/>
            <p:nvPr/>
          </p:nvSpPr>
          <p:spPr>
            <a:xfrm>
              <a:off x="4599787" y="3432381"/>
              <a:ext cx="1185681" cy="140176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53" name="Rectangle 52"/>
            <p:cNvSpPr/>
            <p:nvPr/>
          </p:nvSpPr>
          <p:spPr>
            <a:xfrm>
              <a:off x="3371835" y="1993408"/>
              <a:ext cx="1185681" cy="1403350"/>
            </a:xfrm>
            <a:prstGeom prst="rect">
              <a:avLst/>
            </a:prstGeom>
            <a:solidFill>
              <a:srgbClr val="FFD2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54" name="Rectangle 53"/>
            <p:cNvSpPr/>
            <p:nvPr/>
          </p:nvSpPr>
          <p:spPr>
            <a:xfrm>
              <a:off x="3418582" y="1998170"/>
              <a:ext cx="1090770" cy="181268"/>
            </a:xfrm>
            <a:prstGeom prst="rect">
              <a:avLst/>
            </a:prstGeom>
          </p:spPr>
          <p:txBody>
            <a:bodyPr lIns="0" tIns="0" rIns="0" bIns="0">
              <a:spAutoFit/>
            </a:bodyPr>
            <a:lstStyle/>
            <a:p>
              <a:pPr>
                <a:lnSpc>
                  <a:spcPts val="1500"/>
                </a:lnSpc>
                <a:buClr>
                  <a:srgbClr val="FFD200"/>
                </a:buClr>
                <a:buSzPct val="75000"/>
                <a:buFont typeface="Arial" charset="0"/>
                <a:buNone/>
                <a:tabLst>
                  <a:tab pos="400050" algn="l"/>
                </a:tabLst>
                <a:defRPr/>
              </a:pPr>
              <a:r>
                <a:rPr lang="en-US" sz="1200" dirty="0">
                  <a:latin typeface="EYInterstate" pitchFamily="2" charset="0"/>
                </a:rPr>
                <a:t>Key Concepts</a:t>
              </a:r>
            </a:p>
          </p:txBody>
        </p:sp>
        <p:sp>
          <p:nvSpPr>
            <p:cNvPr id="55" name="Rectangle 54"/>
            <p:cNvSpPr/>
            <p:nvPr/>
          </p:nvSpPr>
          <p:spPr>
            <a:xfrm>
              <a:off x="2141049" y="3438477"/>
              <a:ext cx="1185681" cy="140176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56" name="Rectangle 20"/>
            <p:cNvSpPr>
              <a:spLocks noChangeArrowheads="1"/>
            </p:cNvSpPr>
            <p:nvPr/>
          </p:nvSpPr>
          <p:spPr bwMode="auto">
            <a:xfrm>
              <a:off x="2178107" y="4094686"/>
              <a:ext cx="1014275" cy="553998"/>
            </a:xfrm>
            <a:prstGeom prst="rect">
              <a:avLst/>
            </a:prstGeom>
            <a:noFill/>
            <a:ln w="9525">
              <a:noFill/>
              <a:miter lim="800000"/>
              <a:headEnd/>
              <a:tailEnd/>
            </a:ln>
          </p:spPr>
          <p:txBody>
            <a:bodyPr lIns="0" tIns="0" rIns="0" bIns="0">
              <a:spAutoFit/>
            </a:bodyPr>
            <a:lstStyle/>
            <a:p>
              <a:pPr>
                <a:buClr>
                  <a:srgbClr val="FFD200"/>
                </a:buClr>
                <a:buSzPct val="75000"/>
                <a:buFont typeface="Arial" pitchFamily="34" charset="0"/>
                <a:buNone/>
                <a:tabLst>
                  <a:tab pos="400050" algn="l"/>
                </a:tabLst>
              </a:pPr>
              <a:r>
                <a:rPr lang="en-US" sz="1200" dirty="0">
                  <a:latin typeface="EYInterstate" pitchFamily="2" charset="0"/>
                </a:rPr>
                <a:t>General Roaming</a:t>
              </a:r>
            </a:p>
            <a:p>
              <a:pPr>
                <a:buClr>
                  <a:srgbClr val="FFD200"/>
                </a:buClr>
                <a:buSzPct val="75000"/>
                <a:buFont typeface="Arial" pitchFamily="34" charset="0"/>
                <a:buNone/>
                <a:tabLst>
                  <a:tab pos="400050" algn="l"/>
                </a:tabLst>
              </a:pPr>
              <a:r>
                <a:rPr lang="en-US" sz="1200" dirty="0">
                  <a:latin typeface="EYInterstate" pitchFamily="2" charset="0"/>
                </a:rPr>
                <a:t>Terminologies</a:t>
              </a:r>
              <a:endParaRPr lang="en-US" sz="1200" dirty="0">
                <a:solidFill>
                  <a:srgbClr val="000000"/>
                </a:solidFill>
                <a:latin typeface="EYInterstate Light" pitchFamily="2" charset="0"/>
              </a:endParaRPr>
            </a:p>
          </p:txBody>
        </p:sp>
        <p:grpSp>
          <p:nvGrpSpPr>
            <p:cNvPr id="59" name="Group 33"/>
            <p:cNvGrpSpPr>
              <a:grpSpLocks/>
            </p:cNvGrpSpPr>
            <p:nvPr/>
          </p:nvGrpSpPr>
          <p:grpSpPr bwMode="auto">
            <a:xfrm>
              <a:off x="5820601" y="2004145"/>
              <a:ext cx="1187098" cy="1401763"/>
              <a:chOff x="4599803" y="2102667"/>
              <a:chExt cx="1329095" cy="1401653"/>
            </a:xfrm>
          </p:grpSpPr>
          <p:sp>
            <p:nvSpPr>
              <p:cNvPr id="101" name="Rectangle 100"/>
              <p:cNvSpPr/>
              <p:nvPr/>
            </p:nvSpPr>
            <p:spPr>
              <a:xfrm>
                <a:off x="4599803" y="2102667"/>
                <a:ext cx="1329095" cy="140165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102" name="Rectangle 23"/>
              <p:cNvSpPr>
                <a:spLocks noChangeArrowheads="1"/>
              </p:cNvSpPr>
              <p:nvPr/>
            </p:nvSpPr>
            <p:spPr bwMode="auto">
              <a:xfrm>
                <a:off x="4633035" y="2162263"/>
                <a:ext cx="1136666" cy="384691"/>
              </a:xfrm>
              <a:prstGeom prst="rect">
                <a:avLst/>
              </a:prstGeom>
              <a:noFill/>
              <a:ln w="9525">
                <a:noFill/>
                <a:miter lim="800000"/>
                <a:headEnd/>
                <a:tailEnd/>
              </a:ln>
            </p:spPr>
            <p:txBody>
              <a:bodyPr lIns="0" tIns="0" rIns="0" bIns="0">
                <a:spAutoFit/>
              </a:bodyPr>
              <a:lstStyle/>
              <a:p>
                <a:pPr>
                  <a:lnSpc>
                    <a:spcPts val="1500"/>
                  </a:lnSpc>
                  <a:buClr>
                    <a:srgbClr val="FFD200"/>
                  </a:buClr>
                  <a:buSzPct val="75000"/>
                  <a:tabLst>
                    <a:tab pos="400050" algn="l"/>
                  </a:tabLst>
                  <a:defRPr/>
                </a:pPr>
                <a:r>
                  <a:rPr lang="en-US" sz="1200" dirty="0">
                    <a:latin typeface="EYInterstate" pitchFamily="2" charset="0"/>
                  </a:rPr>
                  <a:t>Intra Circle  Roaming</a:t>
                </a:r>
              </a:p>
            </p:txBody>
          </p:sp>
        </p:grpSp>
        <p:sp>
          <p:nvSpPr>
            <p:cNvPr id="61" name="Rectangle 22"/>
            <p:cNvSpPr>
              <a:spLocks noChangeArrowheads="1"/>
            </p:cNvSpPr>
            <p:nvPr/>
          </p:nvSpPr>
          <p:spPr bwMode="auto">
            <a:xfrm>
              <a:off x="4636782" y="4350772"/>
              <a:ext cx="1105972" cy="373628"/>
            </a:xfrm>
            <a:prstGeom prst="rect">
              <a:avLst/>
            </a:prstGeom>
            <a:noFill/>
            <a:ln w="9525">
              <a:noFill/>
              <a:miter lim="800000"/>
              <a:headEnd/>
              <a:tailEnd/>
            </a:ln>
          </p:spPr>
          <p:txBody>
            <a:bodyPr lIns="0" tIns="0" rIns="0" bIns="0">
              <a:spAutoFit/>
            </a:bodyPr>
            <a:lstStyle/>
            <a:p>
              <a:pPr>
                <a:lnSpc>
                  <a:spcPts val="1500"/>
                </a:lnSpc>
                <a:buClr>
                  <a:srgbClr val="FFD200"/>
                </a:buClr>
                <a:buSzPct val="75000"/>
                <a:buFont typeface="Arial" charset="0"/>
                <a:buNone/>
                <a:tabLst>
                  <a:tab pos="400050" algn="l"/>
                </a:tabLst>
                <a:defRPr/>
              </a:pPr>
              <a:r>
                <a:rPr lang="en-US" sz="1200" dirty="0">
                  <a:latin typeface="EYInterstate" pitchFamily="2" charset="0"/>
                </a:rPr>
                <a:t>Roaming Revenue Cycle</a:t>
              </a:r>
            </a:p>
          </p:txBody>
        </p:sp>
        <p:grpSp>
          <p:nvGrpSpPr>
            <p:cNvPr id="62" name="Group 44"/>
            <p:cNvGrpSpPr>
              <a:grpSpLocks/>
            </p:cNvGrpSpPr>
            <p:nvPr/>
          </p:nvGrpSpPr>
          <p:grpSpPr bwMode="auto">
            <a:xfrm>
              <a:off x="7035528" y="3447686"/>
              <a:ext cx="1185683" cy="1401762"/>
              <a:chOff x="5972094" y="3483677"/>
              <a:chExt cx="1329077" cy="1401653"/>
            </a:xfrm>
          </p:grpSpPr>
          <p:sp>
            <p:nvSpPr>
              <p:cNvPr id="99" name="Rectangle 98"/>
              <p:cNvSpPr/>
              <p:nvPr/>
            </p:nvSpPr>
            <p:spPr>
              <a:xfrm>
                <a:off x="5972094" y="3483677"/>
                <a:ext cx="1329077" cy="140165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100" name="Rectangle 24"/>
              <p:cNvSpPr>
                <a:spLocks noChangeArrowheads="1"/>
              </p:cNvSpPr>
              <p:nvPr/>
            </p:nvSpPr>
            <p:spPr bwMode="auto">
              <a:xfrm>
                <a:off x="6011147" y="4575640"/>
                <a:ext cx="1136650" cy="184652"/>
              </a:xfrm>
              <a:prstGeom prst="rect">
                <a:avLst/>
              </a:prstGeom>
              <a:noFill/>
              <a:ln w="9525">
                <a:noFill/>
                <a:miter lim="800000"/>
                <a:headEnd/>
                <a:tailEnd/>
              </a:ln>
            </p:spPr>
            <p:txBody>
              <a:bodyPr lIns="0" tIns="0" rIns="0" bIns="0">
                <a:spAutoFit/>
              </a:bodyPr>
              <a:lstStyle/>
              <a:p>
                <a:pPr>
                  <a:buClr>
                    <a:srgbClr val="FFD200"/>
                  </a:buClr>
                  <a:buSzPct val="75000"/>
                  <a:tabLst>
                    <a:tab pos="400050" algn="l"/>
                  </a:tabLst>
                </a:pPr>
                <a:r>
                  <a:rPr lang="en-US" sz="1200" dirty="0">
                    <a:latin typeface="EYInterstate" pitchFamily="2" charset="0"/>
                  </a:rPr>
                  <a:t>Glossary </a:t>
                </a:r>
              </a:p>
            </p:txBody>
          </p:sp>
        </p:grpSp>
        <p:pic>
          <p:nvPicPr>
            <p:cNvPr id="63" name="Picture 4" descr="investment"/>
            <p:cNvPicPr>
              <a:picLocks noChangeArrowheads="1"/>
            </p:cNvPicPr>
            <p:nvPr/>
          </p:nvPicPr>
          <p:blipFill>
            <a:blip r:embed="rId2" cstate="print"/>
            <a:srcRect/>
            <a:stretch>
              <a:fillRect/>
            </a:stretch>
          </p:blipFill>
          <p:spPr bwMode="auto">
            <a:xfrm>
              <a:off x="4588908" y="2005600"/>
              <a:ext cx="1183132" cy="1399032"/>
            </a:xfrm>
            <a:prstGeom prst="rect">
              <a:avLst/>
            </a:prstGeom>
            <a:noFill/>
          </p:spPr>
        </p:pic>
        <p:pic>
          <p:nvPicPr>
            <p:cNvPr id="70" name="Picture 29" descr="14H02278_RF.jpg"/>
            <p:cNvPicPr>
              <a:picLocks noChangeAspect="1"/>
            </p:cNvPicPr>
            <p:nvPr/>
          </p:nvPicPr>
          <p:blipFill>
            <a:blip r:embed="rId3" cstate="print"/>
            <a:srcRect b="29448"/>
            <a:stretch>
              <a:fillRect/>
            </a:stretch>
          </p:blipFill>
          <p:spPr bwMode="auto">
            <a:xfrm>
              <a:off x="3375858" y="3432064"/>
              <a:ext cx="1182848" cy="1401763"/>
            </a:xfrm>
            <a:prstGeom prst="rect">
              <a:avLst/>
            </a:prstGeom>
            <a:noFill/>
            <a:ln w="9525">
              <a:noFill/>
              <a:miter lim="800000"/>
              <a:headEnd/>
              <a:tailEnd/>
            </a:ln>
          </p:spPr>
        </p:pic>
        <p:grpSp>
          <p:nvGrpSpPr>
            <p:cNvPr id="73" name="Group 44"/>
            <p:cNvGrpSpPr/>
            <p:nvPr/>
          </p:nvGrpSpPr>
          <p:grpSpPr>
            <a:xfrm>
              <a:off x="914400" y="1993408"/>
              <a:ext cx="1185681" cy="1479901"/>
              <a:chOff x="402336" y="1993408"/>
              <a:chExt cx="1185681" cy="1479901"/>
            </a:xfrm>
          </p:grpSpPr>
          <p:sp>
            <p:nvSpPr>
              <p:cNvPr id="95" name="Rectangle 94"/>
              <p:cNvSpPr/>
              <p:nvPr/>
            </p:nvSpPr>
            <p:spPr>
              <a:xfrm>
                <a:off x="402336" y="1993408"/>
                <a:ext cx="1185681" cy="140176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96" name="Rectangle 9"/>
              <p:cNvSpPr/>
              <p:nvPr/>
            </p:nvSpPr>
            <p:spPr>
              <a:xfrm>
                <a:off x="414915" y="2734645"/>
                <a:ext cx="407976"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a:solidFill>
                      <a:schemeClr val="bg1"/>
                    </a:solidFill>
                    <a:latin typeface="EYInterstate Light" pitchFamily="2" charset="0"/>
                  </a:rPr>
                  <a:t>1.</a:t>
                </a:r>
              </a:p>
            </p:txBody>
          </p:sp>
          <p:sp>
            <p:nvSpPr>
              <p:cNvPr id="97" name="Isosceles Triangle 10"/>
              <p:cNvSpPr/>
              <p:nvPr/>
            </p:nvSpPr>
            <p:spPr>
              <a:xfrm rot="10800000">
                <a:off x="1427830" y="3303477"/>
                <a:ext cx="144492"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98" name="Rectangle 20"/>
              <p:cNvSpPr>
                <a:spLocks noChangeArrowheads="1"/>
              </p:cNvSpPr>
              <p:nvPr/>
            </p:nvSpPr>
            <p:spPr bwMode="auto">
              <a:xfrm>
                <a:off x="429534" y="2022110"/>
                <a:ext cx="1014275" cy="553998"/>
              </a:xfrm>
              <a:prstGeom prst="rect">
                <a:avLst/>
              </a:prstGeom>
              <a:noFill/>
              <a:ln w="9525">
                <a:noFill/>
                <a:miter lim="800000"/>
                <a:headEnd/>
                <a:tailEnd/>
              </a:ln>
            </p:spPr>
            <p:txBody>
              <a:bodyPr lIns="0" tIns="0" rIns="0" bIns="0">
                <a:spAutoFit/>
              </a:bodyPr>
              <a:lstStyle/>
              <a:p>
                <a:pPr>
                  <a:buClr>
                    <a:srgbClr val="FFD200"/>
                  </a:buClr>
                  <a:buSzPct val="75000"/>
                  <a:buFont typeface="Arial" pitchFamily="34" charset="0"/>
                  <a:buNone/>
                  <a:tabLst>
                    <a:tab pos="400050" algn="l"/>
                  </a:tabLst>
                </a:pPr>
                <a:r>
                  <a:rPr lang="en-US" sz="1200" dirty="0">
                    <a:latin typeface="EYInterstate" pitchFamily="2" charset="0"/>
                  </a:rPr>
                  <a:t>Introduction to Roaming</a:t>
                </a:r>
              </a:p>
              <a:p>
                <a:pPr>
                  <a:buClr>
                    <a:srgbClr val="FFD200"/>
                  </a:buClr>
                  <a:buSzPct val="75000"/>
                  <a:buFont typeface="Arial" pitchFamily="34" charset="0"/>
                  <a:buNone/>
                  <a:tabLst>
                    <a:tab pos="400050" algn="l"/>
                  </a:tabLst>
                </a:pPr>
                <a:endParaRPr lang="en-US" sz="1200" dirty="0">
                  <a:solidFill>
                    <a:srgbClr val="000000"/>
                  </a:solidFill>
                  <a:latin typeface="EYInterstate Light" pitchFamily="2" charset="0"/>
                </a:endParaRPr>
              </a:p>
            </p:txBody>
          </p:sp>
        </p:grpSp>
        <p:sp>
          <p:nvSpPr>
            <p:cNvPr id="74" name="Isosceles Triangle 73"/>
            <p:cNvSpPr/>
            <p:nvPr/>
          </p:nvSpPr>
          <p:spPr bwMode="auto">
            <a:xfrm>
              <a:off x="3154587" y="3474673"/>
              <a:ext cx="145908"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75" name="Isosceles Triangle 74"/>
            <p:cNvSpPr/>
            <p:nvPr/>
          </p:nvSpPr>
          <p:spPr>
            <a:xfrm rot="10800000">
              <a:off x="4373700" y="3297381"/>
              <a:ext cx="144492"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76" name="Isosceles Triangle 75"/>
            <p:cNvSpPr/>
            <p:nvPr/>
          </p:nvSpPr>
          <p:spPr bwMode="auto">
            <a:xfrm>
              <a:off x="5607093" y="3486928"/>
              <a:ext cx="145908"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84" name="Isosceles Triangle 83"/>
            <p:cNvSpPr/>
            <p:nvPr/>
          </p:nvSpPr>
          <p:spPr>
            <a:xfrm rot="10800000">
              <a:off x="6824279" y="3315669"/>
              <a:ext cx="144492"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85" name="Isosceles Triangle 84"/>
            <p:cNvSpPr/>
            <p:nvPr/>
          </p:nvSpPr>
          <p:spPr bwMode="auto">
            <a:xfrm>
              <a:off x="8027753" y="3493024"/>
              <a:ext cx="145908"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86" name="Rectangle 85"/>
            <p:cNvSpPr/>
            <p:nvPr/>
          </p:nvSpPr>
          <p:spPr>
            <a:xfrm>
              <a:off x="3364979" y="2752933"/>
              <a:ext cx="407976"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a:solidFill>
                    <a:schemeClr val="bg1"/>
                  </a:solidFill>
                  <a:latin typeface="EYInterstate Light" pitchFamily="2" charset="0"/>
                </a:rPr>
                <a:t>3.</a:t>
              </a:r>
            </a:p>
          </p:txBody>
        </p:sp>
        <p:sp>
          <p:nvSpPr>
            <p:cNvPr id="87" name="Rectangle 86"/>
            <p:cNvSpPr/>
            <p:nvPr/>
          </p:nvSpPr>
          <p:spPr>
            <a:xfrm>
              <a:off x="5801958" y="2769765"/>
              <a:ext cx="407976"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a:solidFill>
                    <a:schemeClr val="bg1"/>
                  </a:solidFill>
                  <a:latin typeface="EYInterstate Light" pitchFamily="2" charset="0"/>
                </a:rPr>
                <a:t>5.</a:t>
              </a:r>
            </a:p>
          </p:txBody>
        </p:sp>
        <p:sp>
          <p:nvSpPr>
            <p:cNvPr id="88" name="Rectangle 87"/>
            <p:cNvSpPr/>
            <p:nvPr/>
          </p:nvSpPr>
          <p:spPr>
            <a:xfrm>
              <a:off x="2154648" y="3453400"/>
              <a:ext cx="407976"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a:solidFill>
                    <a:schemeClr val="bg1"/>
                  </a:solidFill>
                  <a:latin typeface="EYInterstate Light" pitchFamily="2" charset="0"/>
                </a:rPr>
                <a:t>2.</a:t>
              </a:r>
            </a:p>
          </p:txBody>
        </p:sp>
        <p:sp>
          <p:nvSpPr>
            <p:cNvPr id="89" name="Rectangle 88"/>
            <p:cNvSpPr/>
            <p:nvPr/>
          </p:nvSpPr>
          <p:spPr>
            <a:xfrm>
              <a:off x="4632425" y="3450352"/>
              <a:ext cx="407976"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a:solidFill>
                    <a:schemeClr val="bg1"/>
                  </a:solidFill>
                  <a:latin typeface="EYInterstate Light" pitchFamily="2" charset="0"/>
                </a:rPr>
                <a:t>4.</a:t>
              </a:r>
            </a:p>
          </p:txBody>
        </p:sp>
        <p:sp>
          <p:nvSpPr>
            <p:cNvPr id="90" name="Rectangle 89"/>
            <p:cNvSpPr/>
            <p:nvPr/>
          </p:nvSpPr>
          <p:spPr>
            <a:xfrm>
              <a:off x="7063965" y="3461496"/>
              <a:ext cx="407976"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a:solidFill>
                    <a:schemeClr val="bg1"/>
                  </a:solidFill>
                  <a:latin typeface="EYInterstate Light" pitchFamily="2" charset="0"/>
                </a:rPr>
                <a:t>6. </a:t>
              </a:r>
            </a:p>
          </p:txBody>
        </p:sp>
        <p:pic>
          <p:nvPicPr>
            <p:cNvPr id="91" name="Picture 1" descr="C:\TechM Warehouse\Data 1\Useful Presentations\Useful Pics\Cong 1.jpg"/>
            <p:cNvPicPr>
              <a:picLocks noChangeArrowheads="1"/>
            </p:cNvPicPr>
            <p:nvPr/>
          </p:nvPicPr>
          <p:blipFill>
            <a:blip r:embed="rId4" cstate="print"/>
            <a:srcRect/>
            <a:stretch>
              <a:fillRect/>
            </a:stretch>
          </p:blipFill>
          <p:spPr bwMode="auto">
            <a:xfrm>
              <a:off x="919718" y="3429016"/>
              <a:ext cx="1183132" cy="1399032"/>
            </a:xfrm>
            <a:prstGeom prst="rect">
              <a:avLst/>
            </a:prstGeom>
            <a:noFill/>
          </p:spPr>
        </p:pic>
        <p:pic>
          <p:nvPicPr>
            <p:cNvPr id="92" name="Picture 3"/>
            <p:cNvPicPr>
              <a:picLocks noChangeArrowheads="1"/>
            </p:cNvPicPr>
            <p:nvPr/>
          </p:nvPicPr>
          <p:blipFill>
            <a:blip r:embed="rId5" cstate="print"/>
            <a:srcRect/>
            <a:stretch>
              <a:fillRect/>
            </a:stretch>
          </p:blipFill>
          <p:spPr bwMode="auto">
            <a:xfrm>
              <a:off x="2145675" y="1994864"/>
              <a:ext cx="1183132" cy="1399032"/>
            </a:xfrm>
            <a:prstGeom prst="rect">
              <a:avLst/>
            </a:prstGeom>
            <a:noFill/>
            <a:ln w="9525">
              <a:noFill/>
              <a:miter lim="800000"/>
              <a:headEnd/>
              <a:tailEnd/>
            </a:ln>
            <a:effectLst/>
          </p:spPr>
        </p:pic>
        <p:pic>
          <p:nvPicPr>
            <p:cNvPr id="93" name="Picture 4"/>
            <p:cNvPicPr>
              <a:picLocks noChangeArrowheads="1"/>
            </p:cNvPicPr>
            <p:nvPr/>
          </p:nvPicPr>
          <p:blipFill>
            <a:blip r:embed="rId6" cstate="print"/>
            <a:srcRect/>
            <a:stretch>
              <a:fillRect/>
            </a:stretch>
          </p:blipFill>
          <p:spPr bwMode="auto">
            <a:xfrm>
              <a:off x="5810360" y="3444936"/>
              <a:ext cx="1183132" cy="1399032"/>
            </a:xfrm>
            <a:prstGeom prst="rect">
              <a:avLst/>
            </a:prstGeom>
            <a:noFill/>
            <a:ln w="9525">
              <a:noFill/>
              <a:miter lim="800000"/>
              <a:headEnd/>
              <a:tailEnd/>
            </a:ln>
            <a:effectLst/>
          </p:spPr>
        </p:pic>
        <p:pic>
          <p:nvPicPr>
            <p:cNvPr id="94" name="Picture 5"/>
            <p:cNvPicPr>
              <a:picLocks noChangeArrowheads="1"/>
            </p:cNvPicPr>
            <p:nvPr/>
          </p:nvPicPr>
          <p:blipFill>
            <a:blip r:embed="rId7" cstate="print"/>
            <a:srcRect/>
            <a:stretch>
              <a:fillRect/>
            </a:stretch>
          </p:blipFill>
          <p:spPr bwMode="auto">
            <a:xfrm>
              <a:off x="7046468" y="2013039"/>
              <a:ext cx="1183132" cy="1399032"/>
            </a:xfrm>
            <a:prstGeom prst="rect">
              <a:avLst/>
            </a:prstGeom>
            <a:noFill/>
            <a:ln w="9525">
              <a:noFill/>
              <a:miter lim="800000"/>
              <a:headEnd/>
              <a:tailEnd/>
            </a:ln>
            <a:effectLst/>
          </p:spPr>
        </p:pic>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Concepts - TAP</a:t>
            </a:r>
          </a:p>
        </p:txBody>
      </p:sp>
      <p:sp>
        <p:nvSpPr>
          <p:cNvPr id="4" name="Rectangle 3"/>
          <p:cNvSpPr/>
          <p:nvPr/>
        </p:nvSpPr>
        <p:spPr>
          <a:xfrm>
            <a:off x="457200" y="1219200"/>
            <a:ext cx="8229600" cy="4495800"/>
          </a:xfrm>
          <a:prstGeom prst="rect">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7800" indent="-177800">
              <a:buClr>
                <a:srgbClr val="FFC000"/>
              </a:buClr>
              <a:buFont typeface="Arial" pitchFamily="34" charset="0"/>
              <a:buChar char="►"/>
            </a:pPr>
            <a:r>
              <a:rPr lang="en-US" sz="1400" dirty="0">
                <a:solidFill>
                  <a:schemeClr val="bg1"/>
                </a:solidFill>
                <a:latin typeface="EYInterstate" pitchFamily="2" charset="0"/>
              </a:rPr>
              <a:t>TAP files contain rated call information according to the operator's </a:t>
            </a:r>
            <a:r>
              <a:rPr lang="en-US" sz="1400" b="1" i="1" dirty="0">
                <a:solidFill>
                  <a:schemeClr val="bg1"/>
                </a:solidFill>
                <a:latin typeface="EYInterstate" pitchFamily="2" charset="0"/>
              </a:rPr>
              <a:t>Inter Operator Tariff (IOT)</a:t>
            </a:r>
            <a:r>
              <a:rPr lang="en-US" sz="1400" dirty="0">
                <a:solidFill>
                  <a:schemeClr val="bg1"/>
                </a:solidFill>
                <a:latin typeface="EYInterstate" pitchFamily="2" charset="0"/>
              </a:rPr>
              <a:t>, plus any bilaterally agreed arrangements or discounting schemes.</a:t>
            </a:r>
          </a:p>
          <a:p>
            <a:pPr marL="177800" indent="-177800">
              <a:buClr>
                <a:srgbClr val="FFC000"/>
              </a:buClr>
              <a:buFont typeface="Arial" pitchFamily="34" charset="0"/>
              <a:buChar char="►"/>
            </a:pPr>
            <a:endParaRPr lang="en-US" sz="1400" dirty="0">
              <a:solidFill>
                <a:schemeClr val="bg1"/>
              </a:solidFill>
              <a:latin typeface="EYInterstate" pitchFamily="2" charset="0"/>
            </a:endParaRPr>
          </a:p>
          <a:p>
            <a:pPr marL="177800" indent="-177800">
              <a:buClr>
                <a:srgbClr val="FFC000"/>
              </a:buClr>
              <a:buFont typeface="Arial" pitchFamily="34" charset="0"/>
              <a:buChar char="►"/>
            </a:pPr>
            <a:r>
              <a:rPr lang="en-US" sz="1400" dirty="0">
                <a:solidFill>
                  <a:schemeClr val="bg1"/>
                </a:solidFill>
                <a:latin typeface="EYInterstate" pitchFamily="2" charset="0"/>
              </a:rPr>
              <a:t>The TAP files are generated and sent, </a:t>
            </a:r>
            <a:r>
              <a:rPr lang="en-US" sz="1400" b="1" i="1" dirty="0">
                <a:solidFill>
                  <a:schemeClr val="bg1"/>
                </a:solidFill>
                <a:latin typeface="EYInterstate" pitchFamily="2" charset="0"/>
              </a:rPr>
              <a:t>at the latest, 36 hours </a:t>
            </a:r>
            <a:r>
              <a:rPr lang="en-US" sz="1400" dirty="0">
                <a:solidFill>
                  <a:schemeClr val="bg1"/>
                </a:solidFill>
                <a:latin typeface="EYInterstate" pitchFamily="2" charset="0"/>
              </a:rPr>
              <a:t>from call end time. This means that operators can send 1 or many TAP files per day. Most operators send one TAP file per operator each day.</a:t>
            </a:r>
          </a:p>
          <a:p>
            <a:pPr marL="177800" indent="-177800">
              <a:buClr>
                <a:srgbClr val="FFC000"/>
              </a:buClr>
              <a:buFont typeface="Arial" pitchFamily="34" charset="0"/>
              <a:buChar char="►"/>
            </a:pPr>
            <a:endParaRPr lang="en-US" sz="1400" dirty="0">
              <a:solidFill>
                <a:schemeClr val="bg1"/>
              </a:solidFill>
              <a:latin typeface="EYInterstate" pitchFamily="2" charset="0"/>
            </a:endParaRPr>
          </a:p>
          <a:p>
            <a:pPr marL="177800" indent="-177800">
              <a:buClr>
                <a:srgbClr val="FFC000"/>
              </a:buClr>
              <a:buFont typeface="Arial" pitchFamily="34" charset="0"/>
              <a:buChar char="►"/>
            </a:pPr>
            <a:r>
              <a:rPr lang="en-US" sz="1400" dirty="0">
                <a:solidFill>
                  <a:schemeClr val="bg1"/>
                </a:solidFill>
                <a:latin typeface="EYInterstate" pitchFamily="2" charset="0"/>
              </a:rPr>
              <a:t>Additionally, the roaming partners will also agree on High Usage thresholds. These thresholds need to be monitored by the visited operator and </a:t>
            </a:r>
            <a:r>
              <a:rPr lang="en-US" sz="1400" b="1" i="1" dirty="0">
                <a:solidFill>
                  <a:schemeClr val="bg1"/>
                </a:solidFill>
                <a:latin typeface="EYInterstate" pitchFamily="2" charset="0"/>
              </a:rPr>
              <a:t>High Usage Reports (HUR)</a:t>
            </a:r>
            <a:r>
              <a:rPr lang="en-US" sz="1400" dirty="0">
                <a:solidFill>
                  <a:schemeClr val="bg1"/>
                </a:solidFill>
                <a:latin typeface="EYInterstate" pitchFamily="2" charset="0"/>
              </a:rPr>
              <a:t> need to be sent to the home operator within 36h of the occurrence of the high usage. </a:t>
            </a:r>
          </a:p>
          <a:p>
            <a:pPr marL="177800" indent="-177800">
              <a:buClr>
                <a:srgbClr val="FFC000"/>
              </a:buClr>
              <a:buFont typeface="Arial" pitchFamily="34" charset="0"/>
              <a:buChar char="►"/>
            </a:pPr>
            <a:endParaRPr lang="en-US" sz="1400" dirty="0">
              <a:solidFill>
                <a:schemeClr val="bg1"/>
              </a:solidFill>
              <a:latin typeface="EYInterstate" pitchFamily="2" charset="0"/>
            </a:endParaRPr>
          </a:p>
          <a:p>
            <a:pPr marL="177800" indent="-177800">
              <a:buClr>
                <a:srgbClr val="FFC000"/>
              </a:buClr>
              <a:buFont typeface="Arial" pitchFamily="34" charset="0"/>
              <a:buChar char="►"/>
            </a:pPr>
            <a:r>
              <a:rPr lang="en-US" sz="1400" dirty="0">
                <a:solidFill>
                  <a:schemeClr val="bg1"/>
                </a:solidFill>
                <a:latin typeface="EYInterstate" pitchFamily="2" charset="0"/>
              </a:rPr>
              <a:t>TAP files are rated in </a:t>
            </a:r>
            <a:r>
              <a:rPr lang="en-US" sz="1400" b="1" i="1" dirty="0">
                <a:solidFill>
                  <a:schemeClr val="bg1"/>
                </a:solidFill>
                <a:latin typeface="EYInterstate" pitchFamily="2" charset="0"/>
              </a:rPr>
              <a:t>SDR (Special Drawing Rights),</a:t>
            </a:r>
            <a:r>
              <a:rPr lang="en-US" sz="1400" dirty="0">
                <a:solidFill>
                  <a:schemeClr val="bg1"/>
                </a:solidFill>
                <a:latin typeface="EYInterstate" pitchFamily="2" charset="0"/>
              </a:rPr>
              <a:t> an IMF basket currency. For the conversion of SDR into the currency of payment operators must apply the pegged SDR rate quoted by the International Monetary Fund (IMF) on the twenty third (23rd) of the month preceding the invoicing period, or in case this is a US public holiday, the previous business day of the month preceding the invoicing period which is published from IMF.</a:t>
            </a:r>
          </a:p>
          <a:p>
            <a:pPr marL="177800" indent="-177800">
              <a:buClr>
                <a:srgbClr val="FFC000"/>
              </a:buClr>
              <a:buFont typeface="Arial" pitchFamily="34" charset="0"/>
              <a:buChar char="►"/>
            </a:pPr>
            <a:endParaRPr lang="en-US" sz="1400" dirty="0">
              <a:solidFill>
                <a:schemeClr val="bg1"/>
              </a:solidFill>
              <a:latin typeface="EYInterstate" pitchFamily="2" charset="0"/>
            </a:endParaRPr>
          </a:p>
          <a:p>
            <a:pPr marL="177800" indent="-177800">
              <a:buClr>
                <a:srgbClr val="FFC000"/>
              </a:buClr>
              <a:buFont typeface="Arial" pitchFamily="34" charset="0"/>
              <a:buChar char="►"/>
            </a:pPr>
            <a:r>
              <a:rPr lang="en-US" sz="1400" dirty="0">
                <a:solidFill>
                  <a:schemeClr val="bg1"/>
                </a:solidFill>
                <a:latin typeface="EYInterstate" pitchFamily="2" charset="0"/>
              </a:rPr>
              <a:t>The transfer of TAP records between the visited and the home mobile networks may be performed directly, or more commonly, via a </a:t>
            </a:r>
            <a:r>
              <a:rPr lang="en-US" sz="1400" b="1" i="1" dirty="0">
                <a:solidFill>
                  <a:schemeClr val="bg1"/>
                </a:solidFill>
                <a:latin typeface="EYInterstate" pitchFamily="2" charset="0"/>
              </a:rPr>
              <a:t>Clearinghouse</a:t>
            </a:r>
            <a:r>
              <a:rPr lang="en-US" sz="1400" dirty="0">
                <a:solidFill>
                  <a:schemeClr val="bg1"/>
                </a:solidFill>
                <a:latin typeface="EYInterstate" pitchFamily="2" charset="0"/>
              </a:rPr>
              <a:t>. Invoicing between the operators then normally happens once per month.</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Concepts – Data Clearing &amp; Financial Clearing</a:t>
            </a:r>
          </a:p>
        </p:txBody>
      </p:sp>
      <p:sp>
        <p:nvSpPr>
          <p:cNvPr id="3" name="Content Placeholder 2"/>
          <p:cNvSpPr>
            <a:spLocks noGrp="1"/>
          </p:cNvSpPr>
          <p:nvPr>
            <p:ph idx="1"/>
          </p:nvPr>
        </p:nvSpPr>
        <p:spPr>
          <a:xfrm>
            <a:off x="455612" y="1143000"/>
            <a:ext cx="4114800" cy="4937760"/>
          </a:xfr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7800" indent="-68263">
              <a:spcBef>
                <a:spcPct val="0"/>
              </a:spcBef>
              <a:buClr>
                <a:srgbClr val="FFC000"/>
              </a:buClr>
              <a:buFont typeface="Arial" pitchFamily="34" charset="0"/>
              <a:buChar char="►"/>
            </a:pPr>
            <a:r>
              <a:rPr lang="en-US" sz="1400" b="1" kern="1200" dirty="0">
                <a:solidFill>
                  <a:schemeClr val="bg1"/>
                </a:solidFill>
                <a:latin typeface="EYInterstate" pitchFamily="2" charset="0"/>
              </a:rPr>
              <a:t>Data Clearing</a:t>
            </a:r>
          </a:p>
          <a:p>
            <a:pPr marL="395288" lvl="2" indent="-163513">
              <a:spcBef>
                <a:spcPct val="0"/>
              </a:spcBef>
              <a:buClr>
                <a:srgbClr val="FFC000"/>
              </a:buClr>
              <a:buFont typeface="Arial" pitchFamily="34" charset="0"/>
              <a:buChar char="►"/>
            </a:pPr>
            <a:r>
              <a:rPr lang="en-US" sz="1200" kern="1200" dirty="0">
                <a:solidFill>
                  <a:schemeClr val="bg1"/>
                </a:solidFill>
                <a:latin typeface="EYInterstate" pitchFamily="2" charset="0"/>
                <a:ea typeface="+mn-ea"/>
                <a:cs typeface="+mn-cs"/>
              </a:rPr>
              <a:t>In order to recover roaming revenue, operators need to exchange billing information between each other. It is possible to do this on a peer-to-peer basis, however most operators choose to use Data Clearing Houses to exchange the billing information.</a:t>
            </a:r>
          </a:p>
          <a:p>
            <a:pPr marL="395288" lvl="2" indent="-163513">
              <a:spcBef>
                <a:spcPct val="0"/>
              </a:spcBef>
              <a:buClr>
                <a:srgbClr val="FFC000"/>
              </a:buClr>
              <a:buFont typeface="Arial" pitchFamily="34" charset="0"/>
              <a:buChar char="►"/>
            </a:pPr>
            <a:endParaRPr lang="en-US" sz="1200" kern="1200" dirty="0">
              <a:solidFill>
                <a:schemeClr val="bg1"/>
              </a:solidFill>
              <a:latin typeface="EYInterstate" pitchFamily="2" charset="0"/>
              <a:ea typeface="+mn-ea"/>
              <a:cs typeface="+mn-cs"/>
            </a:endParaRPr>
          </a:p>
          <a:p>
            <a:pPr marL="395288" lvl="2" indent="-163513">
              <a:spcBef>
                <a:spcPct val="0"/>
              </a:spcBef>
              <a:buClr>
                <a:srgbClr val="FFC000"/>
              </a:buClr>
              <a:buFont typeface="Arial" pitchFamily="34" charset="0"/>
              <a:buChar char="►"/>
            </a:pPr>
            <a:r>
              <a:rPr lang="en-US" sz="1200" kern="1200" dirty="0">
                <a:solidFill>
                  <a:schemeClr val="bg1"/>
                </a:solidFill>
                <a:latin typeface="EYInterstate" pitchFamily="2" charset="0"/>
                <a:ea typeface="+mn-ea"/>
                <a:cs typeface="+mn-cs"/>
              </a:rPr>
              <a:t>Data Clearing House services may be employed by an operator to act as its agent.  </a:t>
            </a:r>
          </a:p>
          <a:p>
            <a:pPr marL="395288" lvl="2" indent="-163513">
              <a:spcBef>
                <a:spcPct val="0"/>
              </a:spcBef>
              <a:buClr>
                <a:srgbClr val="FFC000"/>
              </a:buClr>
              <a:buFont typeface="Arial" pitchFamily="34" charset="0"/>
              <a:buChar char="►"/>
            </a:pPr>
            <a:endParaRPr lang="en-US" sz="1200" kern="1200" dirty="0">
              <a:solidFill>
                <a:schemeClr val="bg1"/>
              </a:solidFill>
              <a:latin typeface="EYInterstate" pitchFamily="2" charset="0"/>
              <a:ea typeface="+mn-ea"/>
              <a:cs typeface="+mn-cs"/>
            </a:endParaRPr>
          </a:p>
          <a:p>
            <a:pPr marL="395288" lvl="2" indent="-163513">
              <a:spcBef>
                <a:spcPct val="0"/>
              </a:spcBef>
              <a:buClr>
                <a:srgbClr val="FFC000"/>
              </a:buClr>
              <a:buFont typeface="Arial" pitchFamily="34" charset="0"/>
              <a:buChar char="►"/>
            </a:pPr>
            <a:r>
              <a:rPr lang="en-US" sz="1200" kern="1200" dirty="0">
                <a:solidFill>
                  <a:schemeClr val="bg1"/>
                </a:solidFill>
                <a:latin typeface="EYInterstate" pitchFamily="2" charset="0"/>
                <a:ea typeface="+mn-ea"/>
                <a:cs typeface="+mn-cs"/>
              </a:rPr>
              <a:t>Data Clearing Houses can provide a single point of contact to send and distribute files to and from roaming partners. </a:t>
            </a:r>
          </a:p>
          <a:p>
            <a:pPr marL="395288" lvl="2" indent="-163513">
              <a:spcBef>
                <a:spcPct val="0"/>
              </a:spcBef>
              <a:buClr>
                <a:srgbClr val="FFC000"/>
              </a:buClr>
              <a:buFont typeface="Arial" pitchFamily="34" charset="0"/>
              <a:buChar char="►"/>
            </a:pPr>
            <a:endParaRPr lang="en-US" sz="1200" kern="1200" dirty="0">
              <a:solidFill>
                <a:schemeClr val="bg1"/>
              </a:solidFill>
              <a:latin typeface="EYInterstate" pitchFamily="2" charset="0"/>
              <a:ea typeface="+mn-ea"/>
              <a:cs typeface="+mn-cs"/>
            </a:endParaRPr>
          </a:p>
          <a:p>
            <a:pPr marL="395288" lvl="2" indent="-163513">
              <a:spcBef>
                <a:spcPct val="0"/>
              </a:spcBef>
              <a:buClr>
                <a:srgbClr val="FFC000"/>
              </a:buClr>
              <a:buFont typeface="Arial" pitchFamily="34" charset="0"/>
              <a:buChar char="►"/>
            </a:pPr>
            <a:r>
              <a:rPr lang="en-US" sz="1200" kern="1200" dirty="0">
                <a:solidFill>
                  <a:schemeClr val="bg1"/>
                </a:solidFill>
                <a:latin typeface="EYInterstate" pitchFamily="2" charset="0"/>
                <a:ea typeface="+mn-ea"/>
                <a:cs typeface="+mn-cs"/>
              </a:rPr>
              <a:t>Data Clearing Houses (DCH), where employed, are responsible to their customer for the error free transfer of TAP files between the roaming partners.</a:t>
            </a:r>
          </a:p>
          <a:p>
            <a:pPr marL="395288" lvl="2" indent="-163513">
              <a:spcBef>
                <a:spcPct val="0"/>
              </a:spcBef>
              <a:buClr>
                <a:srgbClr val="FFC000"/>
              </a:buClr>
              <a:buFont typeface="Arial" pitchFamily="34" charset="0"/>
              <a:buChar char="►"/>
            </a:pPr>
            <a:endParaRPr lang="en-US" sz="1200" kern="1200" dirty="0">
              <a:solidFill>
                <a:schemeClr val="bg1"/>
              </a:solidFill>
              <a:latin typeface="EYInterstate" pitchFamily="2" charset="0"/>
              <a:ea typeface="+mn-ea"/>
              <a:cs typeface="+mn-cs"/>
            </a:endParaRPr>
          </a:p>
          <a:p>
            <a:pPr marL="395288" lvl="2" indent="-163513">
              <a:spcBef>
                <a:spcPct val="0"/>
              </a:spcBef>
              <a:buClr>
                <a:srgbClr val="FFC000"/>
              </a:buClr>
              <a:buFont typeface="Arial" pitchFamily="34" charset="0"/>
              <a:buChar char="►"/>
            </a:pPr>
            <a:r>
              <a:rPr lang="en-US" sz="1200" kern="1200" dirty="0">
                <a:solidFill>
                  <a:schemeClr val="bg1"/>
                </a:solidFill>
                <a:latin typeface="EYInterstate" pitchFamily="2" charset="0"/>
                <a:ea typeface="+mn-ea"/>
                <a:cs typeface="+mn-cs"/>
              </a:rPr>
              <a:t>In addition to data clearing other services are offered:</a:t>
            </a:r>
          </a:p>
          <a:p>
            <a:pPr marL="896937" lvl="4" indent="-177800">
              <a:spcBef>
                <a:spcPct val="0"/>
              </a:spcBef>
              <a:buClr>
                <a:srgbClr val="FFC000"/>
              </a:buClr>
              <a:buFont typeface="Arial" pitchFamily="34" charset="0"/>
              <a:buChar char="►"/>
            </a:pPr>
            <a:r>
              <a:rPr lang="en-US" sz="1200" kern="1200" dirty="0">
                <a:solidFill>
                  <a:schemeClr val="bg1"/>
                </a:solidFill>
                <a:latin typeface="EYInterstate" pitchFamily="2" charset="0"/>
                <a:ea typeface="+mn-ea"/>
                <a:cs typeface="+mn-cs"/>
              </a:rPr>
              <a:t>File validation</a:t>
            </a:r>
          </a:p>
          <a:p>
            <a:pPr marL="896937" lvl="4" indent="-177800">
              <a:spcBef>
                <a:spcPct val="0"/>
              </a:spcBef>
              <a:buClr>
                <a:srgbClr val="FFC000"/>
              </a:buClr>
              <a:buFont typeface="Arial" pitchFamily="34" charset="0"/>
              <a:buChar char="►"/>
            </a:pPr>
            <a:r>
              <a:rPr lang="en-US" sz="1200" kern="1200" dirty="0">
                <a:solidFill>
                  <a:schemeClr val="bg1"/>
                </a:solidFill>
                <a:latin typeface="EYInterstate" pitchFamily="2" charset="0"/>
                <a:ea typeface="+mn-ea"/>
                <a:cs typeface="+mn-cs"/>
              </a:rPr>
              <a:t>File creation</a:t>
            </a:r>
          </a:p>
          <a:p>
            <a:pPr marL="896937" lvl="4" indent="-177800">
              <a:spcBef>
                <a:spcPct val="0"/>
              </a:spcBef>
              <a:buClr>
                <a:srgbClr val="FFC000"/>
              </a:buClr>
              <a:buFont typeface="Arial" pitchFamily="34" charset="0"/>
              <a:buChar char="►"/>
            </a:pPr>
            <a:r>
              <a:rPr lang="en-US" sz="1200" kern="1200" dirty="0">
                <a:solidFill>
                  <a:schemeClr val="bg1"/>
                </a:solidFill>
                <a:latin typeface="EYInterstate" pitchFamily="2" charset="0"/>
                <a:ea typeface="+mn-ea"/>
                <a:cs typeface="+mn-cs"/>
              </a:rPr>
              <a:t>File conversion </a:t>
            </a:r>
          </a:p>
          <a:p>
            <a:pPr marL="896937" lvl="4" indent="-177800">
              <a:spcBef>
                <a:spcPct val="0"/>
              </a:spcBef>
              <a:buClr>
                <a:srgbClr val="FFC000"/>
              </a:buClr>
              <a:buFont typeface="Arial" pitchFamily="34" charset="0"/>
              <a:buChar char="►"/>
            </a:pPr>
            <a:r>
              <a:rPr lang="en-US" sz="1200" kern="1200" dirty="0">
                <a:solidFill>
                  <a:schemeClr val="bg1"/>
                </a:solidFill>
                <a:latin typeface="EYInterstate" pitchFamily="2" charset="0"/>
                <a:ea typeface="+mn-ea"/>
                <a:cs typeface="+mn-cs"/>
              </a:rPr>
              <a:t>Fraud detection </a:t>
            </a:r>
          </a:p>
          <a:p>
            <a:pPr marL="896937" lvl="4" indent="-177800">
              <a:spcBef>
                <a:spcPct val="0"/>
              </a:spcBef>
              <a:buClr>
                <a:srgbClr val="FFC000"/>
              </a:buClr>
              <a:buFont typeface="Arial" pitchFamily="34" charset="0"/>
              <a:buChar char="►"/>
            </a:pPr>
            <a:r>
              <a:rPr lang="en-US" sz="1200" kern="1200" dirty="0">
                <a:solidFill>
                  <a:schemeClr val="bg1"/>
                </a:solidFill>
                <a:latin typeface="EYInterstate" pitchFamily="2" charset="0"/>
                <a:ea typeface="+mn-ea"/>
                <a:cs typeface="+mn-cs"/>
              </a:rPr>
              <a:t>Tariff check</a:t>
            </a:r>
          </a:p>
          <a:p>
            <a:pPr marL="896937" lvl="4" indent="-177800">
              <a:spcBef>
                <a:spcPct val="0"/>
              </a:spcBef>
              <a:buClr>
                <a:srgbClr val="FFC000"/>
              </a:buClr>
              <a:buFont typeface="Arial" pitchFamily="34" charset="0"/>
              <a:buChar char="►"/>
            </a:pPr>
            <a:r>
              <a:rPr lang="en-US" sz="1200" kern="1200" dirty="0">
                <a:solidFill>
                  <a:schemeClr val="bg1"/>
                </a:solidFill>
                <a:latin typeface="EYInterstate" pitchFamily="2" charset="0"/>
                <a:ea typeface="+mn-ea"/>
                <a:cs typeface="+mn-cs"/>
              </a:rPr>
              <a:t>Invoicing &amp; Payment</a:t>
            </a:r>
          </a:p>
        </p:txBody>
      </p:sp>
      <p:sp>
        <p:nvSpPr>
          <p:cNvPr id="5" name="Content Placeholder 2"/>
          <p:cNvSpPr txBox="1">
            <a:spLocks/>
          </p:cNvSpPr>
          <p:nvPr/>
        </p:nvSpPr>
        <p:spPr bwMode="auto">
          <a:xfrm>
            <a:off x="4648200" y="1143000"/>
            <a:ext cx="4114800" cy="4937760"/>
          </a:xfrm>
          <a:prstGeom prst="rect">
            <a:avLst/>
          </a:prstGeom>
          <a:solidFill>
            <a:schemeClr val="bg1">
              <a:lumMod val="50000"/>
            </a:schemeClr>
          </a:solidFill>
          <a:ln w="9525">
            <a:solidFill>
              <a:schemeClr val="bg1">
                <a:lumMod val="50000"/>
              </a:schemeClr>
            </a:solidFill>
            <a:miter lim="800000"/>
            <a:headEnd/>
            <a:tailEnd/>
          </a:ln>
          <a:effectLst/>
        </p:spPr>
        <p:txBody>
          <a:bodyPr vert="horz" wrap="square" lIns="0" tIns="0" rIns="0" bIns="0" numCol="1" anchor="t" anchorCtr="0" compatLnSpc="1">
            <a:prstTxWarp prst="textNoShape">
              <a:avLst/>
            </a:prstTxWarp>
          </a:bodyPr>
          <a:lstStyle/>
          <a:p>
            <a:pPr marL="177800" marR="0" lvl="0" indent="-68263" defTabSz="914400" latinLnBrk="0">
              <a:lnSpc>
                <a:spcPct val="100000"/>
              </a:lnSpc>
              <a:buClr>
                <a:srgbClr val="FFC000"/>
              </a:buClr>
              <a:buSzPct val="75000"/>
              <a:buFont typeface="Arial" pitchFamily="34" charset="0"/>
              <a:buChar char="►"/>
              <a:tabLst/>
              <a:defRPr/>
            </a:pPr>
            <a:r>
              <a:rPr lang="en-US" sz="1400" b="1" dirty="0">
                <a:solidFill>
                  <a:schemeClr val="bg1"/>
                </a:solidFill>
                <a:latin typeface="EYInterstate" pitchFamily="2" charset="0"/>
              </a:rPr>
              <a:t>Financial Clearing </a:t>
            </a:r>
          </a:p>
          <a:p>
            <a:pPr marL="395288" lvl="2" indent="-163513">
              <a:buClr>
                <a:srgbClr val="FFC000"/>
              </a:buClr>
              <a:buSzPct val="75000"/>
              <a:buFont typeface="Arial" pitchFamily="34" charset="0"/>
              <a:buChar char="►"/>
            </a:pPr>
            <a:r>
              <a:rPr lang="en-US" sz="1200" dirty="0">
                <a:solidFill>
                  <a:schemeClr val="bg1"/>
                </a:solidFill>
                <a:latin typeface="EYInterstate" pitchFamily="2" charset="0"/>
              </a:rPr>
              <a:t>In order to recover roaming revenue operators need to invoice each other for the traffic used in the respective networks. It is possible to do this on a peer-to-peer basis, however most operators choose to use Financial Clearing Houses to produce, exchange and clear invoices</a:t>
            </a:r>
          </a:p>
          <a:p>
            <a:pPr marL="231775" lvl="1" indent="-231775">
              <a:spcBef>
                <a:spcPct val="20000"/>
              </a:spcBef>
              <a:buClr>
                <a:srgbClr val="FFD200"/>
              </a:buClr>
              <a:buSzPct val="75000"/>
              <a:buFont typeface="Arial" charset="0"/>
              <a:buChar char="►"/>
            </a:pPr>
            <a:endParaRPr lang="en-US" sz="1200" kern="0" dirty="0">
              <a:solidFill>
                <a:schemeClr val="bg1"/>
              </a:solidFill>
              <a:latin typeface="EYInterstate" pitchFamily="2" charset="0"/>
            </a:endParaRPr>
          </a:p>
          <a:p>
            <a:pPr marL="395288" lvl="2" indent="-163513">
              <a:buClr>
                <a:srgbClr val="FFC000"/>
              </a:buClr>
              <a:buSzPct val="75000"/>
              <a:buFont typeface="Arial" pitchFamily="34" charset="0"/>
              <a:buChar char="►"/>
            </a:pPr>
            <a:r>
              <a:rPr lang="en-US" sz="1200" dirty="0">
                <a:solidFill>
                  <a:schemeClr val="bg1"/>
                </a:solidFill>
                <a:latin typeface="EYInterstate" pitchFamily="2" charset="0"/>
              </a:rPr>
              <a:t>Based on the billing information they receive from the operator (or Data Clearing House where employed), the Financial Clearing House performs some or all of the following functions:</a:t>
            </a:r>
          </a:p>
          <a:p>
            <a:pPr marL="231775" lvl="1" indent="-231775">
              <a:spcBef>
                <a:spcPct val="20000"/>
              </a:spcBef>
              <a:buClr>
                <a:srgbClr val="FFD200"/>
              </a:buClr>
              <a:buSzPct val="75000"/>
              <a:buFont typeface="Arial" charset="0"/>
              <a:buChar char="►"/>
            </a:pPr>
            <a:endParaRPr lang="en-US" sz="1200" kern="0" dirty="0">
              <a:solidFill>
                <a:schemeClr val="bg1"/>
              </a:solidFill>
              <a:latin typeface="EYInterstate" pitchFamily="2" charset="0"/>
            </a:endParaRPr>
          </a:p>
          <a:p>
            <a:pPr marL="688975" lvl="3" indent="-231775">
              <a:spcBef>
                <a:spcPts val="0"/>
              </a:spcBef>
              <a:buClr>
                <a:srgbClr val="FFD200"/>
              </a:buClr>
              <a:buSzPct val="75000"/>
              <a:buFont typeface="Arial" charset="0"/>
              <a:buChar char="►"/>
            </a:pPr>
            <a:r>
              <a:rPr lang="en-US" sz="1200" kern="0" dirty="0">
                <a:solidFill>
                  <a:schemeClr val="bg1"/>
                </a:solidFill>
                <a:latin typeface="EYInterstate" pitchFamily="2" charset="0"/>
              </a:rPr>
              <a:t>Produce and distribute invoices on behalf of the operator;</a:t>
            </a:r>
          </a:p>
          <a:p>
            <a:pPr marL="688975" lvl="3" indent="-231775">
              <a:spcBef>
                <a:spcPts val="0"/>
              </a:spcBef>
              <a:buClr>
                <a:srgbClr val="FFD200"/>
              </a:buClr>
              <a:buSzPct val="75000"/>
              <a:buFont typeface="Arial" charset="0"/>
              <a:buChar char="►"/>
            </a:pPr>
            <a:r>
              <a:rPr lang="en-US" sz="1200" kern="0" dirty="0">
                <a:solidFill>
                  <a:schemeClr val="bg1"/>
                </a:solidFill>
                <a:latin typeface="EYInterstate" pitchFamily="2" charset="0"/>
              </a:rPr>
              <a:t>Provide collection and payment of funds and monitor credit issues</a:t>
            </a:r>
          </a:p>
          <a:p>
            <a:pPr marL="688975" lvl="3" indent="-231775">
              <a:spcBef>
                <a:spcPts val="0"/>
              </a:spcBef>
              <a:buClr>
                <a:srgbClr val="FFD200"/>
              </a:buClr>
              <a:buSzPct val="75000"/>
              <a:buFont typeface="Arial" charset="0"/>
              <a:buChar char="►"/>
            </a:pPr>
            <a:r>
              <a:rPr lang="en-US" sz="1200" kern="0" dirty="0">
                <a:solidFill>
                  <a:schemeClr val="bg1"/>
                </a:solidFill>
                <a:latin typeface="EYInterstate" pitchFamily="2" charset="0"/>
              </a:rPr>
              <a:t>Reclaim of Foreign VAT</a:t>
            </a:r>
          </a:p>
          <a:p>
            <a:pPr marL="688975" lvl="3" indent="-231775">
              <a:spcBef>
                <a:spcPts val="0"/>
              </a:spcBef>
              <a:buClr>
                <a:srgbClr val="FFD200"/>
              </a:buClr>
              <a:buSzPct val="75000"/>
              <a:buFont typeface="Arial" charset="0"/>
              <a:buChar char="►"/>
            </a:pPr>
            <a:r>
              <a:rPr lang="en-US" sz="1200" kern="0" dirty="0">
                <a:solidFill>
                  <a:schemeClr val="bg1"/>
                </a:solidFill>
                <a:latin typeface="EYInterstate" pitchFamily="2" charset="0"/>
              </a:rPr>
              <a:t>Provide bilateral or multilateral settlements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tabLst>
                <a:tab pos="400050" algn="l"/>
              </a:tabLst>
              <a:defRPr/>
            </a:pPr>
            <a:r>
              <a:rPr lang="en-US" sz="2400" dirty="0">
                <a:latin typeface="EYInterstate" pitchFamily="2" charset="0"/>
              </a:rPr>
              <a:t>Roaming Revenue Cycle</a:t>
            </a:r>
          </a:p>
        </p:txBody>
      </p:sp>
      <p:sp>
        <p:nvSpPr>
          <p:cNvPr id="60" name="Isosceles Triangle 59"/>
          <p:cNvSpPr/>
          <p:nvPr/>
        </p:nvSpPr>
        <p:spPr>
          <a:xfrm rot="5400000">
            <a:off x="1600200" y="6111320"/>
            <a:ext cx="161925"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64" name="Isosceles Triangle 63"/>
          <p:cNvSpPr/>
          <p:nvPr/>
        </p:nvSpPr>
        <p:spPr>
          <a:xfrm rot="5400000">
            <a:off x="4308792" y="6075188"/>
            <a:ext cx="161925"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82" name="Rectangle 81"/>
          <p:cNvSpPr/>
          <p:nvPr/>
        </p:nvSpPr>
        <p:spPr>
          <a:xfrm>
            <a:off x="446913" y="5614432"/>
            <a:ext cx="457200"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a:solidFill>
                  <a:schemeClr val="bg1"/>
                </a:solidFill>
                <a:latin typeface="EYInterstate Light" pitchFamily="2" charset="0"/>
              </a:rPr>
              <a:t>7.</a:t>
            </a:r>
          </a:p>
        </p:txBody>
      </p:sp>
      <p:sp>
        <p:nvSpPr>
          <p:cNvPr id="83" name="Rectangle 82"/>
          <p:cNvSpPr/>
          <p:nvPr/>
        </p:nvSpPr>
        <p:spPr>
          <a:xfrm>
            <a:off x="3151632" y="5623576"/>
            <a:ext cx="457200"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a:solidFill>
                  <a:schemeClr val="bg1"/>
                </a:solidFill>
                <a:latin typeface="EYInterstate Light" pitchFamily="2" charset="0"/>
              </a:rPr>
              <a:t>8.</a:t>
            </a:r>
          </a:p>
        </p:txBody>
      </p:sp>
      <p:grpSp>
        <p:nvGrpSpPr>
          <p:cNvPr id="51" name="Group 50"/>
          <p:cNvGrpSpPr/>
          <p:nvPr/>
        </p:nvGrpSpPr>
        <p:grpSpPr>
          <a:xfrm>
            <a:off x="914400" y="1993408"/>
            <a:ext cx="7315200" cy="2856040"/>
            <a:chOff x="914400" y="1993408"/>
            <a:chExt cx="7315200" cy="2856040"/>
          </a:xfrm>
        </p:grpSpPr>
        <p:sp>
          <p:nvSpPr>
            <p:cNvPr id="52" name="Rectangle 51"/>
            <p:cNvSpPr/>
            <p:nvPr/>
          </p:nvSpPr>
          <p:spPr>
            <a:xfrm>
              <a:off x="4599787" y="3432381"/>
              <a:ext cx="1185681" cy="1401763"/>
            </a:xfrm>
            <a:prstGeom prst="rect">
              <a:avLst/>
            </a:prstGeom>
            <a:solidFill>
              <a:srgbClr val="FFD2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53" name="Rectangle 52"/>
            <p:cNvSpPr/>
            <p:nvPr/>
          </p:nvSpPr>
          <p:spPr>
            <a:xfrm>
              <a:off x="3371835" y="1993408"/>
              <a:ext cx="1185681" cy="140335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54" name="Rectangle 53"/>
            <p:cNvSpPr/>
            <p:nvPr/>
          </p:nvSpPr>
          <p:spPr>
            <a:xfrm>
              <a:off x="3418582" y="1998170"/>
              <a:ext cx="1090770" cy="181268"/>
            </a:xfrm>
            <a:prstGeom prst="rect">
              <a:avLst/>
            </a:prstGeom>
          </p:spPr>
          <p:txBody>
            <a:bodyPr lIns="0" tIns="0" rIns="0" bIns="0">
              <a:spAutoFit/>
            </a:bodyPr>
            <a:lstStyle/>
            <a:p>
              <a:pPr>
                <a:lnSpc>
                  <a:spcPts val="1500"/>
                </a:lnSpc>
                <a:buClr>
                  <a:srgbClr val="FFD200"/>
                </a:buClr>
                <a:buSzPct val="75000"/>
                <a:buFont typeface="Arial" charset="0"/>
                <a:buNone/>
                <a:tabLst>
                  <a:tab pos="400050" algn="l"/>
                </a:tabLst>
                <a:defRPr/>
              </a:pPr>
              <a:r>
                <a:rPr lang="en-US" sz="1200" dirty="0">
                  <a:latin typeface="EYInterstate" pitchFamily="2" charset="0"/>
                </a:rPr>
                <a:t>Key Concepts</a:t>
              </a:r>
            </a:p>
          </p:txBody>
        </p:sp>
        <p:sp>
          <p:nvSpPr>
            <p:cNvPr id="55" name="Rectangle 54"/>
            <p:cNvSpPr/>
            <p:nvPr/>
          </p:nvSpPr>
          <p:spPr>
            <a:xfrm>
              <a:off x="2141049" y="3438477"/>
              <a:ext cx="1185681" cy="140176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56" name="Rectangle 20"/>
            <p:cNvSpPr>
              <a:spLocks noChangeArrowheads="1"/>
            </p:cNvSpPr>
            <p:nvPr/>
          </p:nvSpPr>
          <p:spPr bwMode="auto">
            <a:xfrm>
              <a:off x="2178107" y="4094686"/>
              <a:ext cx="1014275" cy="553998"/>
            </a:xfrm>
            <a:prstGeom prst="rect">
              <a:avLst/>
            </a:prstGeom>
            <a:noFill/>
            <a:ln w="9525">
              <a:noFill/>
              <a:miter lim="800000"/>
              <a:headEnd/>
              <a:tailEnd/>
            </a:ln>
          </p:spPr>
          <p:txBody>
            <a:bodyPr lIns="0" tIns="0" rIns="0" bIns="0">
              <a:spAutoFit/>
            </a:bodyPr>
            <a:lstStyle/>
            <a:p>
              <a:pPr>
                <a:buClr>
                  <a:srgbClr val="FFD200"/>
                </a:buClr>
                <a:buSzPct val="75000"/>
                <a:buFont typeface="Arial" pitchFamily="34" charset="0"/>
                <a:buNone/>
                <a:tabLst>
                  <a:tab pos="400050" algn="l"/>
                </a:tabLst>
              </a:pPr>
              <a:r>
                <a:rPr lang="en-US" sz="1200" dirty="0">
                  <a:latin typeface="EYInterstate" pitchFamily="2" charset="0"/>
                </a:rPr>
                <a:t>General Roaming</a:t>
              </a:r>
            </a:p>
            <a:p>
              <a:pPr>
                <a:buClr>
                  <a:srgbClr val="FFD200"/>
                </a:buClr>
                <a:buSzPct val="75000"/>
                <a:buFont typeface="Arial" pitchFamily="34" charset="0"/>
                <a:buNone/>
                <a:tabLst>
                  <a:tab pos="400050" algn="l"/>
                </a:tabLst>
              </a:pPr>
              <a:r>
                <a:rPr lang="en-US" sz="1200" dirty="0">
                  <a:latin typeface="EYInterstate" pitchFamily="2" charset="0"/>
                </a:rPr>
                <a:t>Terminologies</a:t>
              </a:r>
              <a:endParaRPr lang="en-US" sz="1200" dirty="0">
                <a:solidFill>
                  <a:srgbClr val="000000"/>
                </a:solidFill>
                <a:latin typeface="EYInterstate Light" pitchFamily="2" charset="0"/>
              </a:endParaRPr>
            </a:p>
          </p:txBody>
        </p:sp>
        <p:grpSp>
          <p:nvGrpSpPr>
            <p:cNvPr id="59" name="Group 33"/>
            <p:cNvGrpSpPr>
              <a:grpSpLocks/>
            </p:cNvGrpSpPr>
            <p:nvPr/>
          </p:nvGrpSpPr>
          <p:grpSpPr bwMode="auto">
            <a:xfrm>
              <a:off x="5820601" y="2004145"/>
              <a:ext cx="1187098" cy="1401763"/>
              <a:chOff x="4599803" y="2102667"/>
              <a:chExt cx="1329095" cy="1401653"/>
            </a:xfrm>
          </p:grpSpPr>
          <p:sp>
            <p:nvSpPr>
              <p:cNvPr id="101" name="Rectangle 100"/>
              <p:cNvSpPr/>
              <p:nvPr/>
            </p:nvSpPr>
            <p:spPr>
              <a:xfrm>
                <a:off x="4599803" y="2102667"/>
                <a:ext cx="1329095" cy="140165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102" name="Rectangle 23"/>
              <p:cNvSpPr>
                <a:spLocks noChangeArrowheads="1"/>
              </p:cNvSpPr>
              <p:nvPr/>
            </p:nvSpPr>
            <p:spPr bwMode="auto">
              <a:xfrm>
                <a:off x="4633035" y="2162263"/>
                <a:ext cx="1136666" cy="384691"/>
              </a:xfrm>
              <a:prstGeom prst="rect">
                <a:avLst/>
              </a:prstGeom>
              <a:noFill/>
              <a:ln w="9525">
                <a:noFill/>
                <a:miter lim="800000"/>
                <a:headEnd/>
                <a:tailEnd/>
              </a:ln>
            </p:spPr>
            <p:txBody>
              <a:bodyPr lIns="0" tIns="0" rIns="0" bIns="0">
                <a:spAutoFit/>
              </a:bodyPr>
              <a:lstStyle/>
              <a:p>
                <a:pPr>
                  <a:lnSpc>
                    <a:spcPts val="1500"/>
                  </a:lnSpc>
                  <a:buClr>
                    <a:srgbClr val="FFD200"/>
                  </a:buClr>
                  <a:buSzPct val="75000"/>
                  <a:tabLst>
                    <a:tab pos="400050" algn="l"/>
                  </a:tabLst>
                  <a:defRPr/>
                </a:pPr>
                <a:r>
                  <a:rPr lang="en-US" sz="1200" dirty="0">
                    <a:latin typeface="EYInterstate" pitchFamily="2" charset="0"/>
                  </a:rPr>
                  <a:t>Intra Circle  Roaming</a:t>
                </a:r>
              </a:p>
            </p:txBody>
          </p:sp>
        </p:grpSp>
        <p:sp>
          <p:nvSpPr>
            <p:cNvPr id="61" name="Rectangle 22"/>
            <p:cNvSpPr>
              <a:spLocks noChangeArrowheads="1"/>
            </p:cNvSpPr>
            <p:nvPr/>
          </p:nvSpPr>
          <p:spPr bwMode="auto">
            <a:xfrm>
              <a:off x="4636782" y="4350772"/>
              <a:ext cx="1105972" cy="373628"/>
            </a:xfrm>
            <a:prstGeom prst="rect">
              <a:avLst/>
            </a:prstGeom>
            <a:noFill/>
            <a:ln w="9525">
              <a:noFill/>
              <a:miter lim="800000"/>
              <a:headEnd/>
              <a:tailEnd/>
            </a:ln>
          </p:spPr>
          <p:txBody>
            <a:bodyPr lIns="0" tIns="0" rIns="0" bIns="0">
              <a:spAutoFit/>
            </a:bodyPr>
            <a:lstStyle/>
            <a:p>
              <a:pPr>
                <a:lnSpc>
                  <a:spcPts val="1500"/>
                </a:lnSpc>
                <a:buClr>
                  <a:srgbClr val="FFD200"/>
                </a:buClr>
                <a:buSzPct val="75000"/>
                <a:buFont typeface="Arial" charset="0"/>
                <a:buNone/>
                <a:tabLst>
                  <a:tab pos="400050" algn="l"/>
                </a:tabLst>
                <a:defRPr/>
              </a:pPr>
              <a:r>
                <a:rPr lang="en-US" sz="1200" dirty="0">
                  <a:latin typeface="EYInterstate" pitchFamily="2" charset="0"/>
                </a:rPr>
                <a:t>Roaming Revenue Cycle</a:t>
              </a:r>
            </a:p>
          </p:txBody>
        </p:sp>
        <p:grpSp>
          <p:nvGrpSpPr>
            <p:cNvPr id="62" name="Group 44"/>
            <p:cNvGrpSpPr>
              <a:grpSpLocks/>
            </p:cNvGrpSpPr>
            <p:nvPr/>
          </p:nvGrpSpPr>
          <p:grpSpPr bwMode="auto">
            <a:xfrm>
              <a:off x="7035528" y="3447686"/>
              <a:ext cx="1185683" cy="1401762"/>
              <a:chOff x="5972094" y="3483677"/>
              <a:chExt cx="1329077" cy="1401653"/>
            </a:xfrm>
          </p:grpSpPr>
          <p:sp>
            <p:nvSpPr>
              <p:cNvPr id="99" name="Rectangle 98"/>
              <p:cNvSpPr/>
              <p:nvPr/>
            </p:nvSpPr>
            <p:spPr>
              <a:xfrm>
                <a:off x="5972094" y="3483677"/>
                <a:ext cx="1329077" cy="140165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100" name="Rectangle 24"/>
              <p:cNvSpPr>
                <a:spLocks noChangeArrowheads="1"/>
              </p:cNvSpPr>
              <p:nvPr/>
            </p:nvSpPr>
            <p:spPr bwMode="auto">
              <a:xfrm>
                <a:off x="6011147" y="4575640"/>
                <a:ext cx="1136650" cy="184652"/>
              </a:xfrm>
              <a:prstGeom prst="rect">
                <a:avLst/>
              </a:prstGeom>
              <a:noFill/>
              <a:ln w="9525">
                <a:noFill/>
                <a:miter lim="800000"/>
                <a:headEnd/>
                <a:tailEnd/>
              </a:ln>
            </p:spPr>
            <p:txBody>
              <a:bodyPr lIns="0" tIns="0" rIns="0" bIns="0">
                <a:spAutoFit/>
              </a:bodyPr>
              <a:lstStyle/>
              <a:p>
                <a:pPr>
                  <a:buClr>
                    <a:srgbClr val="FFD200"/>
                  </a:buClr>
                  <a:buSzPct val="75000"/>
                  <a:tabLst>
                    <a:tab pos="400050" algn="l"/>
                  </a:tabLst>
                </a:pPr>
                <a:r>
                  <a:rPr lang="en-US" sz="1200" dirty="0">
                    <a:latin typeface="EYInterstate" pitchFamily="2" charset="0"/>
                  </a:rPr>
                  <a:t>Glossary </a:t>
                </a:r>
              </a:p>
            </p:txBody>
          </p:sp>
        </p:grpSp>
        <p:pic>
          <p:nvPicPr>
            <p:cNvPr id="63" name="Picture 4" descr="investment"/>
            <p:cNvPicPr>
              <a:picLocks noChangeArrowheads="1"/>
            </p:cNvPicPr>
            <p:nvPr/>
          </p:nvPicPr>
          <p:blipFill>
            <a:blip r:embed="rId2" cstate="print"/>
            <a:srcRect/>
            <a:stretch>
              <a:fillRect/>
            </a:stretch>
          </p:blipFill>
          <p:spPr bwMode="auto">
            <a:xfrm>
              <a:off x="4588908" y="2005600"/>
              <a:ext cx="1183132" cy="1399032"/>
            </a:xfrm>
            <a:prstGeom prst="rect">
              <a:avLst/>
            </a:prstGeom>
            <a:noFill/>
          </p:spPr>
        </p:pic>
        <p:pic>
          <p:nvPicPr>
            <p:cNvPr id="70" name="Picture 29" descr="14H02278_RF.jpg"/>
            <p:cNvPicPr>
              <a:picLocks noChangeAspect="1"/>
            </p:cNvPicPr>
            <p:nvPr/>
          </p:nvPicPr>
          <p:blipFill>
            <a:blip r:embed="rId3" cstate="print"/>
            <a:srcRect b="29448"/>
            <a:stretch>
              <a:fillRect/>
            </a:stretch>
          </p:blipFill>
          <p:spPr bwMode="auto">
            <a:xfrm>
              <a:off x="3375858" y="3432064"/>
              <a:ext cx="1182848" cy="1401763"/>
            </a:xfrm>
            <a:prstGeom prst="rect">
              <a:avLst/>
            </a:prstGeom>
            <a:noFill/>
            <a:ln w="9525">
              <a:noFill/>
              <a:miter lim="800000"/>
              <a:headEnd/>
              <a:tailEnd/>
            </a:ln>
          </p:spPr>
        </p:pic>
        <p:grpSp>
          <p:nvGrpSpPr>
            <p:cNvPr id="73" name="Group 44"/>
            <p:cNvGrpSpPr/>
            <p:nvPr/>
          </p:nvGrpSpPr>
          <p:grpSpPr>
            <a:xfrm>
              <a:off x="914400" y="1993408"/>
              <a:ext cx="1185681" cy="1479901"/>
              <a:chOff x="402336" y="1993408"/>
              <a:chExt cx="1185681" cy="1479901"/>
            </a:xfrm>
          </p:grpSpPr>
          <p:sp>
            <p:nvSpPr>
              <p:cNvPr id="95" name="Rectangle 94"/>
              <p:cNvSpPr/>
              <p:nvPr/>
            </p:nvSpPr>
            <p:spPr>
              <a:xfrm>
                <a:off x="402336" y="1993408"/>
                <a:ext cx="1185681" cy="140176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96" name="Rectangle 9"/>
              <p:cNvSpPr/>
              <p:nvPr/>
            </p:nvSpPr>
            <p:spPr>
              <a:xfrm>
                <a:off x="414915" y="2734645"/>
                <a:ext cx="407976"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a:solidFill>
                      <a:schemeClr val="bg1"/>
                    </a:solidFill>
                    <a:latin typeface="EYInterstate Light" pitchFamily="2" charset="0"/>
                  </a:rPr>
                  <a:t>1.</a:t>
                </a:r>
              </a:p>
            </p:txBody>
          </p:sp>
          <p:sp>
            <p:nvSpPr>
              <p:cNvPr id="97" name="Isosceles Triangle 10"/>
              <p:cNvSpPr/>
              <p:nvPr/>
            </p:nvSpPr>
            <p:spPr>
              <a:xfrm rot="10800000">
                <a:off x="1427830" y="3303477"/>
                <a:ext cx="144492"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98" name="Rectangle 20"/>
              <p:cNvSpPr>
                <a:spLocks noChangeArrowheads="1"/>
              </p:cNvSpPr>
              <p:nvPr/>
            </p:nvSpPr>
            <p:spPr bwMode="auto">
              <a:xfrm>
                <a:off x="429534" y="2022110"/>
                <a:ext cx="1014275" cy="553998"/>
              </a:xfrm>
              <a:prstGeom prst="rect">
                <a:avLst/>
              </a:prstGeom>
              <a:noFill/>
              <a:ln w="9525">
                <a:noFill/>
                <a:miter lim="800000"/>
                <a:headEnd/>
                <a:tailEnd/>
              </a:ln>
            </p:spPr>
            <p:txBody>
              <a:bodyPr lIns="0" tIns="0" rIns="0" bIns="0">
                <a:spAutoFit/>
              </a:bodyPr>
              <a:lstStyle/>
              <a:p>
                <a:pPr>
                  <a:buClr>
                    <a:srgbClr val="FFD200"/>
                  </a:buClr>
                  <a:buSzPct val="75000"/>
                  <a:buFont typeface="Arial" pitchFamily="34" charset="0"/>
                  <a:buNone/>
                  <a:tabLst>
                    <a:tab pos="400050" algn="l"/>
                  </a:tabLst>
                </a:pPr>
                <a:r>
                  <a:rPr lang="en-US" sz="1200" dirty="0">
                    <a:latin typeface="EYInterstate" pitchFamily="2" charset="0"/>
                  </a:rPr>
                  <a:t>Introduction to Roaming</a:t>
                </a:r>
              </a:p>
              <a:p>
                <a:pPr>
                  <a:buClr>
                    <a:srgbClr val="FFD200"/>
                  </a:buClr>
                  <a:buSzPct val="75000"/>
                  <a:buFont typeface="Arial" pitchFamily="34" charset="0"/>
                  <a:buNone/>
                  <a:tabLst>
                    <a:tab pos="400050" algn="l"/>
                  </a:tabLst>
                </a:pPr>
                <a:endParaRPr lang="en-US" sz="1200" dirty="0">
                  <a:solidFill>
                    <a:srgbClr val="000000"/>
                  </a:solidFill>
                  <a:latin typeface="EYInterstate Light" pitchFamily="2" charset="0"/>
                </a:endParaRPr>
              </a:p>
            </p:txBody>
          </p:sp>
        </p:grpSp>
        <p:sp>
          <p:nvSpPr>
            <p:cNvPr id="74" name="Isosceles Triangle 73"/>
            <p:cNvSpPr/>
            <p:nvPr/>
          </p:nvSpPr>
          <p:spPr bwMode="auto">
            <a:xfrm>
              <a:off x="3154587" y="3474673"/>
              <a:ext cx="145908"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75" name="Isosceles Triangle 74"/>
            <p:cNvSpPr/>
            <p:nvPr/>
          </p:nvSpPr>
          <p:spPr>
            <a:xfrm rot="10800000">
              <a:off x="4373700" y="3297381"/>
              <a:ext cx="144492"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76" name="Isosceles Triangle 75"/>
            <p:cNvSpPr/>
            <p:nvPr/>
          </p:nvSpPr>
          <p:spPr bwMode="auto">
            <a:xfrm>
              <a:off x="5607093" y="3486928"/>
              <a:ext cx="145908"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84" name="Isosceles Triangle 83"/>
            <p:cNvSpPr/>
            <p:nvPr/>
          </p:nvSpPr>
          <p:spPr>
            <a:xfrm rot="10800000">
              <a:off x="6824279" y="3315669"/>
              <a:ext cx="144492"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85" name="Isosceles Triangle 84"/>
            <p:cNvSpPr/>
            <p:nvPr/>
          </p:nvSpPr>
          <p:spPr bwMode="auto">
            <a:xfrm>
              <a:off x="8027753" y="3493024"/>
              <a:ext cx="145908"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86" name="Rectangle 85"/>
            <p:cNvSpPr/>
            <p:nvPr/>
          </p:nvSpPr>
          <p:spPr>
            <a:xfrm>
              <a:off x="3364979" y="2752933"/>
              <a:ext cx="407976"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a:solidFill>
                    <a:schemeClr val="bg1"/>
                  </a:solidFill>
                  <a:latin typeface="EYInterstate Light" pitchFamily="2" charset="0"/>
                </a:rPr>
                <a:t>3.</a:t>
              </a:r>
            </a:p>
          </p:txBody>
        </p:sp>
        <p:sp>
          <p:nvSpPr>
            <p:cNvPr id="87" name="Rectangle 86"/>
            <p:cNvSpPr/>
            <p:nvPr/>
          </p:nvSpPr>
          <p:spPr>
            <a:xfrm>
              <a:off x="5801958" y="2769765"/>
              <a:ext cx="407976"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a:solidFill>
                    <a:schemeClr val="bg1"/>
                  </a:solidFill>
                  <a:latin typeface="EYInterstate Light" pitchFamily="2" charset="0"/>
                </a:rPr>
                <a:t>5.</a:t>
              </a:r>
            </a:p>
          </p:txBody>
        </p:sp>
        <p:sp>
          <p:nvSpPr>
            <p:cNvPr id="88" name="Rectangle 87"/>
            <p:cNvSpPr/>
            <p:nvPr/>
          </p:nvSpPr>
          <p:spPr>
            <a:xfrm>
              <a:off x="2154648" y="3453400"/>
              <a:ext cx="407976"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a:solidFill>
                    <a:schemeClr val="bg1"/>
                  </a:solidFill>
                  <a:latin typeface="EYInterstate Light" pitchFamily="2" charset="0"/>
                </a:rPr>
                <a:t>2.</a:t>
              </a:r>
            </a:p>
          </p:txBody>
        </p:sp>
        <p:sp>
          <p:nvSpPr>
            <p:cNvPr id="89" name="Rectangle 88"/>
            <p:cNvSpPr/>
            <p:nvPr/>
          </p:nvSpPr>
          <p:spPr>
            <a:xfrm>
              <a:off x="4632425" y="3450352"/>
              <a:ext cx="407976"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a:solidFill>
                    <a:schemeClr val="bg1"/>
                  </a:solidFill>
                  <a:latin typeface="EYInterstate Light" pitchFamily="2" charset="0"/>
                </a:rPr>
                <a:t>4.</a:t>
              </a:r>
            </a:p>
          </p:txBody>
        </p:sp>
        <p:sp>
          <p:nvSpPr>
            <p:cNvPr id="90" name="Rectangle 89"/>
            <p:cNvSpPr/>
            <p:nvPr/>
          </p:nvSpPr>
          <p:spPr>
            <a:xfrm>
              <a:off x="7063965" y="3461496"/>
              <a:ext cx="407976"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a:solidFill>
                    <a:schemeClr val="bg1"/>
                  </a:solidFill>
                  <a:latin typeface="EYInterstate Light" pitchFamily="2" charset="0"/>
                </a:rPr>
                <a:t>6. </a:t>
              </a:r>
            </a:p>
          </p:txBody>
        </p:sp>
        <p:pic>
          <p:nvPicPr>
            <p:cNvPr id="91" name="Picture 1" descr="C:\TechM Warehouse\Data 1\Useful Presentations\Useful Pics\Cong 1.jpg"/>
            <p:cNvPicPr>
              <a:picLocks noChangeArrowheads="1"/>
            </p:cNvPicPr>
            <p:nvPr/>
          </p:nvPicPr>
          <p:blipFill>
            <a:blip r:embed="rId4" cstate="print"/>
            <a:srcRect/>
            <a:stretch>
              <a:fillRect/>
            </a:stretch>
          </p:blipFill>
          <p:spPr bwMode="auto">
            <a:xfrm>
              <a:off x="919718" y="3429016"/>
              <a:ext cx="1183132" cy="1399032"/>
            </a:xfrm>
            <a:prstGeom prst="rect">
              <a:avLst/>
            </a:prstGeom>
            <a:noFill/>
          </p:spPr>
        </p:pic>
        <p:pic>
          <p:nvPicPr>
            <p:cNvPr id="92" name="Picture 3"/>
            <p:cNvPicPr>
              <a:picLocks noChangeArrowheads="1"/>
            </p:cNvPicPr>
            <p:nvPr/>
          </p:nvPicPr>
          <p:blipFill>
            <a:blip r:embed="rId5" cstate="print"/>
            <a:srcRect/>
            <a:stretch>
              <a:fillRect/>
            </a:stretch>
          </p:blipFill>
          <p:spPr bwMode="auto">
            <a:xfrm>
              <a:off x="2145675" y="1994864"/>
              <a:ext cx="1183132" cy="1399032"/>
            </a:xfrm>
            <a:prstGeom prst="rect">
              <a:avLst/>
            </a:prstGeom>
            <a:noFill/>
            <a:ln w="9525">
              <a:noFill/>
              <a:miter lim="800000"/>
              <a:headEnd/>
              <a:tailEnd/>
            </a:ln>
            <a:effectLst/>
          </p:spPr>
        </p:pic>
        <p:pic>
          <p:nvPicPr>
            <p:cNvPr id="93" name="Picture 4"/>
            <p:cNvPicPr>
              <a:picLocks noChangeArrowheads="1"/>
            </p:cNvPicPr>
            <p:nvPr/>
          </p:nvPicPr>
          <p:blipFill>
            <a:blip r:embed="rId6" cstate="print"/>
            <a:srcRect/>
            <a:stretch>
              <a:fillRect/>
            </a:stretch>
          </p:blipFill>
          <p:spPr bwMode="auto">
            <a:xfrm>
              <a:off x="5810360" y="3444936"/>
              <a:ext cx="1183132" cy="1399032"/>
            </a:xfrm>
            <a:prstGeom prst="rect">
              <a:avLst/>
            </a:prstGeom>
            <a:noFill/>
            <a:ln w="9525">
              <a:noFill/>
              <a:miter lim="800000"/>
              <a:headEnd/>
              <a:tailEnd/>
            </a:ln>
            <a:effectLst/>
          </p:spPr>
        </p:pic>
        <p:pic>
          <p:nvPicPr>
            <p:cNvPr id="94" name="Picture 5"/>
            <p:cNvPicPr>
              <a:picLocks noChangeArrowheads="1"/>
            </p:cNvPicPr>
            <p:nvPr/>
          </p:nvPicPr>
          <p:blipFill>
            <a:blip r:embed="rId7" cstate="print"/>
            <a:srcRect/>
            <a:stretch>
              <a:fillRect/>
            </a:stretch>
          </p:blipFill>
          <p:spPr bwMode="auto">
            <a:xfrm>
              <a:off x="7046468" y="2013039"/>
              <a:ext cx="1183132" cy="1399032"/>
            </a:xfrm>
            <a:prstGeom prst="rect">
              <a:avLst/>
            </a:prstGeom>
            <a:noFill/>
            <a:ln w="9525">
              <a:noFill/>
              <a:miter lim="800000"/>
              <a:headEnd/>
              <a:tailEnd/>
            </a:ln>
            <a:effectLst/>
          </p:spPr>
        </p:pic>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Roaming Revenue Cycle</a:t>
            </a:r>
          </a:p>
        </p:txBody>
      </p:sp>
      <p:sp>
        <p:nvSpPr>
          <p:cNvPr id="4" name="TextBox 3"/>
          <p:cNvSpPr txBox="1"/>
          <p:nvPr/>
        </p:nvSpPr>
        <p:spPr>
          <a:xfrm>
            <a:off x="457200" y="1371600"/>
            <a:ext cx="8001000" cy="369332"/>
          </a:xfrm>
          <a:prstGeom prst="rect">
            <a:avLst/>
          </a:prstGeom>
          <a:noFill/>
        </p:spPr>
        <p:txBody>
          <a:bodyPr wrap="square" rtlCol="0">
            <a:spAutoFit/>
          </a:bodyPr>
          <a:lstStyle/>
          <a:p>
            <a:r>
              <a:rPr lang="en-US" b="1" dirty="0">
                <a:latin typeface="EYInterstate" pitchFamily="2" charset="0"/>
              </a:rPr>
              <a:t>Revenue Cycle for roaming can be broadly broken into 4 parts - </a:t>
            </a:r>
          </a:p>
        </p:txBody>
      </p:sp>
      <p:grpSp>
        <p:nvGrpSpPr>
          <p:cNvPr id="9" name="Group 8"/>
          <p:cNvGrpSpPr/>
          <p:nvPr/>
        </p:nvGrpSpPr>
        <p:grpSpPr>
          <a:xfrm>
            <a:off x="533400" y="1701800"/>
            <a:ext cx="8153400" cy="3175000"/>
            <a:chOff x="533400" y="1701800"/>
            <a:chExt cx="8153400" cy="3175000"/>
          </a:xfrm>
        </p:grpSpPr>
        <p:graphicFrame>
          <p:nvGraphicFramePr>
            <p:cNvPr id="5" name="Diagram 4"/>
            <p:cNvGraphicFramePr/>
            <p:nvPr/>
          </p:nvGraphicFramePr>
          <p:xfrm>
            <a:off x="533400" y="1701800"/>
            <a:ext cx="8153400" cy="3175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Right Arrow 5"/>
            <p:cNvSpPr/>
            <p:nvPr/>
          </p:nvSpPr>
          <p:spPr>
            <a:xfrm>
              <a:off x="2286000" y="2895600"/>
              <a:ext cx="457200" cy="381000"/>
            </a:xfrm>
            <a:prstGeom prst="right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ight Arrow 6"/>
            <p:cNvSpPr/>
            <p:nvPr/>
          </p:nvSpPr>
          <p:spPr>
            <a:xfrm>
              <a:off x="4419600" y="2895600"/>
              <a:ext cx="457200" cy="381000"/>
            </a:xfrm>
            <a:prstGeom prst="right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Arrow 7"/>
            <p:cNvSpPr/>
            <p:nvPr/>
          </p:nvSpPr>
          <p:spPr>
            <a:xfrm>
              <a:off x="6553200" y="2895600"/>
              <a:ext cx="457200" cy="381000"/>
            </a:xfrm>
            <a:prstGeom prst="right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Roaming Revenue Cycle – Commercial Agreement</a:t>
            </a:r>
          </a:p>
        </p:txBody>
      </p:sp>
      <p:grpSp>
        <p:nvGrpSpPr>
          <p:cNvPr id="7" name="Group 6"/>
          <p:cNvGrpSpPr/>
          <p:nvPr/>
        </p:nvGrpSpPr>
        <p:grpSpPr>
          <a:xfrm>
            <a:off x="5638800" y="1143000"/>
            <a:ext cx="3352800" cy="1066800"/>
            <a:chOff x="533400" y="1701800"/>
            <a:chExt cx="8153400" cy="3175000"/>
          </a:xfrm>
        </p:grpSpPr>
        <p:graphicFrame>
          <p:nvGraphicFramePr>
            <p:cNvPr id="8" name="Diagram 7"/>
            <p:cNvGraphicFramePr/>
            <p:nvPr/>
          </p:nvGraphicFramePr>
          <p:xfrm>
            <a:off x="533400" y="1701800"/>
            <a:ext cx="8153400" cy="3175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Right Arrow 8"/>
            <p:cNvSpPr/>
            <p:nvPr/>
          </p:nvSpPr>
          <p:spPr>
            <a:xfrm>
              <a:off x="2286000" y="2895600"/>
              <a:ext cx="457200" cy="381000"/>
            </a:xfrm>
            <a:prstGeom prst="right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10" name="Right Arrow 9"/>
            <p:cNvSpPr/>
            <p:nvPr/>
          </p:nvSpPr>
          <p:spPr>
            <a:xfrm>
              <a:off x="4419600" y="2895600"/>
              <a:ext cx="457200" cy="381000"/>
            </a:xfrm>
            <a:prstGeom prst="right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11" name="Right Arrow 10"/>
            <p:cNvSpPr/>
            <p:nvPr/>
          </p:nvSpPr>
          <p:spPr>
            <a:xfrm>
              <a:off x="6553200" y="2895600"/>
              <a:ext cx="457200" cy="381000"/>
            </a:xfrm>
            <a:prstGeom prst="right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grpSp>
      <p:sp>
        <p:nvSpPr>
          <p:cNvPr id="12" name="Rectangle 11"/>
          <p:cNvSpPr/>
          <p:nvPr/>
        </p:nvSpPr>
        <p:spPr>
          <a:xfrm>
            <a:off x="457200" y="2514600"/>
            <a:ext cx="8458200" cy="3657600"/>
          </a:xfrm>
          <a:prstGeom prst="rect">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buClr>
                <a:srgbClr val="FFC000"/>
              </a:buClr>
              <a:buFont typeface="Arial" pitchFamily="34" charset="0"/>
              <a:buChar char="►"/>
            </a:pPr>
            <a:r>
              <a:rPr lang="en-US" sz="1400" b="1" dirty="0">
                <a:solidFill>
                  <a:schemeClr val="bg1"/>
                </a:solidFill>
                <a:latin typeface="EYInterstate" pitchFamily="2" charset="0"/>
              </a:rPr>
              <a:t>AA.12 - International Roaming Agreement</a:t>
            </a:r>
          </a:p>
          <a:p>
            <a:pPr marL="627063" lvl="1" indent="-169863">
              <a:buClr>
                <a:srgbClr val="FFC000"/>
              </a:buClr>
              <a:buFont typeface="Arial" pitchFamily="34" charset="0"/>
              <a:buChar char="►"/>
            </a:pPr>
            <a:r>
              <a:rPr lang="en-US" sz="1200" dirty="0">
                <a:solidFill>
                  <a:schemeClr val="bg1"/>
                </a:solidFill>
                <a:latin typeface="EYInterstate" pitchFamily="2" charset="0"/>
              </a:rPr>
              <a:t>The basic legal framework set out in AA.12 covers areas such as scope, confidentiality provisions, data privacy, liability, fraud prevention, duration, suspension of services and termination.</a:t>
            </a:r>
          </a:p>
          <a:p>
            <a:pPr marL="627063" lvl="1" indent="-169863">
              <a:buClr>
                <a:srgbClr val="FFC000"/>
              </a:buClr>
              <a:buFont typeface="Arial" pitchFamily="34" charset="0"/>
              <a:buChar char="►"/>
            </a:pPr>
            <a:endParaRPr lang="en-US" sz="1200" dirty="0">
              <a:solidFill>
                <a:schemeClr val="bg1"/>
              </a:solidFill>
              <a:latin typeface="EYInterstate" pitchFamily="2" charset="0"/>
            </a:endParaRPr>
          </a:p>
          <a:p>
            <a:pPr>
              <a:buClr>
                <a:srgbClr val="FFC000"/>
              </a:buClr>
              <a:buFont typeface="Arial" pitchFamily="34" charset="0"/>
              <a:buChar char="►"/>
            </a:pPr>
            <a:r>
              <a:rPr lang="en-US" sz="1400" b="1" dirty="0">
                <a:solidFill>
                  <a:schemeClr val="bg1"/>
                </a:solidFill>
                <a:latin typeface="EYInterstate" pitchFamily="2" charset="0"/>
              </a:rPr>
              <a:t>AA.13 - Common Annexes</a:t>
            </a:r>
          </a:p>
          <a:p>
            <a:pPr marL="627063" lvl="1" indent="-169863">
              <a:buClr>
                <a:srgbClr val="FFC000"/>
              </a:buClr>
              <a:buFont typeface="Arial" pitchFamily="34" charset="0"/>
              <a:buChar char="►"/>
            </a:pPr>
            <a:r>
              <a:rPr lang="en-US" sz="1200" dirty="0">
                <a:solidFill>
                  <a:schemeClr val="bg1"/>
                </a:solidFill>
                <a:latin typeface="EYInterstate" pitchFamily="2" charset="0"/>
              </a:rPr>
              <a:t>It agrees the services offered shall be implemented in accordance with relevant specifications. </a:t>
            </a:r>
          </a:p>
          <a:p>
            <a:pPr marL="627063" lvl="1" indent="-169863">
              <a:buClr>
                <a:srgbClr val="FFC000"/>
              </a:buClr>
              <a:buFont typeface="Arial" pitchFamily="34" charset="0"/>
              <a:buChar char="►"/>
            </a:pPr>
            <a:r>
              <a:rPr lang="en-US" sz="1200" dirty="0">
                <a:solidFill>
                  <a:schemeClr val="bg1"/>
                </a:solidFill>
                <a:latin typeface="EYInterstate" pitchFamily="2" charset="0"/>
              </a:rPr>
              <a:t>Details of TAP, e.g. file transfer schedules and fallback procedure</a:t>
            </a:r>
          </a:p>
          <a:p>
            <a:pPr marL="627063" lvl="1" indent="-169863">
              <a:buClr>
                <a:srgbClr val="FFC000"/>
              </a:buClr>
              <a:buFont typeface="Arial" pitchFamily="34" charset="0"/>
              <a:buChar char="►"/>
            </a:pPr>
            <a:r>
              <a:rPr lang="en-US" sz="1200" dirty="0">
                <a:solidFill>
                  <a:schemeClr val="bg1"/>
                </a:solidFill>
                <a:latin typeface="EYInterstate" pitchFamily="2" charset="0"/>
              </a:rPr>
              <a:t>Details of the settlement procedure i.e. how/when invoices are to be sent/paid. </a:t>
            </a:r>
          </a:p>
          <a:p>
            <a:pPr marL="627063" lvl="1" indent="-169863">
              <a:buClr>
                <a:srgbClr val="FFC000"/>
              </a:buClr>
              <a:buFont typeface="Arial" pitchFamily="34" charset="0"/>
              <a:buChar char="►"/>
            </a:pPr>
            <a:r>
              <a:rPr lang="en-US" sz="1200" dirty="0">
                <a:solidFill>
                  <a:schemeClr val="bg1"/>
                </a:solidFill>
                <a:latin typeface="EYInterstate" pitchFamily="2" charset="0"/>
              </a:rPr>
              <a:t>Customer care principles, Technical aspects including usage of test SIMs, security and connections. </a:t>
            </a:r>
          </a:p>
          <a:p>
            <a:pPr marL="627063" lvl="1" indent="-169863">
              <a:buClr>
                <a:srgbClr val="FFC000"/>
              </a:buClr>
              <a:buFont typeface="Arial" pitchFamily="34" charset="0"/>
              <a:buChar char="►"/>
            </a:pPr>
            <a:r>
              <a:rPr lang="en-US" sz="1200" dirty="0">
                <a:solidFill>
                  <a:schemeClr val="bg1"/>
                </a:solidFill>
                <a:latin typeface="EYInterstate" pitchFamily="2" charset="0"/>
              </a:rPr>
              <a:t>An annex of AA.13 covers fraud prevention procedures, stating time frames for sending and the contents of High Usage Reports.</a:t>
            </a:r>
          </a:p>
          <a:p>
            <a:pPr marL="627063" lvl="1" indent="-169863">
              <a:buClr>
                <a:srgbClr val="FFC000"/>
              </a:buClr>
              <a:buFont typeface="Arial" pitchFamily="34" charset="0"/>
              <a:buChar char="►"/>
            </a:pPr>
            <a:endParaRPr lang="en-US" sz="1200" dirty="0">
              <a:solidFill>
                <a:schemeClr val="bg1"/>
              </a:solidFill>
              <a:latin typeface="EYInterstate" pitchFamily="2" charset="0"/>
            </a:endParaRPr>
          </a:p>
          <a:p>
            <a:pPr marL="169863" indent="-169863">
              <a:buClr>
                <a:srgbClr val="FFC000"/>
              </a:buClr>
              <a:buFont typeface="Arial" pitchFamily="34" charset="0"/>
              <a:buChar char="►"/>
            </a:pPr>
            <a:r>
              <a:rPr lang="en-US" sz="1400" b="1" dirty="0">
                <a:solidFill>
                  <a:schemeClr val="bg1"/>
                </a:solidFill>
                <a:latin typeface="EYInterstate" pitchFamily="2" charset="0"/>
              </a:rPr>
              <a:t>AA. 14 – Individual Annexes</a:t>
            </a:r>
          </a:p>
          <a:p>
            <a:pPr marL="627063" lvl="1" indent="-169863">
              <a:buClr>
                <a:srgbClr val="FFC000"/>
              </a:buClr>
              <a:buFont typeface="Arial" pitchFamily="34" charset="0"/>
              <a:buChar char="►"/>
            </a:pPr>
            <a:r>
              <a:rPr lang="en-US" sz="1200" b="1" dirty="0">
                <a:solidFill>
                  <a:schemeClr val="bg1"/>
                </a:solidFill>
                <a:latin typeface="EYInterstate" pitchFamily="2" charset="0"/>
              </a:rPr>
              <a:t>Operator Confidential </a:t>
            </a:r>
            <a:r>
              <a:rPr lang="en-US" sz="1200" dirty="0">
                <a:solidFill>
                  <a:schemeClr val="bg1"/>
                </a:solidFill>
                <a:latin typeface="EYInterstate" pitchFamily="2" charset="0"/>
              </a:rPr>
              <a:t>- Information such as the operators IOT, and various contact details for standard business process such as TAP file transfer, invoices exchange and Customer Care telephone and fax numbers. </a:t>
            </a:r>
          </a:p>
          <a:p>
            <a:pPr marL="627063" lvl="1" indent="-169863">
              <a:buClr>
                <a:srgbClr val="FFC000"/>
              </a:buClr>
              <a:buFont typeface="Arial" pitchFamily="34" charset="0"/>
              <a:buChar char="►"/>
            </a:pPr>
            <a:r>
              <a:rPr lang="en-US" sz="1200" b="1" dirty="0">
                <a:solidFill>
                  <a:schemeClr val="bg1"/>
                </a:solidFill>
                <a:latin typeface="EYInterstate" pitchFamily="2" charset="0"/>
              </a:rPr>
              <a:t>Public Domain </a:t>
            </a:r>
            <a:r>
              <a:rPr lang="en-US" sz="1200" dirty="0">
                <a:solidFill>
                  <a:schemeClr val="bg1"/>
                </a:solidFill>
                <a:latin typeface="EYInterstate" pitchFamily="2" charset="0"/>
              </a:rPr>
              <a:t>-  The information is more generic, and includes the list of services offered: specific networks settings, coverage areas (that could also include names of towns and villages) and other miscellaneous network information.</a:t>
            </a:r>
          </a:p>
        </p:txBody>
      </p:sp>
      <p:sp>
        <p:nvSpPr>
          <p:cNvPr id="13" name="Rectangle 12"/>
          <p:cNvSpPr/>
          <p:nvPr/>
        </p:nvSpPr>
        <p:spPr>
          <a:xfrm>
            <a:off x="457200" y="1143000"/>
            <a:ext cx="4876800" cy="1295400"/>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7800" indent="-177800">
              <a:buClr>
                <a:srgbClr val="FFC000"/>
              </a:buClr>
              <a:buFont typeface="Arial" pitchFamily="34" charset="0"/>
              <a:buChar char="►"/>
            </a:pPr>
            <a:r>
              <a:rPr lang="en-US" sz="1200" dirty="0">
                <a:solidFill>
                  <a:schemeClr val="tx1">
                    <a:lumMod val="50000"/>
                  </a:schemeClr>
                </a:solidFill>
                <a:latin typeface="EYInterstate" pitchFamily="2" charset="0"/>
              </a:rPr>
              <a:t>In order to enable roaming facility, operators need to enter into Commercial Roaming Agreements. </a:t>
            </a:r>
          </a:p>
          <a:p>
            <a:pPr marL="177800" indent="-177800">
              <a:buClr>
                <a:srgbClr val="FFC000"/>
              </a:buClr>
              <a:buFont typeface="Arial" pitchFamily="34" charset="0"/>
              <a:buChar char="►"/>
            </a:pPr>
            <a:r>
              <a:rPr lang="en-US" sz="1200" dirty="0">
                <a:solidFill>
                  <a:schemeClr val="tx1">
                    <a:lumMod val="50000"/>
                  </a:schemeClr>
                </a:solidFill>
                <a:latin typeface="EYInterstate" pitchFamily="2" charset="0"/>
              </a:rPr>
              <a:t>Roaming agreements with operators in the same country is a relatively simpler process than International Roaming agreement process with operators globally.</a:t>
            </a:r>
          </a:p>
          <a:p>
            <a:pPr marL="177800" indent="-177800">
              <a:buClr>
                <a:srgbClr val="FFC000"/>
              </a:buClr>
              <a:buFont typeface="Arial" pitchFamily="34" charset="0"/>
              <a:buChar char="►"/>
            </a:pPr>
            <a:r>
              <a:rPr lang="en-US" sz="1200" dirty="0">
                <a:solidFill>
                  <a:schemeClr val="tx1">
                    <a:lumMod val="50000"/>
                  </a:schemeClr>
                </a:solidFill>
                <a:latin typeface="EYInterstate" pitchFamily="2" charset="0"/>
              </a:rPr>
              <a:t>Following are the documents which are signed between the operators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57200" y="200025"/>
            <a:ext cx="8232775" cy="863600"/>
          </a:xfrm>
        </p:spPr>
        <p:txBody>
          <a:bodyPr/>
          <a:lstStyle/>
          <a:p>
            <a:r>
              <a:rPr lang="en-US" dirty="0"/>
              <a:t>Roaming Revenue Cycle – Partner Provisioning</a:t>
            </a:r>
          </a:p>
        </p:txBody>
      </p:sp>
      <p:grpSp>
        <p:nvGrpSpPr>
          <p:cNvPr id="10" name="Group 9"/>
          <p:cNvGrpSpPr/>
          <p:nvPr/>
        </p:nvGrpSpPr>
        <p:grpSpPr>
          <a:xfrm>
            <a:off x="5638800" y="1143000"/>
            <a:ext cx="3352800" cy="1066800"/>
            <a:chOff x="533400" y="1701800"/>
            <a:chExt cx="8153400" cy="3175000"/>
          </a:xfrm>
        </p:grpSpPr>
        <p:graphicFrame>
          <p:nvGraphicFramePr>
            <p:cNvPr id="11" name="Diagram 10"/>
            <p:cNvGraphicFramePr/>
            <p:nvPr/>
          </p:nvGraphicFramePr>
          <p:xfrm>
            <a:off x="533400" y="1701800"/>
            <a:ext cx="8153400" cy="3175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2" name="Right Arrow 11"/>
            <p:cNvSpPr/>
            <p:nvPr/>
          </p:nvSpPr>
          <p:spPr>
            <a:xfrm>
              <a:off x="2286000" y="2895600"/>
              <a:ext cx="457200" cy="381000"/>
            </a:xfrm>
            <a:prstGeom prst="right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13" name="Right Arrow 12"/>
            <p:cNvSpPr/>
            <p:nvPr/>
          </p:nvSpPr>
          <p:spPr>
            <a:xfrm>
              <a:off x="4419600" y="2895600"/>
              <a:ext cx="457200" cy="381000"/>
            </a:xfrm>
            <a:prstGeom prst="right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14" name="Right Arrow 13"/>
            <p:cNvSpPr/>
            <p:nvPr/>
          </p:nvSpPr>
          <p:spPr>
            <a:xfrm>
              <a:off x="6553200" y="2895600"/>
              <a:ext cx="457200" cy="381000"/>
            </a:xfrm>
            <a:prstGeom prst="right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grpSp>
      <p:sp>
        <p:nvSpPr>
          <p:cNvPr id="15" name="Rectangle 14"/>
          <p:cNvSpPr/>
          <p:nvPr/>
        </p:nvSpPr>
        <p:spPr>
          <a:xfrm>
            <a:off x="457200" y="1143000"/>
            <a:ext cx="4876800" cy="1295400"/>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7800" indent="-177800">
              <a:buClr>
                <a:srgbClr val="FFC000"/>
              </a:buClr>
              <a:buFont typeface="Arial" pitchFamily="34" charset="0"/>
              <a:buChar char="►"/>
            </a:pPr>
            <a:r>
              <a:rPr lang="en-US" sz="1200" b="1" dirty="0">
                <a:solidFill>
                  <a:schemeClr val="tx1">
                    <a:lumMod val="50000"/>
                  </a:schemeClr>
                </a:solidFill>
                <a:latin typeface="EYInterstate" pitchFamily="2" charset="0"/>
              </a:rPr>
              <a:t>Establishing the signaling links </a:t>
            </a:r>
            <a:r>
              <a:rPr lang="en-US" sz="1200" dirty="0">
                <a:solidFill>
                  <a:schemeClr val="tx1">
                    <a:lumMod val="50000"/>
                  </a:schemeClr>
                </a:solidFill>
                <a:latin typeface="EYInterstate" pitchFamily="2" charset="0"/>
              </a:rPr>
              <a:t>between the operator and the Roaming partner for roaming services to commence between them.</a:t>
            </a:r>
          </a:p>
          <a:p>
            <a:pPr marL="177800" indent="-177800">
              <a:buClr>
                <a:srgbClr val="FFC000"/>
              </a:buClr>
              <a:buFont typeface="Arial" pitchFamily="34" charset="0"/>
              <a:buChar char="►"/>
            </a:pPr>
            <a:r>
              <a:rPr lang="en-US" sz="1200" b="1" dirty="0">
                <a:solidFill>
                  <a:schemeClr val="tx1">
                    <a:lumMod val="50000"/>
                  </a:schemeClr>
                </a:solidFill>
                <a:latin typeface="EYInterstate" pitchFamily="2" charset="0"/>
              </a:rPr>
              <a:t>Exchanging Test SIMs </a:t>
            </a:r>
            <a:r>
              <a:rPr lang="en-US" sz="1200" dirty="0">
                <a:solidFill>
                  <a:schemeClr val="tx1">
                    <a:lumMod val="50000"/>
                  </a:schemeClr>
                </a:solidFill>
                <a:latin typeface="EYInterstate" pitchFamily="2" charset="0"/>
              </a:rPr>
              <a:t>– Test SIMs are exchanged between the roaming partners for initial and ongoing tests to be performed between the two networks. There are two types of GSM tests that need to be performed:</a:t>
            </a:r>
          </a:p>
        </p:txBody>
      </p:sp>
      <p:sp>
        <p:nvSpPr>
          <p:cNvPr id="16" name="Rectangle 15"/>
          <p:cNvSpPr/>
          <p:nvPr/>
        </p:nvSpPr>
        <p:spPr>
          <a:xfrm>
            <a:off x="457200" y="2514600"/>
            <a:ext cx="8458200" cy="3657600"/>
          </a:xfrm>
          <a:prstGeom prst="rect">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buClr>
                <a:srgbClr val="FFC000"/>
              </a:buClr>
              <a:buFont typeface="Arial" pitchFamily="34" charset="0"/>
              <a:buChar char="►"/>
            </a:pPr>
            <a:r>
              <a:rPr lang="en-US" sz="1200" b="1" dirty="0">
                <a:solidFill>
                  <a:schemeClr val="bg1"/>
                </a:solidFill>
                <a:latin typeface="EYInterstate" pitchFamily="2" charset="0"/>
              </a:rPr>
              <a:t>IREG (Inter-Working, Roaming Expert Group) </a:t>
            </a:r>
            <a:r>
              <a:rPr lang="en-US" sz="1200" dirty="0">
                <a:solidFill>
                  <a:schemeClr val="bg1"/>
                </a:solidFill>
                <a:latin typeface="EYInterstate" pitchFamily="2" charset="0"/>
              </a:rPr>
              <a:t>- This function is performing the actual Roaming tests, and trouble shooting for network problems. They will be responsible for ordering the signaling links and opening the network to testing, and later to commercial Roaming</a:t>
            </a:r>
          </a:p>
          <a:p>
            <a:pPr lvl="1">
              <a:spcBef>
                <a:spcPts val="300"/>
              </a:spcBef>
              <a:buClr>
                <a:srgbClr val="FFC000"/>
              </a:buClr>
              <a:buFont typeface="Arial" pitchFamily="34" charset="0"/>
              <a:buChar char="►"/>
            </a:pPr>
            <a:r>
              <a:rPr lang="en-US" sz="1200" dirty="0">
                <a:solidFill>
                  <a:schemeClr val="bg1"/>
                </a:solidFill>
                <a:latin typeface="EYInterstate" pitchFamily="2" charset="0"/>
              </a:rPr>
              <a:t>Testers from both operators place exchanged test SIM cards in a phone and make calls</a:t>
            </a:r>
          </a:p>
          <a:p>
            <a:pPr lvl="1">
              <a:spcBef>
                <a:spcPts val="300"/>
              </a:spcBef>
              <a:buClr>
                <a:srgbClr val="FFC000"/>
              </a:buClr>
              <a:buFont typeface="Arial" pitchFamily="34" charset="0"/>
              <a:buChar char="►"/>
            </a:pPr>
            <a:r>
              <a:rPr lang="en-US" sz="1200" dirty="0">
                <a:solidFill>
                  <a:schemeClr val="bg1"/>
                </a:solidFill>
                <a:latin typeface="EYInterstate" pitchFamily="2" charset="0"/>
              </a:rPr>
              <a:t>The Individual test is a check point for some main services that includes different test cases such as</a:t>
            </a:r>
          </a:p>
          <a:p>
            <a:pPr lvl="2">
              <a:spcBef>
                <a:spcPts val="300"/>
              </a:spcBef>
              <a:buClr>
                <a:srgbClr val="FFC000"/>
              </a:buClr>
              <a:buFont typeface="Arial" pitchFamily="34" charset="0"/>
              <a:buChar char="►"/>
            </a:pPr>
            <a:r>
              <a:rPr lang="en-US" sz="1200" dirty="0">
                <a:solidFill>
                  <a:schemeClr val="bg1"/>
                </a:solidFill>
                <a:latin typeface="EYInterstate" pitchFamily="2" charset="0"/>
              </a:rPr>
              <a:t>Call from a mobile to mobile phone, Call from a mobile to a fixed line, SMS, Call forwarding etc</a:t>
            </a:r>
          </a:p>
          <a:p>
            <a:pPr lvl="2">
              <a:buClr>
                <a:srgbClr val="FFC000"/>
              </a:buClr>
              <a:buFont typeface="Arial" pitchFamily="34" charset="0"/>
              <a:buChar char="►"/>
            </a:pPr>
            <a:endParaRPr lang="en-US" sz="1200" dirty="0">
              <a:solidFill>
                <a:schemeClr val="bg1"/>
              </a:solidFill>
              <a:latin typeface="EYInterstate" pitchFamily="2" charset="0"/>
            </a:endParaRPr>
          </a:p>
          <a:p>
            <a:pPr>
              <a:buClr>
                <a:srgbClr val="FFC000"/>
              </a:buClr>
              <a:buFont typeface="Arial" pitchFamily="34" charset="0"/>
              <a:buChar char="►"/>
            </a:pPr>
            <a:r>
              <a:rPr lang="en-US" sz="1200" b="1" dirty="0">
                <a:solidFill>
                  <a:schemeClr val="bg1"/>
                </a:solidFill>
                <a:latin typeface="EYInterstate" pitchFamily="2" charset="0"/>
              </a:rPr>
              <a:t>TADIG (Transferred Account Data Interchange Group)</a:t>
            </a:r>
            <a:r>
              <a:rPr lang="en-US" sz="1200" dirty="0">
                <a:solidFill>
                  <a:schemeClr val="bg1"/>
                </a:solidFill>
                <a:latin typeface="EYInterstate" pitchFamily="2" charset="0"/>
              </a:rPr>
              <a:t> - This function will (on the basis of the data produced when performing the technical roaming testing) perform billing tests. They will be responsible for TAP formats, liaison with Data Clearing House (if used) and managing the TAP file flows between networks on a daily basis</a:t>
            </a:r>
          </a:p>
          <a:p>
            <a:pPr marL="627063" lvl="1" indent="-169863">
              <a:spcBef>
                <a:spcPts val="300"/>
              </a:spcBef>
              <a:buClr>
                <a:srgbClr val="FFC000"/>
              </a:buClr>
              <a:buFont typeface="Arial" pitchFamily="34" charset="0"/>
              <a:buChar char="►"/>
            </a:pPr>
            <a:r>
              <a:rPr lang="en-US" sz="1200" dirty="0">
                <a:solidFill>
                  <a:schemeClr val="bg1"/>
                </a:solidFill>
                <a:latin typeface="EYInterstate" pitchFamily="2" charset="0"/>
              </a:rPr>
              <a:t>During the IREG test traffic has been generated in both networks. This traffic is itemized in terms of CDRs (Call Detail Records) and stored in CDR files. </a:t>
            </a:r>
          </a:p>
          <a:p>
            <a:pPr marL="627063" lvl="1" indent="-169863">
              <a:spcBef>
                <a:spcPts val="300"/>
              </a:spcBef>
              <a:buClr>
                <a:srgbClr val="FFC000"/>
              </a:buClr>
              <a:buFont typeface="Arial" pitchFamily="34" charset="0"/>
              <a:buChar char="►"/>
            </a:pPr>
            <a:r>
              <a:rPr lang="en-US" sz="1200" dirty="0">
                <a:solidFill>
                  <a:schemeClr val="bg1"/>
                </a:solidFill>
                <a:latin typeface="EYInterstate" pitchFamily="2" charset="0"/>
              </a:rPr>
              <a:t>Each operator has to make sure that the CDRs are included in a test file and sent to the other operator. </a:t>
            </a:r>
          </a:p>
          <a:p>
            <a:pPr marL="627063" lvl="1" indent="-169863">
              <a:spcBef>
                <a:spcPts val="300"/>
              </a:spcBef>
              <a:buClr>
                <a:srgbClr val="FFC000"/>
              </a:buClr>
              <a:buFont typeface="Arial" pitchFamily="34" charset="0"/>
              <a:buChar char="►"/>
            </a:pPr>
            <a:r>
              <a:rPr lang="en-US" sz="1200" dirty="0">
                <a:solidFill>
                  <a:schemeClr val="bg1"/>
                </a:solidFill>
                <a:latin typeface="EYInterstate" pitchFamily="2" charset="0"/>
              </a:rPr>
              <a:t>IOT information is needed at this stage to check that the calls are being charged correctly). After an operator has checked the file and the content validated a TCC (TAP Testing Completion Certificate) is issued.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457200" y="200025"/>
            <a:ext cx="8232775" cy="863600"/>
          </a:xfrm>
        </p:spPr>
        <p:txBody>
          <a:bodyPr/>
          <a:lstStyle/>
          <a:p>
            <a:r>
              <a:rPr lang="en-US" dirty="0"/>
              <a:t>Roaming Revenue Cycle – Subscriber Provisioning</a:t>
            </a:r>
          </a:p>
        </p:txBody>
      </p:sp>
      <p:grpSp>
        <p:nvGrpSpPr>
          <p:cNvPr id="6" name="Group 5"/>
          <p:cNvGrpSpPr/>
          <p:nvPr/>
        </p:nvGrpSpPr>
        <p:grpSpPr>
          <a:xfrm>
            <a:off x="5638800" y="1143000"/>
            <a:ext cx="3352800" cy="1066800"/>
            <a:chOff x="533400" y="1701800"/>
            <a:chExt cx="8153400" cy="3175000"/>
          </a:xfrm>
        </p:grpSpPr>
        <p:graphicFrame>
          <p:nvGraphicFramePr>
            <p:cNvPr id="7" name="Diagram 6"/>
            <p:cNvGraphicFramePr/>
            <p:nvPr/>
          </p:nvGraphicFramePr>
          <p:xfrm>
            <a:off x="533400" y="1701800"/>
            <a:ext cx="8153400" cy="3175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Right Arrow 7"/>
            <p:cNvSpPr/>
            <p:nvPr/>
          </p:nvSpPr>
          <p:spPr>
            <a:xfrm>
              <a:off x="2286000" y="2895600"/>
              <a:ext cx="457200" cy="381000"/>
            </a:xfrm>
            <a:prstGeom prst="right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9" name="Right Arrow 8"/>
            <p:cNvSpPr/>
            <p:nvPr/>
          </p:nvSpPr>
          <p:spPr>
            <a:xfrm>
              <a:off x="4419600" y="2895600"/>
              <a:ext cx="457200" cy="381000"/>
            </a:xfrm>
            <a:prstGeom prst="right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10" name="Right Arrow 9"/>
            <p:cNvSpPr/>
            <p:nvPr/>
          </p:nvSpPr>
          <p:spPr>
            <a:xfrm>
              <a:off x="6553200" y="2895600"/>
              <a:ext cx="457200" cy="381000"/>
            </a:xfrm>
            <a:prstGeom prst="right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grpSp>
      <p:sp>
        <p:nvSpPr>
          <p:cNvPr id="11" name="Rectangle 10"/>
          <p:cNvSpPr/>
          <p:nvPr/>
        </p:nvSpPr>
        <p:spPr>
          <a:xfrm>
            <a:off x="457200" y="1143000"/>
            <a:ext cx="5029200" cy="4953000"/>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7800" indent="-177800">
              <a:buClr>
                <a:srgbClr val="FFC000"/>
              </a:buClr>
              <a:buFont typeface="Arial" pitchFamily="34" charset="0"/>
              <a:buChar char="►"/>
            </a:pPr>
            <a:r>
              <a:rPr lang="en-US" sz="1200" dirty="0">
                <a:solidFill>
                  <a:schemeClr val="tx1">
                    <a:lumMod val="50000"/>
                  </a:schemeClr>
                </a:solidFill>
                <a:latin typeface="EYInterstate" pitchFamily="2" charset="0"/>
              </a:rPr>
              <a:t>Each mobile network has its own HLRs and VLRs. When a MSC detects a mobile user's presence in the area covered by its network, it first checks a database to determine if the user is in his/her home area or is roaming, i.e., the user is a visitor. </a:t>
            </a:r>
          </a:p>
          <a:p>
            <a:pPr marL="635000" lvl="1" indent="-177800">
              <a:buClr>
                <a:srgbClr val="FFC000"/>
              </a:buClr>
              <a:buFont typeface="Arial" pitchFamily="34" charset="0"/>
              <a:buChar char="►"/>
            </a:pPr>
            <a:r>
              <a:rPr lang="en-US" sz="1200" b="1" dirty="0">
                <a:solidFill>
                  <a:schemeClr val="tx1">
                    <a:lumMod val="50000"/>
                  </a:schemeClr>
                </a:solidFill>
                <a:latin typeface="EYInterstate" pitchFamily="2" charset="0"/>
              </a:rPr>
              <a:t>User in Home Area</a:t>
            </a:r>
            <a:r>
              <a:rPr lang="en-US" sz="1200" dirty="0">
                <a:solidFill>
                  <a:schemeClr val="tx1">
                    <a:lumMod val="50000"/>
                  </a:schemeClr>
                </a:solidFill>
                <a:latin typeface="EYInterstate" pitchFamily="2" charset="0"/>
              </a:rPr>
              <a:t>: HLR has the necessary information for initiating, terminating, or receiving a call. </a:t>
            </a:r>
          </a:p>
          <a:p>
            <a:pPr marL="635000" lvl="1" indent="-177800">
              <a:buClr>
                <a:srgbClr val="FFC000"/>
              </a:buClr>
              <a:buFont typeface="Arial" pitchFamily="34" charset="0"/>
              <a:buChar char="►"/>
            </a:pPr>
            <a:r>
              <a:rPr lang="en-US" sz="1200" b="1" dirty="0">
                <a:solidFill>
                  <a:schemeClr val="tx1">
                    <a:lumMod val="50000"/>
                  </a:schemeClr>
                </a:solidFill>
                <a:latin typeface="EYInterstate" pitchFamily="2" charset="0"/>
              </a:rPr>
              <a:t>User is Roaming</a:t>
            </a:r>
            <a:r>
              <a:rPr lang="en-US" sz="1200" dirty="0">
                <a:solidFill>
                  <a:schemeClr val="tx1">
                    <a:lumMod val="50000"/>
                  </a:schemeClr>
                </a:solidFill>
                <a:latin typeface="EYInterstate" pitchFamily="2" charset="0"/>
              </a:rPr>
              <a:t>: VLR contacts the user's HLR to get the necessary information to set up a temporary user profile. </a:t>
            </a:r>
          </a:p>
          <a:p>
            <a:pPr marL="635000" lvl="1" indent="-177800">
              <a:buClr>
                <a:srgbClr val="FFC000"/>
              </a:buClr>
              <a:buFont typeface="Arial" pitchFamily="34" charset="0"/>
              <a:buChar char="►"/>
            </a:pPr>
            <a:endParaRPr lang="en-US" sz="1200" dirty="0">
              <a:solidFill>
                <a:schemeClr val="tx1">
                  <a:lumMod val="50000"/>
                </a:schemeClr>
              </a:solidFill>
              <a:latin typeface="EYInterstate" pitchFamily="2" charset="0"/>
            </a:endParaRPr>
          </a:p>
          <a:p>
            <a:pPr marL="177800" indent="-177800">
              <a:buClr>
                <a:srgbClr val="FFC000"/>
              </a:buClr>
              <a:buFont typeface="Arial" pitchFamily="34" charset="0"/>
              <a:buChar char="►"/>
            </a:pPr>
            <a:r>
              <a:rPr lang="en-US" sz="1200" dirty="0">
                <a:solidFill>
                  <a:schemeClr val="tx1">
                    <a:lumMod val="50000"/>
                  </a:schemeClr>
                </a:solidFill>
                <a:latin typeface="EYInterstate" pitchFamily="2" charset="0"/>
              </a:rPr>
              <a:t>The user's location is recorded in the HLR, and in case the user is roaming, it is also recorded in the VLR. Suppose that the user wants to make a call: </a:t>
            </a:r>
          </a:p>
          <a:p>
            <a:pPr marL="635000" lvl="1" indent="-177800">
              <a:buClr>
                <a:srgbClr val="FFC000"/>
              </a:buClr>
              <a:buFont typeface="Arial" pitchFamily="34" charset="0"/>
              <a:buChar char="►"/>
            </a:pPr>
            <a:r>
              <a:rPr lang="en-US" sz="1200" b="1" dirty="0">
                <a:solidFill>
                  <a:schemeClr val="tx1">
                    <a:lumMod val="50000"/>
                  </a:schemeClr>
                </a:solidFill>
                <a:latin typeface="EYInterstate" pitchFamily="2" charset="0"/>
              </a:rPr>
              <a:t>User in Home Area</a:t>
            </a:r>
            <a:r>
              <a:rPr lang="en-US" sz="1200" dirty="0">
                <a:solidFill>
                  <a:schemeClr val="tx1">
                    <a:lumMod val="50000"/>
                  </a:schemeClr>
                </a:solidFill>
                <a:latin typeface="EYInterstate" pitchFamily="2" charset="0"/>
              </a:rPr>
              <a:t>: MSC contacts the HLR prior to setting up the call. </a:t>
            </a:r>
          </a:p>
          <a:p>
            <a:pPr marL="635000" lvl="1" indent="-177800">
              <a:buClr>
                <a:srgbClr val="FFC000"/>
              </a:buClr>
              <a:buFont typeface="Arial" pitchFamily="34" charset="0"/>
              <a:buChar char="►"/>
            </a:pPr>
            <a:r>
              <a:rPr lang="en-US" sz="1200" b="1" dirty="0">
                <a:solidFill>
                  <a:schemeClr val="tx1">
                    <a:lumMod val="50000"/>
                  </a:schemeClr>
                </a:solidFill>
                <a:latin typeface="EYInterstate" pitchFamily="2" charset="0"/>
              </a:rPr>
              <a:t>User is Roaming</a:t>
            </a:r>
            <a:r>
              <a:rPr lang="en-US" sz="1200" dirty="0">
                <a:solidFill>
                  <a:schemeClr val="tx1">
                    <a:lumMod val="50000"/>
                  </a:schemeClr>
                </a:solidFill>
                <a:latin typeface="EYInterstate" pitchFamily="2" charset="0"/>
              </a:rPr>
              <a:t>: MSC contacts the VLR prior to setting up the call. </a:t>
            </a:r>
          </a:p>
          <a:p>
            <a:pPr marL="635000" lvl="1" indent="-177800">
              <a:buClr>
                <a:srgbClr val="FFC000"/>
              </a:buClr>
              <a:buFont typeface="Arial" pitchFamily="34" charset="0"/>
              <a:buChar char="►"/>
            </a:pPr>
            <a:endParaRPr lang="en-US" sz="1200" dirty="0">
              <a:solidFill>
                <a:schemeClr val="tx1">
                  <a:lumMod val="50000"/>
                </a:schemeClr>
              </a:solidFill>
              <a:latin typeface="EYInterstate" pitchFamily="2" charset="0"/>
            </a:endParaRPr>
          </a:p>
          <a:p>
            <a:pPr marL="177800" indent="-177800">
              <a:buClr>
                <a:srgbClr val="FFC000"/>
              </a:buClr>
              <a:buFont typeface="Arial" pitchFamily="34" charset="0"/>
              <a:buChar char="►"/>
            </a:pPr>
            <a:r>
              <a:rPr lang="en-US" sz="1200" dirty="0">
                <a:solidFill>
                  <a:schemeClr val="tx1">
                    <a:lumMod val="50000"/>
                  </a:schemeClr>
                </a:solidFill>
                <a:latin typeface="EYInterstate" pitchFamily="2" charset="0"/>
              </a:rPr>
              <a:t>Suppose that there is a call for the user (call goes to the home MSC): </a:t>
            </a:r>
          </a:p>
          <a:p>
            <a:pPr marL="635000" lvl="1" indent="-177800">
              <a:buClr>
                <a:srgbClr val="FFC000"/>
              </a:buClr>
              <a:buFont typeface="Arial" pitchFamily="34" charset="0"/>
              <a:buChar char="►"/>
            </a:pPr>
            <a:r>
              <a:rPr lang="en-US" sz="1200" b="1" dirty="0">
                <a:solidFill>
                  <a:schemeClr val="tx1">
                    <a:lumMod val="50000"/>
                  </a:schemeClr>
                </a:solidFill>
                <a:latin typeface="EYInterstate" pitchFamily="2" charset="0"/>
              </a:rPr>
              <a:t>User in Home Area:</a:t>
            </a:r>
            <a:r>
              <a:rPr lang="en-US" sz="1200" dirty="0">
                <a:solidFill>
                  <a:schemeClr val="tx1">
                    <a:lumMod val="50000"/>
                  </a:schemeClr>
                </a:solidFill>
                <a:latin typeface="EYInterstate" pitchFamily="2" charset="0"/>
              </a:rPr>
              <a:t> Home MSC delivers the call immediately. </a:t>
            </a:r>
          </a:p>
          <a:p>
            <a:pPr marL="635000" lvl="1" indent="-177800">
              <a:buClr>
                <a:srgbClr val="FFC000"/>
              </a:buClr>
              <a:buFont typeface="Arial" pitchFamily="34" charset="0"/>
              <a:buChar char="►"/>
            </a:pPr>
            <a:r>
              <a:rPr lang="en-US" sz="1200" b="1" dirty="0">
                <a:solidFill>
                  <a:schemeClr val="tx1">
                    <a:lumMod val="50000"/>
                  </a:schemeClr>
                </a:solidFill>
                <a:latin typeface="EYInterstate" pitchFamily="2" charset="0"/>
              </a:rPr>
              <a:t>User is Roaming:</a:t>
            </a:r>
            <a:r>
              <a:rPr lang="en-US" sz="1200" dirty="0">
                <a:solidFill>
                  <a:schemeClr val="tx1">
                    <a:lumMod val="50000"/>
                  </a:schemeClr>
                </a:solidFill>
                <a:latin typeface="EYInterstate" pitchFamily="2" charset="0"/>
              </a:rPr>
              <a:t> Home MSC contacts the VLR to determine the appropriate switch in the roaming area to handle the arriving call and then transfers the call to the roaming area MSC.</a:t>
            </a:r>
          </a:p>
          <a:p>
            <a:pPr marL="177800" indent="-177800">
              <a:buClr>
                <a:srgbClr val="FFC000"/>
              </a:buClr>
              <a:buFont typeface="Arial" pitchFamily="34" charset="0"/>
              <a:buChar char="►"/>
            </a:pPr>
            <a:endParaRPr lang="en-US" sz="1200" dirty="0">
              <a:solidFill>
                <a:schemeClr val="tx1">
                  <a:lumMod val="50000"/>
                </a:schemeClr>
              </a:solidFill>
              <a:latin typeface="EYInterstate" pitchFamily="2" charset="0"/>
            </a:endParaRPr>
          </a:p>
          <a:p>
            <a:pPr marL="177800" indent="-177800">
              <a:buClr>
                <a:srgbClr val="FFC000"/>
              </a:buClr>
              <a:buFont typeface="Arial" pitchFamily="34" charset="0"/>
              <a:buChar char="►"/>
            </a:pPr>
            <a:endParaRPr lang="en-US" sz="1200" dirty="0">
              <a:solidFill>
                <a:schemeClr val="tx1">
                  <a:lumMod val="50000"/>
                </a:schemeClr>
              </a:solidFill>
              <a:latin typeface="EYInterstate" pitchFamily="2" charset="0"/>
            </a:endParaRPr>
          </a:p>
          <a:p>
            <a:pPr marL="177800" indent="-177800">
              <a:buClr>
                <a:srgbClr val="FFC000"/>
              </a:buClr>
              <a:buFont typeface="Arial" pitchFamily="34" charset="0"/>
              <a:buChar char="►"/>
            </a:pPr>
            <a:endParaRPr lang="en-US" sz="1200" dirty="0">
              <a:solidFill>
                <a:schemeClr val="tx1">
                  <a:lumMod val="50000"/>
                </a:schemeClr>
              </a:solidFill>
              <a:latin typeface="EYInterstate" pitchFamily="2" charset="0"/>
            </a:endParaRPr>
          </a:p>
        </p:txBody>
      </p:sp>
      <p:sp>
        <p:nvSpPr>
          <p:cNvPr id="12" name="Rectangle 11"/>
          <p:cNvSpPr/>
          <p:nvPr/>
        </p:nvSpPr>
        <p:spPr>
          <a:xfrm>
            <a:off x="5638800" y="2209800"/>
            <a:ext cx="3276600" cy="3886200"/>
          </a:xfrm>
          <a:prstGeom prst="rect">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7800" indent="-177800">
              <a:buClr>
                <a:srgbClr val="FFC000"/>
              </a:buClr>
              <a:buFont typeface="Arial" pitchFamily="34" charset="0"/>
              <a:buChar char="►"/>
            </a:pPr>
            <a:r>
              <a:rPr lang="en-US" sz="1200" dirty="0">
                <a:latin typeface="EYInterstate" pitchFamily="2" charset="0"/>
              </a:rPr>
              <a:t>Subscriber provisioning involves activation of roaming services against the subscriber’s profile on the HLR based on a formal request from the subscriber.  This enables the subscriber to make and receive voice calls, send and receive data and access other services while traveling outside the coverage area of their home network</a:t>
            </a:r>
          </a:p>
          <a:p>
            <a:pPr marL="177800" indent="-177800">
              <a:buClr>
                <a:srgbClr val="FFC000"/>
              </a:buClr>
              <a:buFont typeface="Arial" pitchFamily="34" charset="0"/>
              <a:buChar char="►"/>
            </a:pPr>
            <a:endParaRPr lang="en-US" sz="1200" dirty="0">
              <a:latin typeface="EYInterstate" pitchFamily="2" charset="0"/>
            </a:endParaRPr>
          </a:p>
          <a:p>
            <a:pPr marL="177800" indent="-177800">
              <a:buClr>
                <a:srgbClr val="FFC000"/>
              </a:buClr>
              <a:buFont typeface="Arial" pitchFamily="34" charset="0"/>
              <a:buChar char="►"/>
            </a:pPr>
            <a:r>
              <a:rPr lang="en-US" sz="1200" dirty="0">
                <a:latin typeface="EYInterstate" pitchFamily="2" charset="0"/>
              </a:rPr>
              <a:t>Generally, postpaid subscribers are set to a profile that does not include roaming by default and operator may charge one time deposit and monthly rental</a:t>
            </a:r>
          </a:p>
          <a:p>
            <a:pPr marL="177800" indent="-177800">
              <a:buClr>
                <a:srgbClr val="FFC000"/>
              </a:buClr>
              <a:buFont typeface="Arial" pitchFamily="34" charset="0"/>
              <a:buChar char="►"/>
            </a:pPr>
            <a:endParaRPr lang="en-US" sz="1200" dirty="0">
              <a:latin typeface="EYInterstate" pitchFamily="2" charset="0"/>
            </a:endParaRPr>
          </a:p>
          <a:p>
            <a:pPr marL="177800" indent="-177800">
              <a:buClr>
                <a:srgbClr val="FFC000"/>
              </a:buClr>
              <a:buFont typeface="Arial" pitchFamily="34" charset="0"/>
              <a:buChar char="►"/>
            </a:pPr>
            <a:r>
              <a:rPr lang="en-US" sz="1200" dirty="0">
                <a:latin typeface="EYInterstate" pitchFamily="2" charset="0"/>
              </a:rPr>
              <a:t>Prepaid subscribers have access to roaming as a default service if CAMEL technology (explained in detail later in the module) has been implemented on the operator’s network.</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57200" y="200025"/>
            <a:ext cx="8232775" cy="863600"/>
          </a:xfrm>
        </p:spPr>
        <p:txBody>
          <a:bodyPr/>
          <a:lstStyle/>
          <a:p>
            <a:r>
              <a:rPr lang="en-US" dirty="0"/>
              <a:t>Roaming Revenue Cycle – Rating &amp; Billing</a:t>
            </a:r>
          </a:p>
        </p:txBody>
      </p:sp>
      <p:grpSp>
        <p:nvGrpSpPr>
          <p:cNvPr id="5" name="Group 4"/>
          <p:cNvGrpSpPr/>
          <p:nvPr/>
        </p:nvGrpSpPr>
        <p:grpSpPr>
          <a:xfrm>
            <a:off x="5638800" y="1143000"/>
            <a:ext cx="3352800" cy="1066800"/>
            <a:chOff x="533400" y="1701800"/>
            <a:chExt cx="8153400" cy="3175000"/>
          </a:xfrm>
        </p:grpSpPr>
        <p:graphicFrame>
          <p:nvGraphicFramePr>
            <p:cNvPr id="6" name="Diagram 5"/>
            <p:cNvGraphicFramePr/>
            <p:nvPr/>
          </p:nvGraphicFramePr>
          <p:xfrm>
            <a:off x="533400" y="1701800"/>
            <a:ext cx="8153400" cy="3175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Right Arrow 6"/>
            <p:cNvSpPr/>
            <p:nvPr/>
          </p:nvSpPr>
          <p:spPr>
            <a:xfrm>
              <a:off x="2286000" y="2895600"/>
              <a:ext cx="457200" cy="381000"/>
            </a:xfrm>
            <a:prstGeom prst="right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8" name="Right Arrow 7"/>
            <p:cNvSpPr/>
            <p:nvPr/>
          </p:nvSpPr>
          <p:spPr>
            <a:xfrm>
              <a:off x="4419600" y="2895600"/>
              <a:ext cx="457200" cy="381000"/>
            </a:xfrm>
            <a:prstGeom prst="right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9" name="Right Arrow 8"/>
            <p:cNvSpPr/>
            <p:nvPr/>
          </p:nvSpPr>
          <p:spPr>
            <a:xfrm>
              <a:off x="6553200" y="2895600"/>
              <a:ext cx="457200" cy="381000"/>
            </a:xfrm>
            <a:prstGeom prst="right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grpSp>
      <p:sp>
        <p:nvSpPr>
          <p:cNvPr id="10" name="Rectangle 9"/>
          <p:cNvSpPr/>
          <p:nvPr/>
        </p:nvSpPr>
        <p:spPr>
          <a:xfrm>
            <a:off x="304800" y="1143000"/>
            <a:ext cx="5029200" cy="4953000"/>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7800" indent="-177800">
              <a:buClr>
                <a:srgbClr val="FFC000"/>
              </a:buClr>
              <a:buFont typeface="Arial" pitchFamily="34" charset="0"/>
              <a:buChar char="►"/>
            </a:pPr>
            <a:r>
              <a:rPr lang="en-US" sz="1200" dirty="0">
                <a:solidFill>
                  <a:schemeClr val="tx1">
                    <a:lumMod val="50000"/>
                  </a:schemeClr>
                </a:solidFill>
                <a:latin typeface="EYInterstate" pitchFamily="2" charset="0"/>
              </a:rPr>
              <a:t>Call made by customer in visited network and CDRs get generated at visitor network MSC and are being sent to the home operator through TAP (Transfer Account Procedure) files either directly or thru clearing house</a:t>
            </a:r>
          </a:p>
          <a:p>
            <a:pPr marL="177800" indent="-177800">
              <a:buClr>
                <a:srgbClr val="FFC000"/>
              </a:buClr>
              <a:buFont typeface="Arial" pitchFamily="34" charset="0"/>
              <a:buChar char="►"/>
            </a:pPr>
            <a:endParaRPr lang="en-US" sz="1200" dirty="0">
              <a:solidFill>
                <a:schemeClr val="tx1">
                  <a:lumMod val="50000"/>
                </a:schemeClr>
              </a:solidFill>
              <a:latin typeface="EYInterstate" pitchFamily="2" charset="0"/>
            </a:endParaRPr>
          </a:p>
          <a:p>
            <a:pPr marL="177800" indent="-177800">
              <a:buClr>
                <a:srgbClr val="FFC000"/>
              </a:buClr>
              <a:buFont typeface="Arial" pitchFamily="34" charset="0"/>
              <a:buChar char="►"/>
            </a:pPr>
            <a:r>
              <a:rPr lang="en-US" sz="1200" dirty="0">
                <a:solidFill>
                  <a:schemeClr val="tx1">
                    <a:lumMod val="50000"/>
                  </a:schemeClr>
                </a:solidFill>
                <a:latin typeface="EYInterstate" pitchFamily="2" charset="0"/>
              </a:rPr>
              <a:t>The clearing house receives TAP files from visiting network operator, performs various pre-determined checks on TAP files (like duplicates,  file format, validation of SDR rate, conversion to local currency, etc). and forwards them to the home operator for processing and subscriber billing.</a:t>
            </a:r>
          </a:p>
          <a:p>
            <a:pPr marL="177800" indent="-177800">
              <a:buClr>
                <a:srgbClr val="FFC000"/>
              </a:buClr>
              <a:buFont typeface="Arial" pitchFamily="34" charset="0"/>
              <a:buChar char="►"/>
            </a:pPr>
            <a:endParaRPr lang="en-US" sz="1200" dirty="0">
              <a:solidFill>
                <a:schemeClr val="tx1">
                  <a:lumMod val="50000"/>
                </a:schemeClr>
              </a:solidFill>
              <a:latin typeface="EYInterstate" pitchFamily="2" charset="0"/>
            </a:endParaRPr>
          </a:p>
          <a:p>
            <a:pPr marL="177800" indent="-177800">
              <a:buClr>
                <a:srgbClr val="FFC000"/>
              </a:buClr>
              <a:buFont typeface="Arial" pitchFamily="34" charset="0"/>
              <a:buChar char="►"/>
            </a:pPr>
            <a:r>
              <a:rPr lang="en-US" sz="1200" dirty="0">
                <a:solidFill>
                  <a:schemeClr val="tx1">
                    <a:lumMod val="50000"/>
                  </a:schemeClr>
                </a:solidFill>
                <a:latin typeface="EYInterstate" pitchFamily="2" charset="0"/>
              </a:rPr>
              <a:t>Home operator validates the incoming TAP file and rejects the CDR’s in TAP file if the same are not in correct format or to the terms of the agreement, RAP(Return Account Procedure) files are also generated by Clearing House in case Operators use services of a Clearing House.</a:t>
            </a:r>
          </a:p>
          <a:p>
            <a:pPr marL="177800" indent="-177800">
              <a:buClr>
                <a:srgbClr val="FFC000"/>
              </a:buClr>
              <a:buFont typeface="Arial" pitchFamily="34" charset="0"/>
              <a:buChar char="►"/>
            </a:pPr>
            <a:endParaRPr lang="en-US" sz="1200" dirty="0">
              <a:solidFill>
                <a:schemeClr val="tx1">
                  <a:lumMod val="50000"/>
                </a:schemeClr>
              </a:solidFill>
              <a:latin typeface="EYInterstate" pitchFamily="2" charset="0"/>
            </a:endParaRPr>
          </a:p>
          <a:p>
            <a:pPr marL="177800" indent="-177800">
              <a:buClr>
                <a:srgbClr val="FFC000"/>
              </a:buClr>
              <a:buFont typeface="Arial" pitchFamily="34" charset="0"/>
              <a:buChar char="►"/>
            </a:pPr>
            <a:r>
              <a:rPr lang="en-US" sz="1200" dirty="0">
                <a:solidFill>
                  <a:schemeClr val="tx1">
                    <a:lumMod val="50000"/>
                  </a:schemeClr>
                </a:solidFill>
                <a:latin typeface="EYInterstate" pitchFamily="2" charset="0"/>
              </a:rPr>
              <a:t>Postpaid Subscriber charging for roaming usage is performed in the same way as charging for normal call and data services.  As soon as TAP files are received, they are uploaded into the retail billing systems and roaming charges are billed to the subscribers and prepaid roaming CDR’s being filtered from the billing system as the charging has happened online thru CAMEL interface</a:t>
            </a:r>
          </a:p>
          <a:p>
            <a:pPr marL="177800" indent="-177800">
              <a:buClr>
                <a:srgbClr val="FFC000"/>
              </a:buClr>
              <a:buFont typeface="Arial" pitchFamily="34" charset="0"/>
              <a:buChar char="►"/>
            </a:pPr>
            <a:endParaRPr lang="en-US" sz="1200" dirty="0">
              <a:solidFill>
                <a:schemeClr val="tx1">
                  <a:lumMod val="50000"/>
                </a:schemeClr>
              </a:solidFill>
              <a:latin typeface="EYInterstate" pitchFamily="2" charset="0"/>
            </a:endParaRPr>
          </a:p>
          <a:p>
            <a:pPr marL="177800" indent="-177800">
              <a:buClr>
                <a:srgbClr val="FFC000"/>
              </a:buClr>
              <a:buFont typeface="Arial" pitchFamily="34" charset="0"/>
              <a:buChar char="►"/>
            </a:pPr>
            <a:r>
              <a:rPr lang="en-US" sz="1200" dirty="0">
                <a:solidFill>
                  <a:schemeClr val="tx1">
                    <a:lumMod val="50000"/>
                  </a:schemeClr>
                </a:solidFill>
                <a:latin typeface="EYInterstate" pitchFamily="2" charset="0"/>
              </a:rPr>
              <a:t>Based on the TAP files, Roaming settlements between operators are performed in the same way as the Interconnect settlements.</a:t>
            </a:r>
          </a:p>
          <a:p>
            <a:pPr marL="177800" indent="-177800">
              <a:buClr>
                <a:srgbClr val="FFC000"/>
              </a:buClr>
              <a:buFont typeface="Arial" pitchFamily="34" charset="0"/>
              <a:buChar char="►"/>
            </a:pPr>
            <a:endParaRPr lang="en-US" sz="1200" dirty="0">
              <a:solidFill>
                <a:schemeClr val="tx1">
                  <a:lumMod val="50000"/>
                </a:schemeClr>
              </a:solidFill>
              <a:latin typeface="EYInterstate" pitchFamily="2" charset="0"/>
            </a:endParaRPr>
          </a:p>
          <a:p>
            <a:pPr marL="177800" indent="-177800">
              <a:buClr>
                <a:srgbClr val="FFC000"/>
              </a:buClr>
              <a:buFont typeface="Arial" pitchFamily="34" charset="0"/>
              <a:buChar char="►"/>
            </a:pPr>
            <a:endParaRPr lang="en-US" sz="1200" dirty="0">
              <a:solidFill>
                <a:schemeClr val="tx1">
                  <a:lumMod val="50000"/>
                </a:schemeClr>
              </a:solidFill>
              <a:latin typeface="EYInterstate" pitchFamily="2" charset="0"/>
            </a:endParaRPr>
          </a:p>
          <a:p>
            <a:pPr marL="177800" indent="-177800">
              <a:buClr>
                <a:srgbClr val="FFC000"/>
              </a:buClr>
              <a:buFont typeface="Arial" pitchFamily="34" charset="0"/>
              <a:buChar char="►"/>
            </a:pPr>
            <a:endParaRPr lang="en-US" sz="1200" dirty="0">
              <a:solidFill>
                <a:schemeClr val="tx1">
                  <a:lumMod val="50000"/>
                </a:schemeClr>
              </a:solidFill>
              <a:latin typeface="EYInterstate" pitchFamily="2" charset="0"/>
            </a:endParaRPr>
          </a:p>
        </p:txBody>
      </p:sp>
      <p:sp>
        <p:nvSpPr>
          <p:cNvPr id="11" name="Rectangle 10"/>
          <p:cNvSpPr/>
          <p:nvPr/>
        </p:nvSpPr>
        <p:spPr>
          <a:xfrm>
            <a:off x="5486400" y="2286000"/>
            <a:ext cx="3200400" cy="3810000"/>
          </a:xfrm>
          <a:prstGeom prst="rect">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7800" indent="-177800">
              <a:buClr>
                <a:srgbClr val="FFC000"/>
              </a:buClr>
              <a:buFont typeface="Arial" pitchFamily="34" charset="0"/>
              <a:buChar char="►"/>
            </a:pPr>
            <a:endParaRPr lang="en-US" sz="1200" dirty="0">
              <a:latin typeface="EYInterstate" pitchFamily="2" charset="0"/>
            </a:endParaRPr>
          </a:p>
          <a:p>
            <a:pPr marL="177800" indent="-177800">
              <a:buClr>
                <a:srgbClr val="FFC000"/>
              </a:buClr>
              <a:buFont typeface="Arial" pitchFamily="34" charset="0"/>
              <a:buChar char="►"/>
            </a:pPr>
            <a:r>
              <a:rPr lang="en-US" sz="1200" dirty="0">
                <a:latin typeface="EYInterstate" pitchFamily="2" charset="0"/>
              </a:rPr>
              <a:t>Prepaid Subscriber charging in roaming is online same as calls made in home network thru CAMEL interface, by the home operator itself.  However need to verify and deplete subscriber account balances on a real time basis makes prepaid roaming complex</a:t>
            </a:r>
          </a:p>
          <a:p>
            <a:pPr marL="177800" indent="-177800">
              <a:buClr>
                <a:srgbClr val="FFC000"/>
              </a:buClr>
              <a:buFont typeface="Arial" pitchFamily="34" charset="0"/>
              <a:buChar char="►"/>
            </a:pPr>
            <a:endParaRPr lang="en-US" sz="1200" dirty="0">
              <a:latin typeface="EYInterstate" pitchFamily="2" charset="0"/>
            </a:endParaRPr>
          </a:p>
          <a:p>
            <a:pPr marL="177800" indent="-177800">
              <a:buClr>
                <a:srgbClr val="FFC000"/>
              </a:buClr>
              <a:buFont typeface="Arial" pitchFamily="34" charset="0"/>
              <a:buChar char="►"/>
            </a:pPr>
            <a:r>
              <a:rPr lang="en-US" sz="1200" dirty="0">
                <a:latin typeface="EYInterstate" pitchFamily="2" charset="0"/>
              </a:rPr>
              <a:t>The capability for tracking roaming usage and depleting balance on a real time is permitted by CAMEL.  CAMEL roaming is the most commonly used technique to enable prepaid roaming by operators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Risk in Roaming</a:t>
            </a:r>
          </a:p>
        </p:txBody>
      </p:sp>
      <p:graphicFrame>
        <p:nvGraphicFramePr>
          <p:cNvPr id="3" name="Table 2"/>
          <p:cNvGraphicFramePr>
            <a:graphicFrameLocks noGrp="1"/>
          </p:cNvGraphicFramePr>
          <p:nvPr/>
        </p:nvGraphicFramePr>
        <p:xfrm>
          <a:off x="1981200" y="1219199"/>
          <a:ext cx="5943600" cy="1088571"/>
        </p:xfrm>
        <a:graphic>
          <a:graphicData uri="http://schemas.openxmlformats.org/drawingml/2006/table">
            <a:tbl>
              <a:tblPr firstRow="1" bandRow="1">
                <a:tableStyleId>{5C22544A-7EE6-4342-B048-85BDC9FD1C3A}</a:tableStyleId>
              </a:tblPr>
              <a:tblGrid>
                <a:gridCol w="654341">
                  <a:extLst>
                    <a:ext uri="{9D8B030D-6E8A-4147-A177-3AD203B41FA5}">
                      <a16:colId xmlns:a16="http://schemas.microsoft.com/office/drawing/2014/main" val="20000"/>
                    </a:ext>
                  </a:extLst>
                </a:gridCol>
                <a:gridCol w="3570627">
                  <a:extLst>
                    <a:ext uri="{9D8B030D-6E8A-4147-A177-3AD203B41FA5}">
                      <a16:colId xmlns:a16="http://schemas.microsoft.com/office/drawing/2014/main" val="20001"/>
                    </a:ext>
                  </a:extLst>
                </a:gridCol>
                <a:gridCol w="1718632">
                  <a:extLst>
                    <a:ext uri="{9D8B030D-6E8A-4147-A177-3AD203B41FA5}">
                      <a16:colId xmlns:a16="http://schemas.microsoft.com/office/drawing/2014/main" val="20002"/>
                    </a:ext>
                  </a:extLst>
                </a:gridCol>
              </a:tblGrid>
              <a:tr h="376113">
                <a:tc>
                  <a:txBody>
                    <a:bodyPr/>
                    <a:lstStyle/>
                    <a:p>
                      <a:r>
                        <a:rPr lang="en-US" sz="1200" dirty="0" err="1"/>
                        <a:t>Sr</a:t>
                      </a:r>
                      <a:r>
                        <a:rPr lang="en-US" sz="1200" dirty="0"/>
                        <a:t> No</a:t>
                      </a:r>
                    </a:p>
                  </a:txBody>
                  <a:tcPr anchor="ctr"/>
                </a:tc>
                <a:tc>
                  <a:txBody>
                    <a:bodyPr/>
                    <a:lstStyle/>
                    <a:p>
                      <a:r>
                        <a:rPr lang="en-US" sz="1200" dirty="0"/>
                        <a:t>Risk Description </a:t>
                      </a:r>
                    </a:p>
                  </a:txBody>
                  <a:tcPr anchor="ctr"/>
                </a:tc>
                <a:tc>
                  <a:txBody>
                    <a:bodyPr/>
                    <a:lstStyle/>
                    <a:p>
                      <a:r>
                        <a:rPr lang="en-US" sz="1200" dirty="0"/>
                        <a:t>RA Control Activity</a:t>
                      </a:r>
                    </a:p>
                  </a:txBody>
                  <a:tcPr anchor="ctr"/>
                </a:tc>
                <a:extLst>
                  <a:ext uri="{0D108BD9-81ED-4DB2-BD59-A6C34878D82A}">
                    <a16:rowId xmlns:a16="http://schemas.microsoft.com/office/drawing/2014/main" val="10000"/>
                  </a:ext>
                </a:extLst>
              </a:tr>
              <a:tr h="712458">
                <a:tc>
                  <a:txBody>
                    <a:bodyPr/>
                    <a:lstStyle/>
                    <a:p>
                      <a:pPr algn="ctr"/>
                      <a:r>
                        <a:rPr lang="en-US" sz="1200" dirty="0"/>
                        <a:t>1</a:t>
                      </a:r>
                    </a:p>
                  </a:txBody>
                  <a:tcPr anchor="ctr"/>
                </a:tc>
                <a:tc>
                  <a:txBody>
                    <a:bodyPr/>
                    <a:lstStyle/>
                    <a:p>
                      <a:r>
                        <a:rPr lang="en-US" sz="1200" dirty="0"/>
                        <a:t>Rejection</a:t>
                      </a:r>
                      <a:r>
                        <a:rPr lang="en-US" sz="1200" baseline="0" dirty="0"/>
                        <a:t> in TAPIN rating &amp; TAPOUT generation.</a:t>
                      </a:r>
                    </a:p>
                    <a:p>
                      <a:r>
                        <a:rPr lang="en-US" sz="1200" baseline="0" dirty="0"/>
                        <a:t>Customer not able to make Outgoing calls in roaming area</a:t>
                      </a:r>
                      <a:endParaRPr lang="en-US" sz="1200" dirty="0"/>
                    </a:p>
                  </a:txBody>
                  <a:tcPr anchor="ctr"/>
                </a:tc>
                <a:tc>
                  <a:txBody>
                    <a:bodyPr/>
                    <a:lstStyle/>
                    <a:p>
                      <a:r>
                        <a:rPr lang="en-US" sz="1200" dirty="0"/>
                        <a:t>MCC-MNC Reconciliation</a:t>
                      </a:r>
                    </a:p>
                  </a:txBody>
                  <a:tcPr anchor="ctr"/>
                </a:tc>
                <a:extLst>
                  <a:ext uri="{0D108BD9-81ED-4DB2-BD59-A6C34878D82A}">
                    <a16:rowId xmlns:a16="http://schemas.microsoft.com/office/drawing/2014/main" val="10001"/>
                  </a:ext>
                </a:extLst>
              </a:tr>
            </a:tbl>
          </a:graphicData>
        </a:graphic>
      </p:graphicFrame>
      <p:sp>
        <p:nvSpPr>
          <p:cNvPr id="4" name="Rectangle 3"/>
          <p:cNvSpPr/>
          <p:nvPr/>
        </p:nvSpPr>
        <p:spPr>
          <a:xfrm>
            <a:off x="381000" y="1219199"/>
            <a:ext cx="1463040" cy="1088571"/>
          </a:xfrm>
          <a:prstGeom prst="rect">
            <a:avLst/>
          </a:prstGeom>
          <a:solidFill>
            <a:srgbClr val="FFD200"/>
          </a:solidFill>
          <a:ln>
            <a:solidFill>
              <a:srgbClr val="FFD2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lumMod val="50000"/>
                  </a:schemeClr>
                </a:solidFill>
              </a:rPr>
              <a:t>Configuration Validation</a:t>
            </a:r>
          </a:p>
        </p:txBody>
      </p:sp>
      <p:graphicFrame>
        <p:nvGraphicFramePr>
          <p:cNvPr id="5" name="Table 4"/>
          <p:cNvGraphicFramePr>
            <a:graphicFrameLocks noGrp="1"/>
          </p:cNvGraphicFramePr>
          <p:nvPr/>
        </p:nvGraphicFramePr>
        <p:xfrm>
          <a:off x="1981200" y="2667000"/>
          <a:ext cx="5943600" cy="1905001"/>
        </p:xfrm>
        <a:graphic>
          <a:graphicData uri="http://schemas.openxmlformats.org/drawingml/2006/table">
            <a:tbl>
              <a:tblPr firstRow="1" bandRow="1">
                <a:tableStyleId>{5C22544A-7EE6-4342-B048-85BDC9FD1C3A}</a:tableStyleId>
              </a:tblPr>
              <a:tblGrid>
                <a:gridCol w="654341">
                  <a:extLst>
                    <a:ext uri="{9D8B030D-6E8A-4147-A177-3AD203B41FA5}">
                      <a16:colId xmlns:a16="http://schemas.microsoft.com/office/drawing/2014/main" val="20000"/>
                    </a:ext>
                  </a:extLst>
                </a:gridCol>
                <a:gridCol w="3570627">
                  <a:extLst>
                    <a:ext uri="{9D8B030D-6E8A-4147-A177-3AD203B41FA5}">
                      <a16:colId xmlns:a16="http://schemas.microsoft.com/office/drawing/2014/main" val="20001"/>
                    </a:ext>
                  </a:extLst>
                </a:gridCol>
                <a:gridCol w="1718632">
                  <a:extLst>
                    <a:ext uri="{9D8B030D-6E8A-4147-A177-3AD203B41FA5}">
                      <a16:colId xmlns:a16="http://schemas.microsoft.com/office/drawing/2014/main" val="20002"/>
                    </a:ext>
                  </a:extLst>
                </a:gridCol>
              </a:tblGrid>
              <a:tr h="381932">
                <a:tc>
                  <a:txBody>
                    <a:bodyPr/>
                    <a:lstStyle/>
                    <a:p>
                      <a:r>
                        <a:rPr lang="en-US" sz="1200" dirty="0" err="1"/>
                        <a:t>Sr</a:t>
                      </a:r>
                      <a:r>
                        <a:rPr lang="en-US" sz="1200" dirty="0"/>
                        <a:t> No</a:t>
                      </a:r>
                    </a:p>
                  </a:txBody>
                  <a:tcPr anchor="ctr"/>
                </a:tc>
                <a:tc>
                  <a:txBody>
                    <a:bodyPr/>
                    <a:lstStyle/>
                    <a:p>
                      <a:r>
                        <a:rPr lang="en-US" sz="1200" dirty="0"/>
                        <a:t>Risk Description </a:t>
                      </a:r>
                    </a:p>
                  </a:txBody>
                  <a:tcPr anchor="ctr"/>
                </a:tc>
                <a:tc>
                  <a:txBody>
                    <a:bodyPr/>
                    <a:lstStyle/>
                    <a:p>
                      <a:r>
                        <a:rPr lang="en-US" sz="1200" dirty="0"/>
                        <a:t>RA Control Activity</a:t>
                      </a:r>
                    </a:p>
                  </a:txBody>
                  <a:tcPr anchor="ctr"/>
                </a:tc>
                <a:extLst>
                  <a:ext uri="{0D108BD9-81ED-4DB2-BD59-A6C34878D82A}">
                    <a16:rowId xmlns:a16="http://schemas.microsoft.com/office/drawing/2014/main" val="10000"/>
                  </a:ext>
                </a:extLst>
              </a:tr>
              <a:tr h="868027">
                <a:tc>
                  <a:txBody>
                    <a:bodyPr/>
                    <a:lstStyle/>
                    <a:p>
                      <a:pPr algn="ctr"/>
                      <a:r>
                        <a:rPr lang="en-US" sz="1200" dirty="0"/>
                        <a:t>1</a:t>
                      </a:r>
                    </a:p>
                  </a:txBody>
                  <a:tcPr anchor="ctr"/>
                </a:tc>
                <a:tc>
                  <a:txBody>
                    <a:bodyPr/>
                    <a:lstStyle/>
                    <a:p>
                      <a:r>
                        <a:rPr lang="en-US" sz="1200" dirty="0"/>
                        <a:t>CDR’s sent</a:t>
                      </a:r>
                      <a:r>
                        <a:rPr lang="en-US" sz="1200" baseline="0" dirty="0"/>
                        <a:t> by roaming partner but not billed to postpaid/prepaid customer &amp; leading to revenue loss and excess payout</a:t>
                      </a:r>
                    </a:p>
                  </a:txBody>
                  <a:tcPr anchor="ctr"/>
                </a:tc>
                <a:tc>
                  <a:txBody>
                    <a:bodyPr/>
                    <a:lstStyle/>
                    <a:p>
                      <a:r>
                        <a:rPr lang="en-US" sz="1200" dirty="0"/>
                        <a:t>TAPIN CDR </a:t>
                      </a:r>
                      <a:r>
                        <a:rPr lang="en-US" sz="1200" dirty="0" err="1"/>
                        <a:t>vs</a:t>
                      </a:r>
                      <a:r>
                        <a:rPr lang="en-US" sz="1200" dirty="0"/>
                        <a:t> IN</a:t>
                      </a:r>
                      <a:r>
                        <a:rPr lang="en-US" sz="1200" baseline="0" dirty="0"/>
                        <a:t> &amp; Billing CDR’s</a:t>
                      </a:r>
                      <a:endParaRPr lang="en-US" sz="1200" dirty="0"/>
                    </a:p>
                  </a:txBody>
                  <a:tcPr anchor="ctr"/>
                </a:tc>
                <a:extLst>
                  <a:ext uri="{0D108BD9-81ED-4DB2-BD59-A6C34878D82A}">
                    <a16:rowId xmlns:a16="http://schemas.microsoft.com/office/drawing/2014/main" val="10001"/>
                  </a:ext>
                </a:extLst>
              </a:tr>
              <a:tr h="655042">
                <a:tc>
                  <a:txBody>
                    <a:bodyPr/>
                    <a:lstStyle/>
                    <a:p>
                      <a:pPr algn="ctr"/>
                      <a:r>
                        <a:rPr lang="en-US" sz="1200" dirty="0"/>
                        <a:t>2</a:t>
                      </a:r>
                    </a:p>
                  </a:txBody>
                  <a:tcPr anchor="ctr"/>
                </a:tc>
                <a:tc>
                  <a:txBody>
                    <a:bodyPr/>
                    <a:lstStyle/>
                    <a:p>
                      <a:r>
                        <a:rPr lang="en-US" sz="1200" baseline="0" dirty="0"/>
                        <a:t>CDR’s generated at MSC for In roamers but not sent in TAPOUT leading to revenue loss</a:t>
                      </a:r>
                    </a:p>
                  </a:txBody>
                  <a:tcPr anchor="ctr"/>
                </a:tc>
                <a:tc>
                  <a:txBody>
                    <a:bodyPr/>
                    <a:lstStyle/>
                    <a:p>
                      <a:r>
                        <a:rPr lang="en-US" sz="1200" dirty="0"/>
                        <a:t>MSC CDR </a:t>
                      </a:r>
                      <a:r>
                        <a:rPr lang="en-US" sz="1200" dirty="0" err="1"/>
                        <a:t>vs</a:t>
                      </a:r>
                      <a:r>
                        <a:rPr lang="en-US" sz="1200" dirty="0"/>
                        <a:t> TAPOUT </a:t>
                      </a:r>
                    </a:p>
                  </a:txBody>
                  <a:tcPr anchor="ctr"/>
                </a:tc>
                <a:extLst>
                  <a:ext uri="{0D108BD9-81ED-4DB2-BD59-A6C34878D82A}">
                    <a16:rowId xmlns:a16="http://schemas.microsoft.com/office/drawing/2014/main" val="10002"/>
                  </a:ext>
                </a:extLst>
              </a:tr>
            </a:tbl>
          </a:graphicData>
        </a:graphic>
      </p:graphicFrame>
      <p:sp>
        <p:nvSpPr>
          <p:cNvPr id="6" name="Rectangle 5"/>
          <p:cNvSpPr/>
          <p:nvPr/>
        </p:nvSpPr>
        <p:spPr>
          <a:xfrm>
            <a:off x="365760" y="2667000"/>
            <a:ext cx="1463040" cy="1905000"/>
          </a:xfrm>
          <a:prstGeom prst="rect">
            <a:avLst/>
          </a:prstGeom>
          <a:solidFill>
            <a:srgbClr val="FFD200"/>
          </a:solidFill>
          <a:ln>
            <a:solidFill>
              <a:srgbClr val="FFD2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lumMod val="50000"/>
                  </a:schemeClr>
                </a:solidFill>
              </a:rPr>
              <a:t>CDR Reconciliation</a:t>
            </a:r>
          </a:p>
        </p:txBody>
      </p:sp>
      <p:graphicFrame>
        <p:nvGraphicFramePr>
          <p:cNvPr id="9" name="Table 8"/>
          <p:cNvGraphicFramePr>
            <a:graphicFrameLocks noGrp="1"/>
          </p:cNvGraphicFramePr>
          <p:nvPr/>
        </p:nvGraphicFramePr>
        <p:xfrm>
          <a:off x="1981200" y="4778829"/>
          <a:ext cx="5943600" cy="1088571"/>
        </p:xfrm>
        <a:graphic>
          <a:graphicData uri="http://schemas.openxmlformats.org/drawingml/2006/table">
            <a:tbl>
              <a:tblPr firstRow="1" bandRow="1">
                <a:tableStyleId>{5C22544A-7EE6-4342-B048-85BDC9FD1C3A}</a:tableStyleId>
              </a:tblPr>
              <a:tblGrid>
                <a:gridCol w="654341">
                  <a:extLst>
                    <a:ext uri="{9D8B030D-6E8A-4147-A177-3AD203B41FA5}">
                      <a16:colId xmlns:a16="http://schemas.microsoft.com/office/drawing/2014/main" val="20000"/>
                    </a:ext>
                  </a:extLst>
                </a:gridCol>
                <a:gridCol w="3570627">
                  <a:extLst>
                    <a:ext uri="{9D8B030D-6E8A-4147-A177-3AD203B41FA5}">
                      <a16:colId xmlns:a16="http://schemas.microsoft.com/office/drawing/2014/main" val="20001"/>
                    </a:ext>
                  </a:extLst>
                </a:gridCol>
                <a:gridCol w="1718632">
                  <a:extLst>
                    <a:ext uri="{9D8B030D-6E8A-4147-A177-3AD203B41FA5}">
                      <a16:colId xmlns:a16="http://schemas.microsoft.com/office/drawing/2014/main" val="20002"/>
                    </a:ext>
                  </a:extLst>
                </a:gridCol>
              </a:tblGrid>
              <a:tr h="376113">
                <a:tc>
                  <a:txBody>
                    <a:bodyPr/>
                    <a:lstStyle/>
                    <a:p>
                      <a:r>
                        <a:rPr lang="en-US" sz="1200" dirty="0" err="1"/>
                        <a:t>Sr</a:t>
                      </a:r>
                      <a:r>
                        <a:rPr lang="en-US" sz="1200" dirty="0"/>
                        <a:t> No</a:t>
                      </a:r>
                    </a:p>
                  </a:txBody>
                  <a:tcPr anchor="ctr"/>
                </a:tc>
                <a:tc>
                  <a:txBody>
                    <a:bodyPr/>
                    <a:lstStyle/>
                    <a:p>
                      <a:r>
                        <a:rPr lang="en-US" sz="1200" dirty="0"/>
                        <a:t>Risk Description </a:t>
                      </a:r>
                    </a:p>
                  </a:txBody>
                  <a:tcPr anchor="ctr"/>
                </a:tc>
                <a:tc>
                  <a:txBody>
                    <a:bodyPr/>
                    <a:lstStyle/>
                    <a:p>
                      <a:r>
                        <a:rPr lang="en-US" sz="1200" dirty="0"/>
                        <a:t>RA Control Activity</a:t>
                      </a:r>
                    </a:p>
                  </a:txBody>
                  <a:tcPr anchor="ctr"/>
                </a:tc>
                <a:extLst>
                  <a:ext uri="{0D108BD9-81ED-4DB2-BD59-A6C34878D82A}">
                    <a16:rowId xmlns:a16="http://schemas.microsoft.com/office/drawing/2014/main" val="10000"/>
                  </a:ext>
                </a:extLst>
              </a:tr>
              <a:tr h="712458">
                <a:tc>
                  <a:txBody>
                    <a:bodyPr/>
                    <a:lstStyle/>
                    <a:p>
                      <a:pPr algn="ctr"/>
                      <a:r>
                        <a:rPr lang="en-US" sz="1200" dirty="0"/>
                        <a:t>1</a:t>
                      </a:r>
                    </a:p>
                  </a:txBody>
                  <a:tcPr anchor="ctr"/>
                </a:tc>
                <a:tc>
                  <a:txBody>
                    <a:bodyPr/>
                    <a:lstStyle/>
                    <a:p>
                      <a:r>
                        <a:rPr lang="en-US" sz="1200" dirty="0"/>
                        <a:t>Missing</a:t>
                      </a:r>
                      <a:r>
                        <a:rPr lang="en-US" sz="1200" baseline="0" dirty="0"/>
                        <a:t> TAPIN files received from roaming partner , non generation of TAPOUT File leading to revenue loss</a:t>
                      </a:r>
                      <a:endParaRPr lang="en-US" sz="1200" dirty="0"/>
                    </a:p>
                  </a:txBody>
                  <a:tcPr anchor="ctr"/>
                </a:tc>
                <a:tc>
                  <a:txBody>
                    <a:bodyPr/>
                    <a:lstStyle/>
                    <a:p>
                      <a:r>
                        <a:rPr lang="en-US" sz="1200" dirty="0"/>
                        <a:t>TAP (IN/OUT) sequence check</a:t>
                      </a:r>
                    </a:p>
                  </a:txBody>
                  <a:tcPr anchor="ctr"/>
                </a:tc>
                <a:extLst>
                  <a:ext uri="{0D108BD9-81ED-4DB2-BD59-A6C34878D82A}">
                    <a16:rowId xmlns:a16="http://schemas.microsoft.com/office/drawing/2014/main" val="10001"/>
                  </a:ext>
                </a:extLst>
              </a:tr>
            </a:tbl>
          </a:graphicData>
        </a:graphic>
      </p:graphicFrame>
      <p:sp>
        <p:nvSpPr>
          <p:cNvPr id="10" name="Rectangle 9"/>
          <p:cNvSpPr/>
          <p:nvPr/>
        </p:nvSpPr>
        <p:spPr>
          <a:xfrm>
            <a:off x="381000" y="4778829"/>
            <a:ext cx="1463040" cy="1088571"/>
          </a:xfrm>
          <a:prstGeom prst="rect">
            <a:avLst/>
          </a:prstGeom>
          <a:solidFill>
            <a:srgbClr val="FFD200"/>
          </a:solidFill>
          <a:ln>
            <a:solidFill>
              <a:srgbClr val="FFD2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lumMod val="50000"/>
                  </a:schemeClr>
                </a:solidFill>
              </a:rPr>
              <a:t>Traffic Monitoring</a:t>
            </a:r>
          </a:p>
        </p:txBody>
      </p:sp>
      <p:sp>
        <p:nvSpPr>
          <p:cNvPr id="11" name="Action Button: Forward or Next 10">
            <a:hlinkClick r:id="rId2" action="ppaction://hlinksldjump" highlightClick="1"/>
          </p:cNvPr>
          <p:cNvSpPr/>
          <p:nvPr/>
        </p:nvSpPr>
        <p:spPr>
          <a:xfrm>
            <a:off x="8077200" y="1676400"/>
            <a:ext cx="609600" cy="457200"/>
          </a:xfrm>
          <a:prstGeom prst="actionButtonForwardNex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2" name="Action Button: Forward or Next 11">
            <a:hlinkClick r:id="" action="ppaction://noaction" highlightClick="1"/>
          </p:cNvPr>
          <p:cNvSpPr/>
          <p:nvPr/>
        </p:nvSpPr>
        <p:spPr>
          <a:xfrm>
            <a:off x="8077200" y="3200400"/>
            <a:ext cx="609600" cy="457200"/>
          </a:xfrm>
          <a:prstGeom prst="actionButtonForwardNex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3" name="Action Button: Forward or Next 12">
            <a:hlinkClick r:id="" action="ppaction://noaction" highlightClick="1"/>
          </p:cNvPr>
          <p:cNvSpPr/>
          <p:nvPr/>
        </p:nvSpPr>
        <p:spPr>
          <a:xfrm>
            <a:off x="8077200" y="4038600"/>
            <a:ext cx="609600" cy="457200"/>
          </a:xfrm>
          <a:prstGeom prst="actionButtonForwardNex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4" name="Action Button: Forward or Next 13">
            <a:hlinkClick r:id="" action="ppaction://noaction" highlightClick="1"/>
          </p:cNvPr>
          <p:cNvSpPr/>
          <p:nvPr/>
        </p:nvSpPr>
        <p:spPr>
          <a:xfrm>
            <a:off x="8077200" y="5257800"/>
            <a:ext cx="609600" cy="457200"/>
          </a:xfrm>
          <a:prstGeom prst="actionButtonForwardNex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nvGraphicFramePr>
        <p:xfrm>
          <a:off x="1981200" y="1447800"/>
          <a:ext cx="6172200" cy="2820035"/>
        </p:xfrm>
        <a:graphic>
          <a:graphicData uri="http://schemas.openxmlformats.org/drawingml/2006/table">
            <a:tbl>
              <a:tblPr firstRow="1" bandRow="1">
                <a:tableStyleId>{5C22544A-7EE6-4342-B048-85BDC9FD1C3A}</a:tableStyleId>
              </a:tblPr>
              <a:tblGrid>
                <a:gridCol w="679508">
                  <a:extLst>
                    <a:ext uri="{9D8B030D-6E8A-4147-A177-3AD203B41FA5}">
                      <a16:colId xmlns:a16="http://schemas.microsoft.com/office/drawing/2014/main" val="20000"/>
                    </a:ext>
                  </a:extLst>
                </a:gridCol>
                <a:gridCol w="3707959">
                  <a:extLst>
                    <a:ext uri="{9D8B030D-6E8A-4147-A177-3AD203B41FA5}">
                      <a16:colId xmlns:a16="http://schemas.microsoft.com/office/drawing/2014/main" val="20001"/>
                    </a:ext>
                  </a:extLst>
                </a:gridCol>
                <a:gridCol w="1784733">
                  <a:extLst>
                    <a:ext uri="{9D8B030D-6E8A-4147-A177-3AD203B41FA5}">
                      <a16:colId xmlns:a16="http://schemas.microsoft.com/office/drawing/2014/main" val="20002"/>
                    </a:ext>
                  </a:extLst>
                </a:gridCol>
              </a:tblGrid>
              <a:tr h="352425">
                <a:tc>
                  <a:txBody>
                    <a:bodyPr/>
                    <a:lstStyle/>
                    <a:p>
                      <a:r>
                        <a:rPr lang="en-US" sz="1200" dirty="0" err="1"/>
                        <a:t>Sr</a:t>
                      </a:r>
                      <a:r>
                        <a:rPr lang="en-US" sz="1200" dirty="0"/>
                        <a:t> No</a:t>
                      </a:r>
                    </a:p>
                  </a:txBody>
                  <a:tcPr anchor="ctr"/>
                </a:tc>
                <a:tc>
                  <a:txBody>
                    <a:bodyPr/>
                    <a:lstStyle/>
                    <a:p>
                      <a:r>
                        <a:rPr lang="en-US" sz="1200" dirty="0"/>
                        <a:t>Risk Description </a:t>
                      </a:r>
                    </a:p>
                  </a:txBody>
                  <a:tcPr anchor="ctr"/>
                </a:tc>
                <a:tc>
                  <a:txBody>
                    <a:bodyPr/>
                    <a:lstStyle/>
                    <a:p>
                      <a:r>
                        <a:rPr lang="en-US" sz="1200" dirty="0"/>
                        <a:t>RA Control Activity</a:t>
                      </a:r>
                    </a:p>
                  </a:txBody>
                  <a:tcPr anchor="ctr"/>
                </a:tc>
                <a:extLst>
                  <a:ext uri="{0D108BD9-81ED-4DB2-BD59-A6C34878D82A}">
                    <a16:rowId xmlns:a16="http://schemas.microsoft.com/office/drawing/2014/main" val="10000"/>
                  </a:ext>
                </a:extLst>
              </a:tr>
              <a:tr h="822325">
                <a:tc>
                  <a:txBody>
                    <a:bodyPr/>
                    <a:lstStyle/>
                    <a:p>
                      <a:pPr algn="ctr"/>
                      <a:r>
                        <a:rPr lang="en-US" sz="1200" dirty="0"/>
                        <a:t>1</a:t>
                      </a:r>
                    </a:p>
                  </a:txBody>
                  <a:tcPr anchor="ctr"/>
                </a:tc>
                <a:tc>
                  <a:txBody>
                    <a:bodyPr/>
                    <a:lstStyle/>
                    <a:p>
                      <a:r>
                        <a:rPr lang="en-US" sz="1200" baseline="0" dirty="0"/>
                        <a:t>Correct Rates are not applied by the roaming partner in the TAPIN sent leading to wrong charging to the customer and excess payout to the roaming partner</a:t>
                      </a:r>
                    </a:p>
                  </a:txBody>
                  <a:tcPr anchor="ctr"/>
                </a:tc>
                <a:tc>
                  <a:txBody>
                    <a:bodyPr/>
                    <a:lstStyle/>
                    <a:p>
                      <a:r>
                        <a:rPr lang="en-US" sz="1200" dirty="0"/>
                        <a:t>SDR Rate Verification for TAPIN files with roaming agreement</a:t>
                      </a:r>
                    </a:p>
                  </a:txBody>
                  <a:tcPr anchor="ctr"/>
                </a:tc>
                <a:extLst>
                  <a:ext uri="{0D108BD9-81ED-4DB2-BD59-A6C34878D82A}">
                    <a16:rowId xmlns:a16="http://schemas.microsoft.com/office/drawing/2014/main" val="10001"/>
                  </a:ext>
                </a:extLst>
              </a:tr>
              <a:tr h="822325">
                <a:tc>
                  <a:txBody>
                    <a:bodyPr/>
                    <a:lstStyle/>
                    <a:p>
                      <a:pPr algn="ctr"/>
                      <a:r>
                        <a:rPr lang="en-US" sz="1200" dirty="0"/>
                        <a:t>2</a:t>
                      </a: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aseline="0" dirty="0"/>
                        <a:t>Correct Rates are not applied while generating the TAPOUT leading to wrong charging and under billing to the roaming partner</a:t>
                      </a: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t>SDR Rate Verification for TAPOUT files with roaming agreement</a:t>
                      </a:r>
                    </a:p>
                  </a:txBody>
                  <a:tcPr anchor="ctr"/>
                </a:tc>
                <a:extLst>
                  <a:ext uri="{0D108BD9-81ED-4DB2-BD59-A6C34878D82A}">
                    <a16:rowId xmlns:a16="http://schemas.microsoft.com/office/drawing/2014/main" val="10002"/>
                  </a:ext>
                </a:extLst>
              </a:tr>
              <a:tr h="822325">
                <a:tc>
                  <a:txBody>
                    <a:bodyPr/>
                    <a:lstStyle/>
                    <a:p>
                      <a:pPr algn="ctr"/>
                      <a:r>
                        <a:rPr lang="en-US" sz="1200" dirty="0"/>
                        <a:t>3</a:t>
                      </a:r>
                    </a:p>
                  </a:txBody>
                  <a:tcPr anchor="ctr"/>
                </a:tc>
                <a:tc>
                  <a:txBody>
                    <a:bodyPr/>
                    <a:lstStyle/>
                    <a:p>
                      <a:r>
                        <a:rPr lang="en-US" sz="1200" baseline="0" dirty="0"/>
                        <a:t>Prepaid roaming Incoming CDR’s not charged at IN leading to revenue loss and excess payout to the roaming partner</a:t>
                      </a:r>
                    </a:p>
                  </a:txBody>
                  <a:tcPr anchor="ctr"/>
                </a:tc>
                <a:tc>
                  <a:txBody>
                    <a:bodyPr/>
                    <a:lstStyle/>
                    <a:p>
                      <a:r>
                        <a:rPr lang="en-US" sz="1200" dirty="0" err="1"/>
                        <a:t>Tapin</a:t>
                      </a:r>
                      <a:r>
                        <a:rPr lang="en-US" sz="1200" dirty="0"/>
                        <a:t> CDRs  </a:t>
                      </a:r>
                      <a:r>
                        <a:rPr lang="en-US" sz="1200" dirty="0" err="1"/>
                        <a:t>vis</a:t>
                      </a:r>
                      <a:r>
                        <a:rPr lang="en-US" sz="1200" dirty="0"/>
                        <a:t> a </a:t>
                      </a:r>
                      <a:r>
                        <a:rPr lang="en-US" sz="1200" dirty="0" err="1"/>
                        <a:t>vis</a:t>
                      </a:r>
                      <a:r>
                        <a:rPr lang="en-US" sz="1200" dirty="0"/>
                        <a:t> RCF (Prepaid)</a:t>
                      </a:r>
                    </a:p>
                  </a:txBody>
                  <a:tcPr anchor="ctr"/>
                </a:tc>
                <a:extLst>
                  <a:ext uri="{0D108BD9-81ED-4DB2-BD59-A6C34878D82A}">
                    <a16:rowId xmlns:a16="http://schemas.microsoft.com/office/drawing/2014/main" val="10003"/>
                  </a:ext>
                </a:extLst>
              </a:tr>
            </a:tbl>
          </a:graphicData>
        </a:graphic>
      </p:graphicFrame>
      <p:sp>
        <p:nvSpPr>
          <p:cNvPr id="4" name="Rectangle 3"/>
          <p:cNvSpPr/>
          <p:nvPr/>
        </p:nvSpPr>
        <p:spPr>
          <a:xfrm>
            <a:off x="365760" y="1447800"/>
            <a:ext cx="1463040" cy="2819400"/>
          </a:xfrm>
          <a:prstGeom prst="rect">
            <a:avLst/>
          </a:prstGeom>
          <a:solidFill>
            <a:srgbClr val="FFD200"/>
          </a:solidFill>
          <a:ln>
            <a:solidFill>
              <a:srgbClr val="FFD2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lumMod val="50000"/>
                  </a:schemeClr>
                </a:solidFill>
              </a:rPr>
              <a:t>Billing &amp; Rating</a:t>
            </a:r>
          </a:p>
        </p:txBody>
      </p:sp>
      <p:graphicFrame>
        <p:nvGraphicFramePr>
          <p:cNvPr id="5" name="Table 4"/>
          <p:cNvGraphicFramePr>
            <a:graphicFrameLocks noGrp="1"/>
          </p:cNvGraphicFramePr>
          <p:nvPr/>
        </p:nvGraphicFramePr>
        <p:xfrm>
          <a:off x="1981200" y="4495800"/>
          <a:ext cx="6172200" cy="1088571"/>
        </p:xfrm>
        <a:graphic>
          <a:graphicData uri="http://schemas.openxmlformats.org/drawingml/2006/table">
            <a:tbl>
              <a:tblPr firstRow="1" bandRow="1">
                <a:tableStyleId>{5C22544A-7EE6-4342-B048-85BDC9FD1C3A}</a:tableStyleId>
              </a:tblPr>
              <a:tblGrid>
                <a:gridCol w="679508">
                  <a:extLst>
                    <a:ext uri="{9D8B030D-6E8A-4147-A177-3AD203B41FA5}">
                      <a16:colId xmlns:a16="http://schemas.microsoft.com/office/drawing/2014/main" val="20000"/>
                    </a:ext>
                  </a:extLst>
                </a:gridCol>
                <a:gridCol w="3707959">
                  <a:extLst>
                    <a:ext uri="{9D8B030D-6E8A-4147-A177-3AD203B41FA5}">
                      <a16:colId xmlns:a16="http://schemas.microsoft.com/office/drawing/2014/main" val="20001"/>
                    </a:ext>
                  </a:extLst>
                </a:gridCol>
                <a:gridCol w="1784733">
                  <a:extLst>
                    <a:ext uri="{9D8B030D-6E8A-4147-A177-3AD203B41FA5}">
                      <a16:colId xmlns:a16="http://schemas.microsoft.com/office/drawing/2014/main" val="20002"/>
                    </a:ext>
                  </a:extLst>
                </a:gridCol>
              </a:tblGrid>
              <a:tr h="376113">
                <a:tc>
                  <a:txBody>
                    <a:bodyPr/>
                    <a:lstStyle/>
                    <a:p>
                      <a:r>
                        <a:rPr lang="en-US" sz="1200" dirty="0" err="1"/>
                        <a:t>Sr</a:t>
                      </a:r>
                      <a:r>
                        <a:rPr lang="en-US" sz="1200" dirty="0"/>
                        <a:t> No</a:t>
                      </a:r>
                    </a:p>
                  </a:txBody>
                  <a:tcPr anchor="ctr"/>
                </a:tc>
                <a:tc>
                  <a:txBody>
                    <a:bodyPr/>
                    <a:lstStyle/>
                    <a:p>
                      <a:r>
                        <a:rPr lang="en-US" sz="1200" dirty="0"/>
                        <a:t>Risk Description </a:t>
                      </a:r>
                    </a:p>
                  </a:txBody>
                  <a:tcPr anchor="ctr"/>
                </a:tc>
                <a:tc>
                  <a:txBody>
                    <a:bodyPr/>
                    <a:lstStyle/>
                    <a:p>
                      <a:r>
                        <a:rPr lang="en-US" sz="1200" dirty="0"/>
                        <a:t>RA Control Activity</a:t>
                      </a:r>
                    </a:p>
                  </a:txBody>
                  <a:tcPr anchor="ctr"/>
                </a:tc>
                <a:extLst>
                  <a:ext uri="{0D108BD9-81ED-4DB2-BD59-A6C34878D82A}">
                    <a16:rowId xmlns:a16="http://schemas.microsoft.com/office/drawing/2014/main" val="10000"/>
                  </a:ext>
                </a:extLst>
              </a:tr>
              <a:tr h="712458">
                <a:tc>
                  <a:txBody>
                    <a:bodyPr/>
                    <a:lstStyle/>
                    <a:p>
                      <a:pPr algn="ctr"/>
                      <a:r>
                        <a:rPr lang="en-US" sz="1200" dirty="0"/>
                        <a:t>1</a:t>
                      </a:r>
                    </a:p>
                  </a:txBody>
                  <a:tcPr anchor="ctr"/>
                </a:tc>
                <a:tc>
                  <a:txBody>
                    <a:bodyPr/>
                    <a:lstStyle/>
                    <a:p>
                      <a:r>
                        <a:rPr lang="en-US" sz="1200" dirty="0"/>
                        <a:t>Incorrect configuration &amp; non performance of comprehensive</a:t>
                      </a:r>
                      <a:r>
                        <a:rPr lang="en-US" sz="1200" baseline="0" dirty="0"/>
                        <a:t> UAT </a:t>
                      </a:r>
                      <a:r>
                        <a:rPr lang="en-US" sz="1200" dirty="0"/>
                        <a:t>would mean incorrect rating and other issues</a:t>
                      </a:r>
                    </a:p>
                  </a:txBody>
                  <a:tcPr anchor="ctr"/>
                </a:tc>
                <a:tc>
                  <a:txBody>
                    <a:bodyPr/>
                    <a:lstStyle/>
                    <a:p>
                      <a:r>
                        <a:rPr lang="en-US" sz="1200" dirty="0"/>
                        <a:t>New Roaming Partner TAP Validation (IN &amp; OUT)</a:t>
                      </a:r>
                    </a:p>
                  </a:txBody>
                  <a:tcPr anchor="ctr"/>
                </a:tc>
                <a:extLst>
                  <a:ext uri="{0D108BD9-81ED-4DB2-BD59-A6C34878D82A}">
                    <a16:rowId xmlns:a16="http://schemas.microsoft.com/office/drawing/2014/main" val="10001"/>
                  </a:ext>
                </a:extLst>
              </a:tr>
            </a:tbl>
          </a:graphicData>
        </a:graphic>
      </p:graphicFrame>
      <p:sp>
        <p:nvSpPr>
          <p:cNvPr id="6" name="Rectangle 5"/>
          <p:cNvSpPr/>
          <p:nvPr/>
        </p:nvSpPr>
        <p:spPr>
          <a:xfrm>
            <a:off x="381000" y="4495800"/>
            <a:ext cx="1463040" cy="1088571"/>
          </a:xfrm>
          <a:prstGeom prst="rect">
            <a:avLst/>
          </a:prstGeom>
          <a:solidFill>
            <a:srgbClr val="FFD200"/>
          </a:solidFill>
          <a:ln>
            <a:solidFill>
              <a:srgbClr val="FFD2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lumMod val="50000"/>
                  </a:schemeClr>
                </a:solidFill>
              </a:rPr>
              <a:t>New Roaming Partner Launch</a:t>
            </a:r>
          </a:p>
        </p:txBody>
      </p:sp>
      <p:sp>
        <p:nvSpPr>
          <p:cNvPr id="7" name="Action Button: Forward or Next 6">
            <a:hlinkClick r:id="" action="ppaction://noaction" highlightClick="1"/>
          </p:cNvPr>
          <p:cNvSpPr/>
          <p:nvPr/>
        </p:nvSpPr>
        <p:spPr>
          <a:xfrm>
            <a:off x="8229600" y="1981200"/>
            <a:ext cx="609600" cy="457200"/>
          </a:xfrm>
          <a:prstGeom prst="actionButtonForwardNex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8" name="Action Button: Forward or Next 7">
            <a:hlinkClick r:id="" action="ppaction://noaction" highlightClick="1"/>
          </p:cNvPr>
          <p:cNvSpPr/>
          <p:nvPr/>
        </p:nvSpPr>
        <p:spPr>
          <a:xfrm>
            <a:off x="8229600" y="2819400"/>
            <a:ext cx="609600" cy="457200"/>
          </a:xfrm>
          <a:prstGeom prst="actionButtonForwardNex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9" name="Action Button: Forward or Next 8">
            <a:hlinkClick r:id="" action="ppaction://noaction" highlightClick="1"/>
          </p:cNvPr>
          <p:cNvSpPr/>
          <p:nvPr/>
        </p:nvSpPr>
        <p:spPr>
          <a:xfrm>
            <a:off x="8229600" y="3657600"/>
            <a:ext cx="609600" cy="457200"/>
          </a:xfrm>
          <a:prstGeom prst="actionButtonForwardNex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Action Button: Forward or Next 9">
            <a:hlinkClick r:id="" action="ppaction://noaction" highlightClick="1"/>
          </p:cNvPr>
          <p:cNvSpPr/>
          <p:nvPr/>
        </p:nvSpPr>
        <p:spPr>
          <a:xfrm>
            <a:off x="8229600" y="4953000"/>
            <a:ext cx="609600" cy="457200"/>
          </a:xfrm>
          <a:prstGeom prst="actionButtonForwardNex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1" name="Title 1"/>
          <p:cNvSpPr>
            <a:spLocks noGrp="1"/>
          </p:cNvSpPr>
          <p:nvPr>
            <p:ph type="title"/>
          </p:nvPr>
        </p:nvSpPr>
        <p:spPr>
          <a:xfrm>
            <a:off x="457200" y="200025"/>
            <a:ext cx="8232775" cy="863600"/>
          </a:xfrm>
        </p:spPr>
        <p:txBody>
          <a:bodyPr/>
          <a:lstStyle/>
          <a:p>
            <a:r>
              <a:rPr lang="en-US" dirty="0"/>
              <a:t>Key Risk in Roaming…..</a:t>
            </a:r>
            <a:r>
              <a:rPr lang="en-US" dirty="0" err="1"/>
              <a:t>contd</a:t>
            </a: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tabLst>
                <a:tab pos="400050" algn="l"/>
              </a:tabLst>
              <a:defRPr/>
            </a:pPr>
            <a:r>
              <a:rPr lang="en-US" sz="2400" dirty="0">
                <a:latin typeface="EYInterstate" pitchFamily="2" charset="0"/>
              </a:rPr>
              <a:t>Intra Circle Roaming</a:t>
            </a:r>
          </a:p>
        </p:txBody>
      </p:sp>
      <p:sp>
        <p:nvSpPr>
          <p:cNvPr id="60" name="Isosceles Triangle 59"/>
          <p:cNvSpPr/>
          <p:nvPr/>
        </p:nvSpPr>
        <p:spPr>
          <a:xfrm rot="5400000">
            <a:off x="1600200" y="6111320"/>
            <a:ext cx="161925"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64" name="Isosceles Triangle 63"/>
          <p:cNvSpPr/>
          <p:nvPr/>
        </p:nvSpPr>
        <p:spPr>
          <a:xfrm rot="5400000">
            <a:off x="4308792" y="6075188"/>
            <a:ext cx="161925"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83" name="Rectangle 82"/>
          <p:cNvSpPr/>
          <p:nvPr/>
        </p:nvSpPr>
        <p:spPr>
          <a:xfrm>
            <a:off x="3151632" y="5623576"/>
            <a:ext cx="457200"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a:solidFill>
                  <a:schemeClr val="bg1"/>
                </a:solidFill>
                <a:latin typeface="EYInterstate Light" pitchFamily="2" charset="0"/>
              </a:rPr>
              <a:t>8.</a:t>
            </a:r>
          </a:p>
        </p:txBody>
      </p:sp>
      <p:grpSp>
        <p:nvGrpSpPr>
          <p:cNvPr id="46" name="Group 45"/>
          <p:cNvGrpSpPr/>
          <p:nvPr/>
        </p:nvGrpSpPr>
        <p:grpSpPr>
          <a:xfrm>
            <a:off x="914400" y="1993408"/>
            <a:ext cx="7315200" cy="2856040"/>
            <a:chOff x="914400" y="1993408"/>
            <a:chExt cx="7315200" cy="2856040"/>
          </a:xfrm>
        </p:grpSpPr>
        <p:sp>
          <p:nvSpPr>
            <p:cNvPr id="51" name="Rectangle 50"/>
            <p:cNvSpPr/>
            <p:nvPr/>
          </p:nvSpPr>
          <p:spPr>
            <a:xfrm>
              <a:off x="4599787" y="3432381"/>
              <a:ext cx="1185681" cy="140176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52" name="Rectangle 51"/>
            <p:cNvSpPr/>
            <p:nvPr/>
          </p:nvSpPr>
          <p:spPr>
            <a:xfrm>
              <a:off x="3371835" y="1993408"/>
              <a:ext cx="1185681" cy="140335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53" name="Rectangle 52"/>
            <p:cNvSpPr/>
            <p:nvPr/>
          </p:nvSpPr>
          <p:spPr>
            <a:xfrm>
              <a:off x="3418582" y="1998170"/>
              <a:ext cx="1090770" cy="181268"/>
            </a:xfrm>
            <a:prstGeom prst="rect">
              <a:avLst/>
            </a:prstGeom>
          </p:spPr>
          <p:txBody>
            <a:bodyPr lIns="0" tIns="0" rIns="0" bIns="0">
              <a:spAutoFit/>
            </a:bodyPr>
            <a:lstStyle/>
            <a:p>
              <a:pPr>
                <a:lnSpc>
                  <a:spcPts val="1500"/>
                </a:lnSpc>
                <a:buClr>
                  <a:srgbClr val="FFD200"/>
                </a:buClr>
                <a:buSzPct val="75000"/>
                <a:buFont typeface="Arial" charset="0"/>
                <a:buNone/>
                <a:tabLst>
                  <a:tab pos="400050" algn="l"/>
                </a:tabLst>
                <a:defRPr/>
              </a:pPr>
              <a:r>
                <a:rPr lang="en-US" sz="1200" dirty="0">
                  <a:latin typeface="EYInterstate" pitchFamily="2" charset="0"/>
                </a:rPr>
                <a:t>Key Concepts</a:t>
              </a:r>
            </a:p>
          </p:txBody>
        </p:sp>
        <p:sp>
          <p:nvSpPr>
            <p:cNvPr id="54" name="Rectangle 53"/>
            <p:cNvSpPr/>
            <p:nvPr/>
          </p:nvSpPr>
          <p:spPr>
            <a:xfrm>
              <a:off x="2141049" y="3438477"/>
              <a:ext cx="1185681" cy="140176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55" name="Rectangle 20"/>
            <p:cNvSpPr>
              <a:spLocks noChangeArrowheads="1"/>
            </p:cNvSpPr>
            <p:nvPr/>
          </p:nvSpPr>
          <p:spPr bwMode="auto">
            <a:xfrm>
              <a:off x="2178107" y="4094686"/>
              <a:ext cx="1014275" cy="553998"/>
            </a:xfrm>
            <a:prstGeom prst="rect">
              <a:avLst/>
            </a:prstGeom>
            <a:noFill/>
            <a:ln w="9525">
              <a:noFill/>
              <a:miter lim="800000"/>
              <a:headEnd/>
              <a:tailEnd/>
            </a:ln>
          </p:spPr>
          <p:txBody>
            <a:bodyPr lIns="0" tIns="0" rIns="0" bIns="0">
              <a:spAutoFit/>
            </a:bodyPr>
            <a:lstStyle/>
            <a:p>
              <a:pPr>
                <a:buClr>
                  <a:srgbClr val="FFD200"/>
                </a:buClr>
                <a:buSzPct val="75000"/>
                <a:buFont typeface="Arial" pitchFamily="34" charset="0"/>
                <a:buNone/>
                <a:tabLst>
                  <a:tab pos="400050" algn="l"/>
                </a:tabLst>
              </a:pPr>
              <a:r>
                <a:rPr lang="en-US" sz="1200" dirty="0">
                  <a:latin typeface="EYInterstate" pitchFamily="2" charset="0"/>
                </a:rPr>
                <a:t>General Roaming</a:t>
              </a:r>
            </a:p>
            <a:p>
              <a:pPr>
                <a:buClr>
                  <a:srgbClr val="FFD200"/>
                </a:buClr>
                <a:buSzPct val="75000"/>
                <a:buFont typeface="Arial" pitchFamily="34" charset="0"/>
                <a:buNone/>
                <a:tabLst>
                  <a:tab pos="400050" algn="l"/>
                </a:tabLst>
              </a:pPr>
              <a:r>
                <a:rPr lang="en-US" sz="1200" dirty="0">
                  <a:latin typeface="EYInterstate" pitchFamily="2" charset="0"/>
                </a:rPr>
                <a:t>Terminologies</a:t>
              </a:r>
              <a:endParaRPr lang="en-US" sz="1200" dirty="0">
                <a:solidFill>
                  <a:srgbClr val="000000"/>
                </a:solidFill>
                <a:latin typeface="EYInterstate Light" pitchFamily="2" charset="0"/>
              </a:endParaRPr>
            </a:p>
          </p:txBody>
        </p:sp>
        <p:grpSp>
          <p:nvGrpSpPr>
            <p:cNvPr id="56" name="Group 33"/>
            <p:cNvGrpSpPr>
              <a:grpSpLocks/>
            </p:cNvGrpSpPr>
            <p:nvPr/>
          </p:nvGrpSpPr>
          <p:grpSpPr bwMode="auto">
            <a:xfrm>
              <a:off x="5820601" y="2004145"/>
              <a:ext cx="1187098" cy="1401763"/>
              <a:chOff x="4599803" y="2102667"/>
              <a:chExt cx="1329095" cy="1401653"/>
            </a:xfrm>
          </p:grpSpPr>
          <p:sp>
            <p:nvSpPr>
              <p:cNvPr id="99" name="Rectangle 98"/>
              <p:cNvSpPr/>
              <p:nvPr/>
            </p:nvSpPr>
            <p:spPr>
              <a:xfrm>
                <a:off x="4599803" y="2102667"/>
                <a:ext cx="1329095" cy="1401653"/>
              </a:xfrm>
              <a:prstGeom prst="rect">
                <a:avLst/>
              </a:prstGeom>
              <a:solidFill>
                <a:srgbClr val="FFD2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100" name="Rectangle 23"/>
              <p:cNvSpPr>
                <a:spLocks noChangeArrowheads="1"/>
              </p:cNvSpPr>
              <p:nvPr/>
            </p:nvSpPr>
            <p:spPr bwMode="auto">
              <a:xfrm>
                <a:off x="4633035" y="2162263"/>
                <a:ext cx="1136666" cy="384691"/>
              </a:xfrm>
              <a:prstGeom prst="rect">
                <a:avLst/>
              </a:prstGeom>
              <a:noFill/>
              <a:ln w="9525">
                <a:noFill/>
                <a:miter lim="800000"/>
                <a:headEnd/>
                <a:tailEnd/>
              </a:ln>
            </p:spPr>
            <p:txBody>
              <a:bodyPr lIns="0" tIns="0" rIns="0" bIns="0">
                <a:spAutoFit/>
              </a:bodyPr>
              <a:lstStyle/>
              <a:p>
                <a:pPr>
                  <a:lnSpc>
                    <a:spcPts val="1500"/>
                  </a:lnSpc>
                  <a:buClr>
                    <a:srgbClr val="FFD200"/>
                  </a:buClr>
                  <a:buSzPct val="75000"/>
                  <a:tabLst>
                    <a:tab pos="400050" algn="l"/>
                  </a:tabLst>
                  <a:defRPr/>
                </a:pPr>
                <a:r>
                  <a:rPr lang="en-US" sz="1200" dirty="0">
                    <a:latin typeface="EYInterstate" pitchFamily="2" charset="0"/>
                  </a:rPr>
                  <a:t>Intra Circle  Roaming</a:t>
                </a:r>
              </a:p>
            </p:txBody>
          </p:sp>
        </p:grpSp>
        <p:sp>
          <p:nvSpPr>
            <p:cNvPr id="59" name="Rectangle 22"/>
            <p:cNvSpPr>
              <a:spLocks noChangeArrowheads="1"/>
            </p:cNvSpPr>
            <p:nvPr/>
          </p:nvSpPr>
          <p:spPr bwMode="auto">
            <a:xfrm>
              <a:off x="4636782" y="4350772"/>
              <a:ext cx="1105972" cy="373628"/>
            </a:xfrm>
            <a:prstGeom prst="rect">
              <a:avLst/>
            </a:prstGeom>
            <a:noFill/>
            <a:ln w="9525">
              <a:noFill/>
              <a:miter lim="800000"/>
              <a:headEnd/>
              <a:tailEnd/>
            </a:ln>
          </p:spPr>
          <p:txBody>
            <a:bodyPr lIns="0" tIns="0" rIns="0" bIns="0">
              <a:spAutoFit/>
            </a:bodyPr>
            <a:lstStyle/>
            <a:p>
              <a:pPr>
                <a:lnSpc>
                  <a:spcPts val="1500"/>
                </a:lnSpc>
                <a:buClr>
                  <a:srgbClr val="FFD200"/>
                </a:buClr>
                <a:buSzPct val="75000"/>
                <a:buFont typeface="Arial" charset="0"/>
                <a:buNone/>
                <a:tabLst>
                  <a:tab pos="400050" algn="l"/>
                </a:tabLst>
                <a:defRPr/>
              </a:pPr>
              <a:r>
                <a:rPr lang="en-US" sz="1200" dirty="0">
                  <a:latin typeface="EYInterstate" pitchFamily="2" charset="0"/>
                </a:rPr>
                <a:t>Roaming Revenue Cycle</a:t>
              </a:r>
            </a:p>
          </p:txBody>
        </p:sp>
        <p:grpSp>
          <p:nvGrpSpPr>
            <p:cNvPr id="61" name="Group 44"/>
            <p:cNvGrpSpPr>
              <a:grpSpLocks/>
            </p:cNvGrpSpPr>
            <p:nvPr/>
          </p:nvGrpSpPr>
          <p:grpSpPr bwMode="auto">
            <a:xfrm>
              <a:off x="7035528" y="3447686"/>
              <a:ext cx="1185683" cy="1401762"/>
              <a:chOff x="5972094" y="3483677"/>
              <a:chExt cx="1329077" cy="1401653"/>
            </a:xfrm>
          </p:grpSpPr>
          <p:sp>
            <p:nvSpPr>
              <p:cNvPr id="97" name="Rectangle 96"/>
              <p:cNvSpPr/>
              <p:nvPr/>
            </p:nvSpPr>
            <p:spPr>
              <a:xfrm>
                <a:off x="5972094" y="3483677"/>
                <a:ext cx="1329077" cy="140165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98" name="Rectangle 24"/>
              <p:cNvSpPr>
                <a:spLocks noChangeArrowheads="1"/>
              </p:cNvSpPr>
              <p:nvPr/>
            </p:nvSpPr>
            <p:spPr bwMode="auto">
              <a:xfrm>
                <a:off x="6011147" y="4575640"/>
                <a:ext cx="1136650" cy="184652"/>
              </a:xfrm>
              <a:prstGeom prst="rect">
                <a:avLst/>
              </a:prstGeom>
              <a:noFill/>
              <a:ln w="9525">
                <a:noFill/>
                <a:miter lim="800000"/>
                <a:headEnd/>
                <a:tailEnd/>
              </a:ln>
            </p:spPr>
            <p:txBody>
              <a:bodyPr lIns="0" tIns="0" rIns="0" bIns="0">
                <a:spAutoFit/>
              </a:bodyPr>
              <a:lstStyle/>
              <a:p>
                <a:pPr>
                  <a:buClr>
                    <a:srgbClr val="FFD200"/>
                  </a:buClr>
                  <a:buSzPct val="75000"/>
                  <a:tabLst>
                    <a:tab pos="400050" algn="l"/>
                  </a:tabLst>
                </a:pPr>
                <a:r>
                  <a:rPr lang="en-US" sz="1200" dirty="0">
                    <a:latin typeface="EYInterstate" pitchFamily="2" charset="0"/>
                  </a:rPr>
                  <a:t>Glossary </a:t>
                </a:r>
              </a:p>
            </p:txBody>
          </p:sp>
        </p:grpSp>
        <p:pic>
          <p:nvPicPr>
            <p:cNvPr id="62" name="Picture 4" descr="investment"/>
            <p:cNvPicPr>
              <a:picLocks noChangeArrowheads="1"/>
            </p:cNvPicPr>
            <p:nvPr/>
          </p:nvPicPr>
          <p:blipFill>
            <a:blip r:embed="rId2" cstate="print"/>
            <a:srcRect/>
            <a:stretch>
              <a:fillRect/>
            </a:stretch>
          </p:blipFill>
          <p:spPr bwMode="auto">
            <a:xfrm>
              <a:off x="4588908" y="2005600"/>
              <a:ext cx="1183132" cy="1399032"/>
            </a:xfrm>
            <a:prstGeom prst="rect">
              <a:avLst/>
            </a:prstGeom>
            <a:noFill/>
          </p:spPr>
        </p:pic>
        <p:pic>
          <p:nvPicPr>
            <p:cNvPr id="63" name="Picture 29" descr="14H02278_RF.jpg"/>
            <p:cNvPicPr>
              <a:picLocks noChangeAspect="1"/>
            </p:cNvPicPr>
            <p:nvPr/>
          </p:nvPicPr>
          <p:blipFill>
            <a:blip r:embed="rId3" cstate="print"/>
            <a:srcRect b="29448"/>
            <a:stretch>
              <a:fillRect/>
            </a:stretch>
          </p:blipFill>
          <p:spPr bwMode="auto">
            <a:xfrm>
              <a:off x="3375858" y="3432064"/>
              <a:ext cx="1182848" cy="1401763"/>
            </a:xfrm>
            <a:prstGeom prst="rect">
              <a:avLst/>
            </a:prstGeom>
            <a:noFill/>
            <a:ln w="9525">
              <a:noFill/>
              <a:miter lim="800000"/>
              <a:headEnd/>
              <a:tailEnd/>
            </a:ln>
          </p:spPr>
        </p:pic>
        <p:grpSp>
          <p:nvGrpSpPr>
            <p:cNvPr id="70" name="Group 44"/>
            <p:cNvGrpSpPr/>
            <p:nvPr/>
          </p:nvGrpSpPr>
          <p:grpSpPr>
            <a:xfrm>
              <a:off x="914400" y="1993408"/>
              <a:ext cx="1185681" cy="1479901"/>
              <a:chOff x="402336" y="1993408"/>
              <a:chExt cx="1185681" cy="1479901"/>
            </a:xfrm>
          </p:grpSpPr>
          <p:sp>
            <p:nvSpPr>
              <p:cNvPr id="93" name="Rectangle 92"/>
              <p:cNvSpPr/>
              <p:nvPr/>
            </p:nvSpPr>
            <p:spPr>
              <a:xfrm>
                <a:off x="402336" y="1993408"/>
                <a:ext cx="1185681" cy="140176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94" name="Rectangle 9"/>
              <p:cNvSpPr/>
              <p:nvPr/>
            </p:nvSpPr>
            <p:spPr>
              <a:xfrm>
                <a:off x="414915" y="2734645"/>
                <a:ext cx="407976"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a:solidFill>
                      <a:schemeClr val="bg1"/>
                    </a:solidFill>
                    <a:latin typeface="EYInterstate Light" pitchFamily="2" charset="0"/>
                  </a:rPr>
                  <a:t>1.</a:t>
                </a:r>
              </a:p>
            </p:txBody>
          </p:sp>
          <p:sp>
            <p:nvSpPr>
              <p:cNvPr id="95" name="Isosceles Triangle 10"/>
              <p:cNvSpPr/>
              <p:nvPr/>
            </p:nvSpPr>
            <p:spPr>
              <a:xfrm rot="10800000">
                <a:off x="1427830" y="3303477"/>
                <a:ext cx="144492"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96" name="Rectangle 20"/>
              <p:cNvSpPr>
                <a:spLocks noChangeArrowheads="1"/>
              </p:cNvSpPr>
              <p:nvPr/>
            </p:nvSpPr>
            <p:spPr bwMode="auto">
              <a:xfrm>
                <a:off x="429534" y="2022110"/>
                <a:ext cx="1014275" cy="553998"/>
              </a:xfrm>
              <a:prstGeom prst="rect">
                <a:avLst/>
              </a:prstGeom>
              <a:noFill/>
              <a:ln w="9525">
                <a:noFill/>
                <a:miter lim="800000"/>
                <a:headEnd/>
                <a:tailEnd/>
              </a:ln>
            </p:spPr>
            <p:txBody>
              <a:bodyPr lIns="0" tIns="0" rIns="0" bIns="0">
                <a:spAutoFit/>
              </a:bodyPr>
              <a:lstStyle/>
              <a:p>
                <a:pPr>
                  <a:buClr>
                    <a:srgbClr val="FFD200"/>
                  </a:buClr>
                  <a:buSzPct val="75000"/>
                  <a:buFont typeface="Arial" pitchFamily="34" charset="0"/>
                  <a:buNone/>
                  <a:tabLst>
                    <a:tab pos="400050" algn="l"/>
                  </a:tabLst>
                </a:pPr>
                <a:r>
                  <a:rPr lang="en-US" sz="1200" dirty="0">
                    <a:latin typeface="EYInterstate" pitchFamily="2" charset="0"/>
                  </a:rPr>
                  <a:t>Introduction to Roaming</a:t>
                </a:r>
              </a:p>
              <a:p>
                <a:pPr>
                  <a:buClr>
                    <a:srgbClr val="FFD200"/>
                  </a:buClr>
                  <a:buSzPct val="75000"/>
                  <a:buFont typeface="Arial" pitchFamily="34" charset="0"/>
                  <a:buNone/>
                  <a:tabLst>
                    <a:tab pos="400050" algn="l"/>
                  </a:tabLst>
                </a:pPr>
                <a:endParaRPr lang="en-US" sz="1200" dirty="0">
                  <a:solidFill>
                    <a:srgbClr val="000000"/>
                  </a:solidFill>
                  <a:latin typeface="EYInterstate Light" pitchFamily="2" charset="0"/>
                </a:endParaRPr>
              </a:p>
            </p:txBody>
          </p:sp>
        </p:grpSp>
        <p:sp>
          <p:nvSpPr>
            <p:cNvPr id="73" name="Isosceles Triangle 72"/>
            <p:cNvSpPr/>
            <p:nvPr/>
          </p:nvSpPr>
          <p:spPr bwMode="auto">
            <a:xfrm>
              <a:off x="3154587" y="3474673"/>
              <a:ext cx="145908"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74" name="Isosceles Triangle 73"/>
            <p:cNvSpPr/>
            <p:nvPr/>
          </p:nvSpPr>
          <p:spPr>
            <a:xfrm rot="10800000">
              <a:off x="4373700" y="3297381"/>
              <a:ext cx="144492"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75" name="Isosceles Triangle 74"/>
            <p:cNvSpPr/>
            <p:nvPr/>
          </p:nvSpPr>
          <p:spPr bwMode="auto">
            <a:xfrm>
              <a:off x="5607093" y="3486928"/>
              <a:ext cx="145908"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76" name="Isosceles Triangle 75"/>
            <p:cNvSpPr/>
            <p:nvPr/>
          </p:nvSpPr>
          <p:spPr>
            <a:xfrm rot="10800000">
              <a:off x="6824279" y="3315669"/>
              <a:ext cx="144492"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82" name="Isosceles Triangle 81"/>
            <p:cNvSpPr/>
            <p:nvPr/>
          </p:nvSpPr>
          <p:spPr bwMode="auto">
            <a:xfrm>
              <a:off x="8027753" y="3493024"/>
              <a:ext cx="145908"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84" name="Rectangle 83"/>
            <p:cNvSpPr/>
            <p:nvPr/>
          </p:nvSpPr>
          <p:spPr>
            <a:xfrm>
              <a:off x="3364979" y="2752933"/>
              <a:ext cx="407976"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a:solidFill>
                    <a:schemeClr val="bg1"/>
                  </a:solidFill>
                  <a:latin typeface="EYInterstate Light" pitchFamily="2" charset="0"/>
                </a:rPr>
                <a:t>3.</a:t>
              </a:r>
            </a:p>
          </p:txBody>
        </p:sp>
        <p:sp>
          <p:nvSpPr>
            <p:cNvPr id="85" name="Rectangle 84"/>
            <p:cNvSpPr/>
            <p:nvPr/>
          </p:nvSpPr>
          <p:spPr>
            <a:xfrm>
              <a:off x="5801958" y="2769765"/>
              <a:ext cx="407976"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a:solidFill>
                    <a:schemeClr val="bg1"/>
                  </a:solidFill>
                  <a:latin typeface="EYInterstate Light" pitchFamily="2" charset="0"/>
                </a:rPr>
                <a:t>5.</a:t>
              </a:r>
            </a:p>
          </p:txBody>
        </p:sp>
        <p:sp>
          <p:nvSpPr>
            <p:cNvPr id="86" name="Rectangle 85"/>
            <p:cNvSpPr/>
            <p:nvPr/>
          </p:nvSpPr>
          <p:spPr>
            <a:xfrm>
              <a:off x="2154648" y="3453400"/>
              <a:ext cx="407976"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a:solidFill>
                    <a:schemeClr val="bg1"/>
                  </a:solidFill>
                  <a:latin typeface="EYInterstate Light" pitchFamily="2" charset="0"/>
                </a:rPr>
                <a:t>2.</a:t>
              </a:r>
            </a:p>
          </p:txBody>
        </p:sp>
        <p:sp>
          <p:nvSpPr>
            <p:cNvPr id="87" name="Rectangle 86"/>
            <p:cNvSpPr/>
            <p:nvPr/>
          </p:nvSpPr>
          <p:spPr>
            <a:xfrm>
              <a:off x="4632425" y="3450352"/>
              <a:ext cx="407976"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a:solidFill>
                    <a:schemeClr val="bg1"/>
                  </a:solidFill>
                  <a:latin typeface="EYInterstate Light" pitchFamily="2" charset="0"/>
                </a:rPr>
                <a:t>4.</a:t>
              </a:r>
            </a:p>
          </p:txBody>
        </p:sp>
        <p:sp>
          <p:nvSpPr>
            <p:cNvPr id="88" name="Rectangle 87"/>
            <p:cNvSpPr/>
            <p:nvPr/>
          </p:nvSpPr>
          <p:spPr>
            <a:xfrm>
              <a:off x="7063965" y="3461496"/>
              <a:ext cx="407976"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a:solidFill>
                    <a:schemeClr val="bg1"/>
                  </a:solidFill>
                  <a:latin typeface="EYInterstate Light" pitchFamily="2" charset="0"/>
                </a:rPr>
                <a:t>6. </a:t>
              </a:r>
            </a:p>
          </p:txBody>
        </p:sp>
        <p:pic>
          <p:nvPicPr>
            <p:cNvPr id="89" name="Picture 1" descr="C:\TechM Warehouse\Data 1\Useful Presentations\Useful Pics\Cong 1.jpg"/>
            <p:cNvPicPr>
              <a:picLocks noChangeArrowheads="1"/>
            </p:cNvPicPr>
            <p:nvPr/>
          </p:nvPicPr>
          <p:blipFill>
            <a:blip r:embed="rId4" cstate="print"/>
            <a:srcRect/>
            <a:stretch>
              <a:fillRect/>
            </a:stretch>
          </p:blipFill>
          <p:spPr bwMode="auto">
            <a:xfrm>
              <a:off x="919718" y="3429016"/>
              <a:ext cx="1183132" cy="1399032"/>
            </a:xfrm>
            <a:prstGeom prst="rect">
              <a:avLst/>
            </a:prstGeom>
            <a:noFill/>
          </p:spPr>
        </p:pic>
        <p:pic>
          <p:nvPicPr>
            <p:cNvPr id="90" name="Picture 3"/>
            <p:cNvPicPr>
              <a:picLocks noChangeArrowheads="1"/>
            </p:cNvPicPr>
            <p:nvPr/>
          </p:nvPicPr>
          <p:blipFill>
            <a:blip r:embed="rId5" cstate="print"/>
            <a:srcRect/>
            <a:stretch>
              <a:fillRect/>
            </a:stretch>
          </p:blipFill>
          <p:spPr bwMode="auto">
            <a:xfrm>
              <a:off x="2145675" y="1994864"/>
              <a:ext cx="1183132" cy="1399032"/>
            </a:xfrm>
            <a:prstGeom prst="rect">
              <a:avLst/>
            </a:prstGeom>
            <a:noFill/>
            <a:ln w="9525">
              <a:noFill/>
              <a:miter lim="800000"/>
              <a:headEnd/>
              <a:tailEnd/>
            </a:ln>
            <a:effectLst/>
          </p:spPr>
        </p:pic>
        <p:pic>
          <p:nvPicPr>
            <p:cNvPr id="91" name="Picture 4"/>
            <p:cNvPicPr>
              <a:picLocks noChangeArrowheads="1"/>
            </p:cNvPicPr>
            <p:nvPr/>
          </p:nvPicPr>
          <p:blipFill>
            <a:blip r:embed="rId6" cstate="print"/>
            <a:srcRect/>
            <a:stretch>
              <a:fillRect/>
            </a:stretch>
          </p:blipFill>
          <p:spPr bwMode="auto">
            <a:xfrm>
              <a:off x="5810360" y="3444936"/>
              <a:ext cx="1183132" cy="1399032"/>
            </a:xfrm>
            <a:prstGeom prst="rect">
              <a:avLst/>
            </a:prstGeom>
            <a:noFill/>
            <a:ln w="9525">
              <a:noFill/>
              <a:miter lim="800000"/>
              <a:headEnd/>
              <a:tailEnd/>
            </a:ln>
            <a:effectLst/>
          </p:spPr>
        </p:pic>
        <p:pic>
          <p:nvPicPr>
            <p:cNvPr id="92" name="Picture 5"/>
            <p:cNvPicPr>
              <a:picLocks noChangeArrowheads="1"/>
            </p:cNvPicPr>
            <p:nvPr/>
          </p:nvPicPr>
          <p:blipFill>
            <a:blip r:embed="rId7" cstate="print"/>
            <a:srcRect/>
            <a:stretch>
              <a:fillRect/>
            </a:stretch>
          </p:blipFill>
          <p:spPr bwMode="auto">
            <a:xfrm>
              <a:off x="7046468" y="2013039"/>
              <a:ext cx="1183132" cy="1399032"/>
            </a:xfrm>
            <a:prstGeom prst="rect">
              <a:avLst/>
            </a:prstGeom>
            <a:noFill/>
            <a:ln w="9525">
              <a:noFill/>
              <a:miter lim="800000"/>
              <a:headEnd/>
              <a:tailEnd/>
            </a:ln>
            <a:effectLst/>
          </p:spPr>
        </p:pic>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Intra Circle Roaming</a:t>
            </a:r>
          </a:p>
        </p:txBody>
      </p:sp>
      <p:sp>
        <p:nvSpPr>
          <p:cNvPr id="4" name="Rectangle 3"/>
          <p:cNvSpPr/>
          <p:nvPr/>
        </p:nvSpPr>
        <p:spPr>
          <a:xfrm>
            <a:off x="457200" y="1219200"/>
            <a:ext cx="8229600" cy="1188720"/>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buClr>
                <a:srgbClr val="FFC000"/>
              </a:buClr>
            </a:pPr>
            <a:r>
              <a:rPr lang="en-US" sz="1200" b="1" dirty="0">
                <a:solidFill>
                  <a:schemeClr val="tx1">
                    <a:lumMod val="50000"/>
                  </a:schemeClr>
                </a:solidFill>
                <a:latin typeface="EYInterstate" pitchFamily="2" charset="0"/>
              </a:rPr>
              <a:t>What is Intra Circle Roaming?</a:t>
            </a:r>
          </a:p>
          <a:p>
            <a:pPr marL="231775" indent="-177800">
              <a:buClr>
                <a:srgbClr val="FFC000"/>
              </a:buClr>
              <a:buFont typeface="Arial" pitchFamily="34" charset="0"/>
              <a:buChar char="►"/>
            </a:pPr>
            <a:r>
              <a:rPr lang="en-US" sz="1050" dirty="0">
                <a:solidFill>
                  <a:schemeClr val="tx1">
                    <a:lumMod val="50000"/>
                  </a:schemeClr>
                </a:solidFill>
                <a:latin typeface="EYInterstate" pitchFamily="2" charset="0"/>
              </a:rPr>
              <a:t>Roaming within circle which enable operators enter into roaming pacts with other </a:t>
            </a:r>
            <a:r>
              <a:rPr lang="en-US" sz="1050" b="1" dirty="0">
                <a:solidFill>
                  <a:schemeClr val="tx1">
                    <a:lumMod val="50000"/>
                  </a:schemeClr>
                </a:solidFill>
                <a:latin typeface="EYInterstate" pitchFamily="2" charset="0"/>
              </a:rPr>
              <a:t>operators in the same circle </a:t>
            </a:r>
            <a:r>
              <a:rPr lang="en-US" sz="1050" dirty="0">
                <a:solidFill>
                  <a:schemeClr val="tx1">
                    <a:lumMod val="50000"/>
                  </a:schemeClr>
                </a:solidFill>
                <a:latin typeface="EYInterstate" pitchFamily="2" charset="0"/>
              </a:rPr>
              <a:t>to offer subscribers seamless connectivity in areas yet to be covered by its own network, while it cobbles together the necessary infrastructure</a:t>
            </a:r>
          </a:p>
          <a:p>
            <a:pPr marL="688975" lvl="2" indent="-177800">
              <a:buClr>
                <a:srgbClr val="FFC000"/>
              </a:buClr>
              <a:buFont typeface="Arial" pitchFamily="34" charset="0"/>
              <a:buChar char="►"/>
            </a:pPr>
            <a:r>
              <a:rPr lang="en-US" sz="1050" dirty="0">
                <a:solidFill>
                  <a:schemeClr val="tx1">
                    <a:lumMod val="50000"/>
                  </a:schemeClr>
                </a:solidFill>
                <a:latin typeface="EYInterstate" pitchFamily="2" charset="0"/>
              </a:rPr>
              <a:t>Benefit subscribers of regional players who are now expanding on a pan-India basis, but are unable to roll out networks covering the entire circle fast enough</a:t>
            </a:r>
          </a:p>
          <a:p>
            <a:pPr marL="688975" lvl="2" indent="-177800">
              <a:buClr>
                <a:srgbClr val="FFC000"/>
              </a:buClr>
              <a:buFont typeface="Arial" pitchFamily="34" charset="0"/>
              <a:buChar char="►"/>
            </a:pPr>
            <a:r>
              <a:rPr lang="en-US" sz="1050" dirty="0">
                <a:solidFill>
                  <a:schemeClr val="tx1">
                    <a:lumMod val="50000"/>
                  </a:schemeClr>
                </a:solidFill>
                <a:latin typeface="EYInterstate" pitchFamily="2" charset="0"/>
              </a:rPr>
              <a:t>For existing operators, it would open up a new revenue channel</a:t>
            </a:r>
          </a:p>
        </p:txBody>
      </p:sp>
      <p:sp>
        <p:nvSpPr>
          <p:cNvPr id="6" name="Content Placeholder 4"/>
          <p:cNvSpPr>
            <a:spLocks noGrp="1"/>
          </p:cNvSpPr>
          <p:nvPr>
            <p:ph idx="1"/>
          </p:nvPr>
        </p:nvSpPr>
        <p:spPr>
          <a:xfrm>
            <a:off x="455613" y="2514600"/>
            <a:ext cx="8229600" cy="365760"/>
          </a:xfrm>
          <a:solidFill>
            <a:schemeClr val="bg1">
              <a:lumMod val="65000"/>
            </a:schemeClr>
          </a:solidFill>
        </p:spPr>
        <p:txBody>
          <a:bodyPr/>
          <a:lstStyle/>
          <a:p>
            <a:pPr indent="-182563"/>
            <a:r>
              <a:rPr lang="en-US" sz="1050" dirty="0">
                <a:solidFill>
                  <a:schemeClr val="bg1"/>
                </a:solidFill>
                <a:latin typeface="EYInterstate" pitchFamily="2" charset="0"/>
              </a:rPr>
              <a:t>ICR could be one way and both way. One way ICR means that only one operator will roam into the other’s network. In both way ICR, both the operator will use each other network.</a:t>
            </a:r>
          </a:p>
        </p:txBody>
      </p:sp>
      <p:sp>
        <p:nvSpPr>
          <p:cNvPr id="7" name="Rectangle 6"/>
          <p:cNvSpPr/>
          <p:nvPr/>
        </p:nvSpPr>
        <p:spPr>
          <a:xfrm>
            <a:off x="457200" y="2971800"/>
            <a:ext cx="8229600" cy="822960"/>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231775" indent="-177800">
              <a:buClr>
                <a:srgbClr val="FFC000"/>
              </a:buClr>
              <a:buFont typeface="Arial" pitchFamily="34" charset="0"/>
              <a:buChar char="►"/>
            </a:pPr>
            <a:r>
              <a:rPr lang="en-US" sz="1050" dirty="0">
                <a:solidFill>
                  <a:schemeClr val="tx1">
                    <a:lumMod val="50000"/>
                  </a:schemeClr>
                </a:solidFill>
                <a:latin typeface="EYInterstate" pitchFamily="2" charset="0"/>
              </a:rPr>
              <a:t>In today’s scenario where network layout costs are rising exponentially (owing to increased spectrum and license rates), more and more operators are going in for the ICR approach to provide services in areas where their own network is absent. This reduces the headache of laying one’s own network and leads to a drastic reduction in CAPEX.</a:t>
            </a:r>
          </a:p>
        </p:txBody>
      </p:sp>
      <p:grpSp>
        <p:nvGrpSpPr>
          <p:cNvPr id="8" name="Group 7"/>
          <p:cNvGrpSpPr/>
          <p:nvPr/>
        </p:nvGrpSpPr>
        <p:grpSpPr>
          <a:xfrm>
            <a:off x="457200" y="3886200"/>
            <a:ext cx="8229600" cy="2103120"/>
            <a:chOff x="304800" y="1295400"/>
            <a:chExt cx="8458200" cy="2849880"/>
          </a:xfrm>
        </p:grpSpPr>
        <p:sp>
          <p:nvSpPr>
            <p:cNvPr id="9" name="Rectangle 8"/>
            <p:cNvSpPr/>
            <p:nvPr/>
          </p:nvSpPr>
          <p:spPr>
            <a:xfrm>
              <a:off x="2270760" y="1295400"/>
              <a:ext cx="6492240" cy="822960"/>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Clr>
                  <a:srgbClr val="FFC000"/>
                </a:buClr>
                <a:buFont typeface="Arial" pitchFamily="34" charset="0"/>
                <a:buChar char="►"/>
              </a:pPr>
              <a:r>
                <a:rPr lang="en-US" sz="1050" dirty="0">
                  <a:solidFill>
                    <a:schemeClr val="tx1">
                      <a:lumMod val="50000"/>
                    </a:schemeClr>
                  </a:solidFill>
                </a:rPr>
                <a:t>Each </a:t>
              </a:r>
              <a:r>
                <a:rPr lang="en-US" sz="1050" dirty="0" err="1">
                  <a:solidFill>
                    <a:schemeClr val="tx1">
                      <a:lumMod val="50000"/>
                    </a:schemeClr>
                  </a:solidFill>
                </a:rPr>
                <a:t>Sim</a:t>
              </a:r>
              <a:r>
                <a:rPr lang="en-US" sz="1050" dirty="0">
                  <a:solidFill>
                    <a:schemeClr val="tx1">
                      <a:lumMod val="50000"/>
                    </a:schemeClr>
                  </a:solidFill>
                </a:rPr>
                <a:t> to have default HPLMN</a:t>
              </a:r>
            </a:p>
            <a:p>
              <a:pPr>
                <a:buClr>
                  <a:srgbClr val="FFC000"/>
                </a:buClr>
                <a:buFont typeface="Arial" pitchFamily="34" charset="0"/>
                <a:buChar char="►"/>
              </a:pPr>
              <a:r>
                <a:rPr lang="en-US" sz="1050" dirty="0">
                  <a:solidFill>
                    <a:schemeClr val="tx1">
                      <a:lumMod val="50000"/>
                    </a:schemeClr>
                  </a:solidFill>
                </a:rPr>
                <a:t>Preferred roaming partner to be defined by home operator </a:t>
              </a:r>
            </a:p>
            <a:p>
              <a:pPr>
                <a:buClr>
                  <a:srgbClr val="FFC000"/>
                </a:buClr>
                <a:buFont typeface="Arial" pitchFamily="34" charset="0"/>
                <a:buChar char="►"/>
              </a:pPr>
              <a:r>
                <a:rPr lang="en-US" sz="1050" dirty="0">
                  <a:solidFill>
                    <a:schemeClr val="tx1">
                      <a:lumMod val="50000"/>
                    </a:schemeClr>
                  </a:solidFill>
                </a:rPr>
                <a:t> SIM latched to other operator looks for HPLMN every 20mt </a:t>
              </a:r>
            </a:p>
          </p:txBody>
        </p:sp>
        <p:sp>
          <p:nvSpPr>
            <p:cNvPr id="10" name="Pentagon 9"/>
            <p:cNvSpPr/>
            <p:nvPr/>
          </p:nvSpPr>
          <p:spPr>
            <a:xfrm>
              <a:off x="304800" y="1295400"/>
              <a:ext cx="1828800" cy="822960"/>
            </a:xfrm>
            <a:prstGeom prst="homePlate">
              <a:avLst/>
            </a:prstGeom>
            <a:solidFill>
              <a:schemeClr val="accent2"/>
            </a:solidFill>
            <a:ln>
              <a:solidFill>
                <a:srgbClr val="FFD2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lumMod val="50000"/>
                    </a:schemeClr>
                  </a:solidFill>
                </a:rPr>
                <a:t>Roaming Network Changes</a:t>
              </a:r>
            </a:p>
          </p:txBody>
        </p:sp>
        <p:sp>
          <p:nvSpPr>
            <p:cNvPr id="11" name="Rectangle 10"/>
            <p:cNvSpPr/>
            <p:nvPr/>
          </p:nvSpPr>
          <p:spPr>
            <a:xfrm>
              <a:off x="2270760" y="2209800"/>
              <a:ext cx="6492240" cy="1005840"/>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7800" indent="-177800">
                <a:buClr>
                  <a:srgbClr val="FFC000"/>
                </a:buClr>
                <a:buFont typeface="Arial" pitchFamily="34" charset="0"/>
                <a:buChar char="►"/>
              </a:pPr>
              <a:r>
                <a:rPr lang="en-US" sz="1050" dirty="0">
                  <a:solidFill>
                    <a:schemeClr val="tx1">
                      <a:lumMod val="50000"/>
                    </a:schemeClr>
                  </a:solidFill>
                </a:rPr>
                <a:t>Roaming operator to convert CDRs in TAP 3.11 format and handover to DCH operator for processing  (Operators can also exchange CDR directly between themselves without using DCH)</a:t>
              </a:r>
            </a:p>
            <a:p>
              <a:pPr marL="177800" indent="-177800">
                <a:buClr>
                  <a:srgbClr val="FFC000"/>
                </a:buClr>
                <a:buFont typeface="Arial" pitchFamily="34" charset="0"/>
                <a:buChar char="►"/>
              </a:pPr>
              <a:r>
                <a:rPr lang="en-US" sz="1050" dirty="0">
                  <a:solidFill>
                    <a:schemeClr val="tx1">
                      <a:lumMod val="50000"/>
                    </a:schemeClr>
                  </a:solidFill>
                </a:rPr>
                <a:t> Both operators to support NRTRDE (Near Real Time Roaming Data Exchange) to avoid frauds</a:t>
              </a:r>
            </a:p>
          </p:txBody>
        </p:sp>
        <p:sp>
          <p:nvSpPr>
            <p:cNvPr id="12" name="Pentagon 11"/>
            <p:cNvSpPr/>
            <p:nvPr/>
          </p:nvSpPr>
          <p:spPr>
            <a:xfrm>
              <a:off x="304800" y="2209800"/>
              <a:ext cx="1828800" cy="1005840"/>
            </a:xfrm>
            <a:prstGeom prst="homePlate">
              <a:avLst/>
            </a:prstGeom>
            <a:solidFill>
              <a:schemeClr val="accent2"/>
            </a:solidFill>
            <a:ln>
              <a:solidFill>
                <a:srgbClr val="FFD2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lumMod val="50000"/>
                    </a:schemeClr>
                  </a:solidFill>
                </a:rPr>
                <a:t>Data Clearing House</a:t>
              </a:r>
            </a:p>
          </p:txBody>
        </p:sp>
        <p:sp>
          <p:nvSpPr>
            <p:cNvPr id="13" name="Rectangle 12"/>
            <p:cNvSpPr/>
            <p:nvPr/>
          </p:nvSpPr>
          <p:spPr>
            <a:xfrm>
              <a:off x="2270760" y="3322320"/>
              <a:ext cx="6492240" cy="822960"/>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7800" indent="-177800">
                <a:buClr>
                  <a:srgbClr val="FFC000"/>
                </a:buClr>
                <a:buFont typeface="Arial" pitchFamily="34" charset="0"/>
                <a:buChar char="►"/>
              </a:pPr>
              <a:r>
                <a:rPr lang="en-US" sz="1050" dirty="0">
                  <a:solidFill>
                    <a:schemeClr val="tx1">
                      <a:lumMod val="50000"/>
                    </a:schemeClr>
                  </a:solidFill>
                </a:rPr>
                <a:t>All calls to customer care to be routed back to home operator Roaming operator to convert short codes into long and handover</a:t>
              </a:r>
            </a:p>
          </p:txBody>
        </p:sp>
        <p:sp>
          <p:nvSpPr>
            <p:cNvPr id="14" name="Pentagon 13"/>
            <p:cNvSpPr/>
            <p:nvPr/>
          </p:nvSpPr>
          <p:spPr>
            <a:xfrm>
              <a:off x="304800" y="3322320"/>
              <a:ext cx="1828800" cy="822960"/>
            </a:xfrm>
            <a:prstGeom prst="homePlate">
              <a:avLst/>
            </a:prstGeom>
            <a:solidFill>
              <a:schemeClr val="accent2"/>
            </a:solidFill>
            <a:ln>
              <a:solidFill>
                <a:srgbClr val="FFD2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lumMod val="50000"/>
                    </a:schemeClr>
                  </a:solidFill>
                </a:rPr>
                <a:t>Customer Care</a:t>
              </a: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ounded Rectangle 30"/>
          <p:cNvSpPr/>
          <p:nvPr/>
        </p:nvSpPr>
        <p:spPr>
          <a:xfrm>
            <a:off x="685800" y="2590800"/>
            <a:ext cx="7315200" cy="3505200"/>
          </a:xfrm>
          <a:prstGeom prst="round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dirty="0"/>
              <a:t>Intra Circle Roaming….implementation approach</a:t>
            </a:r>
          </a:p>
        </p:txBody>
      </p:sp>
      <p:grpSp>
        <p:nvGrpSpPr>
          <p:cNvPr id="41" name="Group 3"/>
          <p:cNvGrpSpPr>
            <a:grpSpLocks noChangeAspect="1"/>
          </p:cNvGrpSpPr>
          <p:nvPr/>
        </p:nvGrpSpPr>
        <p:grpSpPr bwMode="auto">
          <a:xfrm>
            <a:off x="1219200" y="3223651"/>
            <a:ext cx="6217920" cy="2872349"/>
            <a:chOff x="2640" y="6183"/>
            <a:chExt cx="8280" cy="5400"/>
          </a:xfrm>
        </p:grpSpPr>
        <p:sp>
          <p:nvSpPr>
            <p:cNvPr id="42" name="AutoShape 4"/>
            <p:cNvSpPr>
              <a:spLocks noChangeAspect="1" noChangeArrowheads="1"/>
            </p:cNvSpPr>
            <p:nvPr/>
          </p:nvSpPr>
          <p:spPr bwMode="auto">
            <a:xfrm>
              <a:off x="2640" y="6183"/>
              <a:ext cx="8280" cy="5400"/>
            </a:xfrm>
            <a:prstGeom prst="rect">
              <a:avLst/>
            </a:prstGeom>
            <a:noFill/>
            <a:ln w="9525">
              <a:noFill/>
              <a:miter lim="800000"/>
              <a:headEnd/>
              <a:tailEnd/>
            </a:ln>
          </p:spPr>
          <p:txBody>
            <a:bodyPr/>
            <a:lstStyle/>
            <a:p>
              <a:pPr>
                <a:spcBef>
                  <a:spcPct val="0"/>
                </a:spcBef>
                <a:buClrTx/>
                <a:buSzTx/>
                <a:buFontTx/>
                <a:buNone/>
              </a:pPr>
              <a:endParaRPr lang="en-US">
                <a:latin typeface="+mj-lt"/>
              </a:endParaRPr>
            </a:p>
          </p:txBody>
        </p:sp>
        <p:sp>
          <p:nvSpPr>
            <p:cNvPr id="43" name="Rectangle 5"/>
            <p:cNvSpPr>
              <a:spLocks noChangeArrowheads="1"/>
            </p:cNvSpPr>
            <p:nvPr/>
          </p:nvSpPr>
          <p:spPr bwMode="auto">
            <a:xfrm>
              <a:off x="6780" y="6723"/>
              <a:ext cx="3780" cy="4500"/>
            </a:xfrm>
            <a:prstGeom prst="rect">
              <a:avLst/>
            </a:prstGeom>
            <a:solidFill>
              <a:srgbClr val="FFFFFF"/>
            </a:solidFill>
            <a:ln w="9525">
              <a:solidFill>
                <a:srgbClr val="000000"/>
              </a:solidFill>
              <a:prstDash val="dash"/>
              <a:miter lim="800000"/>
              <a:headEnd/>
              <a:tailEnd/>
            </a:ln>
          </p:spPr>
          <p:txBody>
            <a:bodyPr/>
            <a:lstStyle/>
            <a:p>
              <a:pPr>
                <a:spcBef>
                  <a:spcPct val="0"/>
                </a:spcBef>
                <a:buClrTx/>
                <a:buSzTx/>
                <a:buFontTx/>
                <a:buNone/>
              </a:pPr>
              <a:endParaRPr lang="en-US">
                <a:latin typeface="+mj-lt"/>
              </a:endParaRPr>
            </a:p>
          </p:txBody>
        </p:sp>
        <p:sp>
          <p:nvSpPr>
            <p:cNvPr id="44" name="Rectangle 6"/>
            <p:cNvSpPr>
              <a:spLocks noChangeArrowheads="1"/>
            </p:cNvSpPr>
            <p:nvPr/>
          </p:nvSpPr>
          <p:spPr bwMode="auto">
            <a:xfrm>
              <a:off x="2821" y="6723"/>
              <a:ext cx="3419" cy="4500"/>
            </a:xfrm>
            <a:prstGeom prst="rect">
              <a:avLst/>
            </a:prstGeom>
            <a:solidFill>
              <a:srgbClr val="FFFFFF"/>
            </a:solidFill>
            <a:ln w="9525">
              <a:solidFill>
                <a:srgbClr val="000000"/>
              </a:solidFill>
              <a:prstDash val="dash"/>
              <a:miter lim="800000"/>
              <a:headEnd/>
              <a:tailEnd/>
            </a:ln>
          </p:spPr>
          <p:txBody>
            <a:bodyPr/>
            <a:lstStyle/>
            <a:p>
              <a:pPr>
                <a:spcBef>
                  <a:spcPct val="0"/>
                </a:spcBef>
                <a:buClrTx/>
                <a:buSzTx/>
                <a:buFontTx/>
                <a:buNone/>
              </a:pPr>
              <a:endParaRPr lang="en-US">
                <a:latin typeface="+mj-lt"/>
              </a:endParaRPr>
            </a:p>
          </p:txBody>
        </p:sp>
        <p:sp>
          <p:nvSpPr>
            <p:cNvPr id="45" name="Rectangle 7"/>
            <p:cNvSpPr>
              <a:spLocks noChangeArrowheads="1"/>
            </p:cNvSpPr>
            <p:nvPr/>
          </p:nvSpPr>
          <p:spPr bwMode="auto">
            <a:xfrm>
              <a:off x="3000" y="7983"/>
              <a:ext cx="1260" cy="588"/>
            </a:xfrm>
            <a:prstGeom prst="rect">
              <a:avLst/>
            </a:prstGeom>
            <a:noFill/>
            <a:ln w="9525">
              <a:solidFill>
                <a:srgbClr val="000000"/>
              </a:solidFill>
              <a:miter lim="800000"/>
              <a:headEnd/>
              <a:tailEnd/>
            </a:ln>
          </p:spPr>
          <p:txBody>
            <a:bodyPr anchor="ctr"/>
            <a:lstStyle/>
            <a:p>
              <a:pPr algn="ctr">
                <a:spcBef>
                  <a:spcPct val="0"/>
                </a:spcBef>
                <a:buClrTx/>
                <a:buSzTx/>
                <a:buFontTx/>
                <a:buNone/>
              </a:pPr>
              <a:r>
                <a:rPr lang="en-US">
                  <a:solidFill>
                    <a:srgbClr val="000000"/>
                  </a:solidFill>
                  <a:latin typeface="+mj-lt"/>
                </a:rPr>
                <a:t>HLR</a:t>
              </a:r>
              <a:endParaRPr lang="en-US">
                <a:latin typeface="+mj-lt"/>
              </a:endParaRPr>
            </a:p>
          </p:txBody>
        </p:sp>
        <p:sp>
          <p:nvSpPr>
            <p:cNvPr id="46" name="Rectangle 8"/>
            <p:cNvSpPr>
              <a:spLocks noChangeArrowheads="1"/>
            </p:cNvSpPr>
            <p:nvPr/>
          </p:nvSpPr>
          <p:spPr bwMode="auto">
            <a:xfrm>
              <a:off x="3000" y="9063"/>
              <a:ext cx="1260" cy="588"/>
            </a:xfrm>
            <a:prstGeom prst="rect">
              <a:avLst/>
            </a:prstGeom>
            <a:noFill/>
            <a:ln w="9525">
              <a:solidFill>
                <a:srgbClr val="000000"/>
              </a:solidFill>
              <a:miter lim="800000"/>
              <a:headEnd/>
              <a:tailEnd/>
            </a:ln>
          </p:spPr>
          <p:txBody>
            <a:bodyPr anchor="ctr"/>
            <a:lstStyle/>
            <a:p>
              <a:pPr algn="ctr">
                <a:spcBef>
                  <a:spcPct val="0"/>
                </a:spcBef>
                <a:buClrTx/>
                <a:buSzTx/>
                <a:buFontTx/>
                <a:buNone/>
              </a:pPr>
              <a:r>
                <a:rPr lang="en-US">
                  <a:solidFill>
                    <a:srgbClr val="000000"/>
                  </a:solidFill>
                  <a:latin typeface="+mj-lt"/>
                </a:rPr>
                <a:t>MSC</a:t>
              </a:r>
              <a:endParaRPr lang="en-US">
                <a:latin typeface="+mj-lt"/>
              </a:endParaRPr>
            </a:p>
          </p:txBody>
        </p:sp>
        <p:sp>
          <p:nvSpPr>
            <p:cNvPr id="47" name="Rectangle 9"/>
            <p:cNvSpPr>
              <a:spLocks noChangeArrowheads="1"/>
            </p:cNvSpPr>
            <p:nvPr/>
          </p:nvSpPr>
          <p:spPr bwMode="auto">
            <a:xfrm>
              <a:off x="3000" y="10323"/>
              <a:ext cx="1264" cy="588"/>
            </a:xfrm>
            <a:prstGeom prst="rect">
              <a:avLst/>
            </a:prstGeom>
            <a:noFill/>
            <a:ln w="9525">
              <a:solidFill>
                <a:srgbClr val="000000"/>
              </a:solidFill>
              <a:miter lim="800000"/>
              <a:headEnd/>
              <a:tailEnd/>
            </a:ln>
          </p:spPr>
          <p:txBody>
            <a:bodyPr wrap="none" anchor="ctr"/>
            <a:lstStyle/>
            <a:p>
              <a:pPr algn="ctr">
                <a:spcBef>
                  <a:spcPct val="0"/>
                </a:spcBef>
                <a:buClrTx/>
                <a:buSzTx/>
                <a:buFontTx/>
                <a:buNone/>
              </a:pPr>
              <a:r>
                <a:rPr lang="en-US">
                  <a:solidFill>
                    <a:srgbClr val="000000"/>
                  </a:solidFill>
                  <a:latin typeface="+mj-lt"/>
                </a:rPr>
                <a:t>SMSC</a:t>
              </a:r>
              <a:endParaRPr lang="en-US">
                <a:latin typeface="+mj-lt"/>
              </a:endParaRPr>
            </a:p>
          </p:txBody>
        </p:sp>
        <p:sp>
          <p:nvSpPr>
            <p:cNvPr id="48" name="Rectangle 10"/>
            <p:cNvSpPr>
              <a:spLocks noChangeArrowheads="1"/>
            </p:cNvSpPr>
            <p:nvPr/>
          </p:nvSpPr>
          <p:spPr bwMode="auto">
            <a:xfrm>
              <a:off x="3000" y="6903"/>
              <a:ext cx="1260" cy="588"/>
            </a:xfrm>
            <a:prstGeom prst="rect">
              <a:avLst/>
            </a:prstGeom>
            <a:noFill/>
            <a:ln w="9525">
              <a:solidFill>
                <a:srgbClr val="000000"/>
              </a:solidFill>
              <a:miter lim="800000"/>
              <a:headEnd/>
              <a:tailEnd/>
            </a:ln>
          </p:spPr>
          <p:txBody>
            <a:bodyPr anchor="ctr"/>
            <a:lstStyle/>
            <a:p>
              <a:pPr algn="ctr">
                <a:spcBef>
                  <a:spcPct val="0"/>
                </a:spcBef>
                <a:buClrTx/>
                <a:buSzTx/>
                <a:buFontTx/>
                <a:buNone/>
              </a:pPr>
              <a:r>
                <a:rPr lang="en-US">
                  <a:solidFill>
                    <a:srgbClr val="000000"/>
                  </a:solidFill>
                  <a:latin typeface="+mj-lt"/>
                </a:rPr>
                <a:t>IN</a:t>
              </a:r>
              <a:endParaRPr lang="en-US">
                <a:latin typeface="+mj-lt"/>
              </a:endParaRPr>
            </a:p>
          </p:txBody>
        </p:sp>
        <p:sp>
          <p:nvSpPr>
            <p:cNvPr id="49" name="Rectangle 11"/>
            <p:cNvSpPr>
              <a:spLocks noChangeArrowheads="1"/>
            </p:cNvSpPr>
            <p:nvPr/>
          </p:nvSpPr>
          <p:spPr bwMode="auto">
            <a:xfrm>
              <a:off x="9120" y="6903"/>
              <a:ext cx="1260" cy="588"/>
            </a:xfrm>
            <a:prstGeom prst="rect">
              <a:avLst/>
            </a:prstGeom>
            <a:noFill/>
            <a:ln w="9525">
              <a:solidFill>
                <a:srgbClr val="000000"/>
              </a:solidFill>
              <a:miter lim="800000"/>
              <a:headEnd/>
              <a:tailEnd/>
            </a:ln>
          </p:spPr>
          <p:txBody>
            <a:bodyPr anchor="ctr"/>
            <a:lstStyle/>
            <a:p>
              <a:pPr algn="ctr">
                <a:spcBef>
                  <a:spcPct val="0"/>
                </a:spcBef>
                <a:buClrTx/>
                <a:buSzTx/>
                <a:buFontTx/>
                <a:buNone/>
              </a:pPr>
              <a:r>
                <a:rPr lang="en-US">
                  <a:solidFill>
                    <a:srgbClr val="000000"/>
                  </a:solidFill>
                  <a:latin typeface="+mj-lt"/>
                </a:rPr>
                <a:t>IN</a:t>
              </a:r>
              <a:endParaRPr lang="en-US">
                <a:latin typeface="+mj-lt"/>
              </a:endParaRPr>
            </a:p>
          </p:txBody>
        </p:sp>
        <p:sp>
          <p:nvSpPr>
            <p:cNvPr id="50" name="Rectangle 12"/>
            <p:cNvSpPr>
              <a:spLocks noChangeArrowheads="1"/>
            </p:cNvSpPr>
            <p:nvPr/>
          </p:nvSpPr>
          <p:spPr bwMode="auto">
            <a:xfrm>
              <a:off x="9120" y="7983"/>
              <a:ext cx="1260" cy="588"/>
            </a:xfrm>
            <a:prstGeom prst="rect">
              <a:avLst/>
            </a:prstGeom>
            <a:noFill/>
            <a:ln w="9525">
              <a:solidFill>
                <a:srgbClr val="000000"/>
              </a:solidFill>
              <a:miter lim="800000"/>
              <a:headEnd/>
              <a:tailEnd/>
            </a:ln>
          </p:spPr>
          <p:txBody>
            <a:bodyPr anchor="ctr"/>
            <a:lstStyle/>
            <a:p>
              <a:pPr algn="ctr">
                <a:spcBef>
                  <a:spcPct val="0"/>
                </a:spcBef>
                <a:buClrTx/>
                <a:buSzTx/>
                <a:buFontTx/>
                <a:buNone/>
              </a:pPr>
              <a:r>
                <a:rPr lang="en-US">
                  <a:solidFill>
                    <a:srgbClr val="000000"/>
                  </a:solidFill>
                  <a:latin typeface="+mj-lt"/>
                </a:rPr>
                <a:t>HLR</a:t>
              </a:r>
              <a:endParaRPr lang="en-US">
                <a:latin typeface="+mj-lt"/>
              </a:endParaRPr>
            </a:p>
          </p:txBody>
        </p:sp>
        <p:sp>
          <p:nvSpPr>
            <p:cNvPr id="51" name="Rectangle 13"/>
            <p:cNvSpPr>
              <a:spLocks noChangeArrowheads="1"/>
            </p:cNvSpPr>
            <p:nvPr/>
          </p:nvSpPr>
          <p:spPr bwMode="auto">
            <a:xfrm>
              <a:off x="9120" y="9063"/>
              <a:ext cx="1260" cy="588"/>
            </a:xfrm>
            <a:prstGeom prst="rect">
              <a:avLst/>
            </a:prstGeom>
            <a:noFill/>
            <a:ln w="9525">
              <a:solidFill>
                <a:srgbClr val="000000"/>
              </a:solidFill>
              <a:miter lim="800000"/>
              <a:headEnd/>
              <a:tailEnd/>
            </a:ln>
          </p:spPr>
          <p:txBody>
            <a:bodyPr anchor="ctr"/>
            <a:lstStyle/>
            <a:p>
              <a:pPr algn="ctr">
                <a:spcBef>
                  <a:spcPct val="0"/>
                </a:spcBef>
                <a:buClrTx/>
                <a:buSzTx/>
                <a:buFontTx/>
                <a:buNone/>
              </a:pPr>
              <a:r>
                <a:rPr lang="en-US">
                  <a:solidFill>
                    <a:srgbClr val="000000"/>
                  </a:solidFill>
                  <a:latin typeface="+mj-lt"/>
                </a:rPr>
                <a:t>MSC</a:t>
              </a:r>
              <a:endParaRPr lang="en-US">
                <a:latin typeface="+mj-lt"/>
              </a:endParaRPr>
            </a:p>
          </p:txBody>
        </p:sp>
        <p:sp>
          <p:nvSpPr>
            <p:cNvPr id="52" name="Rectangle 14"/>
            <p:cNvSpPr>
              <a:spLocks noChangeArrowheads="1"/>
            </p:cNvSpPr>
            <p:nvPr/>
          </p:nvSpPr>
          <p:spPr bwMode="auto">
            <a:xfrm>
              <a:off x="9120" y="10143"/>
              <a:ext cx="1264" cy="588"/>
            </a:xfrm>
            <a:prstGeom prst="rect">
              <a:avLst/>
            </a:prstGeom>
            <a:noFill/>
            <a:ln w="9525">
              <a:solidFill>
                <a:srgbClr val="000000"/>
              </a:solidFill>
              <a:miter lim="800000"/>
              <a:headEnd/>
              <a:tailEnd/>
            </a:ln>
          </p:spPr>
          <p:txBody>
            <a:bodyPr wrap="none" anchor="ctr"/>
            <a:lstStyle/>
            <a:p>
              <a:pPr algn="ctr">
                <a:spcBef>
                  <a:spcPct val="0"/>
                </a:spcBef>
                <a:buClrTx/>
                <a:buSzTx/>
                <a:buFontTx/>
                <a:buNone/>
              </a:pPr>
              <a:r>
                <a:rPr lang="en-US">
                  <a:solidFill>
                    <a:srgbClr val="000000"/>
                  </a:solidFill>
                  <a:latin typeface="+mj-lt"/>
                </a:rPr>
                <a:t>SMSC</a:t>
              </a:r>
              <a:endParaRPr lang="en-US">
                <a:latin typeface="+mj-lt"/>
              </a:endParaRPr>
            </a:p>
          </p:txBody>
        </p:sp>
        <p:sp>
          <p:nvSpPr>
            <p:cNvPr id="53" name="Rectangle 15"/>
            <p:cNvSpPr>
              <a:spLocks noChangeArrowheads="1"/>
            </p:cNvSpPr>
            <p:nvPr/>
          </p:nvSpPr>
          <p:spPr bwMode="auto">
            <a:xfrm>
              <a:off x="4800" y="8523"/>
              <a:ext cx="1260" cy="900"/>
            </a:xfrm>
            <a:prstGeom prst="rect">
              <a:avLst/>
            </a:prstGeom>
            <a:solidFill>
              <a:srgbClr val="FFFFFF"/>
            </a:solidFill>
            <a:ln w="9525">
              <a:solidFill>
                <a:srgbClr val="000000"/>
              </a:solidFill>
              <a:miter lim="800000"/>
              <a:headEnd/>
              <a:tailEnd/>
            </a:ln>
          </p:spPr>
          <p:txBody>
            <a:bodyPr/>
            <a:lstStyle/>
            <a:p>
              <a:pPr>
                <a:spcBef>
                  <a:spcPct val="0"/>
                </a:spcBef>
                <a:buClrTx/>
                <a:buSzTx/>
                <a:buFontTx/>
                <a:buNone/>
              </a:pPr>
              <a:r>
                <a:rPr lang="en-US" sz="1200" dirty="0">
                  <a:latin typeface="+mj-lt"/>
                </a:rPr>
                <a:t>Operator 1 STP</a:t>
              </a:r>
              <a:endParaRPr lang="en-US" sz="1600" dirty="0">
                <a:latin typeface="+mj-lt"/>
              </a:endParaRPr>
            </a:p>
          </p:txBody>
        </p:sp>
        <p:sp>
          <p:nvSpPr>
            <p:cNvPr id="54" name="Rectangle 16"/>
            <p:cNvSpPr>
              <a:spLocks noChangeArrowheads="1"/>
            </p:cNvSpPr>
            <p:nvPr/>
          </p:nvSpPr>
          <p:spPr bwMode="auto">
            <a:xfrm>
              <a:off x="6961" y="8523"/>
              <a:ext cx="1619" cy="900"/>
            </a:xfrm>
            <a:prstGeom prst="rect">
              <a:avLst/>
            </a:prstGeom>
            <a:solidFill>
              <a:srgbClr val="FFFFFF"/>
            </a:solidFill>
            <a:ln w="9525">
              <a:solidFill>
                <a:srgbClr val="000000"/>
              </a:solidFill>
              <a:miter lim="800000"/>
              <a:headEnd/>
              <a:tailEnd/>
            </a:ln>
          </p:spPr>
          <p:txBody>
            <a:bodyPr/>
            <a:lstStyle/>
            <a:p>
              <a:pPr>
                <a:spcBef>
                  <a:spcPct val="0"/>
                </a:spcBef>
                <a:buClrTx/>
                <a:buSzTx/>
                <a:buFontTx/>
                <a:buNone/>
              </a:pPr>
              <a:r>
                <a:rPr lang="en-US" sz="1200" dirty="0">
                  <a:latin typeface="+mj-lt"/>
                </a:rPr>
                <a:t>Operator 2 STP</a:t>
              </a:r>
              <a:endParaRPr lang="en-US" sz="1600" dirty="0">
                <a:latin typeface="+mj-lt"/>
              </a:endParaRPr>
            </a:p>
          </p:txBody>
        </p:sp>
        <p:sp>
          <p:nvSpPr>
            <p:cNvPr id="55" name="Line 17"/>
            <p:cNvSpPr>
              <a:spLocks noChangeShapeType="1"/>
            </p:cNvSpPr>
            <p:nvPr/>
          </p:nvSpPr>
          <p:spPr bwMode="auto">
            <a:xfrm>
              <a:off x="6060" y="8883"/>
              <a:ext cx="901" cy="0"/>
            </a:xfrm>
            <a:prstGeom prst="line">
              <a:avLst/>
            </a:prstGeom>
            <a:noFill/>
            <a:ln w="9525">
              <a:solidFill>
                <a:srgbClr val="000000"/>
              </a:solidFill>
              <a:round/>
              <a:headEnd/>
              <a:tailEnd/>
            </a:ln>
          </p:spPr>
          <p:txBody>
            <a:bodyPr/>
            <a:lstStyle/>
            <a:p>
              <a:endParaRPr lang="en-US">
                <a:latin typeface="+mj-lt"/>
              </a:endParaRPr>
            </a:p>
          </p:txBody>
        </p:sp>
        <p:sp>
          <p:nvSpPr>
            <p:cNvPr id="56" name="Line 18"/>
            <p:cNvSpPr>
              <a:spLocks noChangeShapeType="1"/>
            </p:cNvSpPr>
            <p:nvPr/>
          </p:nvSpPr>
          <p:spPr bwMode="auto">
            <a:xfrm flipV="1">
              <a:off x="4260" y="9063"/>
              <a:ext cx="540" cy="1440"/>
            </a:xfrm>
            <a:prstGeom prst="line">
              <a:avLst/>
            </a:prstGeom>
            <a:noFill/>
            <a:ln w="9525">
              <a:solidFill>
                <a:srgbClr val="000000"/>
              </a:solidFill>
              <a:round/>
              <a:headEnd/>
              <a:tailEnd/>
            </a:ln>
          </p:spPr>
          <p:txBody>
            <a:bodyPr/>
            <a:lstStyle/>
            <a:p>
              <a:endParaRPr lang="en-US">
                <a:latin typeface="+mj-lt"/>
              </a:endParaRPr>
            </a:p>
          </p:txBody>
        </p:sp>
        <p:sp>
          <p:nvSpPr>
            <p:cNvPr id="57" name="Line 19"/>
            <p:cNvSpPr>
              <a:spLocks noChangeShapeType="1"/>
            </p:cNvSpPr>
            <p:nvPr/>
          </p:nvSpPr>
          <p:spPr bwMode="auto">
            <a:xfrm flipV="1">
              <a:off x="4260" y="9063"/>
              <a:ext cx="540" cy="180"/>
            </a:xfrm>
            <a:prstGeom prst="line">
              <a:avLst/>
            </a:prstGeom>
            <a:noFill/>
            <a:ln w="9525">
              <a:solidFill>
                <a:srgbClr val="000000"/>
              </a:solidFill>
              <a:round/>
              <a:headEnd/>
              <a:tailEnd/>
            </a:ln>
          </p:spPr>
          <p:txBody>
            <a:bodyPr/>
            <a:lstStyle/>
            <a:p>
              <a:endParaRPr lang="en-US">
                <a:latin typeface="+mj-lt"/>
              </a:endParaRPr>
            </a:p>
          </p:txBody>
        </p:sp>
        <p:sp>
          <p:nvSpPr>
            <p:cNvPr id="58" name="Line 20"/>
            <p:cNvSpPr>
              <a:spLocks noChangeShapeType="1"/>
            </p:cNvSpPr>
            <p:nvPr/>
          </p:nvSpPr>
          <p:spPr bwMode="auto">
            <a:xfrm>
              <a:off x="4260" y="8163"/>
              <a:ext cx="540" cy="900"/>
            </a:xfrm>
            <a:prstGeom prst="line">
              <a:avLst/>
            </a:prstGeom>
            <a:noFill/>
            <a:ln w="9525">
              <a:solidFill>
                <a:srgbClr val="000000"/>
              </a:solidFill>
              <a:round/>
              <a:headEnd/>
              <a:tailEnd/>
            </a:ln>
          </p:spPr>
          <p:txBody>
            <a:bodyPr/>
            <a:lstStyle/>
            <a:p>
              <a:endParaRPr lang="en-US">
                <a:latin typeface="+mj-lt"/>
              </a:endParaRPr>
            </a:p>
          </p:txBody>
        </p:sp>
        <p:sp>
          <p:nvSpPr>
            <p:cNvPr id="59" name="Line 21"/>
            <p:cNvSpPr>
              <a:spLocks noChangeShapeType="1"/>
            </p:cNvSpPr>
            <p:nvPr/>
          </p:nvSpPr>
          <p:spPr bwMode="auto">
            <a:xfrm>
              <a:off x="4260" y="7083"/>
              <a:ext cx="540" cy="1980"/>
            </a:xfrm>
            <a:prstGeom prst="line">
              <a:avLst/>
            </a:prstGeom>
            <a:noFill/>
            <a:ln w="9525">
              <a:solidFill>
                <a:srgbClr val="000000"/>
              </a:solidFill>
              <a:round/>
              <a:headEnd/>
              <a:tailEnd/>
            </a:ln>
          </p:spPr>
          <p:txBody>
            <a:bodyPr/>
            <a:lstStyle/>
            <a:p>
              <a:endParaRPr lang="en-US">
                <a:latin typeface="+mj-lt"/>
              </a:endParaRPr>
            </a:p>
          </p:txBody>
        </p:sp>
        <p:sp>
          <p:nvSpPr>
            <p:cNvPr id="60" name="Line 22"/>
            <p:cNvSpPr>
              <a:spLocks noChangeShapeType="1"/>
            </p:cNvSpPr>
            <p:nvPr/>
          </p:nvSpPr>
          <p:spPr bwMode="auto">
            <a:xfrm flipV="1">
              <a:off x="8580" y="7263"/>
              <a:ext cx="540" cy="1620"/>
            </a:xfrm>
            <a:prstGeom prst="line">
              <a:avLst/>
            </a:prstGeom>
            <a:noFill/>
            <a:ln w="9525">
              <a:solidFill>
                <a:srgbClr val="000000"/>
              </a:solidFill>
              <a:round/>
              <a:headEnd/>
              <a:tailEnd/>
            </a:ln>
          </p:spPr>
          <p:txBody>
            <a:bodyPr/>
            <a:lstStyle/>
            <a:p>
              <a:endParaRPr lang="en-US">
                <a:latin typeface="+mj-lt"/>
              </a:endParaRPr>
            </a:p>
          </p:txBody>
        </p:sp>
        <p:sp>
          <p:nvSpPr>
            <p:cNvPr id="61" name="Line 23"/>
            <p:cNvSpPr>
              <a:spLocks noChangeShapeType="1"/>
            </p:cNvSpPr>
            <p:nvPr/>
          </p:nvSpPr>
          <p:spPr bwMode="auto">
            <a:xfrm flipV="1">
              <a:off x="8580" y="8343"/>
              <a:ext cx="540" cy="540"/>
            </a:xfrm>
            <a:prstGeom prst="line">
              <a:avLst/>
            </a:prstGeom>
            <a:noFill/>
            <a:ln w="9525">
              <a:solidFill>
                <a:srgbClr val="000000"/>
              </a:solidFill>
              <a:round/>
              <a:headEnd/>
              <a:tailEnd/>
            </a:ln>
          </p:spPr>
          <p:txBody>
            <a:bodyPr/>
            <a:lstStyle/>
            <a:p>
              <a:endParaRPr lang="en-US">
                <a:latin typeface="+mj-lt"/>
              </a:endParaRPr>
            </a:p>
          </p:txBody>
        </p:sp>
        <p:sp>
          <p:nvSpPr>
            <p:cNvPr id="62" name="Line 24"/>
            <p:cNvSpPr>
              <a:spLocks noChangeShapeType="1"/>
            </p:cNvSpPr>
            <p:nvPr/>
          </p:nvSpPr>
          <p:spPr bwMode="auto">
            <a:xfrm>
              <a:off x="8580" y="8883"/>
              <a:ext cx="540" cy="360"/>
            </a:xfrm>
            <a:prstGeom prst="line">
              <a:avLst/>
            </a:prstGeom>
            <a:noFill/>
            <a:ln w="9525">
              <a:solidFill>
                <a:srgbClr val="000000"/>
              </a:solidFill>
              <a:round/>
              <a:headEnd/>
              <a:tailEnd/>
            </a:ln>
          </p:spPr>
          <p:txBody>
            <a:bodyPr/>
            <a:lstStyle/>
            <a:p>
              <a:endParaRPr lang="en-US">
                <a:latin typeface="+mj-lt"/>
              </a:endParaRPr>
            </a:p>
          </p:txBody>
        </p:sp>
        <p:sp>
          <p:nvSpPr>
            <p:cNvPr id="63" name="Line 25"/>
            <p:cNvSpPr>
              <a:spLocks noChangeShapeType="1"/>
            </p:cNvSpPr>
            <p:nvPr/>
          </p:nvSpPr>
          <p:spPr bwMode="auto">
            <a:xfrm>
              <a:off x="8580" y="8883"/>
              <a:ext cx="540" cy="1440"/>
            </a:xfrm>
            <a:prstGeom prst="line">
              <a:avLst/>
            </a:prstGeom>
            <a:noFill/>
            <a:ln w="9525">
              <a:solidFill>
                <a:srgbClr val="000000"/>
              </a:solidFill>
              <a:round/>
              <a:headEnd/>
              <a:tailEnd/>
            </a:ln>
          </p:spPr>
          <p:txBody>
            <a:bodyPr/>
            <a:lstStyle/>
            <a:p>
              <a:endParaRPr lang="en-US">
                <a:latin typeface="+mj-lt"/>
              </a:endParaRPr>
            </a:p>
          </p:txBody>
        </p:sp>
        <p:sp>
          <p:nvSpPr>
            <p:cNvPr id="64" name="Text Box 26"/>
            <p:cNvSpPr txBox="1">
              <a:spLocks noChangeArrowheads="1"/>
            </p:cNvSpPr>
            <p:nvPr/>
          </p:nvSpPr>
          <p:spPr bwMode="auto">
            <a:xfrm>
              <a:off x="7321" y="6183"/>
              <a:ext cx="2881" cy="540"/>
            </a:xfrm>
            <a:prstGeom prst="rect">
              <a:avLst/>
            </a:prstGeom>
            <a:noFill/>
            <a:ln w="9525">
              <a:noFill/>
              <a:miter lim="800000"/>
              <a:headEnd/>
              <a:tailEnd/>
            </a:ln>
          </p:spPr>
          <p:txBody>
            <a:bodyPr/>
            <a:lstStyle/>
            <a:p>
              <a:pPr>
                <a:spcBef>
                  <a:spcPct val="0"/>
                </a:spcBef>
                <a:buClrTx/>
                <a:buSzTx/>
                <a:buFontTx/>
                <a:buNone/>
              </a:pPr>
              <a:r>
                <a:rPr lang="en-US" sz="1400" b="1" dirty="0">
                  <a:latin typeface="+mj-lt"/>
                </a:rPr>
                <a:t>Operator 2</a:t>
              </a:r>
            </a:p>
          </p:txBody>
        </p:sp>
        <p:sp>
          <p:nvSpPr>
            <p:cNvPr id="65" name="Text Box 27"/>
            <p:cNvSpPr txBox="1">
              <a:spLocks noChangeArrowheads="1"/>
            </p:cNvSpPr>
            <p:nvPr/>
          </p:nvSpPr>
          <p:spPr bwMode="auto">
            <a:xfrm>
              <a:off x="3360" y="6183"/>
              <a:ext cx="1980" cy="540"/>
            </a:xfrm>
            <a:prstGeom prst="rect">
              <a:avLst/>
            </a:prstGeom>
            <a:noFill/>
            <a:ln w="9525">
              <a:noFill/>
              <a:miter lim="800000"/>
              <a:headEnd/>
              <a:tailEnd/>
            </a:ln>
          </p:spPr>
          <p:txBody>
            <a:bodyPr/>
            <a:lstStyle/>
            <a:p>
              <a:pPr>
                <a:spcBef>
                  <a:spcPct val="0"/>
                </a:spcBef>
                <a:buClrTx/>
                <a:buSzTx/>
                <a:buFontTx/>
                <a:buNone/>
              </a:pPr>
              <a:r>
                <a:rPr lang="en-US" sz="1400" b="1" dirty="0">
                  <a:latin typeface="+mj-lt"/>
                </a:rPr>
                <a:t>Operator 1</a:t>
              </a:r>
            </a:p>
          </p:txBody>
        </p:sp>
      </p:grpSp>
      <p:sp>
        <p:nvSpPr>
          <p:cNvPr id="72" name="Rectangle 71"/>
          <p:cNvSpPr/>
          <p:nvPr/>
        </p:nvSpPr>
        <p:spPr>
          <a:xfrm>
            <a:off x="304800" y="1219200"/>
            <a:ext cx="8458200" cy="11887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11138" indent="-211138" defTabSz="576263">
              <a:buClr>
                <a:srgbClr val="FFC000"/>
              </a:buClr>
              <a:buSzTx/>
              <a:buFont typeface="Arial" pitchFamily="34" charset="0"/>
              <a:buChar char="►"/>
            </a:pPr>
            <a:r>
              <a:rPr lang="en-US" sz="1600" dirty="0">
                <a:solidFill>
                  <a:schemeClr val="bg1"/>
                </a:solidFill>
              </a:rPr>
              <a:t>All nodes to be connected via Signal Transfer Point (STP)</a:t>
            </a:r>
          </a:p>
          <a:p>
            <a:pPr marL="211138" indent="-211138" defTabSz="576263">
              <a:buClr>
                <a:srgbClr val="FFC000"/>
              </a:buClr>
              <a:buSzTx/>
              <a:buFont typeface="Arial" pitchFamily="34" charset="0"/>
              <a:buChar char="►"/>
            </a:pPr>
            <a:r>
              <a:rPr lang="en-US" sz="1600" dirty="0">
                <a:solidFill>
                  <a:schemeClr val="bg1"/>
                </a:solidFill>
              </a:rPr>
              <a:t>Address of each node  of operator 1 to be stored in Operator 2 STP and vice versa</a:t>
            </a:r>
          </a:p>
          <a:p>
            <a:pPr marL="211138" indent="-211138" defTabSz="576263">
              <a:buClr>
                <a:srgbClr val="FFC000"/>
              </a:buClr>
              <a:buSzTx/>
              <a:buFont typeface="Arial" pitchFamily="34" charset="0"/>
              <a:buChar char="►"/>
            </a:pPr>
            <a:r>
              <a:rPr lang="en-US" sz="1600" dirty="0">
                <a:solidFill>
                  <a:schemeClr val="bg1"/>
                </a:solidFill>
              </a:rPr>
              <a:t>Every time a node is added in any network, the STP on both sides needs to be updated</a:t>
            </a:r>
          </a:p>
        </p:txBody>
      </p:sp>
      <p:sp>
        <p:nvSpPr>
          <p:cNvPr id="32" name="TextBox 31"/>
          <p:cNvSpPr txBox="1"/>
          <p:nvPr/>
        </p:nvSpPr>
        <p:spPr>
          <a:xfrm>
            <a:off x="2590800" y="2743200"/>
            <a:ext cx="2971800" cy="369332"/>
          </a:xfrm>
          <a:prstGeom prst="rect">
            <a:avLst/>
          </a:prstGeom>
          <a:noFill/>
        </p:spPr>
        <p:txBody>
          <a:bodyPr wrap="square" rtlCol="0">
            <a:spAutoFit/>
          </a:bodyPr>
          <a:lstStyle/>
          <a:p>
            <a:pPr algn="ctr"/>
            <a:r>
              <a:rPr lang="en-US" b="1" dirty="0"/>
              <a:t>Same Circle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Challenges of ICR</a:t>
            </a:r>
          </a:p>
        </p:txBody>
      </p:sp>
      <p:sp>
        <p:nvSpPr>
          <p:cNvPr id="4" name="Content Placeholder 2"/>
          <p:cNvSpPr>
            <a:spLocks/>
          </p:cNvSpPr>
          <p:nvPr/>
        </p:nvSpPr>
        <p:spPr bwMode="auto">
          <a:xfrm>
            <a:off x="152400" y="1447800"/>
            <a:ext cx="4297680" cy="4343400"/>
          </a:xfrm>
          <a:prstGeom prst="rect">
            <a:avLst/>
          </a:prstGeom>
          <a:solidFill>
            <a:schemeClr val="bg1">
              <a:lumMod val="95000"/>
            </a:schemeClr>
          </a:solidFill>
          <a:ln w="9525">
            <a:noFill/>
            <a:miter lim="800000"/>
            <a:headEnd/>
            <a:tailEnd/>
          </a:ln>
        </p:spPr>
        <p:txBody>
          <a:bodyPr/>
          <a:lstStyle/>
          <a:p>
            <a:pPr marL="211138" indent="-211138" defTabSz="576263">
              <a:spcBef>
                <a:spcPts val="1000"/>
              </a:spcBef>
              <a:buClr>
                <a:srgbClr val="FFC000"/>
              </a:buClr>
              <a:buSzPct val="75000"/>
              <a:buFont typeface="Arial" pitchFamily="34" charset="0"/>
              <a:buChar char="►"/>
            </a:pPr>
            <a:r>
              <a:rPr lang="en-US" sz="1400" b="1" dirty="0"/>
              <a:t>Customer Perspective</a:t>
            </a:r>
            <a:endParaRPr lang="en-US" sz="1200" b="1" dirty="0"/>
          </a:p>
          <a:p>
            <a:pPr marL="519113" lvl="1" indent="-123825" defTabSz="576263">
              <a:spcBef>
                <a:spcPts val="1000"/>
              </a:spcBef>
              <a:buClr>
                <a:srgbClr val="FFC000"/>
              </a:buClr>
              <a:buSzPct val="75000"/>
              <a:buFont typeface="Arial" pitchFamily="34" charset="0"/>
              <a:buChar char="►"/>
            </a:pPr>
            <a:r>
              <a:rPr lang="en-US" sz="1200" dirty="0"/>
              <a:t>Difficulty in logo display in non-self coverage areas</a:t>
            </a:r>
          </a:p>
          <a:p>
            <a:pPr marL="519113" lvl="1" indent="-123825" defTabSz="576263">
              <a:spcBef>
                <a:spcPts val="1000"/>
              </a:spcBef>
              <a:buClr>
                <a:srgbClr val="FFC000"/>
              </a:buClr>
              <a:buSzPct val="75000"/>
              <a:buFont typeface="Arial" pitchFamily="34" charset="0"/>
              <a:buChar char="►"/>
            </a:pPr>
            <a:r>
              <a:rPr lang="en-US" sz="1200" dirty="0"/>
              <a:t>Potential problems with Operator-specific services in non-self coverage areas</a:t>
            </a:r>
          </a:p>
          <a:p>
            <a:pPr marL="211138" indent="-211138" defTabSz="576263">
              <a:spcBef>
                <a:spcPts val="1000"/>
              </a:spcBef>
              <a:buClr>
                <a:srgbClr val="FFC000"/>
              </a:buClr>
              <a:buSzPct val="75000"/>
              <a:buFont typeface="Arial" pitchFamily="34" charset="0"/>
              <a:buChar char="►"/>
            </a:pPr>
            <a:r>
              <a:rPr lang="en-US" sz="1400" b="1" dirty="0"/>
              <a:t>Revenue Perspective </a:t>
            </a:r>
          </a:p>
          <a:p>
            <a:pPr marL="519113" lvl="1" indent="-123825" defTabSz="576263">
              <a:spcBef>
                <a:spcPts val="1000"/>
              </a:spcBef>
              <a:buClr>
                <a:srgbClr val="FFC000"/>
              </a:buClr>
              <a:buSzPct val="75000"/>
              <a:buFont typeface="Arial" pitchFamily="34" charset="0"/>
              <a:buChar char="►"/>
            </a:pPr>
            <a:r>
              <a:rPr lang="en-US" sz="1200" dirty="0"/>
              <a:t>Loss of revenue from national / international roaming traffic</a:t>
            </a:r>
          </a:p>
          <a:p>
            <a:pPr marL="519113" lvl="1" indent="-123825" defTabSz="576263">
              <a:spcBef>
                <a:spcPts val="1000"/>
              </a:spcBef>
              <a:buClr>
                <a:srgbClr val="FFC000"/>
              </a:buClr>
              <a:buSzPct val="75000"/>
              <a:buFont typeface="Arial" pitchFamily="34" charset="0"/>
              <a:buChar char="►"/>
            </a:pPr>
            <a:r>
              <a:rPr lang="en-US" sz="1200" dirty="0"/>
              <a:t>Potential loss of NLD/ILD traffic unless the calls are routed back to HPLMN</a:t>
            </a:r>
          </a:p>
          <a:p>
            <a:pPr marL="519113" lvl="1" indent="-123825" defTabSz="576263">
              <a:spcBef>
                <a:spcPts val="1000"/>
              </a:spcBef>
              <a:buClr>
                <a:srgbClr val="FFC000"/>
              </a:buClr>
              <a:buSzPct val="75000"/>
              <a:buFont typeface="Arial" pitchFamily="34" charset="0"/>
              <a:buChar char="►"/>
            </a:pPr>
            <a:r>
              <a:rPr lang="en-US" sz="1200" dirty="0"/>
              <a:t>Reliance on serving operator for billing information, fraud management and lawful interception</a:t>
            </a:r>
          </a:p>
          <a:p>
            <a:pPr marL="211138" indent="-211138" defTabSz="576263">
              <a:spcBef>
                <a:spcPts val="1000"/>
              </a:spcBef>
              <a:buClr>
                <a:srgbClr val="FFC000"/>
              </a:buClr>
              <a:buSzPct val="75000"/>
              <a:buFont typeface="Arial" pitchFamily="34" charset="0"/>
              <a:buChar char="►"/>
            </a:pPr>
            <a:r>
              <a:rPr lang="en-US" sz="1400" b="1" dirty="0"/>
              <a:t>Coordination</a:t>
            </a:r>
          </a:p>
          <a:p>
            <a:pPr marL="573088" lvl="1" indent="-109538" defTabSz="576263">
              <a:spcBef>
                <a:spcPts val="1000"/>
              </a:spcBef>
              <a:buClr>
                <a:srgbClr val="FFC000"/>
              </a:buClr>
              <a:buSzPct val="75000"/>
              <a:buFont typeface="Arial" pitchFamily="34" charset="0"/>
              <a:buChar char="►"/>
            </a:pPr>
            <a:r>
              <a:rPr lang="en-US" sz="1200" dirty="0"/>
              <a:t>Continuous dialogue with partner so that locations Ids for network  expansion is updated on a real time basis. </a:t>
            </a:r>
          </a:p>
        </p:txBody>
      </p:sp>
      <p:sp>
        <p:nvSpPr>
          <p:cNvPr id="5" name="Content Placeholder 2"/>
          <p:cNvSpPr>
            <a:spLocks/>
          </p:cNvSpPr>
          <p:nvPr/>
        </p:nvSpPr>
        <p:spPr bwMode="auto">
          <a:xfrm>
            <a:off x="4617720" y="1447800"/>
            <a:ext cx="4297680" cy="4343400"/>
          </a:xfrm>
          <a:prstGeom prst="rect">
            <a:avLst/>
          </a:prstGeom>
          <a:solidFill>
            <a:schemeClr val="bg1">
              <a:lumMod val="95000"/>
            </a:schemeClr>
          </a:solidFill>
          <a:ln w="9525">
            <a:noFill/>
            <a:miter lim="800000"/>
            <a:headEnd/>
            <a:tailEnd/>
          </a:ln>
        </p:spPr>
        <p:txBody>
          <a:bodyPr/>
          <a:lstStyle/>
          <a:p>
            <a:pPr marL="211138" indent="-211138" defTabSz="576263">
              <a:spcBef>
                <a:spcPts val="1000"/>
              </a:spcBef>
              <a:buClr>
                <a:srgbClr val="FFC000"/>
              </a:buClr>
              <a:buSzPct val="75000"/>
              <a:buFont typeface="Arial" pitchFamily="34" charset="0"/>
              <a:buChar char="►"/>
            </a:pPr>
            <a:r>
              <a:rPr lang="en-US" sz="1400" b="1" dirty="0"/>
              <a:t>Marketing</a:t>
            </a:r>
          </a:p>
          <a:p>
            <a:pPr marL="573088" lvl="1" indent="-115888" defTabSz="576263">
              <a:spcBef>
                <a:spcPts val="1000"/>
              </a:spcBef>
              <a:buClr>
                <a:srgbClr val="FFC000"/>
              </a:buClr>
              <a:buSzPct val="75000"/>
              <a:buFont typeface="Arial" pitchFamily="34" charset="0"/>
              <a:buChar char="►"/>
            </a:pPr>
            <a:r>
              <a:rPr lang="en-US" sz="1200" dirty="0"/>
              <a:t>Higher incentive to retailers / distributors where operator network is not present</a:t>
            </a:r>
          </a:p>
          <a:p>
            <a:pPr marL="211138" indent="-211138" defTabSz="576263">
              <a:spcBef>
                <a:spcPts val="1000"/>
              </a:spcBef>
              <a:buClr>
                <a:srgbClr val="FFC000"/>
              </a:buClr>
              <a:buSzPct val="75000"/>
              <a:buFont typeface="Arial" pitchFamily="34" charset="0"/>
              <a:buChar char="►"/>
            </a:pPr>
            <a:r>
              <a:rPr lang="en-US" sz="1400" b="1" dirty="0"/>
              <a:t>Billing</a:t>
            </a:r>
          </a:p>
          <a:p>
            <a:pPr lvl="1" defTabSz="576263">
              <a:spcBef>
                <a:spcPts val="600"/>
              </a:spcBef>
              <a:buClr>
                <a:srgbClr val="FFC000"/>
              </a:buClr>
              <a:buSzPct val="75000"/>
              <a:buFont typeface="Arial" pitchFamily="34" charset="0"/>
              <a:buChar char="►"/>
            </a:pPr>
            <a:r>
              <a:rPr lang="en-US" sz="1200" dirty="0"/>
              <a:t>Processing of TAP files every 6-8 hours</a:t>
            </a:r>
          </a:p>
          <a:p>
            <a:pPr lvl="1" defTabSz="576263">
              <a:spcBef>
                <a:spcPts val="600"/>
              </a:spcBef>
              <a:buClr>
                <a:srgbClr val="FFC000"/>
              </a:buClr>
              <a:buSzPct val="75000"/>
              <a:buFont typeface="Arial" pitchFamily="34" charset="0"/>
              <a:buChar char="►"/>
            </a:pPr>
            <a:r>
              <a:rPr lang="en-US" sz="1200" dirty="0"/>
              <a:t>Re-rating of TAPs as per the customer plan</a:t>
            </a:r>
          </a:p>
          <a:p>
            <a:pPr lvl="1" defTabSz="576263">
              <a:spcBef>
                <a:spcPts val="600"/>
              </a:spcBef>
              <a:buClr>
                <a:srgbClr val="FFC000"/>
              </a:buClr>
              <a:buSzPct val="75000"/>
              <a:buFont typeface="Arial" pitchFamily="34" charset="0"/>
              <a:buChar char="►"/>
            </a:pPr>
            <a:r>
              <a:rPr lang="en-US" sz="1200" dirty="0"/>
              <a:t>Higher payout to DCH</a:t>
            </a:r>
          </a:p>
          <a:p>
            <a:pPr marL="211138" indent="-211138" defTabSz="576263">
              <a:spcBef>
                <a:spcPts val="1000"/>
              </a:spcBef>
              <a:buClr>
                <a:srgbClr val="FFC000"/>
              </a:buClr>
              <a:buSzPct val="75000"/>
              <a:buFont typeface="Arial" pitchFamily="34" charset="0"/>
              <a:buChar char="►"/>
            </a:pPr>
            <a:r>
              <a:rPr lang="en-US" sz="1400" b="1" dirty="0"/>
              <a:t>Regulatory </a:t>
            </a:r>
          </a:p>
          <a:p>
            <a:pPr marL="573088" lvl="1" indent="-115888" defTabSz="576263">
              <a:spcBef>
                <a:spcPts val="1000"/>
              </a:spcBef>
              <a:buClr>
                <a:srgbClr val="FFC000"/>
              </a:buClr>
              <a:buSzPct val="75000"/>
              <a:buFont typeface="Arial" pitchFamily="34" charset="0"/>
              <a:buChar char="►"/>
            </a:pPr>
            <a:r>
              <a:rPr lang="en-US" sz="1200" dirty="0"/>
              <a:t>The Rollout obligation is not reduced by entering into any such agreement. </a:t>
            </a:r>
          </a:p>
          <a:p>
            <a:pPr marL="573088" lvl="1" indent="-115888" defTabSz="576263">
              <a:spcBef>
                <a:spcPts val="1000"/>
              </a:spcBef>
              <a:buClr>
                <a:srgbClr val="FFC000"/>
              </a:buClr>
              <a:buSzPct val="75000"/>
              <a:buFont typeface="Arial" pitchFamily="34" charset="0"/>
              <a:buChar char="►"/>
            </a:pPr>
            <a:r>
              <a:rPr lang="en-US" sz="1200" dirty="0"/>
              <a:t>Possibility of network congestion in circles where operator 1 is the incumbent operator</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tabLst>
                <a:tab pos="400050" algn="l"/>
              </a:tabLst>
              <a:defRPr/>
            </a:pPr>
            <a:r>
              <a:rPr lang="en-US" sz="2400" dirty="0">
                <a:latin typeface="EYInterstate" pitchFamily="2" charset="0"/>
              </a:rPr>
              <a:t>Glossary</a:t>
            </a:r>
          </a:p>
        </p:txBody>
      </p:sp>
      <p:sp>
        <p:nvSpPr>
          <p:cNvPr id="60" name="Isosceles Triangle 59"/>
          <p:cNvSpPr/>
          <p:nvPr/>
        </p:nvSpPr>
        <p:spPr>
          <a:xfrm rot="5400000">
            <a:off x="1600200" y="6111320"/>
            <a:ext cx="161925"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64" name="Isosceles Triangle 63"/>
          <p:cNvSpPr/>
          <p:nvPr/>
        </p:nvSpPr>
        <p:spPr>
          <a:xfrm rot="5400000">
            <a:off x="4308792" y="6075188"/>
            <a:ext cx="161925"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83" name="Rectangle 82"/>
          <p:cNvSpPr/>
          <p:nvPr/>
        </p:nvSpPr>
        <p:spPr>
          <a:xfrm>
            <a:off x="3151632" y="5623576"/>
            <a:ext cx="457200"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a:solidFill>
                  <a:schemeClr val="bg1"/>
                </a:solidFill>
                <a:latin typeface="EYInterstate Light" pitchFamily="2" charset="0"/>
              </a:rPr>
              <a:t>8.</a:t>
            </a:r>
          </a:p>
        </p:txBody>
      </p:sp>
      <p:grpSp>
        <p:nvGrpSpPr>
          <p:cNvPr id="3" name="Group 45"/>
          <p:cNvGrpSpPr/>
          <p:nvPr/>
        </p:nvGrpSpPr>
        <p:grpSpPr>
          <a:xfrm>
            <a:off x="914400" y="1993408"/>
            <a:ext cx="7315200" cy="2856040"/>
            <a:chOff x="914400" y="1993408"/>
            <a:chExt cx="7315200" cy="2856040"/>
          </a:xfrm>
        </p:grpSpPr>
        <p:sp>
          <p:nvSpPr>
            <p:cNvPr id="51" name="Rectangle 50"/>
            <p:cNvSpPr/>
            <p:nvPr/>
          </p:nvSpPr>
          <p:spPr>
            <a:xfrm>
              <a:off x="4599787" y="3432381"/>
              <a:ext cx="1185681" cy="140176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52" name="Rectangle 51"/>
            <p:cNvSpPr/>
            <p:nvPr/>
          </p:nvSpPr>
          <p:spPr>
            <a:xfrm>
              <a:off x="3371835" y="1993408"/>
              <a:ext cx="1185681" cy="140335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53" name="Rectangle 52"/>
            <p:cNvSpPr/>
            <p:nvPr/>
          </p:nvSpPr>
          <p:spPr>
            <a:xfrm>
              <a:off x="3418582" y="1998170"/>
              <a:ext cx="1090770" cy="181268"/>
            </a:xfrm>
            <a:prstGeom prst="rect">
              <a:avLst/>
            </a:prstGeom>
          </p:spPr>
          <p:txBody>
            <a:bodyPr lIns="0" tIns="0" rIns="0" bIns="0">
              <a:spAutoFit/>
            </a:bodyPr>
            <a:lstStyle/>
            <a:p>
              <a:pPr>
                <a:lnSpc>
                  <a:spcPts val="1500"/>
                </a:lnSpc>
                <a:buClr>
                  <a:srgbClr val="FFD200"/>
                </a:buClr>
                <a:buSzPct val="75000"/>
                <a:buFont typeface="Arial" charset="0"/>
                <a:buNone/>
                <a:tabLst>
                  <a:tab pos="400050" algn="l"/>
                </a:tabLst>
                <a:defRPr/>
              </a:pPr>
              <a:r>
                <a:rPr lang="en-US" sz="1200" dirty="0">
                  <a:latin typeface="EYInterstate" pitchFamily="2" charset="0"/>
                </a:rPr>
                <a:t>Key Concepts</a:t>
              </a:r>
            </a:p>
          </p:txBody>
        </p:sp>
        <p:sp>
          <p:nvSpPr>
            <p:cNvPr id="54" name="Rectangle 53"/>
            <p:cNvSpPr/>
            <p:nvPr/>
          </p:nvSpPr>
          <p:spPr>
            <a:xfrm>
              <a:off x="2141049" y="3438477"/>
              <a:ext cx="1185681" cy="140176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55" name="Rectangle 20"/>
            <p:cNvSpPr>
              <a:spLocks noChangeArrowheads="1"/>
            </p:cNvSpPr>
            <p:nvPr/>
          </p:nvSpPr>
          <p:spPr bwMode="auto">
            <a:xfrm>
              <a:off x="2178107" y="4094686"/>
              <a:ext cx="1014275" cy="553998"/>
            </a:xfrm>
            <a:prstGeom prst="rect">
              <a:avLst/>
            </a:prstGeom>
            <a:noFill/>
            <a:ln w="9525">
              <a:noFill/>
              <a:miter lim="800000"/>
              <a:headEnd/>
              <a:tailEnd/>
            </a:ln>
          </p:spPr>
          <p:txBody>
            <a:bodyPr lIns="0" tIns="0" rIns="0" bIns="0">
              <a:spAutoFit/>
            </a:bodyPr>
            <a:lstStyle/>
            <a:p>
              <a:pPr>
                <a:buClr>
                  <a:srgbClr val="FFD200"/>
                </a:buClr>
                <a:buSzPct val="75000"/>
                <a:buFont typeface="Arial" pitchFamily="34" charset="0"/>
                <a:buNone/>
                <a:tabLst>
                  <a:tab pos="400050" algn="l"/>
                </a:tabLst>
              </a:pPr>
              <a:r>
                <a:rPr lang="en-US" sz="1200" dirty="0">
                  <a:latin typeface="EYInterstate" pitchFamily="2" charset="0"/>
                </a:rPr>
                <a:t>General Roaming</a:t>
              </a:r>
            </a:p>
            <a:p>
              <a:pPr>
                <a:buClr>
                  <a:srgbClr val="FFD200"/>
                </a:buClr>
                <a:buSzPct val="75000"/>
                <a:buFont typeface="Arial" pitchFamily="34" charset="0"/>
                <a:buNone/>
                <a:tabLst>
                  <a:tab pos="400050" algn="l"/>
                </a:tabLst>
              </a:pPr>
              <a:r>
                <a:rPr lang="en-US" sz="1200" dirty="0">
                  <a:latin typeface="EYInterstate" pitchFamily="2" charset="0"/>
                </a:rPr>
                <a:t>Terminologies</a:t>
              </a:r>
              <a:endParaRPr lang="en-US" sz="1200" dirty="0">
                <a:solidFill>
                  <a:srgbClr val="000000"/>
                </a:solidFill>
                <a:latin typeface="EYInterstate Light" pitchFamily="2" charset="0"/>
              </a:endParaRPr>
            </a:p>
          </p:txBody>
        </p:sp>
        <p:grpSp>
          <p:nvGrpSpPr>
            <p:cNvPr id="4" name="Group 33"/>
            <p:cNvGrpSpPr>
              <a:grpSpLocks/>
            </p:cNvGrpSpPr>
            <p:nvPr/>
          </p:nvGrpSpPr>
          <p:grpSpPr bwMode="auto">
            <a:xfrm>
              <a:off x="5820601" y="2004145"/>
              <a:ext cx="1187098" cy="1401763"/>
              <a:chOff x="4599803" y="2102667"/>
              <a:chExt cx="1329095" cy="1401653"/>
            </a:xfrm>
          </p:grpSpPr>
          <p:sp>
            <p:nvSpPr>
              <p:cNvPr id="99" name="Rectangle 98"/>
              <p:cNvSpPr/>
              <p:nvPr/>
            </p:nvSpPr>
            <p:spPr>
              <a:xfrm>
                <a:off x="4599803" y="2102667"/>
                <a:ext cx="1329095" cy="140165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100" name="Rectangle 23"/>
              <p:cNvSpPr>
                <a:spLocks noChangeArrowheads="1"/>
              </p:cNvSpPr>
              <p:nvPr/>
            </p:nvSpPr>
            <p:spPr bwMode="auto">
              <a:xfrm>
                <a:off x="4633035" y="2162263"/>
                <a:ext cx="1136666" cy="384691"/>
              </a:xfrm>
              <a:prstGeom prst="rect">
                <a:avLst/>
              </a:prstGeom>
              <a:noFill/>
              <a:ln w="9525">
                <a:noFill/>
                <a:miter lim="800000"/>
                <a:headEnd/>
                <a:tailEnd/>
              </a:ln>
            </p:spPr>
            <p:txBody>
              <a:bodyPr lIns="0" tIns="0" rIns="0" bIns="0">
                <a:spAutoFit/>
              </a:bodyPr>
              <a:lstStyle/>
              <a:p>
                <a:pPr>
                  <a:lnSpc>
                    <a:spcPts val="1500"/>
                  </a:lnSpc>
                  <a:buClr>
                    <a:srgbClr val="FFD200"/>
                  </a:buClr>
                  <a:buSzPct val="75000"/>
                  <a:tabLst>
                    <a:tab pos="400050" algn="l"/>
                  </a:tabLst>
                  <a:defRPr/>
                </a:pPr>
                <a:r>
                  <a:rPr lang="en-US" sz="1200" dirty="0">
                    <a:latin typeface="EYInterstate" pitchFamily="2" charset="0"/>
                  </a:rPr>
                  <a:t>Intra Circle  Roaming</a:t>
                </a:r>
              </a:p>
            </p:txBody>
          </p:sp>
        </p:grpSp>
        <p:sp>
          <p:nvSpPr>
            <p:cNvPr id="59" name="Rectangle 22"/>
            <p:cNvSpPr>
              <a:spLocks noChangeArrowheads="1"/>
            </p:cNvSpPr>
            <p:nvPr/>
          </p:nvSpPr>
          <p:spPr bwMode="auto">
            <a:xfrm>
              <a:off x="4636782" y="4350772"/>
              <a:ext cx="1105972" cy="373628"/>
            </a:xfrm>
            <a:prstGeom prst="rect">
              <a:avLst/>
            </a:prstGeom>
            <a:noFill/>
            <a:ln w="9525">
              <a:noFill/>
              <a:miter lim="800000"/>
              <a:headEnd/>
              <a:tailEnd/>
            </a:ln>
          </p:spPr>
          <p:txBody>
            <a:bodyPr lIns="0" tIns="0" rIns="0" bIns="0">
              <a:spAutoFit/>
            </a:bodyPr>
            <a:lstStyle/>
            <a:p>
              <a:pPr>
                <a:lnSpc>
                  <a:spcPts val="1500"/>
                </a:lnSpc>
                <a:buClr>
                  <a:srgbClr val="FFD200"/>
                </a:buClr>
                <a:buSzPct val="75000"/>
                <a:buFont typeface="Arial" charset="0"/>
                <a:buNone/>
                <a:tabLst>
                  <a:tab pos="400050" algn="l"/>
                </a:tabLst>
                <a:defRPr/>
              </a:pPr>
              <a:r>
                <a:rPr lang="en-US" sz="1200" dirty="0">
                  <a:latin typeface="EYInterstate" pitchFamily="2" charset="0"/>
                </a:rPr>
                <a:t>Roaming Revenue Cycle</a:t>
              </a:r>
            </a:p>
          </p:txBody>
        </p:sp>
        <p:grpSp>
          <p:nvGrpSpPr>
            <p:cNvPr id="5" name="Group 44"/>
            <p:cNvGrpSpPr>
              <a:grpSpLocks/>
            </p:cNvGrpSpPr>
            <p:nvPr/>
          </p:nvGrpSpPr>
          <p:grpSpPr bwMode="auto">
            <a:xfrm>
              <a:off x="7035528" y="3447686"/>
              <a:ext cx="1185683" cy="1401762"/>
              <a:chOff x="5972094" y="3483677"/>
              <a:chExt cx="1329077" cy="1401653"/>
            </a:xfrm>
          </p:grpSpPr>
          <p:sp>
            <p:nvSpPr>
              <p:cNvPr id="97" name="Rectangle 96"/>
              <p:cNvSpPr/>
              <p:nvPr/>
            </p:nvSpPr>
            <p:spPr>
              <a:xfrm>
                <a:off x="5972094" y="3483677"/>
                <a:ext cx="1329077" cy="1401653"/>
              </a:xfrm>
              <a:prstGeom prst="rect">
                <a:avLst/>
              </a:prstGeom>
              <a:solidFill>
                <a:srgbClr val="FFD2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98" name="Rectangle 24"/>
              <p:cNvSpPr>
                <a:spLocks noChangeArrowheads="1"/>
              </p:cNvSpPr>
              <p:nvPr/>
            </p:nvSpPr>
            <p:spPr bwMode="auto">
              <a:xfrm>
                <a:off x="6011147" y="4575640"/>
                <a:ext cx="1136650" cy="184652"/>
              </a:xfrm>
              <a:prstGeom prst="rect">
                <a:avLst/>
              </a:prstGeom>
              <a:noFill/>
              <a:ln w="9525">
                <a:noFill/>
                <a:miter lim="800000"/>
                <a:headEnd/>
                <a:tailEnd/>
              </a:ln>
            </p:spPr>
            <p:txBody>
              <a:bodyPr lIns="0" tIns="0" rIns="0" bIns="0">
                <a:spAutoFit/>
              </a:bodyPr>
              <a:lstStyle/>
              <a:p>
                <a:pPr>
                  <a:buClr>
                    <a:srgbClr val="FFD200"/>
                  </a:buClr>
                  <a:buSzPct val="75000"/>
                  <a:tabLst>
                    <a:tab pos="400050" algn="l"/>
                  </a:tabLst>
                </a:pPr>
                <a:r>
                  <a:rPr lang="en-US" sz="1200" dirty="0">
                    <a:latin typeface="EYInterstate" pitchFamily="2" charset="0"/>
                  </a:rPr>
                  <a:t>Glossary </a:t>
                </a:r>
              </a:p>
            </p:txBody>
          </p:sp>
        </p:grpSp>
        <p:pic>
          <p:nvPicPr>
            <p:cNvPr id="62" name="Picture 4" descr="investment"/>
            <p:cNvPicPr>
              <a:picLocks noChangeArrowheads="1"/>
            </p:cNvPicPr>
            <p:nvPr/>
          </p:nvPicPr>
          <p:blipFill>
            <a:blip r:embed="rId2" cstate="print"/>
            <a:srcRect/>
            <a:stretch>
              <a:fillRect/>
            </a:stretch>
          </p:blipFill>
          <p:spPr bwMode="auto">
            <a:xfrm>
              <a:off x="4588908" y="2005600"/>
              <a:ext cx="1183132" cy="1399032"/>
            </a:xfrm>
            <a:prstGeom prst="rect">
              <a:avLst/>
            </a:prstGeom>
            <a:noFill/>
          </p:spPr>
        </p:pic>
        <p:pic>
          <p:nvPicPr>
            <p:cNvPr id="63" name="Picture 29" descr="14H02278_RF.jpg"/>
            <p:cNvPicPr>
              <a:picLocks noChangeAspect="1"/>
            </p:cNvPicPr>
            <p:nvPr/>
          </p:nvPicPr>
          <p:blipFill>
            <a:blip r:embed="rId3" cstate="print"/>
            <a:srcRect b="29448"/>
            <a:stretch>
              <a:fillRect/>
            </a:stretch>
          </p:blipFill>
          <p:spPr bwMode="auto">
            <a:xfrm>
              <a:off x="3375858" y="3432064"/>
              <a:ext cx="1182848" cy="1401763"/>
            </a:xfrm>
            <a:prstGeom prst="rect">
              <a:avLst/>
            </a:prstGeom>
            <a:noFill/>
            <a:ln w="9525">
              <a:noFill/>
              <a:miter lim="800000"/>
              <a:headEnd/>
              <a:tailEnd/>
            </a:ln>
          </p:spPr>
        </p:pic>
        <p:grpSp>
          <p:nvGrpSpPr>
            <p:cNvPr id="6" name="Group 44"/>
            <p:cNvGrpSpPr/>
            <p:nvPr/>
          </p:nvGrpSpPr>
          <p:grpSpPr>
            <a:xfrm>
              <a:off x="914400" y="1993408"/>
              <a:ext cx="1185681" cy="1479901"/>
              <a:chOff x="402336" y="1993408"/>
              <a:chExt cx="1185681" cy="1479901"/>
            </a:xfrm>
          </p:grpSpPr>
          <p:sp>
            <p:nvSpPr>
              <p:cNvPr id="93" name="Rectangle 92"/>
              <p:cNvSpPr/>
              <p:nvPr/>
            </p:nvSpPr>
            <p:spPr>
              <a:xfrm>
                <a:off x="402336" y="1993408"/>
                <a:ext cx="1185681" cy="140176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94" name="Rectangle 9"/>
              <p:cNvSpPr/>
              <p:nvPr/>
            </p:nvSpPr>
            <p:spPr>
              <a:xfrm>
                <a:off x="414915" y="2734645"/>
                <a:ext cx="407976"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a:solidFill>
                      <a:schemeClr val="bg1"/>
                    </a:solidFill>
                    <a:latin typeface="EYInterstate Light" pitchFamily="2" charset="0"/>
                  </a:rPr>
                  <a:t>1.</a:t>
                </a:r>
              </a:p>
            </p:txBody>
          </p:sp>
          <p:sp>
            <p:nvSpPr>
              <p:cNvPr id="95" name="Isosceles Triangle 10"/>
              <p:cNvSpPr/>
              <p:nvPr/>
            </p:nvSpPr>
            <p:spPr>
              <a:xfrm rot="10800000">
                <a:off x="1427830" y="3303477"/>
                <a:ext cx="144492"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96" name="Rectangle 20"/>
              <p:cNvSpPr>
                <a:spLocks noChangeArrowheads="1"/>
              </p:cNvSpPr>
              <p:nvPr/>
            </p:nvSpPr>
            <p:spPr bwMode="auto">
              <a:xfrm>
                <a:off x="429534" y="2022110"/>
                <a:ext cx="1014275" cy="553998"/>
              </a:xfrm>
              <a:prstGeom prst="rect">
                <a:avLst/>
              </a:prstGeom>
              <a:noFill/>
              <a:ln w="9525">
                <a:noFill/>
                <a:miter lim="800000"/>
                <a:headEnd/>
                <a:tailEnd/>
              </a:ln>
            </p:spPr>
            <p:txBody>
              <a:bodyPr lIns="0" tIns="0" rIns="0" bIns="0">
                <a:spAutoFit/>
              </a:bodyPr>
              <a:lstStyle/>
              <a:p>
                <a:pPr>
                  <a:buClr>
                    <a:srgbClr val="FFD200"/>
                  </a:buClr>
                  <a:buSzPct val="75000"/>
                  <a:buFont typeface="Arial" pitchFamily="34" charset="0"/>
                  <a:buNone/>
                  <a:tabLst>
                    <a:tab pos="400050" algn="l"/>
                  </a:tabLst>
                </a:pPr>
                <a:r>
                  <a:rPr lang="en-US" sz="1200" dirty="0">
                    <a:latin typeface="EYInterstate" pitchFamily="2" charset="0"/>
                  </a:rPr>
                  <a:t>Introduction to Roaming</a:t>
                </a:r>
              </a:p>
              <a:p>
                <a:pPr>
                  <a:buClr>
                    <a:srgbClr val="FFD200"/>
                  </a:buClr>
                  <a:buSzPct val="75000"/>
                  <a:buFont typeface="Arial" pitchFamily="34" charset="0"/>
                  <a:buNone/>
                  <a:tabLst>
                    <a:tab pos="400050" algn="l"/>
                  </a:tabLst>
                </a:pPr>
                <a:endParaRPr lang="en-US" sz="1200" dirty="0">
                  <a:solidFill>
                    <a:srgbClr val="000000"/>
                  </a:solidFill>
                  <a:latin typeface="EYInterstate Light" pitchFamily="2" charset="0"/>
                </a:endParaRPr>
              </a:p>
            </p:txBody>
          </p:sp>
        </p:grpSp>
        <p:sp>
          <p:nvSpPr>
            <p:cNvPr id="73" name="Isosceles Triangle 72"/>
            <p:cNvSpPr/>
            <p:nvPr/>
          </p:nvSpPr>
          <p:spPr bwMode="auto">
            <a:xfrm>
              <a:off x="3154587" y="3474673"/>
              <a:ext cx="145908"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74" name="Isosceles Triangle 73"/>
            <p:cNvSpPr/>
            <p:nvPr/>
          </p:nvSpPr>
          <p:spPr>
            <a:xfrm rot="10800000">
              <a:off x="4373700" y="3297381"/>
              <a:ext cx="144492"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75" name="Isosceles Triangle 74"/>
            <p:cNvSpPr/>
            <p:nvPr/>
          </p:nvSpPr>
          <p:spPr bwMode="auto">
            <a:xfrm>
              <a:off x="5607093" y="3486928"/>
              <a:ext cx="145908"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76" name="Isosceles Triangle 75"/>
            <p:cNvSpPr/>
            <p:nvPr/>
          </p:nvSpPr>
          <p:spPr>
            <a:xfrm rot="10800000">
              <a:off x="6824279" y="3315669"/>
              <a:ext cx="144492"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82" name="Isosceles Triangle 81"/>
            <p:cNvSpPr/>
            <p:nvPr/>
          </p:nvSpPr>
          <p:spPr bwMode="auto">
            <a:xfrm>
              <a:off x="8027753" y="3493024"/>
              <a:ext cx="145908"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84" name="Rectangle 83"/>
            <p:cNvSpPr/>
            <p:nvPr/>
          </p:nvSpPr>
          <p:spPr>
            <a:xfrm>
              <a:off x="3364979" y="2752933"/>
              <a:ext cx="407976"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a:solidFill>
                    <a:schemeClr val="bg1"/>
                  </a:solidFill>
                  <a:latin typeface="EYInterstate Light" pitchFamily="2" charset="0"/>
                </a:rPr>
                <a:t>3.</a:t>
              </a:r>
            </a:p>
          </p:txBody>
        </p:sp>
        <p:sp>
          <p:nvSpPr>
            <p:cNvPr id="85" name="Rectangle 84"/>
            <p:cNvSpPr/>
            <p:nvPr/>
          </p:nvSpPr>
          <p:spPr>
            <a:xfrm>
              <a:off x="5801958" y="2769765"/>
              <a:ext cx="407976"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a:solidFill>
                    <a:schemeClr val="bg1"/>
                  </a:solidFill>
                  <a:latin typeface="EYInterstate Light" pitchFamily="2" charset="0"/>
                </a:rPr>
                <a:t>5.</a:t>
              </a:r>
            </a:p>
          </p:txBody>
        </p:sp>
        <p:sp>
          <p:nvSpPr>
            <p:cNvPr id="86" name="Rectangle 85"/>
            <p:cNvSpPr/>
            <p:nvPr/>
          </p:nvSpPr>
          <p:spPr>
            <a:xfrm>
              <a:off x="2154648" y="3453400"/>
              <a:ext cx="407976"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a:solidFill>
                    <a:schemeClr val="bg1"/>
                  </a:solidFill>
                  <a:latin typeface="EYInterstate Light" pitchFamily="2" charset="0"/>
                </a:rPr>
                <a:t>2.</a:t>
              </a:r>
            </a:p>
          </p:txBody>
        </p:sp>
        <p:sp>
          <p:nvSpPr>
            <p:cNvPr id="87" name="Rectangle 86"/>
            <p:cNvSpPr/>
            <p:nvPr/>
          </p:nvSpPr>
          <p:spPr>
            <a:xfrm>
              <a:off x="4632425" y="3450352"/>
              <a:ext cx="407976"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a:solidFill>
                    <a:schemeClr val="bg1"/>
                  </a:solidFill>
                  <a:latin typeface="EYInterstate Light" pitchFamily="2" charset="0"/>
                </a:rPr>
                <a:t>4.</a:t>
              </a:r>
            </a:p>
          </p:txBody>
        </p:sp>
        <p:sp>
          <p:nvSpPr>
            <p:cNvPr id="88" name="Rectangle 87"/>
            <p:cNvSpPr/>
            <p:nvPr/>
          </p:nvSpPr>
          <p:spPr>
            <a:xfrm>
              <a:off x="7063965" y="3461496"/>
              <a:ext cx="407976"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a:solidFill>
                    <a:schemeClr val="bg1"/>
                  </a:solidFill>
                  <a:latin typeface="EYInterstate Light" pitchFamily="2" charset="0"/>
                </a:rPr>
                <a:t>6. </a:t>
              </a:r>
            </a:p>
          </p:txBody>
        </p:sp>
        <p:pic>
          <p:nvPicPr>
            <p:cNvPr id="89" name="Picture 1" descr="C:\TechM Warehouse\Data 1\Useful Presentations\Useful Pics\Cong 1.jpg"/>
            <p:cNvPicPr>
              <a:picLocks noChangeArrowheads="1"/>
            </p:cNvPicPr>
            <p:nvPr/>
          </p:nvPicPr>
          <p:blipFill>
            <a:blip r:embed="rId4" cstate="print"/>
            <a:srcRect/>
            <a:stretch>
              <a:fillRect/>
            </a:stretch>
          </p:blipFill>
          <p:spPr bwMode="auto">
            <a:xfrm>
              <a:off x="919718" y="3429016"/>
              <a:ext cx="1183132" cy="1399032"/>
            </a:xfrm>
            <a:prstGeom prst="rect">
              <a:avLst/>
            </a:prstGeom>
            <a:noFill/>
          </p:spPr>
        </p:pic>
        <p:pic>
          <p:nvPicPr>
            <p:cNvPr id="90" name="Picture 3"/>
            <p:cNvPicPr>
              <a:picLocks noChangeArrowheads="1"/>
            </p:cNvPicPr>
            <p:nvPr/>
          </p:nvPicPr>
          <p:blipFill>
            <a:blip r:embed="rId5" cstate="print"/>
            <a:srcRect/>
            <a:stretch>
              <a:fillRect/>
            </a:stretch>
          </p:blipFill>
          <p:spPr bwMode="auto">
            <a:xfrm>
              <a:off x="2145675" y="1994864"/>
              <a:ext cx="1183132" cy="1399032"/>
            </a:xfrm>
            <a:prstGeom prst="rect">
              <a:avLst/>
            </a:prstGeom>
            <a:noFill/>
            <a:ln w="9525">
              <a:noFill/>
              <a:miter lim="800000"/>
              <a:headEnd/>
              <a:tailEnd/>
            </a:ln>
            <a:effectLst/>
          </p:spPr>
        </p:pic>
        <p:pic>
          <p:nvPicPr>
            <p:cNvPr id="91" name="Picture 4"/>
            <p:cNvPicPr>
              <a:picLocks noChangeArrowheads="1"/>
            </p:cNvPicPr>
            <p:nvPr/>
          </p:nvPicPr>
          <p:blipFill>
            <a:blip r:embed="rId6" cstate="print"/>
            <a:srcRect/>
            <a:stretch>
              <a:fillRect/>
            </a:stretch>
          </p:blipFill>
          <p:spPr bwMode="auto">
            <a:xfrm>
              <a:off x="5810360" y="3444936"/>
              <a:ext cx="1183132" cy="1399032"/>
            </a:xfrm>
            <a:prstGeom prst="rect">
              <a:avLst/>
            </a:prstGeom>
            <a:noFill/>
            <a:ln w="9525">
              <a:noFill/>
              <a:miter lim="800000"/>
              <a:headEnd/>
              <a:tailEnd/>
            </a:ln>
            <a:effectLst/>
          </p:spPr>
        </p:pic>
        <p:pic>
          <p:nvPicPr>
            <p:cNvPr id="92" name="Picture 5"/>
            <p:cNvPicPr>
              <a:picLocks noChangeArrowheads="1"/>
            </p:cNvPicPr>
            <p:nvPr/>
          </p:nvPicPr>
          <p:blipFill>
            <a:blip r:embed="rId7" cstate="print"/>
            <a:srcRect/>
            <a:stretch>
              <a:fillRect/>
            </a:stretch>
          </p:blipFill>
          <p:spPr bwMode="auto">
            <a:xfrm>
              <a:off x="7046468" y="2013039"/>
              <a:ext cx="1183132" cy="1399032"/>
            </a:xfrm>
            <a:prstGeom prst="rect">
              <a:avLst/>
            </a:prstGeom>
            <a:noFill/>
            <a:ln w="9525">
              <a:noFill/>
              <a:miter lim="800000"/>
              <a:headEnd/>
              <a:tailEnd/>
            </a:ln>
            <a:effectLst/>
          </p:spPr>
        </p:pic>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Glossary</a:t>
            </a:r>
          </a:p>
        </p:txBody>
      </p:sp>
      <p:graphicFrame>
        <p:nvGraphicFramePr>
          <p:cNvPr id="3" name="Table 2"/>
          <p:cNvGraphicFramePr>
            <a:graphicFrameLocks noGrp="1"/>
          </p:cNvGraphicFramePr>
          <p:nvPr/>
        </p:nvGraphicFramePr>
        <p:xfrm>
          <a:off x="990600" y="1397000"/>
          <a:ext cx="6629400" cy="4165597"/>
        </p:xfrm>
        <a:graphic>
          <a:graphicData uri="http://schemas.openxmlformats.org/drawingml/2006/table">
            <a:tbl>
              <a:tblPr firstRow="1" bandRow="1">
                <a:tableStyleId>{21E4AEA4-8DFA-4A89-87EB-49C32662AFE0}</a:tableStyleId>
              </a:tblPr>
              <a:tblGrid>
                <a:gridCol w="3314700">
                  <a:extLst>
                    <a:ext uri="{9D8B030D-6E8A-4147-A177-3AD203B41FA5}">
                      <a16:colId xmlns:a16="http://schemas.microsoft.com/office/drawing/2014/main" val="20000"/>
                    </a:ext>
                  </a:extLst>
                </a:gridCol>
                <a:gridCol w="3314700">
                  <a:extLst>
                    <a:ext uri="{9D8B030D-6E8A-4147-A177-3AD203B41FA5}">
                      <a16:colId xmlns:a16="http://schemas.microsoft.com/office/drawing/2014/main" val="20001"/>
                    </a:ext>
                  </a:extLst>
                </a:gridCol>
              </a:tblGrid>
              <a:tr h="416061">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dirty="0">
                          <a:ln>
                            <a:noFill/>
                          </a:ln>
                          <a:solidFill>
                            <a:schemeClr val="bg1">
                              <a:lumMod val="50000"/>
                            </a:schemeClr>
                          </a:solidFill>
                          <a:effectLst/>
                          <a:latin typeface="EYInterstate" pitchFamily="2" charset="0"/>
                        </a:rPr>
                        <a:t>Acronym</a:t>
                      </a:r>
                    </a:p>
                  </a:txBody>
                  <a:tcPr marL="45720" marR="36576" marT="27432" marB="18288" anchor="ctr" horzOverflow="overflow"/>
                </a:tc>
                <a:tc>
                  <a:txBody>
                    <a:bodyPr/>
                    <a:lstStyle/>
                    <a:p>
                      <a:pPr marL="0" marR="0" lvl="0" indent="0" algn="ctr" defTabSz="914400" rtl="0" eaLnBrk="1" fontAlgn="base" latinLnBrk="0" hangingPunct="1">
                        <a:lnSpc>
                          <a:spcPct val="100000"/>
                        </a:lnSpc>
                        <a:spcBef>
                          <a:spcPct val="20000"/>
                        </a:spcBef>
                        <a:spcAft>
                          <a:spcPct val="0"/>
                        </a:spcAft>
                        <a:buClr>
                          <a:srgbClr val="FFD200"/>
                        </a:buClr>
                        <a:buSzPct val="75000"/>
                        <a:buFont typeface="Arial" charset="0"/>
                        <a:buNone/>
                        <a:tabLst/>
                      </a:pPr>
                      <a:r>
                        <a:rPr kumimoji="0" lang="en-US" sz="1200" b="1" i="0" u="none" strike="noStrike" cap="none" normalizeH="0" baseline="0" dirty="0">
                          <a:ln>
                            <a:noFill/>
                          </a:ln>
                          <a:solidFill>
                            <a:schemeClr val="bg1">
                              <a:lumMod val="50000"/>
                            </a:schemeClr>
                          </a:solidFill>
                          <a:effectLst/>
                          <a:latin typeface="EYInterstate" pitchFamily="2" charset="0"/>
                        </a:rPr>
                        <a:t>Description</a:t>
                      </a:r>
                    </a:p>
                  </a:txBody>
                  <a:tcPr marL="45720" marR="36576" marT="27432" marB="18288" anchor="ctr" horzOverflow="overflow"/>
                </a:tc>
                <a:extLst>
                  <a:ext uri="{0D108BD9-81ED-4DB2-BD59-A6C34878D82A}">
                    <a16:rowId xmlns:a16="http://schemas.microsoft.com/office/drawing/2014/main" val="10000"/>
                  </a:ext>
                </a:extLst>
              </a:tr>
              <a:tr h="421048">
                <a:tc>
                  <a:txBody>
                    <a:bodyPr/>
                    <a:lstStyle/>
                    <a:p>
                      <a:pPr algn="ctr" rtl="0" fontAlgn="b"/>
                      <a:r>
                        <a:rPr lang="en-US" sz="1200" b="0" i="0" u="none" strike="noStrike" dirty="0">
                          <a:solidFill>
                            <a:schemeClr val="bg1">
                              <a:lumMod val="50000"/>
                            </a:schemeClr>
                          </a:solidFill>
                          <a:latin typeface="Arial"/>
                        </a:rPr>
                        <a:t>CAMEL</a:t>
                      </a:r>
                    </a:p>
                  </a:txBody>
                  <a:tcPr marL="9525" marR="9525" marT="9525" marB="0" anchor="ctr"/>
                </a:tc>
                <a:tc>
                  <a:txBody>
                    <a:bodyPr/>
                    <a:lstStyle/>
                    <a:p>
                      <a:pPr algn="ctr" rtl="0" fontAlgn="b"/>
                      <a:r>
                        <a:rPr lang="en-US" sz="1200" b="0" i="0" u="none" strike="noStrike">
                          <a:solidFill>
                            <a:schemeClr val="bg1">
                              <a:lumMod val="50000"/>
                            </a:schemeClr>
                          </a:solidFill>
                          <a:latin typeface="Arial"/>
                        </a:rPr>
                        <a:t>Customized Applications for Mobile networks Enhanced Logic </a:t>
                      </a:r>
                    </a:p>
                  </a:txBody>
                  <a:tcPr marL="9525" marR="9525" marT="9525" marB="0" anchor="ctr"/>
                </a:tc>
                <a:extLst>
                  <a:ext uri="{0D108BD9-81ED-4DB2-BD59-A6C34878D82A}">
                    <a16:rowId xmlns:a16="http://schemas.microsoft.com/office/drawing/2014/main" val="10001"/>
                  </a:ext>
                </a:extLst>
              </a:tr>
              <a:tr h="416061">
                <a:tc>
                  <a:txBody>
                    <a:bodyPr/>
                    <a:lstStyle/>
                    <a:p>
                      <a:pPr algn="ctr" rtl="0" fontAlgn="b"/>
                      <a:r>
                        <a:rPr lang="en-US" sz="1200" b="0" i="0" u="none" strike="noStrike" dirty="0">
                          <a:solidFill>
                            <a:schemeClr val="bg1">
                              <a:lumMod val="50000"/>
                            </a:schemeClr>
                          </a:solidFill>
                          <a:latin typeface="Arial"/>
                        </a:rPr>
                        <a:t>CDR</a:t>
                      </a:r>
                    </a:p>
                  </a:txBody>
                  <a:tcPr marL="9525" marR="9525" marT="9525" marB="0" anchor="ctr"/>
                </a:tc>
                <a:tc>
                  <a:txBody>
                    <a:bodyPr/>
                    <a:lstStyle/>
                    <a:p>
                      <a:pPr algn="ctr" rtl="0" fontAlgn="b"/>
                      <a:r>
                        <a:rPr lang="en-US" sz="1200" b="0" i="0" u="none" strike="noStrike">
                          <a:solidFill>
                            <a:schemeClr val="bg1">
                              <a:lumMod val="50000"/>
                            </a:schemeClr>
                          </a:solidFill>
                          <a:latin typeface="Arial"/>
                        </a:rPr>
                        <a:t>Call Data Records</a:t>
                      </a:r>
                    </a:p>
                  </a:txBody>
                  <a:tcPr marL="9525" marR="9525" marT="9525" marB="0" anchor="ctr"/>
                </a:tc>
                <a:extLst>
                  <a:ext uri="{0D108BD9-81ED-4DB2-BD59-A6C34878D82A}">
                    <a16:rowId xmlns:a16="http://schemas.microsoft.com/office/drawing/2014/main" val="10002"/>
                  </a:ext>
                </a:extLst>
              </a:tr>
              <a:tr h="416061">
                <a:tc>
                  <a:txBody>
                    <a:bodyPr/>
                    <a:lstStyle/>
                    <a:p>
                      <a:pPr algn="ctr" rtl="0" fontAlgn="b"/>
                      <a:r>
                        <a:rPr lang="en-US" sz="1200" b="0" i="0" u="none" strike="noStrike" dirty="0">
                          <a:solidFill>
                            <a:schemeClr val="bg1">
                              <a:lumMod val="50000"/>
                            </a:schemeClr>
                          </a:solidFill>
                          <a:latin typeface="Arial"/>
                        </a:rPr>
                        <a:t>IREG</a:t>
                      </a:r>
                    </a:p>
                  </a:txBody>
                  <a:tcPr marL="9525" marR="9525" marT="9525" marB="0" anchor="ctr"/>
                </a:tc>
                <a:tc>
                  <a:txBody>
                    <a:bodyPr/>
                    <a:lstStyle/>
                    <a:p>
                      <a:pPr algn="ctr" rtl="0" fontAlgn="b"/>
                      <a:r>
                        <a:rPr lang="en-US" sz="1200" b="0" i="0" u="none" strike="noStrike">
                          <a:solidFill>
                            <a:schemeClr val="bg1">
                              <a:lumMod val="50000"/>
                            </a:schemeClr>
                          </a:solidFill>
                          <a:latin typeface="Arial"/>
                        </a:rPr>
                        <a:t>International Roaming Expert Group </a:t>
                      </a:r>
                    </a:p>
                  </a:txBody>
                  <a:tcPr marL="9525" marR="9525" marT="9525" marB="0" anchor="ctr"/>
                </a:tc>
                <a:extLst>
                  <a:ext uri="{0D108BD9-81ED-4DB2-BD59-A6C34878D82A}">
                    <a16:rowId xmlns:a16="http://schemas.microsoft.com/office/drawing/2014/main" val="10003"/>
                  </a:ext>
                </a:extLst>
              </a:tr>
              <a:tr h="416061">
                <a:tc>
                  <a:txBody>
                    <a:bodyPr/>
                    <a:lstStyle/>
                    <a:p>
                      <a:pPr algn="ctr" rtl="0" fontAlgn="b"/>
                      <a:r>
                        <a:rPr lang="en-US" sz="1200" b="0" i="0" u="none" strike="noStrike">
                          <a:solidFill>
                            <a:schemeClr val="bg1">
                              <a:lumMod val="50000"/>
                            </a:schemeClr>
                          </a:solidFill>
                          <a:latin typeface="Arial"/>
                        </a:rPr>
                        <a:t>MSC </a:t>
                      </a:r>
                    </a:p>
                  </a:txBody>
                  <a:tcPr marL="9525" marR="9525" marT="9525" marB="0" anchor="ctr"/>
                </a:tc>
                <a:tc>
                  <a:txBody>
                    <a:bodyPr/>
                    <a:lstStyle/>
                    <a:p>
                      <a:pPr algn="ctr" rtl="0" fontAlgn="b"/>
                      <a:r>
                        <a:rPr lang="en-US" sz="1200" b="0" i="0" u="none" strike="noStrike">
                          <a:solidFill>
                            <a:schemeClr val="bg1">
                              <a:lumMod val="50000"/>
                            </a:schemeClr>
                          </a:solidFill>
                          <a:latin typeface="Arial"/>
                        </a:rPr>
                        <a:t>Mobile Switching Centre</a:t>
                      </a:r>
                    </a:p>
                  </a:txBody>
                  <a:tcPr marL="9525" marR="9525" marT="9525" marB="0" anchor="ctr"/>
                </a:tc>
                <a:extLst>
                  <a:ext uri="{0D108BD9-81ED-4DB2-BD59-A6C34878D82A}">
                    <a16:rowId xmlns:a16="http://schemas.microsoft.com/office/drawing/2014/main" val="10004"/>
                  </a:ext>
                </a:extLst>
              </a:tr>
              <a:tr h="416061">
                <a:tc>
                  <a:txBody>
                    <a:bodyPr/>
                    <a:lstStyle/>
                    <a:p>
                      <a:pPr algn="ctr" rtl="0" fontAlgn="b"/>
                      <a:r>
                        <a:rPr lang="en-US" sz="1200" b="0" i="0" u="none" strike="noStrike">
                          <a:solidFill>
                            <a:schemeClr val="bg1">
                              <a:lumMod val="50000"/>
                            </a:schemeClr>
                          </a:solidFill>
                          <a:latin typeface="Arial"/>
                        </a:rPr>
                        <a:t>PNO </a:t>
                      </a:r>
                    </a:p>
                  </a:txBody>
                  <a:tcPr marL="9525" marR="9525" marT="9525" marB="0" anchor="ctr"/>
                </a:tc>
                <a:tc>
                  <a:txBody>
                    <a:bodyPr/>
                    <a:lstStyle/>
                    <a:p>
                      <a:pPr algn="ctr" rtl="0" fontAlgn="b"/>
                      <a:r>
                        <a:rPr lang="en-US" sz="1200" b="0" i="0" u="none" strike="noStrike" dirty="0">
                          <a:solidFill>
                            <a:schemeClr val="bg1">
                              <a:lumMod val="50000"/>
                            </a:schemeClr>
                          </a:solidFill>
                          <a:latin typeface="Arial"/>
                        </a:rPr>
                        <a:t>Partner Network Operator </a:t>
                      </a:r>
                    </a:p>
                  </a:txBody>
                  <a:tcPr marL="9525" marR="9525" marT="9525" marB="0" anchor="ctr"/>
                </a:tc>
                <a:extLst>
                  <a:ext uri="{0D108BD9-81ED-4DB2-BD59-A6C34878D82A}">
                    <a16:rowId xmlns:a16="http://schemas.microsoft.com/office/drawing/2014/main" val="10005"/>
                  </a:ext>
                </a:extLst>
              </a:tr>
              <a:tr h="416061">
                <a:tc>
                  <a:txBody>
                    <a:bodyPr/>
                    <a:lstStyle/>
                    <a:p>
                      <a:pPr algn="ctr" rtl="0" fontAlgn="b"/>
                      <a:r>
                        <a:rPr lang="en-US" sz="1200" b="0" i="0" u="none" strike="noStrike">
                          <a:solidFill>
                            <a:schemeClr val="bg1">
                              <a:lumMod val="50000"/>
                            </a:schemeClr>
                          </a:solidFill>
                          <a:latin typeface="Arial"/>
                        </a:rPr>
                        <a:t>RAP</a:t>
                      </a:r>
                    </a:p>
                  </a:txBody>
                  <a:tcPr marL="9525" marR="9525" marT="9525" marB="0" anchor="ctr"/>
                </a:tc>
                <a:tc>
                  <a:txBody>
                    <a:bodyPr/>
                    <a:lstStyle/>
                    <a:p>
                      <a:pPr algn="ctr" rtl="0" fontAlgn="b"/>
                      <a:r>
                        <a:rPr lang="en-US" sz="1200" b="0" i="0" u="none" strike="noStrike">
                          <a:solidFill>
                            <a:schemeClr val="bg1">
                              <a:lumMod val="50000"/>
                            </a:schemeClr>
                          </a:solidFill>
                          <a:latin typeface="Arial"/>
                        </a:rPr>
                        <a:t>Reject Account Procedure </a:t>
                      </a:r>
                    </a:p>
                  </a:txBody>
                  <a:tcPr marL="9525" marR="9525" marT="9525" marB="0" anchor="ctr"/>
                </a:tc>
                <a:extLst>
                  <a:ext uri="{0D108BD9-81ED-4DB2-BD59-A6C34878D82A}">
                    <a16:rowId xmlns:a16="http://schemas.microsoft.com/office/drawing/2014/main" val="10006"/>
                  </a:ext>
                </a:extLst>
              </a:tr>
              <a:tr h="416061">
                <a:tc>
                  <a:txBody>
                    <a:bodyPr/>
                    <a:lstStyle/>
                    <a:p>
                      <a:pPr algn="ctr" rtl="0" fontAlgn="b"/>
                      <a:r>
                        <a:rPr lang="en-US" sz="1200" b="0" i="0" u="none" strike="noStrike">
                          <a:solidFill>
                            <a:schemeClr val="bg1">
                              <a:lumMod val="50000"/>
                            </a:schemeClr>
                          </a:solidFill>
                          <a:latin typeface="Arial"/>
                        </a:rPr>
                        <a:t>SDR </a:t>
                      </a:r>
                    </a:p>
                  </a:txBody>
                  <a:tcPr marL="9525" marR="9525" marT="9525" marB="0" anchor="ctr"/>
                </a:tc>
                <a:tc>
                  <a:txBody>
                    <a:bodyPr/>
                    <a:lstStyle/>
                    <a:p>
                      <a:pPr algn="ctr" rtl="0" fontAlgn="b"/>
                      <a:r>
                        <a:rPr lang="en-US" sz="1200" b="0" i="0" u="none" strike="noStrike" dirty="0">
                          <a:solidFill>
                            <a:schemeClr val="bg1">
                              <a:lumMod val="50000"/>
                            </a:schemeClr>
                          </a:solidFill>
                          <a:latin typeface="Arial"/>
                        </a:rPr>
                        <a:t>Standard Drawing Rights</a:t>
                      </a:r>
                    </a:p>
                  </a:txBody>
                  <a:tcPr marL="9525" marR="9525" marT="9525" marB="0" anchor="ctr"/>
                </a:tc>
                <a:extLst>
                  <a:ext uri="{0D108BD9-81ED-4DB2-BD59-A6C34878D82A}">
                    <a16:rowId xmlns:a16="http://schemas.microsoft.com/office/drawing/2014/main" val="10007"/>
                  </a:ext>
                </a:extLst>
              </a:tr>
              <a:tr h="416061">
                <a:tc>
                  <a:txBody>
                    <a:bodyPr/>
                    <a:lstStyle/>
                    <a:p>
                      <a:pPr algn="ctr" rtl="0" fontAlgn="b"/>
                      <a:r>
                        <a:rPr lang="en-US" sz="1200" b="0" i="0" u="none" strike="noStrike">
                          <a:solidFill>
                            <a:schemeClr val="bg1">
                              <a:lumMod val="50000"/>
                            </a:schemeClr>
                          </a:solidFill>
                          <a:latin typeface="Arial"/>
                        </a:rPr>
                        <a:t>TADIG</a:t>
                      </a:r>
                    </a:p>
                  </a:txBody>
                  <a:tcPr marL="9525" marR="9525" marT="9525" marB="0" anchor="ctr"/>
                </a:tc>
                <a:tc>
                  <a:txBody>
                    <a:bodyPr/>
                    <a:lstStyle/>
                    <a:p>
                      <a:pPr algn="ctr" rtl="0" fontAlgn="b"/>
                      <a:r>
                        <a:rPr lang="en-US" sz="1200" b="0" i="0" u="none" strike="noStrike" dirty="0">
                          <a:solidFill>
                            <a:schemeClr val="bg1">
                              <a:lumMod val="50000"/>
                            </a:schemeClr>
                          </a:solidFill>
                          <a:latin typeface="Arial"/>
                        </a:rPr>
                        <a:t>Transfer Account Data Interchange Group</a:t>
                      </a:r>
                    </a:p>
                  </a:txBody>
                  <a:tcPr marL="9525" marR="9525" marT="9525" marB="0" anchor="ctr"/>
                </a:tc>
                <a:extLst>
                  <a:ext uri="{0D108BD9-81ED-4DB2-BD59-A6C34878D82A}">
                    <a16:rowId xmlns:a16="http://schemas.microsoft.com/office/drawing/2014/main" val="10008"/>
                  </a:ext>
                </a:extLst>
              </a:tr>
              <a:tr h="416061">
                <a:tc>
                  <a:txBody>
                    <a:bodyPr/>
                    <a:lstStyle/>
                    <a:p>
                      <a:pPr algn="ctr" rtl="0" fontAlgn="b"/>
                      <a:r>
                        <a:rPr lang="en-US" sz="1200" b="0" i="0" u="none" strike="noStrike">
                          <a:solidFill>
                            <a:schemeClr val="bg1">
                              <a:lumMod val="50000"/>
                            </a:schemeClr>
                          </a:solidFill>
                          <a:latin typeface="Arial"/>
                        </a:rPr>
                        <a:t>TAP</a:t>
                      </a:r>
                    </a:p>
                  </a:txBody>
                  <a:tcPr marL="9525" marR="9525" marT="9525" marB="0" anchor="ctr"/>
                </a:tc>
                <a:tc>
                  <a:txBody>
                    <a:bodyPr/>
                    <a:lstStyle/>
                    <a:p>
                      <a:pPr algn="ctr" rtl="0" fontAlgn="b"/>
                      <a:r>
                        <a:rPr lang="en-US" sz="1200" b="0" i="0" u="none" strike="noStrike" dirty="0">
                          <a:solidFill>
                            <a:schemeClr val="bg1">
                              <a:lumMod val="50000"/>
                            </a:schemeClr>
                          </a:solidFill>
                          <a:latin typeface="Arial"/>
                        </a:rPr>
                        <a:t>Transfer Account Procedure </a:t>
                      </a:r>
                    </a:p>
                  </a:txBody>
                  <a:tcPr marL="9525" marR="9525" marT="9525" marB="0" anchor="ctr"/>
                </a:tc>
                <a:extLst>
                  <a:ext uri="{0D108BD9-81ED-4DB2-BD59-A6C34878D82A}">
                    <a16:rowId xmlns:a16="http://schemas.microsoft.com/office/drawing/2014/main" val="10009"/>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90600" y="2819400"/>
            <a:ext cx="0" cy="0"/>
          </a:xfrm>
        </p:spPr>
        <p:txBody>
          <a:bodyPr/>
          <a:lstStyle/>
          <a:p>
            <a:r>
              <a:rPr lang="en-US" b="1" dirty="0"/>
              <a:t>Thank you</a:t>
            </a:r>
          </a:p>
        </p:txBody>
      </p:sp>
      <p:sp>
        <p:nvSpPr>
          <p:cNvPr id="3" name="Action Button: Back or Previous 2">
            <a:hlinkClick r:id="rId3" action="ppaction://hlinksldjump" highlightClick="1"/>
          </p:cNvPr>
          <p:cNvSpPr/>
          <p:nvPr/>
        </p:nvSpPr>
        <p:spPr>
          <a:xfrm>
            <a:off x="7086600" y="304800"/>
            <a:ext cx="838200" cy="457200"/>
          </a:xfrm>
          <a:prstGeom prst="actionButtonBackPrevious">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Tree>
  </p:cSld>
  <p:clrMapOvr>
    <a:masterClrMapping/>
  </p:clrMapOvr>
</p:sld>
</file>

<file path=ppt/theme/theme1.xml><?xml version="1.0" encoding="utf-8"?>
<a:theme xmlns:a="http://schemas.openxmlformats.org/drawingml/2006/main" name="Blank">
  <a:themeElements>
    <a:clrScheme name="EY_Handout 1">
      <a:dk1>
        <a:srgbClr val="646464"/>
      </a:dk1>
      <a:lt1>
        <a:srgbClr val="FFFFFF"/>
      </a:lt1>
      <a:dk2>
        <a:srgbClr val="646464"/>
      </a:dk2>
      <a:lt2>
        <a:srgbClr val="808080"/>
      </a:lt2>
      <a:accent1>
        <a:srgbClr val="808080"/>
      </a:accent1>
      <a:accent2>
        <a:srgbClr val="FFD200"/>
      </a:accent2>
      <a:accent3>
        <a:srgbClr val="FFFFFF"/>
      </a:accent3>
      <a:accent4>
        <a:srgbClr val="545454"/>
      </a:accent4>
      <a:accent5>
        <a:srgbClr val="C0C0C0"/>
      </a:accent5>
      <a:accent6>
        <a:srgbClr val="E7BE00"/>
      </a:accent6>
      <a:hlink>
        <a:srgbClr val="808080"/>
      </a:hlink>
      <a:folHlink>
        <a:srgbClr val="C0C0C0"/>
      </a:folHlink>
    </a:clrScheme>
    <a:fontScheme name="EY_Handou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EY_Handout 1">
        <a:dk1>
          <a:srgbClr val="646464"/>
        </a:dk1>
        <a:lt1>
          <a:srgbClr val="FFFFFF"/>
        </a:lt1>
        <a:dk2>
          <a:srgbClr val="646464"/>
        </a:dk2>
        <a:lt2>
          <a:srgbClr val="808080"/>
        </a:lt2>
        <a:accent1>
          <a:srgbClr val="808080"/>
        </a:accent1>
        <a:accent2>
          <a:srgbClr val="FFD200"/>
        </a:accent2>
        <a:accent3>
          <a:srgbClr val="FFFFFF"/>
        </a:accent3>
        <a:accent4>
          <a:srgbClr val="545454"/>
        </a:accent4>
        <a:accent5>
          <a:srgbClr val="C0C0C0"/>
        </a:accent5>
        <a:accent6>
          <a:srgbClr val="E7BE00"/>
        </a:accent6>
        <a:hlink>
          <a:srgbClr val="808080"/>
        </a:hlink>
        <a:folHlink>
          <a:srgbClr val="C0C0C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Line 1 divider">
  <a:themeElements>
    <a:clrScheme name="Line 1 divider 1">
      <a:dk1>
        <a:srgbClr val="646464"/>
      </a:dk1>
      <a:lt1>
        <a:srgbClr val="FFFFFF"/>
      </a:lt1>
      <a:dk2>
        <a:srgbClr val="646464"/>
      </a:dk2>
      <a:lt2>
        <a:srgbClr val="808080"/>
      </a:lt2>
      <a:accent1>
        <a:srgbClr val="808080"/>
      </a:accent1>
      <a:accent2>
        <a:srgbClr val="FFD200"/>
      </a:accent2>
      <a:accent3>
        <a:srgbClr val="FFFFFF"/>
      </a:accent3>
      <a:accent4>
        <a:srgbClr val="545454"/>
      </a:accent4>
      <a:accent5>
        <a:srgbClr val="C0C0C0"/>
      </a:accent5>
      <a:accent6>
        <a:srgbClr val="E7BE00"/>
      </a:accent6>
      <a:hlink>
        <a:srgbClr val="808080"/>
      </a:hlink>
      <a:folHlink>
        <a:srgbClr val="C0C0C0"/>
      </a:folHlink>
    </a:clrScheme>
    <a:fontScheme name="Line 1 divider">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1042988" rtl="0" eaLnBrk="1" fontAlgn="base" latinLnBrk="0" hangingPunct="1">
          <a:lnSpc>
            <a:spcPct val="100000"/>
          </a:lnSpc>
          <a:spcBef>
            <a:spcPct val="0"/>
          </a:spcBef>
          <a:spcAft>
            <a:spcPct val="0"/>
          </a:spcAft>
          <a:buClrTx/>
          <a:buSzTx/>
          <a:buFontTx/>
          <a:buNone/>
          <a:tabLst/>
          <a:defRPr kumimoji="0" lang="en-US" sz="25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1042988" rtl="0" eaLnBrk="1" fontAlgn="base" latinLnBrk="0" hangingPunct="1">
          <a:lnSpc>
            <a:spcPct val="100000"/>
          </a:lnSpc>
          <a:spcBef>
            <a:spcPct val="0"/>
          </a:spcBef>
          <a:spcAft>
            <a:spcPct val="0"/>
          </a:spcAft>
          <a:buClrTx/>
          <a:buSzTx/>
          <a:buFontTx/>
          <a:buNone/>
          <a:tabLst/>
          <a:defRPr kumimoji="0" lang="en-US" sz="2500" b="0" i="0" u="none" strike="noStrike" cap="none" normalizeH="0" baseline="0" smtClean="0">
            <a:ln>
              <a:noFill/>
            </a:ln>
            <a:solidFill>
              <a:schemeClr val="tx1"/>
            </a:solidFill>
            <a:effectLst/>
            <a:latin typeface="Arial" charset="0"/>
          </a:defRPr>
        </a:defPPr>
      </a:lstStyle>
    </a:lnDef>
  </a:objectDefaults>
  <a:extraClrSchemeLst>
    <a:extraClrScheme>
      <a:clrScheme name="Line 1 divider 1">
        <a:dk1>
          <a:srgbClr val="646464"/>
        </a:dk1>
        <a:lt1>
          <a:srgbClr val="FFFFFF"/>
        </a:lt1>
        <a:dk2>
          <a:srgbClr val="646464"/>
        </a:dk2>
        <a:lt2>
          <a:srgbClr val="808080"/>
        </a:lt2>
        <a:accent1>
          <a:srgbClr val="808080"/>
        </a:accent1>
        <a:accent2>
          <a:srgbClr val="FFD200"/>
        </a:accent2>
        <a:accent3>
          <a:srgbClr val="FFFFFF"/>
        </a:accent3>
        <a:accent4>
          <a:srgbClr val="545454"/>
        </a:accent4>
        <a:accent5>
          <a:srgbClr val="C0C0C0"/>
        </a:accent5>
        <a:accent6>
          <a:srgbClr val="E7BE00"/>
        </a:accent6>
        <a:hlink>
          <a:srgbClr val="808080"/>
        </a:hlink>
        <a:folHlink>
          <a:srgbClr val="C0C0C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808080"/>
      </a:accent1>
      <a:accent2>
        <a:srgbClr val="FFD200"/>
      </a:accent2>
      <a:accent3>
        <a:srgbClr val="FFFFFF"/>
      </a:accent3>
      <a:accent4>
        <a:srgbClr val="000000"/>
      </a:accent4>
      <a:accent5>
        <a:srgbClr val="C0C0C0"/>
      </a:accent5>
      <a:accent6>
        <a:srgbClr val="E7BE00"/>
      </a:accent6>
      <a:hlink>
        <a:srgbClr val="808080"/>
      </a:hlink>
      <a:folHlink>
        <a:srgbClr val="C0C0C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CustomMKOP.xml><?xml version="1.0" encoding="utf-8"?>
<Properties xmlns="http://schemas.openxmlformats.org/officeDocument/2006/custom-properties" xmlns:vt="http://schemas.openxmlformats.org/officeDocument/2006/docPropsVTypes">
  <property fmtid="{D5CDD505-2E9C-101B-9397-08002B2CF9AE}" pid="2" name="MKProdID">
    <vt:lpwstr>ZMOutlook</vt:lpwstr>
  </property>
  <property fmtid="{D5CDD505-2E9C-101B-9397-08002B2CF9AE}" pid="3" name="SizeBefore">
    <vt:lpwstr>409323</vt:lpwstr>
  </property>
  <property fmtid="{D5CDD505-2E9C-101B-9397-08002B2CF9AE}" pid="4" name="OptimizationTime">
    <vt:lpwstr>20221123_2053</vt:lpwstr>
  </property>
</Properties>
</file>

<file path=docProps/app.xml><?xml version="1.0" encoding="utf-8"?>
<Properties xmlns="http://schemas.openxmlformats.org/officeDocument/2006/extended-properties" xmlns:vt="http://schemas.openxmlformats.org/officeDocument/2006/docPropsVTypes">
  <Template>blank</Template>
  <TotalTime>23304</TotalTime>
  <Words>4410</Words>
  <Application>Microsoft Office PowerPoint</Application>
  <PresentationFormat>On-screen Show (4:3)</PresentationFormat>
  <Paragraphs>538</Paragraphs>
  <Slides>30</Slides>
  <Notes>6</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30</vt:i4>
      </vt:variant>
    </vt:vector>
  </HeadingPairs>
  <TitlesOfParts>
    <vt:vector size="36" baseType="lpstr">
      <vt:lpstr>Arial</vt:lpstr>
      <vt:lpstr>EYInterstate</vt:lpstr>
      <vt:lpstr>EYInterstate Light</vt:lpstr>
      <vt:lpstr>EYInterstate Regular</vt:lpstr>
      <vt:lpstr>Blank</vt:lpstr>
      <vt:lpstr>Line 1 divider</vt:lpstr>
      <vt:lpstr>Roaming Revenue Assurance</vt:lpstr>
      <vt:lpstr>Contents</vt:lpstr>
      <vt:lpstr>Introduction to Roaming</vt:lpstr>
      <vt:lpstr>Introduction to Roaming</vt:lpstr>
      <vt:lpstr>Call flow – Roaming Outgoing Call to other operator in roaming circle</vt:lpstr>
      <vt:lpstr>Call flow – Roaming Outgoing Call to same operator in roaming circle</vt:lpstr>
      <vt:lpstr>Roaming Incoming Call from other operator in roaming circle</vt:lpstr>
      <vt:lpstr>Roaming Incoming Call from same operator in roaming circle</vt:lpstr>
      <vt:lpstr>PowerPoint Presentation</vt:lpstr>
      <vt:lpstr>General Roaming Terminologies</vt:lpstr>
      <vt:lpstr>General Roaming Terminologies</vt:lpstr>
      <vt:lpstr>General Roaming Terminologies…contd</vt:lpstr>
      <vt:lpstr>Key Concepts</vt:lpstr>
      <vt:lpstr>Key Concepts - TAP</vt:lpstr>
      <vt:lpstr>Key Concepts – Data Clearing &amp; Financial Clearing</vt:lpstr>
      <vt:lpstr>Roaming Revenue Cycle</vt:lpstr>
      <vt:lpstr>Roaming Revenue Cycle</vt:lpstr>
      <vt:lpstr>Roaming Revenue Cycle – Commercial Agreement</vt:lpstr>
      <vt:lpstr>Roaming Revenue Cycle – Partner Provisioning</vt:lpstr>
      <vt:lpstr>Roaming Revenue Cycle – Subscriber Provisioning</vt:lpstr>
      <vt:lpstr>Roaming Revenue Cycle – Rating &amp; Billing</vt:lpstr>
      <vt:lpstr>Key Risk in Roaming</vt:lpstr>
      <vt:lpstr>Key Risk in Roaming…..contd</vt:lpstr>
      <vt:lpstr>Intra Circle Roaming</vt:lpstr>
      <vt:lpstr>Intra Circle Roaming</vt:lpstr>
      <vt:lpstr>Intra Circle Roaming….implementation approach</vt:lpstr>
      <vt:lpstr>Key Challenges of ICR</vt:lpstr>
      <vt:lpstr>Glossary</vt:lpstr>
      <vt:lpstr>Glossary</vt:lpstr>
      <vt:lpstr>Thank you</vt:lpstr>
    </vt:vector>
  </TitlesOfParts>
  <Company>Ernst &amp; Young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(Arial bold 30 point) second line title</dc:title>
  <dc:creator>Ernst &amp; Young</dc:creator>
  <cp:lastModifiedBy>Akanksha Misra</cp:lastModifiedBy>
  <cp:revision>731</cp:revision>
  <dcterms:created xsi:type="dcterms:W3CDTF">2010-11-25T13:00:13Z</dcterms:created>
  <dcterms:modified xsi:type="dcterms:W3CDTF">2022-01-27T05:18:43Z</dcterms:modified>
</cp:coreProperties>
</file>
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10" r:id="rId2"/>
  </p:sldMasterIdLst>
  <p:notesMasterIdLst>
    <p:notesMasterId r:id="rId49"/>
  </p:notesMasterIdLst>
  <p:handoutMasterIdLst>
    <p:handoutMasterId r:id="rId50"/>
  </p:handoutMasterIdLst>
  <p:sldIdLst>
    <p:sldId id="259" r:id="rId3"/>
    <p:sldId id="418" r:id="rId4"/>
    <p:sldId id="752" r:id="rId5"/>
    <p:sldId id="778" r:id="rId6"/>
    <p:sldId id="779" r:id="rId7"/>
    <p:sldId id="753" r:id="rId8"/>
    <p:sldId id="754" r:id="rId9"/>
    <p:sldId id="755" r:id="rId10"/>
    <p:sldId id="777" r:id="rId11"/>
    <p:sldId id="758" r:id="rId12"/>
    <p:sldId id="756" r:id="rId13"/>
    <p:sldId id="780" r:id="rId14"/>
    <p:sldId id="757" r:id="rId15"/>
    <p:sldId id="759" r:id="rId16"/>
    <p:sldId id="760" r:id="rId17"/>
    <p:sldId id="761" r:id="rId18"/>
    <p:sldId id="768" r:id="rId19"/>
    <p:sldId id="762" r:id="rId20"/>
    <p:sldId id="763" r:id="rId21"/>
    <p:sldId id="764" r:id="rId22"/>
    <p:sldId id="765" r:id="rId23"/>
    <p:sldId id="766" r:id="rId24"/>
    <p:sldId id="770" r:id="rId25"/>
    <p:sldId id="769" r:id="rId26"/>
    <p:sldId id="771" r:id="rId27"/>
    <p:sldId id="772" r:id="rId28"/>
    <p:sldId id="773" r:id="rId29"/>
    <p:sldId id="781" r:id="rId30"/>
    <p:sldId id="782" r:id="rId31"/>
    <p:sldId id="783" r:id="rId32"/>
    <p:sldId id="784" r:id="rId33"/>
    <p:sldId id="785" r:id="rId34"/>
    <p:sldId id="786" r:id="rId35"/>
    <p:sldId id="787" r:id="rId36"/>
    <p:sldId id="788" r:id="rId37"/>
    <p:sldId id="789" r:id="rId38"/>
    <p:sldId id="790" r:id="rId39"/>
    <p:sldId id="791" r:id="rId40"/>
    <p:sldId id="792" r:id="rId41"/>
    <p:sldId id="793" r:id="rId42"/>
    <p:sldId id="794" r:id="rId43"/>
    <p:sldId id="795" r:id="rId44"/>
    <p:sldId id="798" r:id="rId45"/>
    <p:sldId id="796" r:id="rId46"/>
    <p:sldId id="797" r:id="rId47"/>
    <p:sldId id="943" r:id="rId48"/>
  </p:sldIdLst>
  <p:sldSz cx="9144000" cy="6858000" type="screen4x3"/>
  <p:notesSz cx="6645275" cy="97774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200"/>
    <a:srgbClr val="646464"/>
    <a:srgbClr val="000000"/>
    <a:srgbClr val="B4B4B4"/>
    <a:srgbClr val="F1F1F1"/>
    <a:srgbClr val="007635"/>
    <a:srgbClr val="FAE600"/>
    <a:srgbClr val="80808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43" autoAdjust="0"/>
    <p:restoredTop sz="91702" autoAdjust="0"/>
  </p:normalViewPr>
  <p:slideViewPr>
    <p:cSldViewPr>
      <p:cViewPr>
        <p:scale>
          <a:sx n="90" d="100"/>
          <a:sy n="90" d="100"/>
        </p:scale>
        <p:origin x="-1140" y="-162"/>
      </p:cViewPr>
      <p:guideLst>
        <p:guide orient="horz" pos="3936"/>
        <p:guide orient="horz" pos="4176"/>
        <p:guide pos="5664"/>
        <p:guide pos="5712"/>
      </p:guideLst>
    </p:cSldViewPr>
  </p:slideViewPr>
  <p:notesTextViewPr>
    <p:cViewPr>
      <p:scale>
        <a:sx n="100" d="100"/>
        <a:sy n="100" d="100"/>
      </p:scale>
      <p:origin x="0" y="0"/>
    </p:cViewPr>
  </p:notesTextViewPr>
  <p:sorterViewPr>
    <p:cViewPr>
      <p:scale>
        <a:sx n="20" d="100"/>
        <a:sy n="20" d="100"/>
      </p:scale>
      <p:origin x="0" y="0"/>
    </p:cViewPr>
  </p:sorterViewPr>
  <p:notesViewPr>
    <p:cSldViewPr>
      <p:cViewPr varScale="1">
        <p:scale>
          <a:sx n="65" d="100"/>
          <a:sy n="65" d="100"/>
        </p:scale>
        <p:origin x="-2970" y="-126"/>
      </p:cViewPr>
      <p:guideLst>
        <p:guide orient="horz" pos="3079"/>
        <p:guide pos="2093"/>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5" Type="http://schemas.openxmlformats.org/officeDocument/2006/relationships/image" Target="../media/image19.emf"/><Relationship Id="rId4"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48864" y="9492074"/>
            <a:ext cx="1208773" cy="150091"/>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69639" name="Rectangle 7"/>
          <p:cNvSpPr>
            <a:spLocks noChangeArrowheads="1"/>
          </p:cNvSpPr>
          <p:nvPr/>
        </p:nvSpPr>
        <p:spPr bwMode="auto">
          <a:xfrm>
            <a:off x="2326740" y="9492074"/>
            <a:ext cx="1929274" cy="204520"/>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69640" name="Rectangle 8"/>
          <p:cNvSpPr>
            <a:spLocks noChangeArrowheads="1"/>
          </p:cNvSpPr>
          <p:nvPr/>
        </p:nvSpPr>
        <p:spPr bwMode="auto">
          <a:xfrm>
            <a:off x="1533296" y="9492074"/>
            <a:ext cx="622251" cy="204520"/>
          </a:xfrm>
          <a:prstGeom prst="rect">
            <a:avLst/>
          </a:prstGeom>
          <a:noFill/>
          <a:ln w="9525">
            <a:noFill/>
            <a:miter lim="800000"/>
            <a:headEnd/>
            <a:tailEnd/>
          </a:ln>
          <a:effectLst/>
        </p:spPr>
        <p:txBody>
          <a:bodyPr lIns="0" tIns="0" rIns="0" bIns="0"/>
          <a:lstStyle/>
          <a:p>
            <a:r>
              <a:rPr lang="en-US" sz="1100" dirty="0">
                <a:cs typeface="Arial" charset="0"/>
              </a:rPr>
              <a:t>Page </a:t>
            </a:r>
            <a:fld id="{74984DEF-64B7-4B0D-9CAD-88AC71C7ACA2}" type="slidenum">
              <a:rPr lang="en-US" sz="1100">
                <a:cs typeface="Arial" charset="0"/>
              </a:rPr>
              <a:pPr/>
              <a:t>‹#›</a:t>
            </a:fld>
            <a:endParaRPr lang="en-US" sz="1100" dirty="0">
              <a:cs typeface="Arial" charset="0"/>
            </a:endParaRPr>
          </a:p>
        </p:txBody>
      </p:sp>
      <p:pic>
        <p:nvPicPr>
          <p:cNvPr id="69641" name="Picture 9" descr="logo_tagblack"/>
          <p:cNvPicPr>
            <a:picLocks noChangeAspect="1" noChangeArrowheads="1"/>
          </p:cNvPicPr>
          <p:nvPr/>
        </p:nvPicPr>
        <p:blipFill>
          <a:blip r:embed="rId2" cstate="print"/>
          <a:srcRect/>
          <a:stretch>
            <a:fillRect/>
          </a:stretch>
        </p:blipFill>
        <p:spPr bwMode="auto">
          <a:xfrm>
            <a:off x="5122401" y="9302397"/>
            <a:ext cx="1393364" cy="346366"/>
          </a:xfrm>
          <a:prstGeom prst="rect">
            <a:avLst/>
          </a:prstGeom>
          <a:noFill/>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6" name="Rectangle 4"/>
          <p:cNvSpPr>
            <a:spLocks noGrp="1" noRot="1" noChangeAspect="1" noChangeArrowheads="1" noTextEdit="1"/>
          </p:cNvSpPr>
          <p:nvPr>
            <p:ph type="sldImg" idx="2"/>
          </p:nvPr>
        </p:nvSpPr>
        <p:spPr bwMode="auto">
          <a:xfrm>
            <a:off x="877888" y="733425"/>
            <a:ext cx="4889500" cy="3667125"/>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63932" y="4644601"/>
            <a:ext cx="5317411" cy="4398847"/>
          </a:xfrm>
          <a:prstGeom prst="rect">
            <a:avLst/>
          </a:prstGeom>
          <a:noFill/>
          <a:ln w="9525">
            <a:noFill/>
            <a:miter lim="800000"/>
            <a:headEnd/>
            <a:tailEnd/>
          </a:ln>
          <a:effectLst/>
        </p:spPr>
        <p:txBody>
          <a:bodyPr vert="horz" wrap="square" lIns="92851" tIns="46426" rIns="92851" bIns="4642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200" name="Rectangle 8"/>
          <p:cNvSpPr>
            <a:spLocks noChangeArrowheads="1"/>
          </p:cNvSpPr>
          <p:nvPr/>
        </p:nvSpPr>
        <p:spPr bwMode="auto">
          <a:xfrm>
            <a:off x="148864" y="9492074"/>
            <a:ext cx="1208773" cy="150091"/>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8201" name="Rectangle 9"/>
          <p:cNvSpPr>
            <a:spLocks noChangeArrowheads="1"/>
          </p:cNvSpPr>
          <p:nvPr/>
        </p:nvSpPr>
        <p:spPr bwMode="auto">
          <a:xfrm>
            <a:off x="2326740" y="9492074"/>
            <a:ext cx="1929274" cy="204520"/>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8202" name="Rectangle 10"/>
          <p:cNvSpPr>
            <a:spLocks noChangeArrowheads="1"/>
          </p:cNvSpPr>
          <p:nvPr/>
        </p:nvSpPr>
        <p:spPr bwMode="auto">
          <a:xfrm>
            <a:off x="1533296" y="9492074"/>
            <a:ext cx="622251" cy="204520"/>
          </a:xfrm>
          <a:prstGeom prst="rect">
            <a:avLst/>
          </a:prstGeom>
          <a:noFill/>
          <a:ln w="9525">
            <a:noFill/>
            <a:miter lim="800000"/>
            <a:headEnd/>
            <a:tailEnd/>
          </a:ln>
          <a:effectLst/>
        </p:spPr>
        <p:txBody>
          <a:bodyPr lIns="0" tIns="0" rIns="0" bIns="0"/>
          <a:lstStyle/>
          <a:p>
            <a:r>
              <a:rPr lang="en-US" sz="1100" dirty="0">
                <a:cs typeface="Arial" charset="0"/>
              </a:rPr>
              <a:t>Page </a:t>
            </a:r>
            <a:fld id="{FA5FCB97-0EDB-4471-BEA3-C3A3F240EE22}" type="slidenum">
              <a:rPr lang="en-US" sz="1100">
                <a:cs typeface="Arial" charset="0"/>
              </a:rPr>
              <a:pPr/>
              <a:t>‹#›</a:t>
            </a:fld>
            <a:endParaRPr lang="en-US" sz="1100" dirty="0">
              <a:cs typeface="Arial" charset="0"/>
            </a:endParaRPr>
          </a:p>
        </p:txBody>
      </p:sp>
      <p:pic>
        <p:nvPicPr>
          <p:cNvPr id="8203" name="Picture 11" descr="logo_tagblack"/>
          <p:cNvPicPr>
            <a:picLocks noChangeAspect="1" noChangeArrowheads="1"/>
          </p:cNvPicPr>
          <p:nvPr/>
        </p:nvPicPr>
        <p:blipFill>
          <a:blip r:embed="rId2"/>
          <a:srcRect/>
          <a:stretch>
            <a:fillRect/>
          </a:stretch>
        </p:blipFill>
        <p:spPr bwMode="auto">
          <a:xfrm>
            <a:off x="5122401" y="9302397"/>
            <a:ext cx="1393364" cy="346366"/>
          </a:xfrm>
          <a:prstGeom prst="rect">
            <a:avLst/>
          </a:prstGeom>
          <a:noFill/>
        </p:spPr>
      </p:pic>
    </p:spTree>
  </p:cSld>
  <p:clrMap bg1="lt1" tx1="dk1" bg2="lt2" tx2="dk2" accent1="accent1" accent2="accent2" accent3="accent3" accent4="accent4" accent5="accent5" accent6="accent6" hlink="hlink" folHlink="folHlink"/>
  <p:notesStyle>
    <a:lvl1pPr algn="l" rtl="0" fontAlgn="base">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9388"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60363" indent="1905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3900" indent="1778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81088" indent="176213"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a:ln/>
        </p:spPr>
      </p:sp>
      <p:sp>
        <p:nvSpPr>
          <p:cNvPr id="237571" name="Rectangle 3"/>
          <p:cNvSpPr>
            <a:spLocks noGrp="1" noChangeArrowheads="1"/>
          </p:cNvSpPr>
          <p:nvPr>
            <p:ph type="body" idx="1"/>
          </p:nvPr>
        </p:nvSpPr>
        <p:spPr/>
        <p:txBody>
          <a:bodyPr/>
          <a:lstStyle/>
          <a:p>
            <a:pPr>
              <a:lnSpc>
                <a:spcPct val="90000"/>
              </a:lnSpc>
            </a:pPr>
            <a:r>
              <a:rPr lang="en-GB" sz="1000" dirty="0"/>
              <a:t>For information on applying this template onto existing presentations, refer to the notes on slide 2 of this presentation.</a:t>
            </a:r>
          </a:p>
          <a:p>
            <a:pPr>
              <a:lnSpc>
                <a:spcPct val="90000"/>
              </a:lnSpc>
            </a:pPr>
            <a:r>
              <a:rPr lang="en-GB" sz="1000" dirty="0"/>
              <a:t>The Input area of the Beam can be customized to reflect the content of the</a:t>
            </a:r>
            <a:br>
              <a:rPr lang="en-GB" sz="1000" dirty="0"/>
            </a:br>
            <a:r>
              <a:rPr lang="en-GB" sz="1000" dirty="0"/>
              <a:t>presentation. The Input area is an AutoShape with a picture fill. To change this, ensure you have the image you wish to use (ideally a </a:t>
            </a:r>
            <a:r>
              <a:rPr lang="en-GB" sz="1000" b="1" dirty="0"/>
              <a:t>.jpg</a:t>
            </a:r>
            <a:r>
              <a:rPr lang="en-GB" sz="1000" dirty="0"/>
              <a:t> or a </a:t>
            </a:r>
            <a:r>
              <a:rPr lang="en-GB" sz="1000" b="1" dirty="0"/>
              <a:t>.</a:t>
            </a:r>
            <a:r>
              <a:rPr lang="en-GB" sz="1000" b="1" dirty="0" err="1"/>
              <a:t>png</a:t>
            </a:r>
            <a:r>
              <a:rPr lang="en-GB" sz="1000" dirty="0"/>
              <a:t> file) in an accessible folder. The image should have a ratio of 1:1 to ensure it does not appear distorted.</a:t>
            </a:r>
          </a:p>
          <a:p>
            <a:pPr>
              <a:lnSpc>
                <a:spcPct val="90000"/>
              </a:lnSpc>
            </a:pPr>
            <a:r>
              <a:rPr lang="en-GB" sz="1000" dirty="0"/>
              <a:t>Acceptable images for importing into the Input area of the Beam are the three approved graphics (lines), and black and white photography or illustrations which follow the principles laid out on </a:t>
            </a:r>
            <a:r>
              <a:rPr lang="en-GB" sz="1000" i="1" dirty="0"/>
              <a:t>The Branding Zone. </a:t>
            </a:r>
            <a:r>
              <a:rPr lang="en-GB" sz="1000" dirty="0" err="1"/>
              <a:t>Color</a:t>
            </a:r>
            <a:r>
              <a:rPr lang="en-GB" sz="1000" dirty="0"/>
              <a:t> images should never be imported into this area.</a:t>
            </a:r>
          </a:p>
          <a:p>
            <a:pPr>
              <a:lnSpc>
                <a:spcPct val="90000"/>
              </a:lnSpc>
            </a:pPr>
            <a:r>
              <a:rPr lang="en-GB" sz="1000" dirty="0"/>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a:lnSpc>
                <a:spcPct val="90000"/>
              </a:lnSpc>
            </a:pPr>
            <a:r>
              <a:rPr lang="en-GB" sz="1000" dirty="0"/>
              <a:t>Customize the Input area of the Beam as described below. </a:t>
            </a:r>
          </a:p>
          <a:p>
            <a:pPr lvl="1">
              <a:lnSpc>
                <a:spcPct val="90000"/>
              </a:lnSpc>
            </a:pPr>
            <a:r>
              <a:rPr lang="en-GB" sz="1000" dirty="0"/>
              <a:t>Click on the </a:t>
            </a:r>
            <a:r>
              <a:rPr lang="en-GB" sz="1000" b="1" dirty="0"/>
              <a:t>View</a:t>
            </a:r>
            <a:r>
              <a:rPr lang="en-GB" sz="1000" dirty="0"/>
              <a:t> tab from the menu bar and select </a:t>
            </a:r>
            <a:r>
              <a:rPr lang="en-GB" sz="1000" b="1" dirty="0"/>
              <a:t>Master&gt;Slide Master</a:t>
            </a:r>
          </a:p>
          <a:p>
            <a:pPr lvl="1">
              <a:lnSpc>
                <a:spcPct val="90000"/>
              </a:lnSpc>
            </a:pPr>
            <a:r>
              <a:rPr lang="en-GB" sz="1000" dirty="0"/>
              <a:t>Right-click on the Input graphic and select </a:t>
            </a:r>
            <a:r>
              <a:rPr lang="en-GB" sz="1000" b="1" dirty="0"/>
              <a:t>Format AutoShape</a:t>
            </a:r>
          </a:p>
          <a:p>
            <a:pPr lvl="1">
              <a:lnSpc>
                <a:spcPct val="90000"/>
              </a:lnSpc>
            </a:pPr>
            <a:r>
              <a:rPr lang="en-GB" sz="1000" dirty="0"/>
              <a:t>From the </a:t>
            </a:r>
            <a:r>
              <a:rPr lang="en-GB" sz="1000" b="1" dirty="0"/>
              <a:t>Fill</a:t>
            </a:r>
            <a:r>
              <a:rPr lang="en-GB" sz="1000" dirty="0"/>
              <a:t> menu, under the </a:t>
            </a:r>
            <a:r>
              <a:rPr lang="en-GB" sz="1000" b="1" dirty="0" err="1"/>
              <a:t>Color</a:t>
            </a:r>
            <a:r>
              <a:rPr lang="en-GB" sz="1000" b="1" dirty="0"/>
              <a:t> and Lines</a:t>
            </a:r>
            <a:r>
              <a:rPr lang="en-GB" sz="1000" dirty="0"/>
              <a:t> tab, click on the drop-down arrow next to </a:t>
            </a:r>
            <a:r>
              <a:rPr lang="en-GB" sz="1000" b="1" dirty="0" err="1"/>
              <a:t>Color</a:t>
            </a:r>
            <a:r>
              <a:rPr lang="en-GB" sz="1000" dirty="0"/>
              <a:t> and select the </a:t>
            </a:r>
            <a:r>
              <a:rPr lang="en-GB" sz="1000" b="1" dirty="0"/>
              <a:t>Fill Effects</a:t>
            </a:r>
            <a:r>
              <a:rPr lang="en-GB" sz="1000" dirty="0"/>
              <a:t> menu</a:t>
            </a:r>
          </a:p>
          <a:p>
            <a:pPr lvl="1">
              <a:lnSpc>
                <a:spcPct val="90000"/>
              </a:lnSpc>
            </a:pPr>
            <a:r>
              <a:rPr lang="en-GB" sz="1000" dirty="0"/>
              <a:t>From the </a:t>
            </a:r>
            <a:r>
              <a:rPr lang="en-GB" sz="1000" b="1" dirty="0"/>
              <a:t>Picture</a:t>
            </a:r>
            <a:r>
              <a:rPr lang="en-GB" sz="1000" dirty="0"/>
              <a:t> tab, click on </a:t>
            </a:r>
            <a:r>
              <a:rPr lang="en-GB" sz="1000" b="1" dirty="0"/>
              <a:t>Select Picture</a:t>
            </a:r>
            <a:r>
              <a:rPr lang="en-GB" sz="1000" dirty="0"/>
              <a:t>. Navigate to the folder containing the image you wish to insert in the Input area. Highlight the image and tick the </a:t>
            </a:r>
            <a:r>
              <a:rPr lang="en-GB" sz="1000" b="1" dirty="0"/>
              <a:t>Lock picture aspect ratio</a:t>
            </a:r>
            <a:r>
              <a:rPr lang="en-GB" sz="1000" dirty="0"/>
              <a:t> box. Click on </a:t>
            </a:r>
            <a:r>
              <a:rPr lang="en-GB" sz="1000" b="1" dirty="0"/>
              <a:t>OK</a:t>
            </a:r>
            <a:r>
              <a:rPr lang="en-GB" sz="1000" dirty="0"/>
              <a:t>.</a:t>
            </a:r>
          </a:p>
          <a:p>
            <a:pPr lvl="1">
              <a:lnSpc>
                <a:spcPct val="90000"/>
              </a:lnSpc>
            </a:pPr>
            <a:r>
              <a:rPr lang="en-GB" sz="1000" dirty="0"/>
              <a:t>You can now preview the image before continuing. If you are happy with how it looks, click </a:t>
            </a:r>
            <a:r>
              <a:rPr lang="en-GB" sz="1000" b="1" dirty="0"/>
              <a:t>Ok</a:t>
            </a:r>
            <a:r>
              <a:rPr lang="en-GB" sz="1000" dirty="0"/>
              <a:t> to continue. Otherwise, repeat the process until you are happy with your selected image</a:t>
            </a:r>
          </a:p>
          <a:p>
            <a:pPr lvl="1">
              <a:lnSpc>
                <a:spcPct val="90000"/>
              </a:lnSpc>
            </a:pPr>
            <a:r>
              <a:rPr lang="en-GB" sz="1000" dirty="0"/>
              <a:t>To exit from </a:t>
            </a:r>
            <a:r>
              <a:rPr lang="en-GB" sz="1000" b="1" dirty="0"/>
              <a:t>Master View</a:t>
            </a:r>
            <a:r>
              <a:rPr lang="en-GB" sz="1000" dirty="0"/>
              <a:t>, click on </a:t>
            </a:r>
            <a:r>
              <a:rPr lang="en-GB" sz="1000" b="1" dirty="0"/>
              <a:t>View&gt;Normal</a:t>
            </a:r>
            <a:r>
              <a:rPr lang="en-GB" sz="1000" dirty="0"/>
              <a:t>. The change you made to the Input graphic should now be visible on the title slide</a:t>
            </a:r>
            <a:endParaRPr 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3763963" y="9286875"/>
            <a:ext cx="2879725" cy="488950"/>
          </a:xfrm>
          <a:prstGeom prst="rect">
            <a:avLst/>
          </a:prstGeom>
        </p:spPr>
        <p:txBody>
          <a:bodyPr/>
          <a:lstStyle/>
          <a:p>
            <a:fld id="{9D6808C4-CC38-4EA1-84D9-CA1B6E7DA9BC}" type="slidenum">
              <a:rPr lang="en-US" smtClean="0"/>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3764118" y="9286846"/>
            <a:ext cx="2879619" cy="488871"/>
          </a:xfrm>
          <a:prstGeom prst="rect">
            <a:avLst/>
          </a:prstGeom>
        </p:spPr>
        <p:txBody>
          <a:bodyPr/>
          <a:lstStyle/>
          <a:p>
            <a:fld id="{955BA7DE-2A21-4A50-B07F-8AF04A4AE9CE}" type="slidenum">
              <a:rPr lang="en-US" smtClean="0"/>
              <a:pPr/>
              <a:t>46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7619" y="609600"/>
            <a:ext cx="5064782" cy="838200"/>
          </a:xfrm>
        </p:spPr>
        <p:txBody>
          <a:bodyPr/>
          <a:lstStyle>
            <a:lvl1pPr>
              <a:defRPr>
                <a:latin typeface="EYInterstate Regular" pitchFamily="2" charset="0"/>
              </a:defRPr>
            </a:lvl1pPr>
          </a:lstStyle>
          <a:p>
            <a:r>
              <a:rPr lang="en-US" dirty="0" smtClean="0"/>
              <a:t>Click to </a:t>
            </a:r>
            <a:r>
              <a:rPr lang="en-US" dirty="0" smtClean="0"/>
              <a:t>edit </a:t>
            </a:r>
            <a:r>
              <a:rPr lang="en-US" dirty="0" smtClean="0"/>
              <a:t>Master title style</a:t>
            </a:r>
            <a:endParaRPr lang="en-GB" dirty="0"/>
          </a:p>
        </p:txBody>
      </p:sp>
      <p:sp>
        <p:nvSpPr>
          <p:cNvPr id="8" name="Subtitle 2"/>
          <p:cNvSpPr>
            <a:spLocks noGrp="1"/>
          </p:cNvSpPr>
          <p:nvPr>
            <p:ph type="subTitle" idx="1"/>
          </p:nvPr>
        </p:nvSpPr>
        <p:spPr>
          <a:xfrm>
            <a:off x="2707617" y="1679271"/>
            <a:ext cx="3921783" cy="606729"/>
          </a:xfrm>
        </p:spPr>
        <p:txBody>
          <a:bodyPr/>
          <a:lstStyle>
            <a:lvl1pPr marL="0" indent="0" algn="l">
              <a:buNone/>
              <a:defRPr sz="2000">
                <a:solidFill>
                  <a:schemeClr val="bg2"/>
                </a:solidFill>
                <a:latin typeface="EYInterstate Light" pitchFamily="2" charset="0"/>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GB" dirty="0"/>
          </a:p>
        </p:txBody>
      </p:sp>
      <p:grpSp>
        <p:nvGrpSpPr>
          <p:cNvPr id="9" name="Group 8"/>
          <p:cNvGrpSpPr/>
          <p:nvPr userDrawn="1"/>
        </p:nvGrpSpPr>
        <p:grpSpPr>
          <a:xfrm>
            <a:off x="0" y="1143000"/>
            <a:ext cx="9144001" cy="4946592"/>
            <a:chOff x="0" y="1628775"/>
            <a:chExt cx="12198350" cy="4469625"/>
          </a:xfrm>
        </p:grpSpPr>
        <p:sp>
          <p:nvSpPr>
            <p:cNvPr id="10"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pic>
          <p:nvPicPr>
            <p:cNvPr id="11"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pic>
        <p:nvPicPr>
          <p:cNvPr id="12" name="Picture 2"/>
          <p:cNvPicPr>
            <a:picLocks noChangeAspect="1" noChangeArrowheads="1"/>
          </p:cNvPicPr>
          <p:nvPr userDrawn="1"/>
        </p:nvPicPr>
        <p:blipFill>
          <a:blip r:embed="rId3" cstate="print"/>
          <a:srcRect/>
          <a:stretch>
            <a:fillRect/>
          </a:stretch>
        </p:blipFill>
        <p:spPr bwMode="auto">
          <a:xfrm>
            <a:off x="2362200" y="5562600"/>
            <a:ext cx="840609" cy="74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412875"/>
            <a:ext cx="40401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12875"/>
            <a:ext cx="40417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2575" y="200025"/>
            <a:ext cx="2057400" cy="57324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00025"/>
            <a:ext cx="6024562"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530" y="2130976"/>
            <a:ext cx="7772943" cy="1470086"/>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057" y="3886154"/>
            <a:ext cx="6401886" cy="1752295"/>
          </a:xfrm>
          <a:prstGeom prst="rect">
            <a:avLst/>
          </a:prstGeom>
        </p:spPr>
        <p:txBody>
          <a:bodyPr lIns="80133" tIns="40067" rIns="80133" bIns="40067"/>
          <a:lstStyle>
            <a:lvl1pPr marL="0" indent="0" algn="ctr">
              <a:buNone/>
              <a:defRPr/>
            </a:lvl1pPr>
            <a:lvl2pPr marL="400666" indent="0" algn="ctr">
              <a:buNone/>
              <a:defRPr/>
            </a:lvl2pPr>
            <a:lvl3pPr marL="801330" indent="0" algn="ctr">
              <a:buNone/>
              <a:defRPr/>
            </a:lvl3pPr>
            <a:lvl4pPr marL="1201995" indent="0" algn="ctr">
              <a:buNone/>
              <a:defRPr/>
            </a:lvl4pPr>
            <a:lvl5pPr marL="1602660" indent="0" algn="ctr">
              <a:buNone/>
              <a:defRPr/>
            </a:lvl5pPr>
            <a:lvl6pPr marL="2003326" indent="0" algn="ctr">
              <a:buNone/>
              <a:defRPr/>
            </a:lvl6pPr>
            <a:lvl7pPr marL="2403991" indent="0" algn="ctr">
              <a:buNone/>
              <a:defRPr/>
            </a:lvl7pPr>
            <a:lvl8pPr marL="2804656" indent="0" algn="ctr">
              <a:buNone/>
              <a:defRPr/>
            </a:lvl8pPr>
            <a:lvl9pPr marL="3205320" indent="0" algn="ctr">
              <a:buNone/>
              <a:defRPr/>
            </a:lvl9pPr>
          </a:lstStyle>
          <a:p>
            <a:r>
              <a:rPr lang="en-US" smtClean="0"/>
              <a:t>Click to edit Master subtitle style</a:t>
            </a: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473" y="1599673"/>
            <a:ext cx="8229057" cy="4526884"/>
          </a:xfrm>
          <a:prstGeom prst="rect">
            <a:avLst/>
          </a:prstGeom>
        </p:spPr>
        <p:txBody>
          <a:bodyPr lIns="80133" tIns="40067" rIns="80133" bIns="40067"/>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182" y="4407379"/>
            <a:ext cx="7772943" cy="1362097"/>
          </a:xfrm>
        </p:spPr>
        <p:txBody>
          <a:bodyPr/>
          <a:lstStyle>
            <a:lvl1pPr algn="l">
              <a:defRPr sz="3500" b="1" cap="all"/>
            </a:lvl1pPr>
          </a:lstStyle>
          <a:p>
            <a:r>
              <a:rPr lang="en-US" smtClean="0"/>
              <a:t>Click to edit Master title style</a:t>
            </a:r>
            <a:endParaRPr lang="de-DE"/>
          </a:p>
        </p:txBody>
      </p:sp>
      <p:sp>
        <p:nvSpPr>
          <p:cNvPr id="3" name="Text Placeholder 2"/>
          <p:cNvSpPr>
            <a:spLocks noGrp="1"/>
          </p:cNvSpPr>
          <p:nvPr>
            <p:ph type="body" idx="1"/>
          </p:nvPr>
        </p:nvSpPr>
        <p:spPr>
          <a:xfrm>
            <a:off x="722182" y="2907057"/>
            <a:ext cx="7772943" cy="1500322"/>
          </a:xfrm>
          <a:prstGeom prst="rect">
            <a:avLst/>
          </a:prstGeom>
        </p:spPr>
        <p:txBody>
          <a:bodyPr lIns="80133" tIns="40067" rIns="80133" bIns="40067" anchor="b"/>
          <a:lstStyle>
            <a:lvl1pPr marL="0" indent="0">
              <a:buNone/>
              <a:defRPr sz="1800"/>
            </a:lvl1pPr>
            <a:lvl2pPr marL="400666" indent="0">
              <a:buNone/>
              <a:defRPr sz="1600"/>
            </a:lvl2pPr>
            <a:lvl3pPr marL="801330" indent="0">
              <a:buNone/>
              <a:defRPr sz="1400"/>
            </a:lvl3pPr>
            <a:lvl4pPr marL="1201995" indent="0">
              <a:buNone/>
              <a:defRPr sz="1200"/>
            </a:lvl4pPr>
            <a:lvl5pPr marL="1602660" indent="0">
              <a:buNone/>
              <a:defRPr sz="1200"/>
            </a:lvl5pPr>
            <a:lvl6pPr marL="2003326" indent="0">
              <a:buNone/>
              <a:defRPr sz="1200"/>
            </a:lvl6pPr>
            <a:lvl7pPr marL="2403991" indent="0">
              <a:buNone/>
              <a:defRPr sz="1200"/>
            </a:lvl7pPr>
            <a:lvl8pPr marL="2804656" indent="0">
              <a:buNone/>
              <a:defRPr sz="1200"/>
            </a:lvl8pPr>
            <a:lvl9pPr marL="3205320" indent="0">
              <a:buNone/>
              <a:defRPr sz="12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473" y="1599673"/>
            <a:ext cx="4049369" cy="4526884"/>
          </a:xfrm>
          <a:prstGeom prst="rect">
            <a:avLst/>
          </a:prstGeom>
        </p:spPr>
        <p:txBody>
          <a:bodyPr lIns="80133" tIns="40067" rIns="80133" bIns="40067"/>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37159" y="1599673"/>
            <a:ext cx="4049370" cy="4526884"/>
          </a:xfrm>
          <a:prstGeom prst="rect">
            <a:avLst/>
          </a:prstGeom>
        </p:spPr>
        <p:txBody>
          <a:bodyPr lIns="80133" tIns="40067" rIns="80133" bIns="40067"/>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473" y="275013"/>
            <a:ext cx="8229057" cy="114324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473" y="1534880"/>
            <a:ext cx="4039867" cy="639293"/>
          </a:xfrm>
          <a:prstGeom prst="rect">
            <a:avLst/>
          </a:prstGeom>
        </p:spPr>
        <p:txBody>
          <a:bodyPr lIns="80133" tIns="40067" rIns="80133" bIns="40067" anchor="b"/>
          <a:lstStyle>
            <a:lvl1pPr marL="0" indent="0">
              <a:buNone/>
              <a:defRPr sz="2100" b="1"/>
            </a:lvl1pPr>
            <a:lvl2pPr marL="400666" indent="0">
              <a:buNone/>
              <a:defRPr sz="1800" b="1"/>
            </a:lvl2pPr>
            <a:lvl3pPr marL="801330" indent="0">
              <a:buNone/>
              <a:defRPr sz="1600" b="1"/>
            </a:lvl3pPr>
            <a:lvl4pPr marL="1201995" indent="0">
              <a:buNone/>
              <a:defRPr sz="1400" b="1"/>
            </a:lvl4pPr>
            <a:lvl5pPr marL="1602660" indent="0">
              <a:buNone/>
              <a:defRPr sz="1400" b="1"/>
            </a:lvl5pPr>
            <a:lvl6pPr marL="2003326" indent="0">
              <a:buNone/>
              <a:defRPr sz="1400" b="1"/>
            </a:lvl6pPr>
            <a:lvl7pPr marL="2403991" indent="0">
              <a:buNone/>
              <a:defRPr sz="1400" b="1"/>
            </a:lvl7pPr>
            <a:lvl8pPr marL="2804656" indent="0">
              <a:buNone/>
              <a:defRPr sz="1400" b="1"/>
            </a:lvl8pPr>
            <a:lvl9pPr marL="3205320" indent="0">
              <a:buNone/>
              <a:defRPr sz="1400" b="1"/>
            </a:lvl9pPr>
          </a:lstStyle>
          <a:p>
            <a:pPr lvl="0"/>
            <a:r>
              <a:rPr lang="en-US" smtClean="0"/>
              <a:t>Click to edit Master text styles</a:t>
            </a:r>
          </a:p>
        </p:txBody>
      </p:sp>
      <p:sp>
        <p:nvSpPr>
          <p:cNvPr id="4" name="Content Placeholder 3"/>
          <p:cNvSpPr>
            <a:spLocks noGrp="1"/>
          </p:cNvSpPr>
          <p:nvPr>
            <p:ph sz="half" idx="2"/>
          </p:nvPr>
        </p:nvSpPr>
        <p:spPr>
          <a:xfrm>
            <a:off x="457473" y="2174173"/>
            <a:ext cx="4039867" cy="3952385"/>
          </a:xfrm>
          <a:prstGeom prst="rect">
            <a:avLst/>
          </a:prstGeom>
        </p:spPr>
        <p:txBody>
          <a:bodyPr lIns="80133" tIns="40067" rIns="80133" bIns="40067"/>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305" y="1534880"/>
            <a:ext cx="4041225" cy="639293"/>
          </a:xfrm>
          <a:prstGeom prst="rect">
            <a:avLst/>
          </a:prstGeom>
        </p:spPr>
        <p:txBody>
          <a:bodyPr lIns="80133" tIns="40067" rIns="80133" bIns="40067" anchor="b"/>
          <a:lstStyle>
            <a:lvl1pPr marL="0" indent="0">
              <a:buNone/>
              <a:defRPr sz="2100" b="1"/>
            </a:lvl1pPr>
            <a:lvl2pPr marL="400666" indent="0">
              <a:buNone/>
              <a:defRPr sz="1800" b="1"/>
            </a:lvl2pPr>
            <a:lvl3pPr marL="801330" indent="0">
              <a:buNone/>
              <a:defRPr sz="1600" b="1"/>
            </a:lvl3pPr>
            <a:lvl4pPr marL="1201995" indent="0">
              <a:buNone/>
              <a:defRPr sz="1400" b="1"/>
            </a:lvl4pPr>
            <a:lvl5pPr marL="1602660" indent="0">
              <a:buNone/>
              <a:defRPr sz="1400" b="1"/>
            </a:lvl5pPr>
            <a:lvl6pPr marL="2003326" indent="0">
              <a:buNone/>
              <a:defRPr sz="1400" b="1"/>
            </a:lvl6pPr>
            <a:lvl7pPr marL="2403991" indent="0">
              <a:buNone/>
              <a:defRPr sz="1400" b="1"/>
            </a:lvl7pPr>
            <a:lvl8pPr marL="2804656" indent="0">
              <a:buNone/>
              <a:defRPr sz="1400" b="1"/>
            </a:lvl8pPr>
            <a:lvl9pPr marL="3205320" indent="0">
              <a:buNone/>
              <a:defRPr sz="1400" b="1"/>
            </a:lvl9pPr>
          </a:lstStyle>
          <a:p>
            <a:pPr lvl="0"/>
            <a:r>
              <a:rPr lang="en-US" smtClean="0"/>
              <a:t>Click to edit Master text styles</a:t>
            </a:r>
          </a:p>
        </p:txBody>
      </p:sp>
      <p:sp>
        <p:nvSpPr>
          <p:cNvPr id="6" name="Content Placeholder 5"/>
          <p:cNvSpPr>
            <a:spLocks noGrp="1"/>
          </p:cNvSpPr>
          <p:nvPr>
            <p:ph sz="quarter" idx="4"/>
          </p:nvPr>
        </p:nvSpPr>
        <p:spPr>
          <a:xfrm>
            <a:off x="4645305" y="2174173"/>
            <a:ext cx="4041225" cy="3952385"/>
          </a:xfrm>
          <a:prstGeom prst="rect">
            <a:avLst/>
          </a:prstGeom>
        </p:spPr>
        <p:txBody>
          <a:bodyPr lIns="80133" tIns="40067" rIns="80133" bIns="40067"/>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473" y="273573"/>
            <a:ext cx="3008181" cy="1161958"/>
          </a:xfrm>
        </p:spPr>
        <p:txBody>
          <a:bodyPr anchor="b"/>
          <a:lstStyle>
            <a:lvl1pPr algn="l">
              <a:defRPr sz="1800" b="1"/>
            </a:lvl1pPr>
          </a:lstStyle>
          <a:p>
            <a:r>
              <a:rPr lang="en-US" smtClean="0"/>
              <a:t>Click to edit Master title style</a:t>
            </a:r>
            <a:endParaRPr lang="de-DE"/>
          </a:p>
        </p:txBody>
      </p:sp>
      <p:sp>
        <p:nvSpPr>
          <p:cNvPr id="3" name="Content Placeholder 2"/>
          <p:cNvSpPr>
            <a:spLocks noGrp="1"/>
          </p:cNvSpPr>
          <p:nvPr>
            <p:ph idx="1"/>
          </p:nvPr>
        </p:nvSpPr>
        <p:spPr>
          <a:xfrm>
            <a:off x="3575609" y="273571"/>
            <a:ext cx="5110921" cy="5852986"/>
          </a:xfrm>
          <a:prstGeom prst="rect">
            <a:avLst/>
          </a:prstGeom>
        </p:spPr>
        <p:txBody>
          <a:bodyPr lIns="80133" tIns="40067" rIns="80133" bIns="40067"/>
          <a:lstStyle>
            <a:lvl1pPr>
              <a:defRPr sz="2800"/>
            </a:lvl1pPr>
            <a:lvl2pPr>
              <a:defRPr sz="25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473" y="1435531"/>
            <a:ext cx="3008181" cy="4691027"/>
          </a:xfrm>
          <a:prstGeom prst="rect">
            <a:avLst/>
          </a:prstGeom>
        </p:spPr>
        <p:txBody>
          <a:bodyPr lIns="80133" tIns="40067" rIns="80133" bIns="40067"/>
          <a:lstStyle>
            <a:lvl1pPr marL="0" indent="0">
              <a:buNone/>
              <a:defRPr sz="1200"/>
            </a:lvl1pPr>
            <a:lvl2pPr marL="400666" indent="0">
              <a:buNone/>
              <a:defRPr sz="1100"/>
            </a:lvl2pPr>
            <a:lvl3pPr marL="801330" indent="0">
              <a:buNone/>
              <a:defRPr sz="900"/>
            </a:lvl3pPr>
            <a:lvl4pPr marL="1201995" indent="0">
              <a:buNone/>
              <a:defRPr sz="800"/>
            </a:lvl4pPr>
            <a:lvl5pPr marL="1602660" indent="0">
              <a:buNone/>
              <a:defRPr sz="800"/>
            </a:lvl5pPr>
            <a:lvl6pPr marL="2003326" indent="0">
              <a:buNone/>
              <a:defRPr sz="800"/>
            </a:lvl6pPr>
            <a:lvl7pPr marL="2403991" indent="0">
              <a:buNone/>
              <a:defRPr sz="800"/>
            </a:lvl7pPr>
            <a:lvl8pPr marL="2804656" indent="0">
              <a:buNone/>
              <a:defRPr sz="800"/>
            </a:lvl8pPr>
            <a:lvl9pPr marL="3205320" indent="0">
              <a:buNone/>
              <a:defRPr sz="8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1878" y="4800456"/>
            <a:ext cx="5486943" cy="567300"/>
          </a:xfrm>
        </p:spPr>
        <p:txBody>
          <a:bodyPr anchor="b"/>
          <a:lstStyle>
            <a:lvl1pPr algn="l">
              <a:defRPr sz="1800" b="1"/>
            </a:lvl1pPr>
          </a:lstStyle>
          <a:p>
            <a:r>
              <a:rPr lang="en-US" smtClean="0"/>
              <a:t>Click to edit Master title style</a:t>
            </a:r>
            <a:endParaRPr lang="de-DE"/>
          </a:p>
        </p:txBody>
      </p:sp>
      <p:sp>
        <p:nvSpPr>
          <p:cNvPr id="3" name="Picture Placeholder 2"/>
          <p:cNvSpPr>
            <a:spLocks noGrp="1"/>
          </p:cNvSpPr>
          <p:nvPr>
            <p:ph type="pic" idx="1"/>
          </p:nvPr>
        </p:nvSpPr>
        <p:spPr>
          <a:xfrm>
            <a:off x="1791878" y="613376"/>
            <a:ext cx="5486943" cy="4113648"/>
          </a:xfrm>
          <a:prstGeom prst="rect">
            <a:avLst/>
          </a:prstGeom>
        </p:spPr>
        <p:txBody>
          <a:bodyPr lIns="80133" tIns="40067" rIns="80133" bIns="40067"/>
          <a:lstStyle>
            <a:lvl1pPr marL="0" indent="0">
              <a:buNone/>
              <a:defRPr sz="2800"/>
            </a:lvl1pPr>
            <a:lvl2pPr marL="400666" indent="0">
              <a:buNone/>
              <a:defRPr sz="2500"/>
            </a:lvl2pPr>
            <a:lvl3pPr marL="801330" indent="0">
              <a:buNone/>
              <a:defRPr sz="2100"/>
            </a:lvl3pPr>
            <a:lvl4pPr marL="1201995" indent="0">
              <a:buNone/>
              <a:defRPr sz="1800"/>
            </a:lvl4pPr>
            <a:lvl5pPr marL="1602660" indent="0">
              <a:buNone/>
              <a:defRPr sz="1800"/>
            </a:lvl5pPr>
            <a:lvl6pPr marL="2003326" indent="0">
              <a:buNone/>
              <a:defRPr sz="1800"/>
            </a:lvl6pPr>
            <a:lvl7pPr marL="2403991" indent="0">
              <a:buNone/>
              <a:defRPr sz="1800"/>
            </a:lvl7pPr>
            <a:lvl8pPr marL="2804656" indent="0">
              <a:buNone/>
              <a:defRPr sz="1800"/>
            </a:lvl8pPr>
            <a:lvl9pPr marL="3205320" indent="0">
              <a:buNone/>
              <a:defRPr sz="1800"/>
            </a:lvl9pPr>
          </a:lstStyle>
          <a:p>
            <a:pPr lvl="0"/>
            <a:endParaRPr lang="de-DE" noProof="0" smtClean="0"/>
          </a:p>
        </p:txBody>
      </p:sp>
      <p:sp>
        <p:nvSpPr>
          <p:cNvPr id="4" name="Text Placeholder 3"/>
          <p:cNvSpPr>
            <a:spLocks noGrp="1"/>
          </p:cNvSpPr>
          <p:nvPr>
            <p:ph type="body" sz="half" idx="2"/>
          </p:nvPr>
        </p:nvSpPr>
        <p:spPr>
          <a:xfrm>
            <a:off x="1791878" y="5367757"/>
            <a:ext cx="5486943" cy="804876"/>
          </a:xfrm>
          <a:prstGeom prst="rect">
            <a:avLst/>
          </a:prstGeom>
        </p:spPr>
        <p:txBody>
          <a:bodyPr lIns="80133" tIns="40067" rIns="80133" bIns="40067"/>
          <a:lstStyle>
            <a:lvl1pPr marL="0" indent="0">
              <a:buNone/>
              <a:defRPr sz="1200"/>
            </a:lvl1pPr>
            <a:lvl2pPr marL="400666" indent="0">
              <a:buNone/>
              <a:defRPr sz="1100"/>
            </a:lvl2pPr>
            <a:lvl3pPr marL="801330" indent="0">
              <a:buNone/>
              <a:defRPr sz="900"/>
            </a:lvl3pPr>
            <a:lvl4pPr marL="1201995" indent="0">
              <a:buNone/>
              <a:defRPr sz="800"/>
            </a:lvl4pPr>
            <a:lvl5pPr marL="1602660" indent="0">
              <a:buNone/>
              <a:defRPr sz="800"/>
            </a:lvl5pPr>
            <a:lvl6pPr marL="2003326" indent="0">
              <a:buNone/>
              <a:defRPr sz="800"/>
            </a:lvl6pPr>
            <a:lvl7pPr marL="2403991" indent="0">
              <a:buNone/>
              <a:defRPr sz="800"/>
            </a:lvl7pPr>
            <a:lvl8pPr marL="2804656" indent="0">
              <a:buNone/>
              <a:defRPr sz="800"/>
            </a:lvl8pPr>
            <a:lvl9pPr marL="3205320" indent="0">
              <a:buNone/>
              <a:defRPr sz="8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473" y="1599673"/>
            <a:ext cx="8229057" cy="4526884"/>
          </a:xfrm>
          <a:prstGeom prst="rect">
            <a:avLst/>
          </a:prstGeom>
        </p:spPr>
        <p:txBody>
          <a:bodyPr vert="eaVert" lIns="80133" tIns="40067" rIns="80133" bIns="40067"/>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943" y="200141"/>
            <a:ext cx="2056586" cy="5926417"/>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473" y="200141"/>
            <a:ext cx="6042153" cy="5926417"/>
          </a:xfrm>
          <a:prstGeom prst="rect">
            <a:avLst/>
          </a:prstGeom>
        </p:spPr>
        <p:txBody>
          <a:bodyPr vert="eaVert" lIns="80133" tIns="40067" rIns="80133" bIns="40067"/>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234362" cy="4519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032" name="Rectangle 8"/>
          <p:cNvSpPr>
            <a:spLocks noChangeArrowheads="1"/>
          </p:cNvSpPr>
          <p:nvPr/>
        </p:nvSpPr>
        <p:spPr bwMode="auto">
          <a:xfrm>
            <a:off x="2514600" y="6419850"/>
            <a:ext cx="3768725" cy="209550"/>
          </a:xfrm>
          <a:prstGeom prst="rect">
            <a:avLst/>
          </a:prstGeom>
          <a:noFill/>
          <a:ln w="9525">
            <a:noFill/>
            <a:miter lim="800000"/>
            <a:headEnd/>
            <a:tailEnd/>
          </a:ln>
          <a:effectLst/>
        </p:spPr>
        <p:txBody>
          <a:bodyPr lIns="0" tIns="0" rIns="0" bIns="0"/>
          <a:lstStyle/>
          <a:p>
            <a:pPr algn="ctr"/>
            <a:r>
              <a:rPr lang="en-US" sz="1100" dirty="0" smtClean="0">
                <a:solidFill>
                  <a:srgbClr val="000000"/>
                </a:solidFill>
                <a:cs typeface="Arial" charset="0"/>
              </a:rPr>
              <a:t>Postpaid </a:t>
            </a:r>
            <a:r>
              <a:rPr lang="en-US" sz="1100" baseline="0" dirty="0" smtClean="0">
                <a:solidFill>
                  <a:srgbClr val="000000"/>
                </a:solidFill>
                <a:cs typeface="Arial" charset="0"/>
              </a:rPr>
              <a:t> Revenue Assurance</a:t>
            </a:r>
            <a:endParaRPr lang="en-US" sz="1100" dirty="0">
              <a:solidFill>
                <a:srgbClr val="000000"/>
              </a:solidFill>
              <a:cs typeface="Arial" charset="0"/>
            </a:endParaRPr>
          </a:p>
        </p:txBody>
      </p:sp>
      <p:sp>
        <p:nvSpPr>
          <p:cNvPr id="1033" name="Rectangle 9"/>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r>
              <a:rPr lang="en-US" sz="1100">
                <a:solidFill>
                  <a:srgbClr val="000000"/>
                </a:solidFill>
                <a:cs typeface="Arial" charset="0"/>
              </a:rPr>
              <a:t>Page </a:t>
            </a:r>
            <a:fld id="{92377386-EE50-4FE3-9EAA-3F82571A0486}" type="slidenum">
              <a:rPr lang="en-US" sz="1100">
                <a:solidFill>
                  <a:srgbClr val="000000"/>
                </a:solidFill>
                <a:cs typeface="Arial" charset="0"/>
              </a:rPr>
              <a:pPr/>
              <a:t>‹#›</a:t>
            </a:fld>
            <a:endParaRPr lang="en-US" sz="1100">
              <a:solidFill>
                <a:srgbClr val="000000"/>
              </a:solidFill>
              <a:cs typeface="Arial" charset="0"/>
            </a:endParaRPr>
          </a:p>
        </p:txBody>
      </p:sp>
      <p:sp>
        <p:nvSpPr>
          <p:cNvPr id="1034" name="Line 10"/>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endParaRPr lang="en-US"/>
          </a:p>
        </p:txBody>
      </p:sp>
      <p:sp>
        <p:nvSpPr>
          <p:cNvPr id="1035" name="Line 11"/>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endParaRPr lang="en-US"/>
          </a:p>
        </p:txBody>
      </p:sp>
      <p:sp>
        <p:nvSpPr>
          <p:cNvPr id="1036" name="Line 12"/>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endParaRPr lang="en-US"/>
          </a:p>
        </p:txBody>
      </p:sp>
      <p:grpSp>
        <p:nvGrpSpPr>
          <p:cNvPr id="10" name="Group 9"/>
          <p:cNvGrpSpPr/>
          <p:nvPr userDrawn="1"/>
        </p:nvGrpSpPr>
        <p:grpSpPr bwMode="gray">
          <a:xfrm>
            <a:off x="8390248" y="6440831"/>
            <a:ext cx="296552" cy="188569"/>
            <a:chOff x="8348663" y="6450013"/>
            <a:chExt cx="338137" cy="204787"/>
          </a:xfrm>
          <a:solidFill>
            <a:srgbClr val="808080"/>
          </a:solidFill>
        </p:grpSpPr>
        <p:sp>
          <p:nvSpPr>
            <p:cNvPr id="11" name="Freeform 10"/>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2" name="Freeform 11"/>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defRPr sz="3000" b="1">
          <a:solidFill>
            <a:srgbClr val="646464"/>
          </a:solidFill>
          <a:latin typeface="+mj-lt"/>
          <a:ea typeface="+mj-ea"/>
          <a:cs typeface="+mj-cs"/>
        </a:defRPr>
      </a:lvl1pPr>
      <a:lvl2pPr algn="l" rtl="0" eaLnBrk="1" fontAlgn="base" hangingPunct="1">
        <a:lnSpc>
          <a:spcPct val="85000"/>
        </a:lnSpc>
        <a:spcBef>
          <a:spcPct val="0"/>
        </a:spcBef>
        <a:spcAft>
          <a:spcPct val="0"/>
        </a:spcAft>
        <a:defRPr sz="3000" b="1">
          <a:solidFill>
            <a:srgbClr val="646464"/>
          </a:solidFill>
          <a:latin typeface="Arial" charset="0"/>
        </a:defRPr>
      </a:lvl2pPr>
      <a:lvl3pPr algn="l" rtl="0" eaLnBrk="1" fontAlgn="base" hangingPunct="1">
        <a:lnSpc>
          <a:spcPct val="85000"/>
        </a:lnSpc>
        <a:spcBef>
          <a:spcPct val="0"/>
        </a:spcBef>
        <a:spcAft>
          <a:spcPct val="0"/>
        </a:spcAft>
        <a:defRPr sz="3000" b="1">
          <a:solidFill>
            <a:srgbClr val="646464"/>
          </a:solidFill>
          <a:latin typeface="Arial" charset="0"/>
        </a:defRPr>
      </a:lvl3pPr>
      <a:lvl4pPr algn="l" rtl="0" eaLnBrk="1" fontAlgn="base" hangingPunct="1">
        <a:lnSpc>
          <a:spcPct val="85000"/>
        </a:lnSpc>
        <a:spcBef>
          <a:spcPct val="0"/>
        </a:spcBef>
        <a:spcAft>
          <a:spcPct val="0"/>
        </a:spcAft>
        <a:defRPr sz="3000" b="1">
          <a:solidFill>
            <a:srgbClr val="646464"/>
          </a:solidFill>
          <a:latin typeface="Arial" charset="0"/>
        </a:defRPr>
      </a:lvl4pPr>
      <a:lvl5pPr algn="l" rtl="0" eaLnBrk="1" fontAlgn="base" hangingPunct="1">
        <a:lnSpc>
          <a:spcPct val="85000"/>
        </a:lnSpc>
        <a:spcBef>
          <a:spcPct val="0"/>
        </a:spcBef>
        <a:spcAft>
          <a:spcPct val="0"/>
        </a:spcAft>
        <a:defRPr sz="3000" b="1">
          <a:solidFill>
            <a:srgbClr val="646464"/>
          </a:solidFill>
          <a:latin typeface="Arial" charset="0"/>
        </a:defRPr>
      </a:lvl5pPr>
      <a:lvl6pPr marL="457200" algn="l" rtl="0" eaLnBrk="1" fontAlgn="base" hangingPunct="1">
        <a:lnSpc>
          <a:spcPct val="85000"/>
        </a:lnSpc>
        <a:spcBef>
          <a:spcPct val="0"/>
        </a:spcBef>
        <a:spcAft>
          <a:spcPct val="0"/>
        </a:spcAft>
        <a:defRPr sz="3000" b="1">
          <a:solidFill>
            <a:srgbClr val="646464"/>
          </a:solidFill>
          <a:latin typeface="Arial" charset="0"/>
        </a:defRPr>
      </a:lvl6pPr>
      <a:lvl7pPr marL="914400" algn="l" rtl="0" eaLnBrk="1" fontAlgn="base" hangingPunct="1">
        <a:lnSpc>
          <a:spcPct val="85000"/>
        </a:lnSpc>
        <a:spcBef>
          <a:spcPct val="0"/>
        </a:spcBef>
        <a:spcAft>
          <a:spcPct val="0"/>
        </a:spcAft>
        <a:defRPr sz="3000" b="1">
          <a:solidFill>
            <a:srgbClr val="646464"/>
          </a:solidFill>
          <a:latin typeface="Arial" charset="0"/>
        </a:defRPr>
      </a:lvl7pPr>
      <a:lvl8pPr marL="1371600" algn="l" rtl="0" eaLnBrk="1" fontAlgn="base" hangingPunct="1">
        <a:lnSpc>
          <a:spcPct val="85000"/>
        </a:lnSpc>
        <a:spcBef>
          <a:spcPct val="0"/>
        </a:spcBef>
        <a:spcAft>
          <a:spcPct val="0"/>
        </a:spcAft>
        <a:defRPr sz="3000" b="1">
          <a:solidFill>
            <a:srgbClr val="646464"/>
          </a:solidFill>
          <a:latin typeface="Arial" charset="0"/>
        </a:defRPr>
      </a:lvl8pPr>
      <a:lvl9pPr marL="1828800" algn="l" rtl="0" eaLnBrk="1" fontAlgn="base" hangingPunct="1">
        <a:lnSpc>
          <a:spcPct val="85000"/>
        </a:lnSpc>
        <a:spcBef>
          <a:spcPct val="0"/>
        </a:spcBef>
        <a:spcAft>
          <a:spcPct val="0"/>
        </a:spcAft>
        <a:defRPr sz="3000" b="1">
          <a:solidFill>
            <a:srgbClr val="646464"/>
          </a:solidFill>
          <a:latin typeface="Arial" charset="0"/>
        </a:defRPr>
      </a:lvl9pPr>
    </p:titleStyle>
    <p:bodyStyle>
      <a:lvl1pPr marL="360363" indent="-360363" algn="l" rtl="0" eaLnBrk="1" fontAlgn="base" hangingPunct="1">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1" fontAlgn="base" hangingPunct="1">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1" fontAlgn="base" hangingPunct="1">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8" descr="lines11_crop_subtle_w"/>
          <p:cNvPicPr>
            <a:picLocks noChangeAspect="1" noChangeArrowheads="1"/>
          </p:cNvPicPr>
          <p:nvPr/>
        </p:nvPicPr>
        <p:blipFill>
          <a:blip r:embed="rId13" cstate="print"/>
          <a:srcRect/>
          <a:stretch>
            <a:fillRect/>
          </a:stretch>
        </p:blipFill>
        <p:spPr bwMode="auto">
          <a:xfrm>
            <a:off x="456114" y="1036691"/>
            <a:ext cx="8230415" cy="5196415"/>
          </a:xfrm>
          <a:prstGeom prst="rect">
            <a:avLst/>
          </a:prstGeom>
          <a:noFill/>
          <a:ln w="9525">
            <a:noFill/>
            <a:miter lim="800000"/>
            <a:headEnd/>
            <a:tailEnd/>
          </a:ln>
        </p:spPr>
      </p:pic>
      <p:sp>
        <p:nvSpPr>
          <p:cNvPr id="3075" name="Rectangle 2"/>
          <p:cNvSpPr>
            <a:spLocks noGrp="1" noChangeArrowheads="1"/>
          </p:cNvSpPr>
          <p:nvPr>
            <p:ph type="title"/>
          </p:nvPr>
        </p:nvSpPr>
        <p:spPr bwMode="auto">
          <a:xfrm>
            <a:off x="457472" y="200140"/>
            <a:ext cx="8229057" cy="863909"/>
          </a:xfrm>
          <a:prstGeom prst="rect">
            <a:avLst/>
          </a:prstGeom>
          <a:noFill/>
          <a:ln w="9525">
            <a:noFill/>
            <a:miter lim="800000"/>
            <a:headEnd/>
            <a:tailEnd/>
          </a:ln>
        </p:spPr>
        <p:txBody>
          <a:bodyPr vert="horz" wrap="square" lIns="0" tIns="35982" rIns="0" bIns="0" numCol="1" anchor="t" anchorCtr="0" compatLnSpc="1">
            <a:prstTxWarp prst="textNoShape">
              <a:avLst/>
            </a:prstTxWarp>
          </a:bodyPr>
          <a:lstStyle/>
          <a:p>
            <a:pPr lvl="0"/>
            <a:r>
              <a:rPr lang="en-US" smtClean="0"/>
              <a:t>Click to edit Master title style</a:t>
            </a:r>
          </a:p>
        </p:txBody>
      </p:sp>
      <p:sp>
        <p:nvSpPr>
          <p:cNvPr id="89091" name="Line 3"/>
          <p:cNvSpPr>
            <a:spLocks noChangeShapeType="1"/>
          </p:cNvSpPr>
          <p:nvPr/>
        </p:nvSpPr>
        <p:spPr bwMode="auto">
          <a:xfrm>
            <a:off x="456114" y="200139"/>
            <a:ext cx="8229057" cy="0"/>
          </a:xfrm>
          <a:prstGeom prst="line">
            <a:avLst/>
          </a:prstGeom>
          <a:noFill/>
          <a:ln w="6350">
            <a:solidFill>
              <a:srgbClr val="646464"/>
            </a:solidFill>
            <a:round/>
            <a:headEnd/>
            <a:tailEnd/>
          </a:ln>
          <a:effectLst/>
        </p:spPr>
        <p:txBody>
          <a:bodyPr wrap="none" lIns="80133" tIns="40067" rIns="80133" bIns="40067" anchor="ctr"/>
          <a:lstStyle/>
          <a:p>
            <a:pPr>
              <a:defRPr/>
            </a:pPr>
            <a:endParaRPr lang="de-DE" sz="2200">
              <a:solidFill>
                <a:srgbClr val="646464"/>
              </a:solidFill>
              <a:latin typeface="Arial"/>
            </a:endParaRPr>
          </a:p>
        </p:txBody>
      </p:sp>
      <p:pic>
        <p:nvPicPr>
          <p:cNvPr id="3077" name="Picture 4" descr="logo_tagblack"/>
          <p:cNvPicPr>
            <a:picLocks noChangeAspect="1" noChangeArrowheads="1"/>
          </p:cNvPicPr>
          <p:nvPr/>
        </p:nvPicPr>
        <p:blipFill>
          <a:blip r:embed="rId14" cstate="print"/>
          <a:srcRect/>
          <a:stretch>
            <a:fillRect/>
          </a:stretch>
        </p:blipFill>
        <p:spPr bwMode="auto">
          <a:xfrm>
            <a:off x="7225878" y="6387169"/>
            <a:ext cx="1486443" cy="332606"/>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iming>
    <p:tnLst>
      <p:par>
        <p:cTn id="1" dur="indefinite" restart="never" nodeType="tmRoot"/>
      </p:par>
    </p:tnLst>
  </p:timing>
  <p:hf sldNum="0" hdr="0"/>
  <p:txStyles>
    <p:titleStyle>
      <a:lvl1pPr algn="l" defTabSz="912787" rtl="0" eaLnBrk="0" fontAlgn="base" hangingPunct="0">
        <a:lnSpc>
          <a:spcPct val="85000"/>
        </a:lnSpc>
        <a:spcBef>
          <a:spcPct val="0"/>
        </a:spcBef>
        <a:spcAft>
          <a:spcPct val="0"/>
        </a:spcAft>
        <a:defRPr sz="2600" b="1">
          <a:solidFill>
            <a:srgbClr val="000000"/>
          </a:solidFill>
          <a:latin typeface="+mj-lt"/>
          <a:ea typeface="+mj-ea"/>
          <a:cs typeface="+mj-cs"/>
        </a:defRPr>
      </a:lvl1pPr>
      <a:lvl2pPr algn="l" defTabSz="912787" rtl="0" eaLnBrk="0" fontAlgn="base" hangingPunct="0">
        <a:lnSpc>
          <a:spcPct val="85000"/>
        </a:lnSpc>
        <a:spcBef>
          <a:spcPct val="0"/>
        </a:spcBef>
        <a:spcAft>
          <a:spcPct val="0"/>
        </a:spcAft>
        <a:defRPr sz="2600" b="1">
          <a:solidFill>
            <a:srgbClr val="000000"/>
          </a:solidFill>
          <a:latin typeface="Arial" charset="0"/>
        </a:defRPr>
      </a:lvl2pPr>
      <a:lvl3pPr algn="l" defTabSz="912787" rtl="0" eaLnBrk="0" fontAlgn="base" hangingPunct="0">
        <a:lnSpc>
          <a:spcPct val="85000"/>
        </a:lnSpc>
        <a:spcBef>
          <a:spcPct val="0"/>
        </a:spcBef>
        <a:spcAft>
          <a:spcPct val="0"/>
        </a:spcAft>
        <a:defRPr sz="2600" b="1">
          <a:solidFill>
            <a:srgbClr val="000000"/>
          </a:solidFill>
          <a:latin typeface="Arial" charset="0"/>
        </a:defRPr>
      </a:lvl3pPr>
      <a:lvl4pPr algn="l" defTabSz="912787" rtl="0" eaLnBrk="0" fontAlgn="base" hangingPunct="0">
        <a:lnSpc>
          <a:spcPct val="85000"/>
        </a:lnSpc>
        <a:spcBef>
          <a:spcPct val="0"/>
        </a:spcBef>
        <a:spcAft>
          <a:spcPct val="0"/>
        </a:spcAft>
        <a:defRPr sz="2600" b="1">
          <a:solidFill>
            <a:srgbClr val="000000"/>
          </a:solidFill>
          <a:latin typeface="Arial" charset="0"/>
        </a:defRPr>
      </a:lvl4pPr>
      <a:lvl5pPr algn="l" defTabSz="912787" rtl="0" eaLnBrk="0" fontAlgn="base" hangingPunct="0">
        <a:lnSpc>
          <a:spcPct val="85000"/>
        </a:lnSpc>
        <a:spcBef>
          <a:spcPct val="0"/>
        </a:spcBef>
        <a:spcAft>
          <a:spcPct val="0"/>
        </a:spcAft>
        <a:defRPr sz="2600" b="1">
          <a:solidFill>
            <a:srgbClr val="000000"/>
          </a:solidFill>
          <a:latin typeface="Arial" charset="0"/>
        </a:defRPr>
      </a:lvl5pPr>
      <a:lvl6pPr marL="400666" algn="l" defTabSz="914018" rtl="0" fontAlgn="base">
        <a:lnSpc>
          <a:spcPct val="85000"/>
        </a:lnSpc>
        <a:spcBef>
          <a:spcPct val="0"/>
        </a:spcBef>
        <a:spcAft>
          <a:spcPct val="0"/>
        </a:spcAft>
        <a:defRPr sz="2600" b="1">
          <a:solidFill>
            <a:srgbClr val="000000"/>
          </a:solidFill>
          <a:latin typeface="Arial" charset="0"/>
        </a:defRPr>
      </a:lvl6pPr>
      <a:lvl7pPr marL="801330" algn="l" defTabSz="914018" rtl="0" fontAlgn="base">
        <a:lnSpc>
          <a:spcPct val="85000"/>
        </a:lnSpc>
        <a:spcBef>
          <a:spcPct val="0"/>
        </a:spcBef>
        <a:spcAft>
          <a:spcPct val="0"/>
        </a:spcAft>
        <a:defRPr sz="2600" b="1">
          <a:solidFill>
            <a:srgbClr val="000000"/>
          </a:solidFill>
          <a:latin typeface="Arial" charset="0"/>
        </a:defRPr>
      </a:lvl7pPr>
      <a:lvl8pPr marL="1201995" algn="l" defTabSz="914018" rtl="0" fontAlgn="base">
        <a:lnSpc>
          <a:spcPct val="85000"/>
        </a:lnSpc>
        <a:spcBef>
          <a:spcPct val="0"/>
        </a:spcBef>
        <a:spcAft>
          <a:spcPct val="0"/>
        </a:spcAft>
        <a:defRPr sz="2600" b="1">
          <a:solidFill>
            <a:srgbClr val="000000"/>
          </a:solidFill>
          <a:latin typeface="Arial" charset="0"/>
        </a:defRPr>
      </a:lvl8pPr>
      <a:lvl9pPr marL="1602660" algn="l" defTabSz="914018" rtl="0" fontAlgn="base">
        <a:lnSpc>
          <a:spcPct val="85000"/>
        </a:lnSpc>
        <a:spcBef>
          <a:spcPct val="0"/>
        </a:spcBef>
        <a:spcAft>
          <a:spcPct val="0"/>
        </a:spcAft>
        <a:defRPr sz="2600" b="1">
          <a:solidFill>
            <a:srgbClr val="000000"/>
          </a:solidFill>
          <a:latin typeface="Arial" charset="0"/>
        </a:defRPr>
      </a:lvl9pPr>
    </p:titleStyle>
    <p:bodyStyle>
      <a:lvl1pPr marL="340904" indent="-340904" algn="l" defTabSz="912787" rtl="0" eaLnBrk="0" fontAlgn="base" hangingPunct="0">
        <a:spcBef>
          <a:spcPct val="20000"/>
        </a:spcBef>
        <a:spcAft>
          <a:spcPct val="0"/>
        </a:spcAft>
        <a:buClr>
          <a:schemeClr val="hlink"/>
        </a:buClr>
        <a:buSzPct val="75000"/>
        <a:buFont typeface="Arial" pitchFamily="34" charset="0"/>
        <a:buChar char="►"/>
        <a:defRPr sz="2400">
          <a:solidFill>
            <a:srgbClr val="646464"/>
          </a:solidFill>
          <a:latin typeface="+mn-lt"/>
          <a:ea typeface="+mn-ea"/>
          <a:cs typeface="+mn-cs"/>
        </a:defRPr>
      </a:lvl1pPr>
      <a:lvl2pPr marL="741640" indent="-283855" algn="l" defTabSz="912787" rtl="0" eaLnBrk="0" fontAlgn="base" hangingPunct="0">
        <a:spcBef>
          <a:spcPct val="20000"/>
        </a:spcBef>
        <a:spcAft>
          <a:spcPct val="0"/>
        </a:spcAft>
        <a:buClr>
          <a:schemeClr val="hlink"/>
        </a:buClr>
        <a:buSzPct val="75000"/>
        <a:buFont typeface="Arial" pitchFamily="34" charset="0"/>
        <a:buChar char="►"/>
        <a:defRPr sz="2000">
          <a:solidFill>
            <a:srgbClr val="646464"/>
          </a:solidFill>
          <a:latin typeface="+mn-lt"/>
        </a:defRPr>
      </a:lvl2pPr>
      <a:lvl3pPr marL="1140984" indent="-226806" algn="l" defTabSz="912787" rtl="0" eaLnBrk="0" fontAlgn="base" hangingPunct="0">
        <a:spcBef>
          <a:spcPct val="20000"/>
        </a:spcBef>
        <a:spcAft>
          <a:spcPct val="0"/>
        </a:spcAft>
        <a:buClr>
          <a:schemeClr val="hlink"/>
        </a:buClr>
        <a:buSzPct val="75000"/>
        <a:buFont typeface="Arial" pitchFamily="34" charset="0"/>
        <a:buChar char="►"/>
        <a:defRPr sz="1800">
          <a:solidFill>
            <a:srgbClr val="646464"/>
          </a:solidFill>
          <a:latin typeface="+mn-lt"/>
        </a:defRPr>
      </a:lvl3pPr>
      <a:lvl4pPr marL="1598769" indent="-226806" algn="l" defTabSz="912787" rtl="0" eaLnBrk="0" fontAlgn="base" hangingPunct="0">
        <a:spcBef>
          <a:spcPct val="20000"/>
        </a:spcBef>
        <a:spcAft>
          <a:spcPct val="0"/>
        </a:spcAft>
        <a:buClr>
          <a:schemeClr val="hlink"/>
        </a:buClr>
        <a:buSzPct val="75000"/>
        <a:buFont typeface="Arial" pitchFamily="34" charset="0"/>
        <a:buChar char="►"/>
        <a:defRPr>
          <a:solidFill>
            <a:srgbClr val="646464"/>
          </a:solidFill>
          <a:latin typeface="+mn-lt"/>
        </a:defRPr>
      </a:lvl4pPr>
      <a:lvl5pPr marL="2055163" indent="-226806" algn="l" defTabSz="912787" rtl="0" eaLnBrk="0" fontAlgn="base" hangingPunct="0">
        <a:spcBef>
          <a:spcPct val="20000"/>
        </a:spcBef>
        <a:spcAft>
          <a:spcPct val="0"/>
        </a:spcAft>
        <a:buClr>
          <a:schemeClr val="hlink"/>
        </a:buClr>
        <a:buSzPct val="75000"/>
        <a:buFont typeface="Arial" pitchFamily="34" charset="0"/>
        <a:buChar char="►"/>
        <a:defRPr>
          <a:solidFill>
            <a:srgbClr val="646464"/>
          </a:solidFill>
          <a:latin typeface="+mn-lt"/>
        </a:defRPr>
      </a:lvl5pPr>
      <a:lvl6pPr marL="2456857"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6pPr>
      <a:lvl7pPr marL="2857521"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7pPr>
      <a:lvl8pPr marL="3258186"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8pPr>
      <a:lvl9pPr marL="3658851" indent="-228156" algn="l" defTabSz="914018" rtl="0" fontAlgn="base">
        <a:spcBef>
          <a:spcPct val="20000"/>
        </a:spcBef>
        <a:spcAft>
          <a:spcPct val="0"/>
        </a:spcAft>
        <a:buClr>
          <a:schemeClr val="hlink"/>
        </a:buClr>
        <a:buSzPct val="75000"/>
        <a:buFont typeface="Arial" charset="0"/>
        <a:buChar char="►"/>
        <a:defRPr>
          <a:solidFill>
            <a:srgbClr val="646464"/>
          </a:solidFill>
          <a:latin typeface="+mn-lt"/>
        </a:defRPr>
      </a:lvl9pPr>
    </p:bodyStyle>
    <p:otherStyle>
      <a:defPPr>
        <a:defRPr lang="de-DE"/>
      </a:defPPr>
      <a:lvl1pPr marL="0" algn="l" defTabSz="801330" rtl="0" eaLnBrk="1" latinLnBrk="0" hangingPunct="1">
        <a:defRPr sz="1600" kern="1200">
          <a:solidFill>
            <a:schemeClr val="tx1"/>
          </a:solidFill>
          <a:latin typeface="+mn-lt"/>
          <a:ea typeface="+mn-ea"/>
          <a:cs typeface="+mn-cs"/>
        </a:defRPr>
      </a:lvl1pPr>
      <a:lvl2pPr marL="400666" algn="l" defTabSz="801330" rtl="0" eaLnBrk="1" latinLnBrk="0" hangingPunct="1">
        <a:defRPr sz="1600" kern="1200">
          <a:solidFill>
            <a:schemeClr val="tx1"/>
          </a:solidFill>
          <a:latin typeface="+mn-lt"/>
          <a:ea typeface="+mn-ea"/>
          <a:cs typeface="+mn-cs"/>
        </a:defRPr>
      </a:lvl2pPr>
      <a:lvl3pPr marL="801330" algn="l" defTabSz="801330" rtl="0" eaLnBrk="1" latinLnBrk="0" hangingPunct="1">
        <a:defRPr sz="1600" kern="1200">
          <a:solidFill>
            <a:schemeClr val="tx1"/>
          </a:solidFill>
          <a:latin typeface="+mn-lt"/>
          <a:ea typeface="+mn-ea"/>
          <a:cs typeface="+mn-cs"/>
        </a:defRPr>
      </a:lvl3pPr>
      <a:lvl4pPr marL="1201995" algn="l" defTabSz="801330" rtl="0" eaLnBrk="1" latinLnBrk="0" hangingPunct="1">
        <a:defRPr sz="1600" kern="1200">
          <a:solidFill>
            <a:schemeClr val="tx1"/>
          </a:solidFill>
          <a:latin typeface="+mn-lt"/>
          <a:ea typeface="+mn-ea"/>
          <a:cs typeface="+mn-cs"/>
        </a:defRPr>
      </a:lvl4pPr>
      <a:lvl5pPr marL="1602660" algn="l" defTabSz="801330" rtl="0" eaLnBrk="1" latinLnBrk="0" hangingPunct="1">
        <a:defRPr sz="1600" kern="1200">
          <a:solidFill>
            <a:schemeClr val="tx1"/>
          </a:solidFill>
          <a:latin typeface="+mn-lt"/>
          <a:ea typeface="+mn-ea"/>
          <a:cs typeface="+mn-cs"/>
        </a:defRPr>
      </a:lvl5pPr>
      <a:lvl6pPr marL="2003326" algn="l" defTabSz="801330" rtl="0" eaLnBrk="1" latinLnBrk="0" hangingPunct="1">
        <a:defRPr sz="1600" kern="1200">
          <a:solidFill>
            <a:schemeClr val="tx1"/>
          </a:solidFill>
          <a:latin typeface="+mn-lt"/>
          <a:ea typeface="+mn-ea"/>
          <a:cs typeface="+mn-cs"/>
        </a:defRPr>
      </a:lvl6pPr>
      <a:lvl7pPr marL="2403991" algn="l" defTabSz="801330" rtl="0" eaLnBrk="1" latinLnBrk="0" hangingPunct="1">
        <a:defRPr sz="1600" kern="1200">
          <a:solidFill>
            <a:schemeClr val="tx1"/>
          </a:solidFill>
          <a:latin typeface="+mn-lt"/>
          <a:ea typeface="+mn-ea"/>
          <a:cs typeface="+mn-cs"/>
        </a:defRPr>
      </a:lvl7pPr>
      <a:lvl8pPr marL="2804656" algn="l" defTabSz="801330" rtl="0" eaLnBrk="1" latinLnBrk="0" hangingPunct="1">
        <a:defRPr sz="1600" kern="1200">
          <a:solidFill>
            <a:schemeClr val="tx1"/>
          </a:solidFill>
          <a:latin typeface="+mn-lt"/>
          <a:ea typeface="+mn-ea"/>
          <a:cs typeface="+mn-cs"/>
        </a:defRPr>
      </a:lvl8pPr>
      <a:lvl9pPr marL="3205320" algn="l" defTabSz="80133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2.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oleObject" Target="../embeddings/oleObject6.bin"/><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20.emf"/><Relationship Id="rId5" Type="http://schemas.openxmlformats.org/officeDocument/2006/relationships/oleObject" Target="../embeddings/oleObject8.bin"/><Relationship Id="rId4" Type="http://schemas.openxmlformats.org/officeDocument/2006/relationships/oleObject" Target="../embeddings/oleObject7.bin"/><Relationship Id="rId9"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2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6.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noGrp="1" noChangeArrowheads="1"/>
          </p:cNvSpPr>
          <p:nvPr>
            <p:ph type="ctrTitle"/>
          </p:nvPr>
        </p:nvSpPr>
        <p:spPr>
          <a:xfrm>
            <a:off x="609600" y="2438400"/>
            <a:ext cx="4724400" cy="685800"/>
          </a:xfrm>
        </p:spPr>
        <p:txBody>
          <a:bodyPr/>
          <a:lstStyle/>
          <a:p>
            <a:r>
              <a:rPr lang="en-GB" sz="2400" dirty="0" smtClean="0">
                <a:latin typeface="EYInterstate Light" pitchFamily="2" charset="0"/>
              </a:rPr>
              <a:t>Postpaid Revenue Assurance</a:t>
            </a:r>
            <a:endParaRPr lang="en-US" sz="2000" dirty="0">
              <a:latin typeface="EYInterstate Light" pitchFamily="2"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smtClean="0">
                <a:latin typeface="EYInterstate" pitchFamily="2" charset="0"/>
              </a:rPr>
              <a:t>Contents</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8.</a:t>
            </a:r>
            <a:endParaRPr lang="en-US" sz="4800" spc="-800" dirty="0">
              <a:solidFill>
                <a:schemeClr val="bg1"/>
              </a:solidFill>
              <a:latin typeface="EYInterstate Light" pitchFamily="2" charset="0"/>
            </a:endParaRPr>
          </a:p>
        </p:txBody>
      </p:sp>
      <p:grpSp>
        <p:nvGrpSpPr>
          <p:cNvPr id="51" name="Group 50"/>
          <p:cNvGrpSpPr/>
          <p:nvPr/>
        </p:nvGrpSpPr>
        <p:grpSpPr>
          <a:xfrm>
            <a:off x="304800" y="1981200"/>
            <a:ext cx="8467344" cy="2895600"/>
            <a:chOff x="402336" y="1981200"/>
            <a:chExt cx="8467344" cy="2895600"/>
          </a:xfrm>
        </p:grpSpPr>
        <p:sp>
          <p:nvSpPr>
            <p:cNvPr id="69" name="Rectangle 68"/>
            <p:cNvSpPr/>
            <p:nvPr/>
          </p:nvSpPr>
          <p:spPr>
            <a:xfrm>
              <a:off x="4087723" y="3432381"/>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 name="Rectangle 3"/>
            <p:cNvSpPr/>
            <p:nvPr/>
          </p:nvSpPr>
          <p:spPr>
            <a:xfrm>
              <a:off x="2859771" y="1993408"/>
              <a:ext cx="1185681" cy="140335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 name="Rectangle 4"/>
            <p:cNvSpPr/>
            <p:nvPr/>
          </p:nvSpPr>
          <p:spPr>
            <a:xfrm>
              <a:off x="2906518"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8" name="Rectangle 7"/>
            <p:cNvSpPr/>
            <p:nvPr/>
          </p:nvSpPr>
          <p:spPr>
            <a:xfrm>
              <a:off x="1628985" y="3438477"/>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 name="Rectangle 20"/>
            <p:cNvSpPr>
              <a:spLocks noChangeArrowheads="1"/>
            </p:cNvSpPr>
            <p:nvPr/>
          </p:nvSpPr>
          <p:spPr bwMode="auto">
            <a:xfrm>
              <a:off x="1666043"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3" name="Group 33"/>
            <p:cNvGrpSpPr>
              <a:grpSpLocks/>
            </p:cNvGrpSpPr>
            <p:nvPr/>
          </p:nvGrpSpPr>
          <p:grpSpPr bwMode="auto">
            <a:xfrm>
              <a:off x="5308537" y="2004145"/>
              <a:ext cx="1187098" cy="1401763"/>
              <a:chOff x="4599803" y="2102667"/>
              <a:chExt cx="1329095" cy="1401653"/>
            </a:xfrm>
          </p:grpSpPr>
          <p:sp>
            <p:nvSpPr>
              <p:cNvPr id="16" name="Rectangle 15"/>
              <p:cNvSpPr/>
              <p:nvPr/>
            </p:nvSpPr>
            <p:spPr>
              <a:xfrm>
                <a:off x="4599803" y="2102667"/>
                <a:ext cx="1329095"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7" name="Rectangle 23"/>
              <p:cNvSpPr>
                <a:spLocks noChangeArrowheads="1"/>
              </p:cNvSpPr>
              <p:nvPr/>
            </p:nvSpPr>
            <p:spPr bwMode="auto">
              <a:xfrm>
                <a:off x="4633035" y="2162263"/>
                <a:ext cx="1136666" cy="373599"/>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29" name="Rectangle 22"/>
            <p:cNvSpPr>
              <a:spLocks noChangeArrowheads="1"/>
            </p:cNvSpPr>
            <p:nvPr/>
          </p:nvSpPr>
          <p:spPr bwMode="auto">
            <a:xfrm>
              <a:off x="4124718" y="4118451"/>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7" name="Group 44"/>
            <p:cNvGrpSpPr>
              <a:grpSpLocks/>
            </p:cNvGrpSpPr>
            <p:nvPr/>
          </p:nvGrpSpPr>
          <p:grpSpPr bwMode="auto">
            <a:xfrm>
              <a:off x="6523464" y="3447686"/>
              <a:ext cx="1185683" cy="1401762"/>
              <a:chOff x="5972094" y="3483677"/>
              <a:chExt cx="1329077" cy="1401653"/>
            </a:xfrm>
          </p:grpSpPr>
          <p:sp>
            <p:nvSpPr>
              <p:cNvPr id="34" name="Rectangle 33"/>
              <p:cNvSpPr/>
              <p:nvPr/>
            </p:nvSpPr>
            <p:spPr>
              <a:xfrm>
                <a:off x="5972094" y="3483677"/>
                <a:ext cx="1329077"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35" name="Rectangle 24"/>
              <p:cNvSpPr>
                <a:spLocks noChangeArrowheads="1"/>
              </p:cNvSpPr>
              <p:nvPr/>
            </p:nvSpPr>
            <p:spPr bwMode="auto">
              <a:xfrm>
                <a:off x="6011147" y="4464152"/>
                <a:ext cx="1136650"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0" name="Picture 4" descr="investment"/>
            <p:cNvPicPr>
              <a:picLocks noChangeArrowheads="1"/>
            </p:cNvPicPr>
            <p:nvPr/>
          </p:nvPicPr>
          <p:blipFill>
            <a:blip r:embed="rId2" cstate="print"/>
            <a:srcRect/>
            <a:stretch>
              <a:fillRect/>
            </a:stretch>
          </p:blipFill>
          <p:spPr bwMode="auto">
            <a:xfrm>
              <a:off x="4076844" y="2005600"/>
              <a:ext cx="1183132" cy="1399032"/>
            </a:xfrm>
            <a:prstGeom prst="rect">
              <a:avLst/>
            </a:prstGeom>
            <a:noFill/>
          </p:spPr>
        </p:pic>
        <p:pic>
          <p:nvPicPr>
            <p:cNvPr id="57" name="Picture 29" descr="14H02278_RF.jpg"/>
            <p:cNvPicPr>
              <a:picLocks noChangeAspect="1"/>
            </p:cNvPicPr>
            <p:nvPr/>
          </p:nvPicPr>
          <p:blipFill>
            <a:blip r:embed="rId3" cstate="print"/>
            <a:srcRect b="29448"/>
            <a:stretch>
              <a:fillRect/>
            </a:stretch>
          </p:blipFill>
          <p:spPr bwMode="auto">
            <a:xfrm>
              <a:off x="2863794" y="3432064"/>
              <a:ext cx="1182848" cy="1401763"/>
            </a:xfrm>
            <a:prstGeom prst="rect">
              <a:avLst/>
            </a:prstGeom>
            <a:noFill/>
            <a:ln w="9525">
              <a:noFill/>
              <a:miter lim="800000"/>
              <a:headEnd/>
              <a:tailEnd/>
            </a:ln>
          </p:spPr>
        </p:pic>
        <p:grpSp>
          <p:nvGrpSpPr>
            <p:cNvPr id="45" name="Group 44"/>
            <p:cNvGrpSpPr/>
            <p:nvPr/>
          </p:nvGrpSpPr>
          <p:grpSpPr>
            <a:xfrm>
              <a:off x="402336" y="1993408"/>
              <a:ext cx="1185681" cy="1479901"/>
              <a:chOff x="402336" y="1993408"/>
              <a:chExt cx="1185681" cy="1479901"/>
            </a:xfrm>
          </p:grpSpPr>
          <p:sp>
            <p:nvSpPr>
              <p:cNvPr id="58" name="Rectangle 57"/>
              <p:cNvSpPr/>
              <p:nvPr/>
            </p:nvSpPr>
            <p:spPr>
              <a:xfrm>
                <a:off x="402336" y="1993408"/>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11"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5"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66" name="Isosceles Triangle 65"/>
            <p:cNvSpPr/>
            <p:nvPr/>
          </p:nvSpPr>
          <p:spPr bwMode="auto">
            <a:xfrm>
              <a:off x="2642523"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7" name="Isosceles Triangle 66"/>
            <p:cNvSpPr/>
            <p:nvPr/>
          </p:nvSpPr>
          <p:spPr>
            <a:xfrm rot="10800000">
              <a:off x="3861636"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8" name="Isosceles Triangle 67"/>
            <p:cNvSpPr/>
            <p:nvPr/>
          </p:nvSpPr>
          <p:spPr bwMode="auto">
            <a:xfrm>
              <a:off x="5095029"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1" name="Isosceles Triangle 70"/>
            <p:cNvSpPr/>
            <p:nvPr/>
          </p:nvSpPr>
          <p:spPr>
            <a:xfrm rot="10800000">
              <a:off x="6312215"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2" name="Isosceles Triangle 71"/>
            <p:cNvSpPr/>
            <p:nvPr/>
          </p:nvSpPr>
          <p:spPr bwMode="auto">
            <a:xfrm>
              <a:off x="7515689"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7" name="Rectangle 76"/>
            <p:cNvSpPr/>
            <p:nvPr/>
          </p:nvSpPr>
          <p:spPr>
            <a:xfrm>
              <a:off x="2852915"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sp>
          <p:nvSpPr>
            <p:cNvPr id="78" name="Rectangle 77"/>
            <p:cNvSpPr/>
            <p:nvPr/>
          </p:nvSpPr>
          <p:spPr>
            <a:xfrm>
              <a:off x="5289894"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79" name="Rectangle 78"/>
            <p:cNvSpPr/>
            <p:nvPr/>
          </p:nvSpPr>
          <p:spPr>
            <a:xfrm>
              <a:off x="1642584"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80" name="Rectangle 79"/>
            <p:cNvSpPr/>
            <p:nvPr/>
          </p:nvSpPr>
          <p:spPr>
            <a:xfrm>
              <a:off x="4120361"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81" name="Rectangle 80"/>
            <p:cNvSpPr/>
            <p:nvPr/>
          </p:nvSpPr>
          <p:spPr>
            <a:xfrm>
              <a:off x="6551901"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4097" name="Picture 1" descr="C:\TechM Warehouse\Data 1\Useful Presentations\Useful Pics\Cong 1.jpg"/>
            <p:cNvPicPr>
              <a:picLocks noChangeArrowheads="1"/>
            </p:cNvPicPr>
            <p:nvPr/>
          </p:nvPicPr>
          <p:blipFill>
            <a:blip r:embed="rId4" cstate="print"/>
            <a:srcRect/>
            <a:stretch>
              <a:fillRect/>
            </a:stretch>
          </p:blipFill>
          <p:spPr bwMode="auto">
            <a:xfrm>
              <a:off x="407654" y="3429016"/>
              <a:ext cx="1183132" cy="1399032"/>
            </a:xfrm>
            <a:prstGeom prst="rect">
              <a:avLst/>
            </a:prstGeom>
            <a:noFill/>
          </p:spPr>
        </p:pic>
        <p:pic>
          <p:nvPicPr>
            <p:cNvPr id="4099" name="Picture 3"/>
            <p:cNvPicPr>
              <a:picLocks noChangeArrowheads="1"/>
            </p:cNvPicPr>
            <p:nvPr/>
          </p:nvPicPr>
          <p:blipFill>
            <a:blip r:embed="rId5" cstate="print"/>
            <a:srcRect/>
            <a:stretch>
              <a:fillRect/>
            </a:stretch>
          </p:blipFill>
          <p:spPr bwMode="auto">
            <a:xfrm>
              <a:off x="1633611" y="1994864"/>
              <a:ext cx="1183132" cy="1399032"/>
            </a:xfrm>
            <a:prstGeom prst="rect">
              <a:avLst/>
            </a:prstGeom>
            <a:noFill/>
            <a:ln w="9525">
              <a:noFill/>
              <a:miter lim="800000"/>
              <a:headEnd/>
              <a:tailEnd/>
            </a:ln>
            <a:effectLst/>
          </p:spPr>
        </p:pic>
        <p:pic>
          <p:nvPicPr>
            <p:cNvPr id="4100" name="Picture 4"/>
            <p:cNvPicPr>
              <a:picLocks noChangeArrowheads="1"/>
            </p:cNvPicPr>
            <p:nvPr/>
          </p:nvPicPr>
          <p:blipFill>
            <a:blip r:embed="rId6" cstate="print"/>
            <a:srcRect/>
            <a:stretch>
              <a:fillRect/>
            </a:stretch>
          </p:blipFill>
          <p:spPr bwMode="auto">
            <a:xfrm>
              <a:off x="5298296" y="3444936"/>
              <a:ext cx="1183132" cy="1399032"/>
            </a:xfrm>
            <a:prstGeom prst="rect">
              <a:avLst/>
            </a:prstGeom>
            <a:noFill/>
            <a:ln w="9525">
              <a:noFill/>
              <a:miter lim="800000"/>
              <a:headEnd/>
              <a:tailEnd/>
            </a:ln>
            <a:effectLst/>
          </p:spPr>
        </p:pic>
        <p:pic>
          <p:nvPicPr>
            <p:cNvPr id="4101" name="Picture 5"/>
            <p:cNvPicPr>
              <a:picLocks noChangeArrowheads="1"/>
            </p:cNvPicPr>
            <p:nvPr/>
          </p:nvPicPr>
          <p:blipFill>
            <a:blip r:embed="rId7" cstate="print"/>
            <a:srcRect/>
            <a:stretch>
              <a:fillRect/>
            </a:stretch>
          </p:blipFill>
          <p:spPr bwMode="auto">
            <a:xfrm>
              <a:off x="6534404" y="2013039"/>
              <a:ext cx="1183132" cy="1399032"/>
            </a:xfrm>
            <a:prstGeom prst="rect">
              <a:avLst/>
            </a:prstGeom>
            <a:noFill/>
            <a:ln w="9525">
              <a:noFill/>
              <a:miter lim="800000"/>
              <a:headEnd/>
              <a:tailEnd/>
            </a:ln>
            <a:effectLst/>
          </p:spPr>
        </p:pic>
        <p:pic>
          <p:nvPicPr>
            <p:cNvPr id="16386" name="Picture 2"/>
            <p:cNvPicPr>
              <a:picLocks noChangeAspect="1" noChangeArrowheads="1"/>
            </p:cNvPicPr>
            <p:nvPr/>
          </p:nvPicPr>
          <p:blipFill>
            <a:blip r:embed="rId8" cstate="print"/>
            <a:srcRect/>
            <a:stretch>
              <a:fillRect/>
            </a:stretch>
          </p:blipFill>
          <p:spPr bwMode="auto">
            <a:xfrm>
              <a:off x="7772399" y="3429000"/>
              <a:ext cx="1097280" cy="1429881"/>
            </a:xfrm>
            <a:prstGeom prst="rect">
              <a:avLst/>
            </a:prstGeom>
            <a:noFill/>
            <a:ln w="9525">
              <a:noFill/>
              <a:miter lim="800000"/>
              <a:headEnd/>
              <a:tailEnd/>
            </a:ln>
          </p:spPr>
        </p:pic>
        <p:grpSp>
          <p:nvGrpSpPr>
            <p:cNvPr id="46" name="Group 45"/>
            <p:cNvGrpSpPr/>
            <p:nvPr/>
          </p:nvGrpSpPr>
          <p:grpSpPr>
            <a:xfrm>
              <a:off x="7772400" y="1981200"/>
              <a:ext cx="1097280" cy="1479901"/>
              <a:chOff x="402336" y="1993408"/>
              <a:chExt cx="1185681" cy="1479901"/>
            </a:xfrm>
          </p:grpSpPr>
          <p:sp>
            <p:nvSpPr>
              <p:cNvPr id="47" name="Rectangle 46"/>
              <p:cNvSpPr/>
              <p:nvPr/>
            </p:nvSpPr>
            <p:spPr>
              <a:xfrm>
                <a:off x="402336" y="1993408"/>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8" name="Rectangle 47"/>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49" name="Isosceles Triangle 48"/>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0"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400050" algn="l"/>
              </a:tabLst>
              <a:defRPr/>
            </a:pPr>
            <a:r>
              <a:rPr lang="en-US" sz="2400" dirty="0" smtClean="0">
                <a:latin typeface="EYInterstate" pitchFamily="2" charset="0"/>
              </a:rPr>
              <a:t>Introduction to Postpaid</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41" name="Rectangle 40"/>
          <p:cNvSpPr/>
          <p:nvPr/>
        </p:nvSpPr>
        <p:spPr>
          <a:xfrm>
            <a:off x="3990187" y="3432381"/>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4" name="Rectangle 43"/>
          <p:cNvSpPr/>
          <p:nvPr/>
        </p:nvSpPr>
        <p:spPr>
          <a:xfrm>
            <a:off x="1531449" y="3438477"/>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5"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46"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96" name="Rectangle 95"/>
            <p:cNvSpPr/>
            <p:nvPr/>
          </p:nvSpPr>
          <p:spPr>
            <a:xfrm>
              <a:off x="4599803" y="2102667"/>
              <a:ext cx="1329095"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7" name="Rectangle 23"/>
            <p:cNvSpPr>
              <a:spLocks noChangeArrowheads="1"/>
            </p:cNvSpPr>
            <p:nvPr/>
          </p:nvSpPr>
          <p:spPr bwMode="auto">
            <a:xfrm>
              <a:off x="4633035" y="2162263"/>
              <a:ext cx="1136666" cy="373599"/>
            </a:xfrm>
            <a:prstGeom prst="rect">
              <a:avLst/>
            </a:prstGeom>
            <a:grp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47" name="Rectangle 22"/>
          <p:cNvSpPr>
            <a:spLocks noChangeArrowheads="1"/>
          </p:cNvSpPr>
          <p:nvPr/>
        </p:nvSpPr>
        <p:spPr bwMode="auto">
          <a:xfrm>
            <a:off x="4027182" y="4118451"/>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48"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94" name="Rectangle 93"/>
            <p:cNvSpPr/>
            <p:nvPr/>
          </p:nvSpPr>
          <p:spPr>
            <a:xfrm>
              <a:off x="5972094" y="3483677"/>
              <a:ext cx="1329077"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5" name="Rectangle 24"/>
            <p:cNvSpPr>
              <a:spLocks noChangeArrowheads="1"/>
            </p:cNvSpPr>
            <p:nvPr/>
          </p:nvSpPr>
          <p:spPr bwMode="auto">
            <a:xfrm>
              <a:off x="6011147" y="4464152"/>
              <a:ext cx="1136650" cy="384691"/>
            </a:xfrm>
            <a:prstGeom prst="rect">
              <a:avLst/>
            </a:prstGeom>
            <a:grp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9"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50"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51" name="Group 44"/>
          <p:cNvGrpSpPr/>
          <p:nvPr/>
        </p:nvGrpSpPr>
        <p:grpSpPr>
          <a:xfrm>
            <a:off x="304800" y="1993408"/>
            <a:ext cx="1185681" cy="1479901"/>
            <a:chOff x="402336" y="1993408"/>
            <a:chExt cx="1185681" cy="1479901"/>
          </a:xfrm>
        </p:grpSpPr>
        <p:sp>
          <p:nvSpPr>
            <p:cNvPr id="90" name="Rectangle 89"/>
            <p:cNvSpPr/>
            <p:nvPr/>
          </p:nvSpPr>
          <p:spPr>
            <a:xfrm>
              <a:off x="402336" y="1993408"/>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1"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92"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3"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54" name="Isosceles Triangle 53"/>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5" name="Isosceles Triangle 54"/>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6" name="Isosceles Triangle 55"/>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98" name="Group 97"/>
          <p:cNvGrpSpPr/>
          <p:nvPr/>
        </p:nvGrpSpPr>
        <p:grpSpPr>
          <a:xfrm>
            <a:off x="2544987" y="1993408"/>
            <a:ext cx="1402929" cy="1563815"/>
            <a:chOff x="2544987" y="1993408"/>
            <a:chExt cx="1402929" cy="1563815"/>
          </a:xfrm>
        </p:grpSpPr>
        <p:sp>
          <p:nvSpPr>
            <p:cNvPr id="42" name="Rectangle 41"/>
            <p:cNvSpPr/>
            <p:nvPr/>
          </p:nvSpPr>
          <p:spPr>
            <a:xfrm>
              <a:off x="2762235" y="1993408"/>
              <a:ext cx="1185681"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3" name="Rectangle 42"/>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52" name="Isosceles Triangle 51"/>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3" name="Isosceles Triangle 52"/>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9" name="Rectangle 58"/>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61" name="Rectangle 60"/>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62" name="Rectangle 61"/>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63" name="Rectangle 62"/>
          <p:cNvSpPr/>
          <p:nvPr/>
        </p:nvSpPr>
        <p:spPr>
          <a:xfrm>
            <a:off x="40228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70" name="Rectangle 69"/>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73"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74"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75"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76" name="Picture 5"/>
          <p:cNvPicPr>
            <a:picLocks noChangeArrowheads="1"/>
          </p:cNvPicPr>
          <p:nvPr/>
        </p:nvPicPr>
        <p:blipFill>
          <a:blip r:embed="rId7" cstate="print"/>
          <a:srcRect/>
          <a:stretch>
            <a:fillRect/>
          </a:stretch>
        </p:blipFill>
        <p:spPr bwMode="auto">
          <a:xfrm>
            <a:off x="6400800" y="2029968"/>
            <a:ext cx="1183132" cy="1399032"/>
          </a:xfrm>
          <a:prstGeom prst="rect">
            <a:avLst/>
          </a:prstGeom>
          <a:solidFill>
            <a:schemeClr val="tx1">
              <a:lumMod val="20000"/>
              <a:lumOff val="80000"/>
            </a:schemeClr>
          </a:solidFill>
          <a:ln>
            <a:noFill/>
          </a:ln>
        </p:spPr>
      </p:pic>
      <p:pic>
        <p:nvPicPr>
          <p:cNvPr id="84" name="Picture 2"/>
          <p:cNvPicPr>
            <a:picLocks noChangeAspect="1" noChangeArrowheads="1"/>
          </p:cNvPicPr>
          <p:nvPr/>
        </p:nvPicPr>
        <p:blipFill>
          <a:blip r:embed="rId8" cstate="print"/>
          <a:srcRect/>
          <a:stretch>
            <a:fillRect/>
          </a:stretch>
        </p:blipFill>
        <p:spPr bwMode="auto">
          <a:xfrm>
            <a:off x="7696200" y="3429000"/>
            <a:ext cx="1097280" cy="1429881"/>
          </a:xfrm>
          <a:prstGeom prst="rect">
            <a:avLst/>
          </a:prstGeom>
          <a:solidFill>
            <a:schemeClr val="tx1">
              <a:lumMod val="20000"/>
              <a:lumOff val="80000"/>
            </a:schemeClr>
          </a:solidFill>
          <a:ln>
            <a:noFill/>
          </a:ln>
        </p:spPr>
      </p:pic>
      <p:grpSp>
        <p:nvGrpSpPr>
          <p:cNvPr id="85" name="Group 45"/>
          <p:cNvGrpSpPr/>
          <p:nvPr/>
        </p:nvGrpSpPr>
        <p:grpSpPr>
          <a:xfrm>
            <a:off x="7674864" y="1981200"/>
            <a:ext cx="1097280" cy="1479901"/>
            <a:chOff x="402336" y="1993408"/>
            <a:chExt cx="1185681" cy="1479901"/>
          </a:xfrm>
        </p:grpSpPr>
        <p:sp>
          <p:nvSpPr>
            <p:cNvPr id="86" name="Rectangle 85"/>
            <p:cNvSpPr/>
            <p:nvPr/>
          </p:nvSpPr>
          <p:spPr>
            <a:xfrm>
              <a:off x="402336" y="1993408"/>
              <a:ext cx="1185681" cy="1401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7" name="Rectangle 86"/>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8" name="Isosceles Triangle 87"/>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9"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Introduction to Postpaid</a:t>
            </a:r>
          </a:p>
        </p:txBody>
      </p:sp>
      <p:sp>
        <p:nvSpPr>
          <p:cNvPr id="5" name="Freeform 6"/>
          <p:cNvSpPr>
            <a:spLocks noChangeAspect="1"/>
          </p:cNvSpPr>
          <p:nvPr/>
        </p:nvSpPr>
        <p:spPr bwMode="auto">
          <a:xfrm rot="10800000">
            <a:off x="0" y="1080516"/>
            <a:ext cx="7467600" cy="584200"/>
          </a:xfrm>
          <a:custGeom>
            <a:avLst/>
            <a:gdLst>
              <a:gd name="T0" fmla="*/ 2147483647 w 5192"/>
              <a:gd name="T1" fmla="*/ 0 h 3272"/>
              <a:gd name="T2" fmla="*/ 0 w 5192"/>
              <a:gd name="T3" fmla="*/ 2147483647 h 3272"/>
              <a:gd name="T4" fmla="*/ 2147483647 w 5192"/>
              <a:gd name="T5" fmla="*/ 2147483647 h 3272"/>
              <a:gd name="T6" fmla="*/ 2147483647 w 5192"/>
              <a:gd name="T7" fmla="*/ 0 h 3272"/>
              <a:gd name="T8" fmla="*/ 2147483647 w 5192"/>
              <a:gd name="T9" fmla="*/ 0 h 3272"/>
              <a:gd name="T10" fmla="*/ 0 60000 65536"/>
              <a:gd name="T11" fmla="*/ 0 60000 65536"/>
              <a:gd name="T12" fmla="*/ 0 60000 65536"/>
              <a:gd name="T13" fmla="*/ 0 60000 65536"/>
              <a:gd name="T14" fmla="*/ 0 60000 65536"/>
              <a:gd name="T15" fmla="*/ 0 w 5192"/>
              <a:gd name="T16" fmla="*/ 0 h 3272"/>
              <a:gd name="T17" fmla="*/ 5192 w 5192"/>
              <a:gd name="T18" fmla="*/ 3272 h 3272"/>
            </a:gdLst>
            <a:ahLst/>
            <a:cxnLst>
              <a:cxn ang="T10">
                <a:pos x="T0" y="T1"/>
              </a:cxn>
              <a:cxn ang="T11">
                <a:pos x="T2" y="T3"/>
              </a:cxn>
              <a:cxn ang="T12">
                <a:pos x="T4" y="T5"/>
              </a:cxn>
              <a:cxn ang="T13">
                <a:pos x="T6" y="T7"/>
              </a:cxn>
              <a:cxn ang="T14">
                <a:pos x="T8" y="T9"/>
              </a:cxn>
            </a:cxnLst>
            <a:rect l="T15" t="T16" r="T17" b="T18"/>
            <a:pathLst>
              <a:path w="5192" h="3272">
                <a:moveTo>
                  <a:pt x="632" y="0"/>
                </a:moveTo>
                <a:lnTo>
                  <a:pt x="0" y="3272"/>
                </a:lnTo>
                <a:lnTo>
                  <a:pt x="5192" y="3272"/>
                </a:lnTo>
                <a:lnTo>
                  <a:pt x="5192" y="0"/>
                </a:lnTo>
                <a:lnTo>
                  <a:pt x="632" y="0"/>
                </a:lnTo>
                <a:close/>
              </a:path>
            </a:pathLst>
          </a:custGeom>
          <a:solidFill>
            <a:schemeClr val="accent1"/>
          </a:solidFill>
          <a:ln w="9525">
            <a:noFill/>
            <a:round/>
            <a:headEnd/>
            <a:tailEnd/>
          </a:ln>
        </p:spPr>
        <p:txBody>
          <a:bodyPr/>
          <a:lstStyle/>
          <a:p>
            <a:endParaRPr lang="en-US" dirty="0">
              <a:latin typeface="EYInterstate Light" pitchFamily="2" charset="0"/>
            </a:endParaRPr>
          </a:p>
        </p:txBody>
      </p:sp>
      <p:sp>
        <p:nvSpPr>
          <p:cNvPr id="6" name="Text Box 7"/>
          <p:cNvSpPr txBox="1">
            <a:spLocks noChangeArrowheads="1"/>
          </p:cNvSpPr>
          <p:nvPr/>
        </p:nvSpPr>
        <p:spPr bwMode="auto">
          <a:xfrm>
            <a:off x="0" y="1045464"/>
            <a:ext cx="6858000" cy="461665"/>
          </a:xfrm>
          <a:prstGeom prst="rect">
            <a:avLst/>
          </a:prstGeom>
          <a:noFill/>
          <a:ln w="9525">
            <a:noFill/>
            <a:miter lim="800000"/>
            <a:headEnd/>
            <a:tailEnd/>
          </a:ln>
        </p:spPr>
        <p:txBody>
          <a:bodyPr wrap="square">
            <a:spAutoFit/>
          </a:bodyPr>
          <a:lstStyle/>
          <a:p>
            <a:pPr lvl="0" eaLnBrk="0" hangingPunct="0">
              <a:defRPr/>
            </a:pPr>
            <a:r>
              <a:rPr lang="en-US" sz="1200" dirty="0" smtClean="0">
                <a:solidFill>
                  <a:schemeClr val="accent3"/>
                </a:solidFill>
                <a:latin typeface="EYInterstate" pitchFamily="2" charset="0"/>
              </a:rPr>
              <a:t>Under postpaid scheme, the customer is billed for use of services for a defined</a:t>
            </a:r>
          </a:p>
          <a:p>
            <a:pPr lvl="0" eaLnBrk="0" hangingPunct="0">
              <a:defRPr/>
            </a:pPr>
            <a:r>
              <a:rPr lang="en-US" sz="1200" dirty="0" smtClean="0">
                <a:solidFill>
                  <a:schemeClr val="accent3"/>
                </a:solidFill>
                <a:latin typeface="EYInterstate" pitchFamily="2" charset="0"/>
              </a:rPr>
              <a:t>Period, at the end of that stipulated period</a:t>
            </a:r>
          </a:p>
        </p:txBody>
      </p:sp>
      <p:sp>
        <p:nvSpPr>
          <p:cNvPr id="7" name="Freeform 42"/>
          <p:cNvSpPr>
            <a:spLocks/>
          </p:cNvSpPr>
          <p:nvPr/>
        </p:nvSpPr>
        <p:spPr bwMode="auto">
          <a:xfrm flipH="1" flipV="1">
            <a:off x="152400" y="5562600"/>
            <a:ext cx="8991600" cy="64051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solidFill>
            <a:srgbClr val="FFD200">
              <a:alpha val="85001"/>
            </a:srgbClr>
          </a:solidFill>
          <a:ln w="9525">
            <a:noFill/>
            <a:round/>
            <a:headEnd/>
            <a:tailEnd/>
          </a:ln>
          <a:effectLst/>
        </p:spPr>
        <p:txBody>
          <a:bodyPr/>
          <a:lstStyle/>
          <a:p>
            <a:pPr eaLnBrk="1" fontAlgn="auto" hangingPunct="1">
              <a:spcBef>
                <a:spcPts val="0"/>
              </a:spcBef>
              <a:spcAft>
                <a:spcPts val="0"/>
              </a:spcAft>
              <a:defRPr/>
            </a:pPr>
            <a:endParaRPr lang="en-US" sz="1800" kern="0" dirty="0">
              <a:solidFill>
                <a:sysClr val="windowText" lastClr="000000"/>
              </a:solidFill>
            </a:endParaRPr>
          </a:p>
        </p:txBody>
      </p:sp>
      <p:sp>
        <p:nvSpPr>
          <p:cNvPr id="8" name="Text Box 5"/>
          <p:cNvSpPr txBox="1">
            <a:spLocks noChangeArrowheads="1"/>
          </p:cNvSpPr>
          <p:nvPr/>
        </p:nvSpPr>
        <p:spPr bwMode="auto">
          <a:xfrm>
            <a:off x="903392" y="5562600"/>
            <a:ext cx="8316808" cy="646331"/>
          </a:xfrm>
          <a:prstGeom prst="rect">
            <a:avLst/>
          </a:prstGeom>
          <a:noFill/>
          <a:ln w="9525">
            <a:noFill/>
            <a:miter lim="800000"/>
            <a:headEnd/>
            <a:tailEnd/>
          </a:ln>
        </p:spPr>
        <p:txBody>
          <a:bodyPr wrap="square">
            <a:spAutoFit/>
          </a:bodyPr>
          <a:lstStyle/>
          <a:p>
            <a:pPr algn="r" eaLnBrk="0" hangingPunct="0"/>
            <a:r>
              <a:rPr lang="en-US" sz="1200" dirty="0" smtClean="0">
                <a:solidFill>
                  <a:schemeClr val="tx2">
                    <a:lumMod val="50000"/>
                  </a:schemeClr>
                </a:solidFill>
                <a:latin typeface="EYInterstate" pitchFamily="2" charset="0"/>
              </a:rPr>
              <a:t>Theoretically, the post paid subscriber has no limit on the usage of service unless “credit limit” depending on their usage, payment history and deposit received from customer is defined for that customer by the operator. </a:t>
            </a:r>
            <a:r>
              <a:rPr lang="en-US" sz="1200" dirty="0" smtClean="0">
                <a:latin typeface="EYInterstate" pitchFamily="2" charset="0"/>
              </a:rPr>
              <a:t> </a:t>
            </a:r>
          </a:p>
          <a:p>
            <a:pPr algn="r" eaLnBrk="0" hangingPunct="0"/>
            <a:r>
              <a:rPr lang="en-US" sz="1200" dirty="0" smtClean="0">
                <a:latin typeface="EYInterstate" pitchFamily="2" charset="0"/>
              </a:rPr>
              <a:t>Therefore Revenue Assurance for postpaid segment holds crucial significance…</a:t>
            </a:r>
            <a:endParaRPr lang="en-US" sz="1200" b="1" dirty="0" smtClean="0">
              <a:solidFill>
                <a:srgbClr val="333333"/>
              </a:solidFill>
              <a:latin typeface="EYInterstate Light" pitchFamily="2" charset="0"/>
              <a:ea typeface="ＭＳ Ｐゴシック"/>
              <a:cs typeface="ＭＳ Ｐゴシック"/>
            </a:endParaRPr>
          </a:p>
        </p:txBody>
      </p:sp>
      <p:grpSp>
        <p:nvGrpSpPr>
          <p:cNvPr id="2" name="Group 8"/>
          <p:cNvGrpSpPr/>
          <p:nvPr/>
        </p:nvGrpSpPr>
        <p:grpSpPr>
          <a:xfrm>
            <a:off x="914400" y="1816280"/>
            <a:ext cx="6690342" cy="3641661"/>
            <a:chOff x="914400" y="1816280"/>
            <a:chExt cx="6690342" cy="3641661"/>
          </a:xfrm>
        </p:grpSpPr>
        <p:sp>
          <p:nvSpPr>
            <p:cNvPr id="10" name="Rectangle 5"/>
            <p:cNvSpPr>
              <a:spLocks noChangeArrowheads="1"/>
            </p:cNvSpPr>
            <p:nvPr/>
          </p:nvSpPr>
          <p:spPr bwMode="auto">
            <a:xfrm>
              <a:off x="920750" y="1816280"/>
              <a:ext cx="2197100" cy="1041129"/>
            </a:xfrm>
            <a:prstGeom prst="rect">
              <a:avLst/>
            </a:prstGeom>
            <a:solidFill>
              <a:schemeClr val="accent2"/>
            </a:solidFill>
            <a:ln w="9525">
              <a:solidFill>
                <a:schemeClr val="accent1"/>
              </a:solidFill>
              <a:miter lim="800000"/>
              <a:headEnd/>
              <a:tailEnd/>
            </a:ln>
            <a:effectLst/>
          </p:spPr>
          <p:txBody>
            <a:bodyPr lIns="92075" tIns="46038" rIns="92075" bIns="46038" anchor="ctr"/>
            <a:lstStyle/>
            <a:p>
              <a:pPr algn="ctr"/>
              <a:endParaRPr lang="en-US" sz="1200" b="1" dirty="0" smtClean="0">
                <a:solidFill>
                  <a:srgbClr val="FFFFFF"/>
                </a:solidFill>
                <a:latin typeface="EYInterstate Light" pitchFamily="2" charset="0"/>
              </a:endParaRPr>
            </a:p>
          </p:txBody>
        </p:sp>
        <p:sp>
          <p:nvSpPr>
            <p:cNvPr id="11" name="Rectangle 10"/>
            <p:cNvSpPr>
              <a:spLocks noChangeArrowheads="1"/>
            </p:cNvSpPr>
            <p:nvPr/>
          </p:nvSpPr>
          <p:spPr bwMode="auto">
            <a:xfrm>
              <a:off x="3117850" y="4497821"/>
              <a:ext cx="2286000" cy="960120"/>
            </a:xfrm>
            <a:prstGeom prst="rect">
              <a:avLst/>
            </a:prstGeom>
            <a:solidFill>
              <a:schemeClr val="accent2">
                <a:alpha val="80000"/>
              </a:schemeClr>
            </a:solidFill>
            <a:ln w="9525">
              <a:solidFill>
                <a:schemeClr val="accent1"/>
              </a:solidFill>
              <a:miter lim="800000"/>
              <a:headEnd/>
              <a:tailEnd/>
            </a:ln>
            <a:effectLst/>
          </p:spPr>
          <p:txBody>
            <a:bodyPr lIns="92075" tIns="46038" rIns="92075" bIns="46038" anchor="ctr"/>
            <a:lstStyle/>
            <a:p>
              <a:pPr eaLnBrk="0" hangingPunct="0"/>
              <a:r>
                <a:rPr lang="en-US" sz="1400" b="1" dirty="0" smtClean="0">
                  <a:latin typeface="EYInterstate" pitchFamily="2" charset="0"/>
                </a:rPr>
                <a:t>The payments made by the customers are posted to the customer’s account.</a:t>
              </a:r>
              <a:endParaRPr lang="en-US" b="1" dirty="0">
                <a:solidFill>
                  <a:srgbClr val="FFFFFF"/>
                </a:solidFill>
                <a:latin typeface="EY Gothic Cond Medium" pitchFamily="2" charset="0"/>
              </a:endParaRPr>
            </a:p>
          </p:txBody>
        </p:sp>
        <p:sp>
          <p:nvSpPr>
            <p:cNvPr id="12" name="Rectangle 11"/>
            <p:cNvSpPr>
              <a:spLocks noChangeArrowheads="1"/>
            </p:cNvSpPr>
            <p:nvPr/>
          </p:nvSpPr>
          <p:spPr bwMode="auto">
            <a:xfrm>
              <a:off x="3117850" y="1816280"/>
              <a:ext cx="2286000" cy="1079320"/>
            </a:xfrm>
            <a:prstGeom prst="rect">
              <a:avLst/>
            </a:prstGeom>
            <a:solidFill>
              <a:schemeClr val="accent2">
                <a:alpha val="80000"/>
              </a:schemeClr>
            </a:solidFill>
            <a:ln w="9525">
              <a:solidFill>
                <a:schemeClr val="accent1"/>
              </a:solidFill>
              <a:miter lim="800000"/>
              <a:headEnd/>
              <a:tailEnd/>
            </a:ln>
            <a:effectLst/>
          </p:spPr>
          <p:txBody>
            <a:bodyPr lIns="92075" tIns="46038" rIns="92075" bIns="46038" anchor="ctr"/>
            <a:lstStyle/>
            <a:p>
              <a:pPr eaLnBrk="0" hangingPunct="0"/>
              <a:r>
                <a:rPr lang="en-US" sz="1400" b="1" dirty="0" smtClean="0">
                  <a:latin typeface="EYInterstate" pitchFamily="2" charset="0"/>
                </a:rPr>
                <a:t>Subscribers requiring high usage &amp; willing  to pay rentals</a:t>
              </a:r>
            </a:p>
          </p:txBody>
        </p:sp>
        <p:sp>
          <p:nvSpPr>
            <p:cNvPr id="13" name="Rectangle 12"/>
            <p:cNvSpPr>
              <a:spLocks noChangeArrowheads="1"/>
            </p:cNvSpPr>
            <p:nvPr/>
          </p:nvSpPr>
          <p:spPr bwMode="auto">
            <a:xfrm>
              <a:off x="5410817" y="1816280"/>
              <a:ext cx="2193925" cy="3639312"/>
            </a:xfrm>
            <a:prstGeom prst="rect">
              <a:avLst/>
            </a:prstGeom>
            <a:solidFill>
              <a:schemeClr val="accent2">
                <a:alpha val="30000"/>
              </a:schemeClr>
            </a:solidFill>
            <a:ln w="9525">
              <a:solidFill>
                <a:schemeClr val="accent1"/>
              </a:solidFill>
              <a:miter lim="800000"/>
              <a:headEnd/>
              <a:tailEnd/>
            </a:ln>
            <a:effectLst/>
          </p:spPr>
          <p:txBody>
            <a:bodyPr lIns="92075" tIns="46038" rIns="92075" bIns="46038" anchor="ctr"/>
            <a:lstStyle/>
            <a:p>
              <a:r>
                <a:rPr lang="en-US" sz="1400" b="1" dirty="0" smtClean="0">
                  <a:solidFill>
                    <a:srgbClr val="646464"/>
                  </a:solidFill>
                  <a:latin typeface="EYInterstate" pitchFamily="2" charset="0"/>
                </a:rPr>
                <a:t>In a telecom scenario, postpaid billing refers to an agreement between subscribers and the operator whereby subscribers are charged for their access to and usage of the network services, at an agreed point of time, after the services have been utilized.</a:t>
              </a:r>
            </a:p>
          </p:txBody>
        </p:sp>
        <p:sp>
          <p:nvSpPr>
            <p:cNvPr id="14" name="Rectangle 13"/>
            <p:cNvSpPr>
              <a:spLocks noChangeArrowheads="1"/>
            </p:cNvSpPr>
            <p:nvPr/>
          </p:nvSpPr>
          <p:spPr bwMode="auto">
            <a:xfrm>
              <a:off x="914400" y="4093749"/>
              <a:ext cx="2209800" cy="1363771"/>
            </a:xfrm>
            <a:prstGeom prst="rect">
              <a:avLst/>
            </a:prstGeom>
            <a:solidFill>
              <a:schemeClr val="accent2">
                <a:alpha val="30000"/>
              </a:schemeClr>
            </a:solidFill>
            <a:ln w="9525">
              <a:solidFill>
                <a:schemeClr val="accent1"/>
              </a:solidFill>
              <a:miter lim="800000"/>
              <a:headEnd/>
              <a:tailEnd/>
            </a:ln>
            <a:effectLst/>
          </p:spPr>
          <p:txBody>
            <a:bodyPr lIns="92075" tIns="46038" rIns="92075" bIns="46038" anchor="ctr"/>
            <a:lstStyle/>
            <a:p>
              <a:pPr eaLnBrk="0" hangingPunct="0"/>
              <a:r>
                <a:rPr lang="en-US" sz="1400" b="1" dirty="0" smtClean="0">
                  <a:solidFill>
                    <a:srgbClr val="646464"/>
                  </a:solidFill>
                  <a:latin typeface="EYInterstate" pitchFamily="2" charset="0"/>
                </a:rPr>
                <a:t>Postpaid does not only exist with mobile operators but also with fixed operators</a:t>
              </a:r>
            </a:p>
          </p:txBody>
        </p:sp>
        <p:sp>
          <p:nvSpPr>
            <p:cNvPr id="15" name="Rectangle 8"/>
            <p:cNvSpPr>
              <a:spLocks noChangeArrowheads="1"/>
            </p:cNvSpPr>
            <p:nvPr/>
          </p:nvSpPr>
          <p:spPr bwMode="auto">
            <a:xfrm>
              <a:off x="914400" y="2857409"/>
              <a:ext cx="2209800" cy="1236341"/>
            </a:xfrm>
            <a:prstGeom prst="rect">
              <a:avLst/>
            </a:prstGeom>
            <a:solidFill>
              <a:schemeClr val="accent2">
                <a:alpha val="80000"/>
              </a:schemeClr>
            </a:solidFill>
            <a:ln w="9525">
              <a:solidFill>
                <a:schemeClr val="accent1"/>
              </a:solidFill>
              <a:miter lim="800000"/>
              <a:headEnd/>
              <a:tailEnd/>
            </a:ln>
            <a:effectLst/>
          </p:spPr>
          <p:txBody>
            <a:bodyPr lIns="92075" tIns="46038" rIns="92075" bIns="46038" anchor="ctr"/>
            <a:lstStyle/>
            <a:p>
              <a:pPr algn="ctr" eaLnBrk="0" hangingPunct="0"/>
              <a:endParaRPr lang="en-US" sz="1200" dirty="0">
                <a:solidFill>
                  <a:srgbClr val="646464"/>
                </a:solidFill>
                <a:latin typeface="EYInterstate Light" pitchFamily="2" charset="0"/>
              </a:endParaRPr>
            </a:p>
          </p:txBody>
        </p:sp>
        <p:sp>
          <p:nvSpPr>
            <p:cNvPr id="16" name="Rectangle 15"/>
            <p:cNvSpPr/>
            <p:nvPr/>
          </p:nvSpPr>
          <p:spPr>
            <a:xfrm>
              <a:off x="954200" y="2943360"/>
              <a:ext cx="2017600" cy="1169551"/>
            </a:xfrm>
            <a:prstGeom prst="rect">
              <a:avLst/>
            </a:prstGeom>
            <a:ln>
              <a:noFill/>
            </a:ln>
          </p:spPr>
          <p:txBody>
            <a:bodyPr wrap="square">
              <a:spAutoFit/>
            </a:bodyPr>
            <a:lstStyle/>
            <a:p>
              <a:r>
                <a:rPr lang="en-US" sz="1400" b="1" dirty="0" smtClean="0">
                  <a:latin typeface="EYInterstate" pitchFamily="2" charset="0"/>
                </a:rPr>
                <a:t>Postpaid connection is acquired after submitting all required documents  &amp; verification</a:t>
              </a:r>
            </a:p>
          </p:txBody>
        </p:sp>
        <p:sp>
          <p:nvSpPr>
            <p:cNvPr id="17" name="Rectangle 16"/>
            <p:cNvSpPr/>
            <p:nvPr/>
          </p:nvSpPr>
          <p:spPr>
            <a:xfrm>
              <a:off x="1066800" y="2133600"/>
              <a:ext cx="2362200" cy="523220"/>
            </a:xfrm>
            <a:prstGeom prst="rect">
              <a:avLst/>
            </a:prstGeom>
            <a:ln>
              <a:noFill/>
            </a:ln>
          </p:spPr>
          <p:txBody>
            <a:bodyPr wrap="square">
              <a:spAutoFit/>
            </a:bodyPr>
            <a:lstStyle/>
            <a:p>
              <a:r>
                <a:rPr lang="en-US" sz="1400" dirty="0" smtClean="0">
                  <a:latin typeface="EYInterstate" pitchFamily="2" charset="0"/>
                </a:rPr>
                <a:t>Postpaid refers to </a:t>
              </a:r>
              <a:r>
                <a:rPr lang="en-US" sz="1400" b="1" dirty="0" smtClean="0">
                  <a:latin typeface="EYInterstate" pitchFamily="2" charset="0"/>
                </a:rPr>
                <a:t>‘payment post usage’</a:t>
              </a:r>
            </a:p>
          </p:txBody>
        </p:sp>
        <p:pic>
          <p:nvPicPr>
            <p:cNvPr id="18" name="Picture 43" descr="14H02322_RF.jpg"/>
            <p:cNvPicPr>
              <a:picLocks noChangeAspect="1"/>
            </p:cNvPicPr>
            <p:nvPr/>
          </p:nvPicPr>
          <p:blipFill>
            <a:blip r:embed="rId2" cstate="print"/>
            <a:srcRect l="5460"/>
            <a:stretch>
              <a:fillRect/>
            </a:stretch>
          </p:blipFill>
          <p:spPr bwMode="auto">
            <a:xfrm>
              <a:off x="3124200" y="2868304"/>
              <a:ext cx="2286000" cy="1627496"/>
            </a:xfrm>
            <a:prstGeom prst="rect">
              <a:avLst/>
            </a:prstGeom>
            <a:noFill/>
            <a:ln w="9525">
              <a:solidFill>
                <a:schemeClr val="accent1"/>
              </a:solidFill>
              <a:miter lim="800000"/>
              <a:headEnd/>
              <a:tailEnd/>
            </a:ln>
          </p:spPr>
        </p:pic>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79" name="Rectangle 27"/>
          <p:cNvSpPr>
            <a:spLocks noChangeArrowheads="1"/>
          </p:cNvSpPr>
          <p:nvPr/>
        </p:nvSpPr>
        <p:spPr bwMode="auto">
          <a:xfrm>
            <a:off x="530225" y="228600"/>
            <a:ext cx="8232775" cy="863600"/>
          </a:xfrm>
          <a:prstGeom prst="rect">
            <a:avLst/>
          </a:prstGeom>
          <a:noFill/>
          <a:ln w="9525">
            <a:noFill/>
            <a:miter lim="800000"/>
            <a:headEnd/>
            <a:tailEnd/>
          </a:ln>
          <a:effectLst/>
        </p:spPr>
        <p:txBody>
          <a:bodyPr lIns="0" tIns="36000" rIns="0" bIns="0"/>
          <a:lstStyle/>
          <a:p>
            <a:pPr>
              <a:lnSpc>
                <a:spcPct val="85000"/>
              </a:lnSpc>
            </a:pPr>
            <a:r>
              <a:rPr lang="en-US" sz="3000" b="1" kern="0" dirty="0" smtClean="0">
                <a:solidFill>
                  <a:schemeClr val="accent1"/>
                </a:solidFill>
                <a:latin typeface="EYInterstate" pitchFamily="2" charset="0"/>
                <a:ea typeface="+mj-ea"/>
                <a:cs typeface="+mj-cs"/>
              </a:rPr>
              <a:t>What all systems are involved?</a:t>
            </a:r>
          </a:p>
          <a:p>
            <a:pPr>
              <a:lnSpc>
                <a:spcPct val="85000"/>
              </a:lnSpc>
            </a:pPr>
            <a:r>
              <a:rPr lang="en-US" sz="2000" kern="0" dirty="0" smtClean="0">
                <a:solidFill>
                  <a:schemeClr val="accent1"/>
                </a:solidFill>
                <a:latin typeface="EYInterstate" pitchFamily="2" charset="0"/>
                <a:ea typeface="+mj-ea"/>
                <a:cs typeface="+mj-cs"/>
              </a:rPr>
              <a:t>Network and IT elements supporting Postpaid Revenue Stream</a:t>
            </a:r>
            <a:endParaRPr lang="en-US" sz="2000" kern="0" dirty="0">
              <a:solidFill>
                <a:schemeClr val="accent1"/>
              </a:solidFill>
              <a:latin typeface="EYInterstate" pitchFamily="2" charset="0"/>
              <a:ea typeface="+mj-ea"/>
              <a:cs typeface="+mj-cs"/>
            </a:endParaRPr>
          </a:p>
        </p:txBody>
      </p:sp>
      <p:sp>
        <p:nvSpPr>
          <p:cNvPr id="59" name="Text Box 51"/>
          <p:cNvSpPr txBox="1">
            <a:spLocks noChangeArrowheads="1"/>
          </p:cNvSpPr>
          <p:nvPr/>
        </p:nvSpPr>
        <p:spPr bwMode="auto">
          <a:xfrm>
            <a:off x="381000" y="4743018"/>
            <a:ext cx="1371600" cy="438582"/>
          </a:xfrm>
          <a:prstGeom prst="rect">
            <a:avLst/>
          </a:prstGeom>
          <a:noFill/>
          <a:ln w="12700" algn="ctr">
            <a:noFill/>
            <a:miter lim="800000"/>
            <a:headEnd/>
            <a:tailEnd/>
          </a:ln>
          <a:effectLst/>
        </p:spPr>
        <p:txBody>
          <a:bodyPr wrap="square">
            <a:spAutoFit/>
          </a:bodyPr>
          <a:lstStyle/>
          <a:p>
            <a:pPr algn="ctr" eaLnBrk="0" fontAlgn="base" hangingPunct="0">
              <a:spcBef>
                <a:spcPct val="50000"/>
              </a:spcBef>
              <a:spcAft>
                <a:spcPct val="0"/>
              </a:spcAft>
            </a:pPr>
            <a:r>
              <a:rPr lang="en-US" sz="900" i="1" dirty="0" smtClean="0">
                <a:solidFill>
                  <a:srgbClr val="000000"/>
                </a:solidFill>
              </a:rPr>
              <a:t>Post-Paid &amp; </a:t>
            </a:r>
          </a:p>
          <a:p>
            <a:pPr algn="ctr" eaLnBrk="0" fontAlgn="base" hangingPunct="0">
              <a:spcBef>
                <a:spcPct val="50000"/>
              </a:spcBef>
              <a:spcAft>
                <a:spcPct val="0"/>
              </a:spcAft>
            </a:pPr>
            <a:r>
              <a:rPr lang="en-US" sz="900" i="1" dirty="0" smtClean="0">
                <a:solidFill>
                  <a:srgbClr val="000000"/>
                </a:solidFill>
              </a:rPr>
              <a:t>Roaming Billing</a:t>
            </a:r>
          </a:p>
        </p:txBody>
      </p:sp>
      <p:graphicFrame>
        <p:nvGraphicFramePr>
          <p:cNvPr id="4" name="Object 5"/>
          <p:cNvGraphicFramePr>
            <a:graphicFrameLocks noChangeAspect="1"/>
          </p:cNvGraphicFramePr>
          <p:nvPr/>
        </p:nvGraphicFramePr>
        <p:xfrm>
          <a:off x="3338512" y="2223656"/>
          <a:ext cx="411162" cy="800100"/>
        </p:xfrm>
        <a:graphic>
          <a:graphicData uri="http://schemas.openxmlformats.org/presentationml/2006/ole">
            <p:oleObj spid="_x0000_s46082" name="Clip" r:id="rId4" imgW="3985920" imgH="4144680" progId="">
              <p:embed/>
            </p:oleObj>
          </a:graphicData>
        </a:graphic>
      </p:graphicFrame>
      <p:sp>
        <p:nvSpPr>
          <p:cNvPr id="5" name="AutoShape 6"/>
          <p:cNvSpPr>
            <a:spLocks noChangeArrowheads="1"/>
          </p:cNvSpPr>
          <p:nvPr/>
        </p:nvSpPr>
        <p:spPr bwMode="auto">
          <a:xfrm>
            <a:off x="3608387" y="2660218"/>
            <a:ext cx="13716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fontAlgn="base" hangingPunct="0">
              <a:spcBef>
                <a:spcPct val="50000"/>
              </a:spcBef>
              <a:spcAft>
                <a:spcPct val="0"/>
              </a:spcAft>
            </a:pPr>
            <a:r>
              <a:rPr lang="en-US" sz="1000" dirty="0" smtClean="0">
                <a:solidFill>
                  <a:srgbClr val="000000"/>
                </a:solidFill>
              </a:rPr>
              <a:t>Switch</a:t>
            </a:r>
          </a:p>
        </p:txBody>
      </p:sp>
      <p:graphicFrame>
        <p:nvGraphicFramePr>
          <p:cNvPr id="6" name="Object 7"/>
          <p:cNvGraphicFramePr>
            <a:graphicFrameLocks noChangeAspect="1"/>
          </p:cNvGraphicFramePr>
          <p:nvPr/>
        </p:nvGraphicFramePr>
        <p:xfrm>
          <a:off x="7581900" y="2152218"/>
          <a:ext cx="411163" cy="800100"/>
        </p:xfrm>
        <a:graphic>
          <a:graphicData uri="http://schemas.openxmlformats.org/presentationml/2006/ole">
            <p:oleObj spid="_x0000_s46083" name="Clip" r:id="rId5" imgW="3985920" imgH="4144680" progId="">
              <p:embed/>
            </p:oleObj>
          </a:graphicData>
        </a:graphic>
      </p:graphicFrame>
      <p:graphicFrame>
        <p:nvGraphicFramePr>
          <p:cNvPr id="7" name="Object 8"/>
          <p:cNvGraphicFramePr>
            <a:graphicFrameLocks noChangeAspect="1"/>
          </p:cNvGraphicFramePr>
          <p:nvPr/>
        </p:nvGraphicFramePr>
        <p:xfrm>
          <a:off x="7797800" y="2368118"/>
          <a:ext cx="411163" cy="800100"/>
        </p:xfrm>
        <a:graphic>
          <a:graphicData uri="http://schemas.openxmlformats.org/presentationml/2006/ole">
            <p:oleObj spid="_x0000_s46084" name="Clip" r:id="rId6" imgW="3985920" imgH="4144680" progId="">
              <p:embed/>
            </p:oleObj>
          </a:graphicData>
        </a:graphic>
      </p:graphicFrame>
      <p:graphicFrame>
        <p:nvGraphicFramePr>
          <p:cNvPr id="8" name="Object 9"/>
          <p:cNvGraphicFramePr>
            <a:graphicFrameLocks noChangeAspect="1"/>
          </p:cNvGraphicFramePr>
          <p:nvPr/>
        </p:nvGraphicFramePr>
        <p:xfrm>
          <a:off x="8013700" y="2584018"/>
          <a:ext cx="411163" cy="800100"/>
        </p:xfrm>
        <a:graphic>
          <a:graphicData uri="http://schemas.openxmlformats.org/presentationml/2006/ole">
            <p:oleObj spid="_x0000_s46085" name="Clip" r:id="rId7" imgW="3985920" imgH="4144680" progId="">
              <p:embed/>
            </p:oleObj>
          </a:graphicData>
        </a:graphic>
      </p:graphicFrame>
      <p:graphicFrame>
        <p:nvGraphicFramePr>
          <p:cNvPr id="9" name="Object 10"/>
          <p:cNvGraphicFramePr>
            <a:graphicFrameLocks noChangeAspect="1"/>
          </p:cNvGraphicFramePr>
          <p:nvPr/>
        </p:nvGraphicFramePr>
        <p:xfrm>
          <a:off x="8178800" y="2799918"/>
          <a:ext cx="411163" cy="800100"/>
        </p:xfrm>
        <a:graphic>
          <a:graphicData uri="http://schemas.openxmlformats.org/presentationml/2006/ole">
            <p:oleObj spid="_x0000_s46086" name="Clip" r:id="rId8" imgW="3985920" imgH="4144680" progId="">
              <p:embed/>
            </p:oleObj>
          </a:graphicData>
        </a:graphic>
      </p:graphicFrame>
      <p:sp>
        <p:nvSpPr>
          <p:cNvPr id="10" name="AutoShape 15"/>
          <p:cNvSpPr>
            <a:spLocks noChangeArrowheads="1"/>
          </p:cNvSpPr>
          <p:nvPr/>
        </p:nvSpPr>
        <p:spPr bwMode="auto">
          <a:xfrm>
            <a:off x="6781799" y="2349067"/>
            <a:ext cx="1371600" cy="274320"/>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900" dirty="0" smtClean="0">
                <a:solidFill>
                  <a:srgbClr val="000000"/>
                </a:solidFill>
              </a:rPr>
              <a:t>Point of Interconnect</a:t>
            </a:r>
          </a:p>
        </p:txBody>
      </p:sp>
      <p:grpSp>
        <p:nvGrpSpPr>
          <p:cNvPr id="2" name="Group 16"/>
          <p:cNvGrpSpPr>
            <a:grpSpLocks/>
          </p:cNvGrpSpPr>
          <p:nvPr/>
        </p:nvGrpSpPr>
        <p:grpSpPr bwMode="auto">
          <a:xfrm>
            <a:off x="2001837" y="2171268"/>
            <a:ext cx="600075" cy="1241425"/>
            <a:chOff x="278" y="2050"/>
            <a:chExt cx="378" cy="782"/>
          </a:xfrm>
        </p:grpSpPr>
        <p:grpSp>
          <p:nvGrpSpPr>
            <p:cNvPr id="3" name="Group 17"/>
            <p:cNvGrpSpPr>
              <a:grpSpLocks/>
            </p:cNvGrpSpPr>
            <p:nvPr/>
          </p:nvGrpSpPr>
          <p:grpSpPr bwMode="auto">
            <a:xfrm>
              <a:off x="278" y="2050"/>
              <a:ext cx="378" cy="782"/>
              <a:chOff x="278" y="2050"/>
              <a:chExt cx="378" cy="782"/>
            </a:xfrm>
          </p:grpSpPr>
          <p:sp>
            <p:nvSpPr>
              <p:cNvPr id="17" name="Line 18"/>
              <p:cNvSpPr>
                <a:spLocks noChangeShapeType="1"/>
              </p:cNvSpPr>
              <p:nvPr/>
            </p:nvSpPr>
            <p:spPr bwMode="auto">
              <a:xfrm flipV="1">
                <a:off x="325" y="2180"/>
                <a:ext cx="95" cy="565"/>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18" name="Line 19"/>
              <p:cNvSpPr>
                <a:spLocks noChangeShapeType="1"/>
              </p:cNvSpPr>
              <p:nvPr/>
            </p:nvSpPr>
            <p:spPr bwMode="auto">
              <a:xfrm>
                <a:off x="514" y="2180"/>
                <a:ext cx="95" cy="565"/>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19" name="Line 20"/>
              <p:cNvSpPr>
                <a:spLocks noChangeShapeType="1"/>
              </p:cNvSpPr>
              <p:nvPr/>
            </p:nvSpPr>
            <p:spPr bwMode="auto">
              <a:xfrm flipV="1">
                <a:off x="373" y="2093"/>
                <a:ext cx="94" cy="131"/>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0" name="Line 21"/>
              <p:cNvSpPr>
                <a:spLocks noChangeShapeType="1"/>
              </p:cNvSpPr>
              <p:nvPr/>
            </p:nvSpPr>
            <p:spPr bwMode="auto">
              <a:xfrm>
                <a:off x="467" y="2093"/>
                <a:ext cx="95" cy="131"/>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1" name="Line 22"/>
              <p:cNvSpPr>
                <a:spLocks noChangeShapeType="1"/>
              </p:cNvSpPr>
              <p:nvPr/>
            </p:nvSpPr>
            <p:spPr bwMode="auto">
              <a:xfrm>
                <a:off x="420" y="2180"/>
                <a:ext cx="110" cy="91"/>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2" name="Line 23"/>
              <p:cNvSpPr>
                <a:spLocks noChangeShapeType="1"/>
              </p:cNvSpPr>
              <p:nvPr/>
            </p:nvSpPr>
            <p:spPr bwMode="auto">
              <a:xfrm>
                <a:off x="373" y="2528"/>
                <a:ext cx="236" cy="217"/>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3" name="Line 24"/>
              <p:cNvSpPr>
                <a:spLocks noChangeShapeType="1"/>
              </p:cNvSpPr>
              <p:nvPr/>
            </p:nvSpPr>
            <p:spPr bwMode="auto">
              <a:xfrm flipH="1">
                <a:off x="404" y="2180"/>
                <a:ext cx="110" cy="95"/>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4" name="Line 25"/>
              <p:cNvSpPr>
                <a:spLocks noChangeShapeType="1"/>
              </p:cNvSpPr>
              <p:nvPr/>
            </p:nvSpPr>
            <p:spPr bwMode="auto">
              <a:xfrm flipH="1">
                <a:off x="331" y="2530"/>
                <a:ext cx="231" cy="208"/>
              </a:xfrm>
              <a:prstGeom prst="line">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5" name="AutoShape 26"/>
              <p:cNvSpPr>
                <a:spLocks noChangeArrowheads="1"/>
              </p:cNvSpPr>
              <p:nvPr/>
            </p:nvSpPr>
            <p:spPr bwMode="auto">
              <a:xfrm>
                <a:off x="278" y="2745"/>
                <a:ext cx="378" cy="87"/>
              </a:xfrm>
              <a:prstGeom prst="flowChartMagneticDisk">
                <a:avLst/>
              </a:pr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wrap="none" anchor="ct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6" name="Freeform 27"/>
              <p:cNvSpPr>
                <a:spLocks/>
              </p:cNvSpPr>
              <p:nvPr/>
            </p:nvSpPr>
            <p:spPr bwMode="auto">
              <a:xfrm>
                <a:off x="325" y="2050"/>
                <a:ext cx="48" cy="174"/>
              </a:xfrm>
              <a:custGeom>
                <a:avLst/>
                <a:gdLst/>
                <a:ahLst/>
                <a:cxnLst>
                  <a:cxn ang="0">
                    <a:pos x="0" y="0"/>
                  </a:cxn>
                  <a:cxn ang="0">
                    <a:pos x="48" y="96"/>
                  </a:cxn>
                  <a:cxn ang="0">
                    <a:pos x="0" y="192"/>
                  </a:cxn>
                </a:cxnLst>
                <a:rect l="0" t="0" r="r" b="b"/>
                <a:pathLst>
                  <a:path w="48" h="192">
                    <a:moveTo>
                      <a:pt x="0" y="0"/>
                    </a:moveTo>
                    <a:cubicBezTo>
                      <a:pt x="24" y="32"/>
                      <a:pt x="48" y="64"/>
                      <a:pt x="48" y="96"/>
                    </a:cubicBezTo>
                    <a:cubicBezTo>
                      <a:pt x="48" y="128"/>
                      <a:pt x="24" y="160"/>
                      <a:pt x="0" y="192"/>
                    </a:cubicBezTo>
                  </a:path>
                </a:pathLst>
              </a:cu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7" name="Freeform 28"/>
              <p:cNvSpPr>
                <a:spLocks/>
              </p:cNvSpPr>
              <p:nvPr/>
            </p:nvSpPr>
            <p:spPr bwMode="auto">
              <a:xfrm flipH="1">
                <a:off x="562" y="2050"/>
                <a:ext cx="47" cy="174"/>
              </a:xfrm>
              <a:custGeom>
                <a:avLst/>
                <a:gdLst/>
                <a:ahLst/>
                <a:cxnLst>
                  <a:cxn ang="0">
                    <a:pos x="0" y="0"/>
                  </a:cxn>
                  <a:cxn ang="0">
                    <a:pos x="48" y="96"/>
                  </a:cxn>
                  <a:cxn ang="0">
                    <a:pos x="0" y="192"/>
                  </a:cxn>
                </a:cxnLst>
                <a:rect l="0" t="0" r="r" b="b"/>
                <a:pathLst>
                  <a:path w="48" h="192">
                    <a:moveTo>
                      <a:pt x="0" y="0"/>
                    </a:moveTo>
                    <a:cubicBezTo>
                      <a:pt x="24" y="32"/>
                      <a:pt x="48" y="64"/>
                      <a:pt x="48" y="96"/>
                    </a:cubicBezTo>
                    <a:cubicBezTo>
                      <a:pt x="48" y="128"/>
                      <a:pt x="24" y="160"/>
                      <a:pt x="0" y="192"/>
                    </a:cubicBezTo>
                  </a:path>
                </a:pathLst>
              </a:cu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8" name="Freeform 29"/>
              <p:cNvSpPr>
                <a:spLocks/>
              </p:cNvSpPr>
              <p:nvPr/>
            </p:nvSpPr>
            <p:spPr bwMode="auto">
              <a:xfrm>
                <a:off x="278" y="2050"/>
                <a:ext cx="47" cy="174"/>
              </a:xfrm>
              <a:custGeom>
                <a:avLst/>
                <a:gdLst/>
                <a:ahLst/>
                <a:cxnLst>
                  <a:cxn ang="0">
                    <a:pos x="0" y="0"/>
                  </a:cxn>
                  <a:cxn ang="0">
                    <a:pos x="48" y="96"/>
                  </a:cxn>
                  <a:cxn ang="0">
                    <a:pos x="0" y="192"/>
                  </a:cxn>
                </a:cxnLst>
                <a:rect l="0" t="0" r="r" b="b"/>
                <a:pathLst>
                  <a:path w="48" h="192">
                    <a:moveTo>
                      <a:pt x="0" y="0"/>
                    </a:moveTo>
                    <a:cubicBezTo>
                      <a:pt x="24" y="32"/>
                      <a:pt x="48" y="64"/>
                      <a:pt x="48" y="96"/>
                    </a:cubicBezTo>
                    <a:cubicBezTo>
                      <a:pt x="48" y="128"/>
                      <a:pt x="24" y="160"/>
                      <a:pt x="0" y="192"/>
                    </a:cubicBezTo>
                  </a:path>
                </a:pathLst>
              </a:cu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29" name="Freeform 30"/>
              <p:cNvSpPr>
                <a:spLocks/>
              </p:cNvSpPr>
              <p:nvPr/>
            </p:nvSpPr>
            <p:spPr bwMode="auto">
              <a:xfrm flipH="1">
                <a:off x="609" y="2050"/>
                <a:ext cx="47" cy="174"/>
              </a:xfrm>
              <a:custGeom>
                <a:avLst/>
                <a:gdLst/>
                <a:ahLst/>
                <a:cxnLst>
                  <a:cxn ang="0">
                    <a:pos x="0" y="0"/>
                  </a:cxn>
                  <a:cxn ang="0">
                    <a:pos x="48" y="96"/>
                  </a:cxn>
                  <a:cxn ang="0">
                    <a:pos x="0" y="192"/>
                  </a:cxn>
                </a:cxnLst>
                <a:rect l="0" t="0" r="r" b="b"/>
                <a:pathLst>
                  <a:path w="48" h="192">
                    <a:moveTo>
                      <a:pt x="0" y="0"/>
                    </a:moveTo>
                    <a:cubicBezTo>
                      <a:pt x="24" y="32"/>
                      <a:pt x="48" y="64"/>
                      <a:pt x="48" y="96"/>
                    </a:cubicBezTo>
                    <a:cubicBezTo>
                      <a:pt x="48" y="128"/>
                      <a:pt x="24" y="160"/>
                      <a:pt x="0" y="192"/>
                    </a:cubicBezTo>
                  </a:path>
                </a:pathLst>
              </a:custGeom>
              <a:ln>
                <a:headEnd type="none" w="sm" len="sm"/>
                <a:tailEnd type="none" w="sm" len="sm"/>
              </a:ln>
            </p:spPr>
            <p:style>
              <a:lnRef idx="2">
                <a:schemeClr val="accent5"/>
              </a:lnRef>
              <a:fillRef idx="1">
                <a:schemeClr val="lt1"/>
              </a:fillRef>
              <a:effectRef idx="0">
                <a:schemeClr val="accent5"/>
              </a:effectRef>
              <a:fontRef idx="minor">
                <a:schemeClr val="dk1"/>
              </a:fontRef>
            </p:style>
            <p:txBody>
              <a:bodyP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grpSp>
        <p:sp>
          <p:nvSpPr>
            <p:cNvPr id="13" name="Line 31"/>
            <p:cNvSpPr>
              <a:spLocks noChangeShapeType="1"/>
            </p:cNvSpPr>
            <p:nvPr/>
          </p:nvSpPr>
          <p:spPr bwMode="auto">
            <a:xfrm flipV="1">
              <a:off x="372" y="2404"/>
              <a:ext cx="172" cy="126"/>
            </a:xfrm>
            <a:prstGeom prst="line">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14" name="Line 32"/>
            <p:cNvSpPr>
              <a:spLocks noChangeShapeType="1"/>
            </p:cNvSpPr>
            <p:nvPr/>
          </p:nvSpPr>
          <p:spPr bwMode="auto">
            <a:xfrm flipH="1" flipV="1">
              <a:off x="408" y="2268"/>
              <a:ext cx="138" cy="136"/>
            </a:xfrm>
            <a:prstGeom prst="line">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15" name="Line 33"/>
            <p:cNvSpPr>
              <a:spLocks noChangeShapeType="1"/>
            </p:cNvSpPr>
            <p:nvPr/>
          </p:nvSpPr>
          <p:spPr bwMode="auto">
            <a:xfrm flipH="1" flipV="1">
              <a:off x="390" y="2404"/>
              <a:ext cx="174" cy="122"/>
            </a:xfrm>
            <a:prstGeom prst="line">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sp>
          <p:nvSpPr>
            <p:cNvPr id="16" name="Line 34"/>
            <p:cNvSpPr>
              <a:spLocks noChangeShapeType="1"/>
            </p:cNvSpPr>
            <p:nvPr/>
          </p:nvSpPr>
          <p:spPr bwMode="auto">
            <a:xfrm flipV="1">
              <a:off x="384" y="2274"/>
              <a:ext cx="138" cy="130"/>
            </a:xfrm>
            <a:prstGeom prst="line">
              <a:avLst/>
            </a:prstGeom>
            <a:ln>
              <a:headEnd/>
              <a:tailEnd/>
            </a:ln>
          </p:spPr>
          <p:style>
            <a:lnRef idx="2">
              <a:schemeClr val="accent5"/>
            </a:lnRef>
            <a:fillRef idx="1">
              <a:schemeClr val="lt1"/>
            </a:fillRef>
            <a:effectRef idx="0">
              <a:schemeClr val="accent5"/>
            </a:effectRef>
            <a:fontRef idx="minor">
              <a:schemeClr val="dk1"/>
            </a:fontRef>
          </p:style>
          <p:txBody>
            <a:bodyPr wrap="none" anchor="ctr"/>
            <a:lstStyle/>
            <a:p>
              <a:pPr algn="ctr" eaLnBrk="0" fontAlgn="base" hangingPunct="0">
                <a:spcBef>
                  <a:spcPct val="0"/>
                </a:spcBef>
                <a:spcAft>
                  <a:spcPct val="0"/>
                </a:spcAft>
              </a:pPr>
              <a:endParaRPr lang="en-US" sz="2400" b="1" i="1" dirty="0" smtClean="0">
                <a:solidFill>
                  <a:srgbClr val="000000"/>
                </a:solidFill>
                <a:latin typeface="Times New Roman" pitchFamily="18" charset="0"/>
              </a:endParaRPr>
            </a:p>
          </p:txBody>
        </p:sp>
      </p:grpSp>
      <p:cxnSp>
        <p:nvCxnSpPr>
          <p:cNvPr id="30" name="AutoShape 36"/>
          <p:cNvCxnSpPr>
            <a:cxnSpLocks noChangeShapeType="1"/>
          </p:cNvCxnSpPr>
          <p:nvPr/>
        </p:nvCxnSpPr>
        <p:spPr bwMode="auto">
          <a:xfrm flipV="1">
            <a:off x="1620837" y="2736418"/>
            <a:ext cx="457200" cy="228601"/>
          </a:xfrm>
          <a:prstGeom prst="straightConnector1">
            <a:avLst/>
          </a:prstGeom>
          <a:noFill/>
          <a:ln w="12700">
            <a:solidFill>
              <a:srgbClr val="0D1D95"/>
            </a:solidFill>
            <a:prstDash val="dashDot"/>
            <a:round/>
            <a:headEnd type="triangle" w="med" len="med"/>
            <a:tailEnd type="triangle" w="med" len="med"/>
          </a:ln>
          <a:effectLst/>
        </p:spPr>
      </p:cxnSp>
      <p:cxnSp>
        <p:nvCxnSpPr>
          <p:cNvPr id="31" name="AutoShape 37"/>
          <p:cNvCxnSpPr>
            <a:cxnSpLocks noChangeShapeType="1"/>
          </p:cNvCxnSpPr>
          <p:nvPr/>
        </p:nvCxnSpPr>
        <p:spPr bwMode="auto">
          <a:xfrm flipV="1">
            <a:off x="2611437" y="2584018"/>
            <a:ext cx="533400" cy="304801"/>
          </a:xfrm>
          <a:prstGeom prst="straightConnector1">
            <a:avLst/>
          </a:prstGeom>
          <a:noFill/>
          <a:ln w="12700">
            <a:solidFill>
              <a:srgbClr val="0D1D95"/>
            </a:solidFill>
            <a:prstDash val="dashDot"/>
            <a:round/>
            <a:headEnd type="triangle" w="med" len="med"/>
            <a:tailEnd type="triangle" w="med" len="med"/>
          </a:ln>
          <a:effectLst/>
        </p:spPr>
      </p:cxnSp>
      <p:grpSp>
        <p:nvGrpSpPr>
          <p:cNvPr id="11" name="Group 31"/>
          <p:cNvGrpSpPr/>
          <p:nvPr/>
        </p:nvGrpSpPr>
        <p:grpSpPr>
          <a:xfrm>
            <a:off x="1011237" y="2752293"/>
            <a:ext cx="1008062" cy="669925"/>
            <a:chOff x="381000" y="5106988"/>
            <a:chExt cx="1008062" cy="669925"/>
          </a:xfrm>
        </p:grpSpPr>
        <p:sp>
          <p:nvSpPr>
            <p:cNvPr id="33" name="Text Box 35"/>
            <p:cNvSpPr txBox="1">
              <a:spLocks noChangeArrowheads="1"/>
            </p:cNvSpPr>
            <p:nvPr/>
          </p:nvSpPr>
          <p:spPr bwMode="auto">
            <a:xfrm>
              <a:off x="698500" y="5106988"/>
              <a:ext cx="381000" cy="336550"/>
            </a:xfrm>
            <a:prstGeom prst="rect">
              <a:avLst/>
            </a:prstGeom>
            <a:noFill/>
            <a:ln w="12700" algn="ctr">
              <a:noFill/>
              <a:miter lim="800000"/>
              <a:headEnd/>
              <a:tailEnd/>
            </a:ln>
            <a:effectLst/>
          </p:spPr>
          <p:txBody>
            <a:bodyPr>
              <a:spAutoFit/>
            </a:bodyPr>
            <a:lstStyle/>
            <a:p>
              <a:pPr defTabSz="858838" eaLnBrk="0" fontAlgn="base" hangingPunct="0">
                <a:spcBef>
                  <a:spcPct val="50000"/>
                </a:spcBef>
                <a:spcAft>
                  <a:spcPct val="0"/>
                </a:spcAft>
              </a:pPr>
              <a:r>
                <a:rPr lang="en-US" sz="1600" dirty="0" smtClean="0">
                  <a:solidFill>
                    <a:srgbClr val="4D4D4D"/>
                  </a:solidFill>
                  <a:latin typeface="Verdana" pitchFamily="34" charset="0"/>
                  <a:sym typeface="Webdings" pitchFamily="18" charset="2"/>
                </a:rPr>
                <a:t></a:t>
              </a:r>
            </a:p>
          </p:txBody>
        </p:sp>
        <p:sp>
          <p:nvSpPr>
            <p:cNvPr id="34" name="Text Box 58"/>
            <p:cNvSpPr txBox="1">
              <a:spLocks noChangeArrowheads="1"/>
            </p:cNvSpPr>
            <p:nvPr/>
          </p:nvSpPr>
          <p:spPr bwMode="auto">
            <a:xfrm>
              <a:off x="381000" y="5411788"/>
              <a:ext cx="1008062" cy="365125"/>
            </a:xfrm>
            <a:prstGeom prst="rect">
              <a:avLst/>
            </a:prstGeom>
            <a:noFill/>
            <a:ln w="12700" algn="ctr">
              <a:noFill/>
              <a:miter lim="800000"/>
              <a:headEnd/>
              <a:tailEnd/>
            </a:ln>
            <a:effectLst/>
          </p:spPr>
          <p:txBody>
            <a:bodyPr>
              <a:spAutoFit/>
            </a:bodyPr>
            <a:lstStyle/>
            <a:p>
              <a:pPr algn="ctr" eaLnBrk="0" fontAlgn="base" hangingPunct="0">
                <a:spcBef>
                  <a:spcPct val="50000"/>
                </a:spcBef>
                <a:spcAft>
                  <a:spcPct val="0"/>
                </a:spcAft>
              </a:pPr>
              <a:r>
                <a:rPr lang="en-US" sz="900" i="1" dirty="0" smtClean="0">
                  <a:solidFill>
                    <a:srgbClr val="000000"/>
                  </a:solidFill>
                </a:rPr>
                <a:t>Home Subscriber</a:t>
              </a:r>
            </a:p>
          </p:txBody>
        </p:sp>
      </p:grpSp>
      <p:sp>
        <p:nvSpPr>
          <p:cNvPr id="35" name="Text Box 62"/>
          <p:cNvSpPr txBox="1">
            <a:spLocks noChangeArrowheads="1"/>
          </p:cNvSpPr>
          <p:nvPr/>
        </p:nvSpPr>
        <p:spPr bwMode="auto">
          <a:xfrm>
            <a:off x="6215062" y="2645718"/>
            <a:ext cx="1376363" cy="230832"/>
          </a:xfrm>
          <a:prstGeom prst="rect">
            <a:avLst/>
          </a:prstGeom>
          <a:noFill/>
          <a:ln w="12700" algn="ctr">
            <a:noFill/>
            <a:miter lim="800000"/>
            <a:headEnd/>
            <a:tailEnd/>
          </a:ln>
          <a:effectLst/>
        </p:spPr>
        <p:txBody>
          <a:bodyPr wrap="square">
            <a:spAutoFit/>
          </a:bodyPr>
          <a:lstStyle/>
          <a:p>
            <a:pPr algn="ctr" eaLnBrk="0" fontAlgn="base" hangingPunct="0">
              <a:spcBef>
                <a:spcPct val="50000"/>
              </a:spcBef>
              <a:spcAft>
                <a:spcPct val="0"/>
              </a:spcAft>
            </a:pPr>
            <a:r>
              <a:rPr lang="en-US" sz="900" i="1" dirty="0" smtClean="0">
                <a:solidFill>
                  <a:srgbClr val="000000"/>
                </a:solidFill>
              </a:rPr>
              <a:t>Intelligent Call Routing</a:t>
            </a:r>
          </a:p>
        </p:txBody>
      </p:sp>
      <p:sp>
        <p:nvSpPr>
          <p:cNvPr id="36" name="AutoShape 6"/>
          <p:cNvSpPr>
            <a:spLocks noChangeArrowheads="1"/>
          </p:cNvSpPr>
          <p:nvPr/>
        </p:nvSpPr>
        <p:spPr bwMode="auto">
          <a:xfrm>
            <a:off x="3949700" y="2152218"/>
            <a:ext cx="6985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SMSC</a:t>
            </a:r>
          </a:p>
        </p:txBody>
      </p:sp>
      <p:sp>
        <p:nvSpPr>
          <p:cNvPr id="37" name="AutoShape 6"/>
          <p:cNvSpPr>
            <a:spLocks noChangeArrowheads="1"/>
          </p:cNvSpPr>
          <p:nvPr/>
        </p:nvSpPr>
        <p:spPr bwMode="auto">
          <a:xfrm>
            <a:off x="5105400" y="2152218"/>
            <a:ext cx="6985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SGSN</a:t>
            </a:r>
          </a:p>
        </p:txBody>
      </p:sp>
      <p:cxnSp>
        <p:nvCxnSpPr>
          <p:cNvPr id="38" name="AutoShape 75"/>
          <p:cNvCxnSpPr>
            <a:cxnSpLocks noChangeShapeType="1"/>
            <a:stCxn id="5" idx="3"/>
            <a:endCxn id="10" idx="1"/>
          </p:cNvCxnSpPr>
          <p:nvPr/>
        </p:nvCxnSpPr>
        <p:spPr bwMode="auto">
          <a:xfrm flipV="1">
            <a:off x="4979987" y="2486227"/>
            <a:ext cx="1801812" cy="310199"/>
          </a:xfrm>
          <a:prstGeom prst="bentConnector3">
            <a:avLst>
              <a:gd name="adj1" fmla="val 50000"/>
            </a:avLst>
          </a:prstGeom>
          <a:noFill/>
          <a:ln w="12700">
            <a:solidFill>
              <a:schemeClr val="tx1"/>
            </a:solidFill>
            <a:prstDash val="lgDash"/>
            <a:miter lim="800000"/>
            <a:headEnd type="triangle" w="med" len="med"/>
            <a:tailEnd type="triangle" w="med" len="med"/>
          </a:ln>
          <a:effectLst/>
        </p:spPr>
      </p:cxnSp>
      <p:sp>
        <p:nvSpPr>
          <p:cNvPr id="39" name="Flowchart: Magnetic Disk 38"/>
          <p:cNvSpPr/>
          <p:nvPr/>
        </p:nvSpPr>
        <p:spPr>
          <a:xfrm>
            <a:off x="4648200" y="2838018"/>
            <a:ext cx="533400" cy="304800"/>
          </a:xfrm>
          <a:prstGeom prst="flowChartMagneticDisk">
            <a:avLst/>
          </a:prstGeom>
          <a:ln>
            <a:solidFill>
              <a:srgbClr val="00FFFF"/>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b="1" dirty="0" smtClean="0"/>
              <a:t>HLR</a:t>
            </a:r>
            <a:endParaRPr lang="en-US" sz="900" b="1" dirty="0"/>
          </a:p>
        </p:txBody>
      </p:sp>
      <p:cxnSp>
        <p:nvCxnSpPr>
          <p:cNvPr id="41" name="Elbow Connector 40"/>
          <p:cNvCxnSpPr>
            <a:stCxn id="36" idx="2"/>
            <a:endCxn id="5" idx="0"/>
          </p:cNvCxnSpPr>
          <p:nvPr/>
        </p:nvCxnSpPr>
        <p:spPr>
          <a:xfrm rot="5400000">
            <a:off x="4178777" y="2540044"/>
            <a:ext cx="235585" cy="4763"/>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37" idx="2"/>
            <a:endCxn id="5" idx="0"/>
          </p:cNvCxnSpPr>
          <p:nvPr/>
        </p:nvCxnSpPr>
        <p:spPr>
          <a:xfrm rot="5400000">
            <a:off x="4756627" y="1962194"/>
            <a:ext cx="235585" cy="1160463"/>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Flowchart: Magnetic Disk 42"/>
          <p:cNvSpPr/>
          <p:nvPr/>
        </p:nvSpPr>
        <p:spPr>
          <a:xfrm>
            <a:off x="5105400" y="2990418"/>
            <a:ext cx="533400" cy="304800"/>
          </a:xfrm>
          <a:prstGeom prst="flowChartMagneticDisk">
            <a:avLst/>
          </a:prstGeom>
          <a:ln>
            <a:solidFill>
              <a:srgbClr val="00FFFF"/>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b="1" dirty="0" smtClean="0"/>
              <a:t>VLR</a:t>
            </a:r>
            <a:endParaRPr lang="en-US" sz="900" b="1" dirty="0"/>
          </a:p>
        </p:txBody>
      </p:sp>
      <p:sp>
        <p:nvSpPr>
          <p:cNvPr id="44" name="Flowchart: Magnetic Disk 43"/>
          <p:cNvSpPr/>
          <p:nvPr/>
        </p:nvSpPr>
        <p:spPr>
          <a:xfrm>
            <a:off x="5562600" y="3142818"/>
            <a:ext cx="533400" cy="304800"/>
          </a:xfrm>
          <a:prstGeom prst="flowChartMagneticDisk">
            <a:avLst/>
          </a:prstGeom>
          <a:ln>
            <a:solidFill>
              <a:srgbClr val="00FFFF"/>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900" b="1" dirty="0" smtClean="0"/>
              <a:t>AUC</a:t>
            </a:r>
            <a:endParaRPr lang="en-US" sz="900" b="1" dirty="0"/>
          </a:p>
        </p:txBody>
      </p:sp>
      <p:sp>
        <p:nvSpPr>
          <p:cNvPr id="52" name="AutoShape 38"/>
          <p:cNvSpPr>
            <a:spLocks noChangeArrowheads="1"/>
          </p:cNvSpPr>
          <p:nvPr/>
        </p:nvSpPr>
        <p:spPr bwMode="auto">
          <a:xfrm>
            <a:off x="6019800" y="3680028"/>
            <a:ext cx="1371600" cy="272415"/>
          </a:xfrm>
          <a:prstGeom prst="roundRect">
            <a:avLst>
              <a:gd name="adj" fmla="val 16667"/>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fontAlgn="base" hangingPunct="0">
              <a:spcBef>
                <a:spcPct val="50000"/>
              </a:spcBef>
              <a:spcAft>
                <a:spcPct val="0"/>
              </a:spcAft>
            </a:pPr>
            <a:r>
              <a:rPr lang="en-US" sz="1000" dirty="0" smtClean="0">
                <a:solidFill>
                  <a:srgbClr val="000000"/>
                </a:solidFill>
              </a:rPr>
              <a:t>IN       </a:t>
            </a:r>
          </a:p>
        </p:txBody>
      </p:sp>
      <p:sp>
        <p:nvSpPr>
          <p:cNvPr id="53" name="AutoShape 72"/>
          <p:cNvSpPr>
            <a:spLocks noChangeArrowheads="1"/>
          </p:cNvSpPr>
          <p:nvPr/>
        </p:nvSpPr>
        <p:spPr bwMode="auto">
          <a:xfrm>
            <a:off x="3609975" y="3676218"/>
            <a:ext cx="1371600" cy="260350"/>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Mediation</a:t>
            </a:r>
          </a:p>
        </p:txBody>
      </p:sp>
      <p:sp>
        <p:nvSpPr>
          <p:cNvPr id="54" name="AutoShape 41"/>
          <p:cNvSpPr>
            <a:spLocks noChangeArrowheads="1"/>
          </p:cNvSpPr>
          <p:nvPr/>
        </p:nvSpPr>
        <p:spPr bwMode="auto">
          <a:xfrm>
            <a:off x="2438400" y="4466793"/>
            <a:ext cx="1371600" cy="272415"/>
          </a:xfrm>
          <a:prstGeom prst="roundRect">
            <a:avLst>
              <a:gd name="adj" fmla="val 16667"/>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IUC Billing Server</a:t>
            </a:r>
          </a:p>
        </p:txBody>
      </p:sp>
      <p:sp>
        <p:nvSpPr>
          <p:cNvPr id="55" name="AutoShape 45"/>
          <p:cNvSpPr>
            <a:spLocks noChangeArrowheads="1"/>
          </p:cNvSpPr>
          <p:nvPr/>
        </p:nvSpPr>
        <p:spPr bwMode="auto">
          <a:xfrm>
            <a:off x="6019800" y="4514418"/>
            <a:ext cx="13716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fontAlgn="base" hangingPunct="0">
              <a:spcBef>
                <a:spcPct val="50000"/>
              </a:spcBef>
              <a:spcAft>
                <a:spcPct val="0"/>
              </a:spcAft>
            </a:pPr>
            <a:r>
              <a:rPr lang="en-US" sz="1000" dirty="0" smtClean="0">
                <a:solidFill>
                  <a:srgbClr val="000000"/>
                </a:solidFill>
              </a:rPr>
              <a:t>Financial Systems</a:t>
            </a:r>
          </a:p>
        </p:txBody>
      </p:sp>
      <p:sp>
        <p:nvSpPr>
          <p:cNvPr id="58" name="Text Box 48"/>
          <p:cNvSpPr txBox="1">
            <a:spLocks noChangeArrowheads="1"/>
          </p:cNvSpPr>
          <p:nvPr/>
        </p:nvSpPr>
        <p:spPr bwMode="auto">
          <a:xfrm>
            <a:off x="2057400" y="3600018"/>
            <a:ext cx="1371600" cy="228600"/>
          </a:xfrm>
          <a:prstGeom prst="rect">
            <a:avLst/>
          </a:prstGeom>
          <a:noFill/>
          <a:ln w="12700" algn="ctr">
            <a:noFill/>
            <a:miter lim="800000"/>
            <a:headEnd/>
            <a:tailEnd/>
          </a:ln>
          <a:effectLst/>
        </p:spPr>
        <p:txBody>
          <a:bodyPr>
            <a:spAutoFit/>
          </a:bodyPr>
          <a:lstStyle/>
          <a:p>
            <a:pPr algn="ctr" eaLnBrk="0" fontAlgn="base" hangingPunct="0">
              <a:spcBef>
                <a:spcPct val="50000"/>
              </a:spcBef>
              <a:spcAft>
                <a:spcPct val="0"/>
              </a:spcAft>
            </a:pPr>
            <a:r>
              <a:rPr lang="en-US" sz="900" i="1" dirty="0" smtClean="0">
                <a:solidFill>
                  <a:srgbClr val="000000"/>
                </a:solidFill>
              </a:rPr>
              <a:t>TAP Exchange</a:t>
            </a:r>
          </a:p>
        </p:txBody>
      </p:sp>
      <p:sp>
        <p:nvSpPr>
          <p:cNvPr id="60" name="Text Box 52"/>
          <p:cNvSpPr txBox="1">
            <a:spLocks noChangeArrowheads="1"/>
          </p:cNvSpPr>
          <p:nvPr/>
        </p:nvSpPr>
        <p:spPr bwMode="auto">
          <a:xfrm>
            <a:off x="2438400" y="4743018"/>
            <a:ext cx="1371600" cy="369332"/>
          </a:xfrm>
          <a:prstGeom prst="rect">
            <a:avLst/>
          </a:prstGeom>
          <a:noFill/>
          <a:ln w="12700" algn="ctr">
            <a:noFill/>
            <a:miter lim="800000"/>
            <a:headEnd/>
            <a:tailEnd/>
          </a:ln>
          <a:effectLst/>
        </p:spPr>
        <p:txBody>
          <a:bodyPr wrap="square">
            <a:spAutoFit/>
          </a:bodyPr>
          <a:lstStyle/>
          <a:p>
            <a:pPr algn="ctr" eaLnBrk="0" fontAlgn="base" hangingPunct="0">
              <a:spcBef>
                <a:spcPct val="50000"/>
              </a:spcBef>
              <a:spcAft>
                <a:spcPct val="0"/>
              </a:spcAft>
            </a:pPr>
            <a:r>
              <a:rPr lang="en-US" sz="900" i="1" dirty="0" smtClean="0">
                <a:solidFill>
                  <a:srgbClr val="000000"/>
                </a:solidFill>
              </a:rPr>
              <a:t>Interconnect Billing</a:t>
            </a:r>
          </a:p>
        </p:txBody>
      </p:sp>
      <p:sp>
        <p:nvSpPr>
          <p:cNvPr id="61" name="AutoShape 70"/>
          <p:cNvSpPr>
            <a:spLocks noChangeArrowheads="1"/>
          </p:cNvSpPr>
          <p:nvPr/>
        </p:nvSpPr>
        <p:spPr bwMode="auto">
          <a:xfrm>
            <a:off x="3962399" y="4466793"/>
            <a:ext cx="1371600" cy="272415"/>
          </a:xfrm>
          <a:prstGeom prst="roundRect">
            <a:avLst>
              <a:gd name="adj" fmla="val 16667"/>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fontAlgn="base" hangingPunct="0">
              <a:spcBef>
                <a:spcPct val="50000"/>
              </a:spcBef>
              <a:spcAft>
                <a:spcPct val="0"/>
              </a:spcAft>
            </a:pPr>
            <a:r>
              <a:rPr lang="en-US" sz="1000" dirty="0" smtClean="0">
                <a:solidFill>
                  <a:srgbClr val="000000"/>
                </a:solidFill>
              </a:rPr>
              <a:t>Data Warehouse</a:t>
            </a:r>
          </a:p>
        </p:txBody>
      </p:sp>
      <p:sp>
        <p:nvSpPr>
          <p:cNvPr id="62" name="AutoShape 74"/>
          <p:cNvSpPr>
            <a:spLocks noChangeArrowheads="1"/>
          </p:cNvSpPr>
          <p:nvPr/>
        </p:nvSpPr>
        <p:spPr bwMode="auto">
          <a:xfrm>
            <a:off x="762000" y="3670503"/>
            <a:ext cx="1371600" cy="272415"/>
          </a:xfrm>
          <a:prstGeom prst="roundRect">
            <a:avLst>
              <a:gd name="adj" fmla="val 16667"/>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DCH</a:t>
            </a:r>
          </a:p>
        </p:txBody>
      </p:sp>
      <p:sp>
        <p:nvSpPr>
          <p:cNvPr id="64" name="AutoShape 76"/>
          <p:cNvSpPr>
            <a:spLocks noChangeArrowheads="1"/>
          </p:cNvSpPr>
          <p:nvPr/>
        </p:nvSpPr>
        <p:spPr bwMode="auto">
          <a:xfrm>
            <a:off x="761999" y="4466793"/>
            <a:ext cx="13716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Billing Server</a:t>
            </a:r>
          </a:p>
        </p:txBody>
      </p:sp>
      <p:cxnSp>
        <p:nvCxnSpPr>
          <p:cNvPr id="65" name="Elbow Connector 64"/>
          <p:cNvCxnSpPr>
            <a:stCxn id="5" idx="2"/>
            <a:endCxn id="53" idx="0"/>
          </p:cNvCxnSpPr>
          <p:nvPr/>
        </p:nvCxnSpPr>
        <p:spPr>
          <a:xfrm rot="16200000" flipH="1">
            <a:off x="3923189" y="3303631"/>
            <a:ext cx="743585" cy="1588"/>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5" idx="2"/>
            <a:endCxn id="52" idx="0"/>
          </p:cNvCxnSpPr>
          <p:nvPr/>
        </p:nvCxnSpPr>
        <p:spPr>
          <a:xfrm rot="16200000" flipH="1">
            <a:off x="5126196" y="2100623"/>
            <a:ext cx="747395" cy="2411413"/>
          </a:xfrm>
          <a:prstGeom prst="bentConnector3">
            <a:avLst>
              <a:gd name="adj1" fmla="val 78037"/>
            </a:avLst>
          </a:prstGeom>
          <a:ln>
            <a:solidFill>
              <a:srgbClr val="0070C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Text Box 49"/>
          <p:cNvSpPr txBox="1">
            <a:spLocks noChangeArrowheads="1"/>
          </p:cNvSpPr>
          <p:nvPr/>
        </p:nvSpPr>
        <p:spPr bwMode="auto">
          <a:xfrm>
            <a:off x="5486400" y="3971493"/>
            <a:ext cx="1143000" cy="230832"/>
          </a:xfrm>
          <a:prstGeom prst="rect">
            <a:avLst/>
          </a:prstGeom>
          <a:noFill/>
          <a:ln w="12700" algn="ctr">
            <a:noFill/>
            <a:miter lim="800000"/>
            <a:headEnd/>
            <a:tailEnd/>
          </a:ln>
          <a:effectLst/>
        </p:spPr>
        <p:txBody>
          <a:bodyPr wrap="square">
            <a:spAutoFit/>
          </a:bodyPr>
          <a:lstStyle/>
          <a:p>
            <a:pPr algn="ctr" eaLnBrk="0" fontAlgn="base" hangingPunct="0">
              <a:spcBef>
                <a:spcPct val="50000"/>
              </a:spcBef>
              <a:spcAft>
                <a:spcPct val="0"/>
              </a:spcAft>
            </a:pPr>
            <a:r>
              <a:rPr lang="en-US" sz="900" i="1" dirty="0" smtClean="0">
                <a:solidFill>
                  <a:srgbClr val="000000"/>
                </a:solidFill>
              </a:rPr>
              <a:t>Prepaid Depletion</a:t>
            </a:r>
          </a:p>
        </p:txBody>
      </p:sp>
      <p:cxnSp>
        <p:nvCxnSpPr>
          <p:cNvPr id="78" name="Elbow Connector 77"/>
          <p:cNvCxnSpPr>
            <a:stCxn id="53" idx="2"/>
            <a:endCxn id="64" idx="0"/>
          </p:cNvCxnSpPr>
          <p:nvPr/>
        </p:nvCxnSpPr>
        <p:spPr>
          <a:xfrm rot="5400000">
            <a:off x="2606675" y="2777692"/>
            <a:ext cx="530225" cy="2847976"/>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Elbow Connector 80"/>
          <p:cNvCxnSpPr>
            <a:stCxn id="53" idx="2"/>
            <a:endCxn id="54" idx="0"/>
          </p:cNvCxnSpPr>
          <p:nvPr/>
        </p:nvCxnSpPr>
        <p:spPr>
          <a:xfrm rot="5400000">
            <a:off x="3444876" y="3615893"/>
            <a:ext cx="530225" cy="1171575"/>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Elbow Connector 83"/>
          <p:cNvCxnSpPr>
            <a:stCxn id="53" idx="2"/>
            <a:endCxn id="61" idx="0"/>
          </p:cNvCxnSpPr>
          <p:nvPr/>
        </p:nvCxnSpPr>
        <p:spPr>
          <a:xfrm rot="16200000" flipH="1">
            <a:off x="4206875" y="4025468"/>
            <a:ext cx="530225" cy="352424"/>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Elbow Connector 86"/>
          <p:cNvCxnSpPr>
            <a:stCxn id="62" idx="1"/>
            <a:endCxn id="64" idx="1"/>
          </p:cNvCxnSpPr>
          <p:nvPr/>
        </p:nvCxnSpPr>
        <p:spPr>
          <a:xfrm rot="10800000" flipV="1">
            <a:off x="762000" y="3806711"/>
            <a:ext cx="1" cy="796290"/>
          </a:xfrm>
          <a:prstGeom prst="bentConnector3">
            <a:avLst>
              <a:gd name="adj1" fmla="val 2286010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1" name="Elbow Connector 90"/>
          <p:cNvCxnSpPr>
            <a:stCxn id="62" idx="3"/>
            <a:endCxn id="53" idx="1"/>
          </p:cNvCxnSpPr>
          <p:nvPr/>
        </p:nvCxnSpPr>
        <p:spPr>
          <a:xfrm flipV="1">
            <a:off x="2133600" y="3806393"/>
            <a:ext cx="1476375" cy="318"/>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4" name="Elbow Connector 93"/>
          <p:cNvCxnSpPr>
            <a:stCxn id="64" idx="2"/>
            <a:endCxn id="55" idx="2"/>
          </p:cNvCxnSpPr>
          <p:nvPr/>
        </p:nvCxnSpPr>
        <p:spPr>
          <a:xfrm rot="16200000" flipH="1">
            <a:off x="4052887" y="2134119"/>
            <a:ext cx="47625" cy="5257801"/>
          </a:xfrm>
          <a:prstGeom prst="bentConnector3">
            <a:avLst>
              <a:gd name="adj1" fmla="val 58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7" name="Elbow Connector 96"/>
          <p:cNvCxnSpPr>
            <a:stCxn id="52" idx="2"/>
            <a:endCxn id="55" idx="0"/>
          </p:cNvCxnSpPr>
          <p:nvPr/>
        </p:nvCxnSpPr>
        <p:spPr>
          <a:xfrm rot="5400000">
            <a:off x="6424613" y="4233430"/>
            <a:ext cx="561975" cy="1588"/>
          </a:xfrm>
          <a:prstGeom prst="bentConnector3">
            <a:avLst>
              <a:gd name="adj1" fmla="val 50000"/>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AutoShape 36"/>
          <p:cNvCxnSpPr>
            <a:cxnSpLocks noChangeShapeType="1"/>
          </p:cNvCxnSpPr>
          <p:nvPr/>
        </p:nvCxnSpPr>
        <p:spPr bwMode="auto">
          <a:xfrm flipV="1">
            <a:off x="4343400" y="1828800"/>
            <a:ext cx="457200" cy="228601"/>
          </a:xfrm>
          <a:prstGeom prst="straightConnector1">
            <a:avLst/>
          </a:prstGeom>
          <a:noFill/>
          <a:ln w="12700">
            <a:solidFill>
              <a:srgbClr val="0D1D95"/>
            </a:solidFill>
            <a:prstDash val="dashDot"/>
            <a:round/>
            <a:headEnd type="triangle" w="med" len="med"/>
            <a:tailEnd type="triangle" w="med" len="med"/>
          </a:ln>
          <a:effectLst/>
        </p:spPr>
      </p:cxnSp>
      <p:cxnSp>
        <p:nvCxnSpPr>
          <p:cNvPr id="101" name="AutoShape 36"/>
          <p:cNvCxnSpPr>
            <a:cxnSpLocks noChangeShapeType="1"/>
          </p:cNvCxnSpPr>
          <p:nvPr/>
        </p:nvCxnSpPr>
        <p:spPr bwMode="auto">
          <a:xfrm flipV="1">
            <a:off x="5791200" y="1600200"/>
            <a:ext cx="457200" cy="228601"/>
          </a:xfrm>
          <a:prstGeom prst="straightConnector1">
            <a:avLst/>
          </a:prstGeom>
          <a:noFill/>
          <a:ln w="12700">
            <a:solidFill>
              <a:srgbClr val="0D1D95"/>
            </a:solidFill>
            <a:prstDash val="dashDot"/>
            <a:round/>
            <a:headEnd type="triangle" w="med" len="med"/>
            <a:tailEnd type="triangle" w="med" len="med"/>
          </a:ln>
          <a:effectLst/>
        </p:spPr>
      </p:cxnSp>
      <p:cxnSp>
        <p:nvCxnSpPr>
          <p:cNvPr id="102" name="AutoShape 36"/>
          <p:cNvCxnSpPr>
            <a:cxnSpLocks noChangeShapeType="1"/>
          </p:cNvCxnSpPr>
          <p:nvPr/>
        </p:nvCxnSpPr>
        <p:spPr bwMode="auto">
          <a:xfrm flipV="1">
            <a:off x="8077200" y="1981200"/>
            <a:ext cx="457200" cy="228601"/>
          </a:xfrm>
          <a:prstGeom prst="straightConnector1">
            <a:avLst/>
          </a:prstGeom>
          <a:noFill/>
          <a:ln w="12700">
            <a:solidFill>
              <a:srgbClr val="0D1D95"/>
            </a:solidFill>
            <a:prstDash val="dashDot"/>
            <a:round/>
            <a:headEnd type="triangle" w="med" len="med"/>
            <a:tailEnd type="triangle" w="med" len="med"/>
          </a:ln>
          <a:effectLst/>
        </p:spPr>
      </p:cxnSp>
      <p:cxnSp>
        <p:nvCxnSpPr>
          <p:cNvPr id="103" name="AutoShape 36"/>
          <p:cNvCxnSpPr>
            <a:cxnSpLocks noChangeShapeType="1"/>
          </p:cNvCxnSpPr>
          <p:nvPr/>
        </p:nvCxnSpPr>
        <p:spPr bwMode="auto">
          <a:xfrm flipV="1">
            <a:off x="8229600" y="2133600"/>
            <a:ext cx="457200" cy="228601"/>
          </a:xfrm>
          <a:prstGeom prst="straightConnector1">
            <a:avLst/>
          </a:prstGeom>
          <a:noFill/>
          <a:ln w="12700">
            <a:solidFill>
              <a:srgbClr val="0D1D95"/>
            </a:solidFill>
            <a:prstDash val="dashDot"/>
            <a:round/>
            <a:headEnd type="triangle" w="med" len="med"/>
            <a:tailEnd type="triangle" w="med" len="med"/>
          </a:ln>
          <a:effectLst/>
        </p:spPr>
      </p:cxnSp>
      <p:sp>
        <p:nvSpPr>
          <p:cNvPr id="104" name="Text Box 48"/>
          <p:cNvSpPr txBox="1">
            <a:spLocks noChangeArrowheads="1"/>
          </p:cNvSpPr>
          <p:nvPr/>
        </p:nvSpPr>
        <p:spPr bwMode="auto">
          <a:xfrm>
            <a:off x="7391400" y="1828800"/>
            <a:ext cx="1371600" cy="228600"/>
          </a:xfrm>
          <a:prstGeom prst="rect">
            <a:avLst/>
          </a:prstGeom>
          <a:noFill/>
          <a:ln w="12700" algn="ctr">
            <a:noFill/>
            <a:miter lim="800000"/>
            <a:headEnd/>
            <a:tailEnd/>
          </a:ln>
          <a:effectLst/>
        </p:spPr>
        <p:txBody>
          <a:bodyPr>
            <a:spAutoFit/>
          </a:bodyPr>
          <a:lstStyle/>
          <a:p>
            <a:pPr algn="ctr" eaLnBrk="0" fontAlgn="base" hangingPunct="0">
              <a:spcBef>
                <a:spcPct val="50000"/>
              </a:spcBef>
              <a:spcAft>
                <a:spcPct val="0"/>
              </a:spcAft>
            </a:pPr>
            <a:r>
              <a:rPr lang="en-US" sz="900" i="1" dirty="0" smtClean="0">
                <a:solidFill>
                  <a:srgbClr val="000000"/>
                </a:solidFill>
              </a:rPr>
              <a:t>Routing</a:t>
            </a:r>
          </a:p>
        </p:txBody>
      </p:sp>
      <p:sp>
        <p:nvSpPr>
          <p:cNvPr id="105" name="Text Box 48"/>
          <p:cNvSpPr txBox="1">
            <a:spLocks noChangeArrowheads="1"/>
          </p:cNvSpPr>
          <p:nvPr/>
        </p:nvSpPr>
        <p:spPr bwMode="auto">
          <a:xfrm>
            <a:off x="4191000" y="1600200"/>
            <a:ext cx="1371600" cy="228600"/>
          </a:xfrm>
          <a:prstGeom prst="rect">
            <a:avLst/>
          </a:prstGeom>
          <a:noFill/>
          <a:ln w="12700" algn="ctr">
            <a:noFill/>
            <a:miter lim="800000"/>
            <a:headEnd/>
            <a:tailEnd/>
          </a:ln>
          <a:effectLst/>
        </p:spPr>
        <p:txBody>
          <a:bodyPr>
            <a:spAutoFit/>
          </a:bodyPr>
          <a:lstStyle/>
          <a:p>
            <a:pPr algn="ctr" eaLnBrk="0" fontAlgn="base" hangingPunct="0">
              <a:spcBef>
                <a:spcPct val="50000"/>
              </a:spcBef>
              <a:spcAft>
                <a:spcPct val="0"/>
              </a:spcAft>
            </a:pPr>
            <a:r>
              <a:rPr lang="en-US" sz="900" i="1" dirty="0" smtClean="0">
                <a:solidFill>
                  <a:srgbClr val="000000"/>
                </a:solidFill>
              </a:rPr>
              <a:t>Delivery</a:t>
            </a:r>
          </a:p>
        </p:txBody>
      </p:sp>
      <p:sp>
        <p:nvSpPr>
          <p:cNvPr id="106" name="Text Box 48"/>
          <p:cNvSpPr txBox="1">
            <a:spLocks noChangeArrowheads="1"/>
          </p:cNvSpPr>
          <p:nvPr/>
        </p:nvSpPr>
        <p:spPr bwMode="auto">
          <a:xfrm>
            <a:off x="5943600" y="1371600"/>
            <a:ext cx="1371600" cy="228600"/>
          </a:xfrm>
          <a:prstGeom prst="rect">
            <a:avLst/>
          </a:prstGeom>
          <a:noFill/>
          <a:ln w="12700" algn="ctr">
            <a:noFill/>
            <a:miter lim="800000"/>
            <a:headEnd/>
            <a:tailEnd/>
          </a:ln>
          <a:effectLst/>
        </p:spPr>
        <p:txBody>
          <a:bodyPr>
            <a:spAutoFit/>
          </a:bodyPr>
          <a:lstStyle/>
          <a:p>
            <a:pPr algn="ctr" eaLnBrk="0" fontAlgn="base" hangingPunct="0">
              <a:spcBef>
                <a:spcPct val="50000"/>
              </a:spcBef>
              <a:spcAft>
                <a:spcPct val="0"/>
              </a:spcAft>
            </a:pPr>
            <a:r>
              <a:rPr lang="en-US" sz="900" i="1" dirty="0" smtClean="0">
                <a:solidFill>
                  <a:srgbClr val="000000"/>
                </a:solidFill>
              </a:rPr>
              <a:t>Internet Cloud / Data</a:t>
            </a:r>
          </a:p>
        </p:txBody>
      </p:sp>
      <p:sp>
        <p:nvSpPr>
          <p:cNvPr id="107" name="Text Box 50"/>
          <p:cNvSpPr txBox="1">
            <a:spLocks noChangeArrowheads="1"/>
          </p:cNvSpPr>
          <p:nvPr/>
        </p:nvSpPr>
        <p:spPr bwMode="auto">
          <a:xfrm>
            <a:off x="2286000" y="3971925"/>
            <a:ext cx="1008062" cy="228600"/>
          </a:xfrm>
          <a:prstGeom prst="rect">
            <a:avLst/>
          </a:prstGeom>
          <a:noFill/>
          <a:ln w="12700" algn="ctr">
            <a:noFill/>
            <a:miter lim="800000"/>
            <a:headEnd/>
            <a:tailEnd/>
          </a:ln>
          <a:effectLst/>
        </p:spPr>
        <p:txBody>
          <a:bodyPr>
            <a:spAutoFit/>
          </a:bodyPr>
          <a:lstStyle/>
          <a:p>
            <a:pPr algn="ctr" eaLnBrk="0" fontAlgn="base" hangingPunct="0">
              <a:spcBef>
                <a:spcPct val="50000"/>
              </a:spcBef>
              <a:spcAft>
                <a:spcPct val="0"/>
              </a:spcAft>
            </a:pPr>
            <a:r>
              <a:rPr lang="en-US" sz="900" i="1" dirty="0" smtClean="0">
                <a:solidFill>
                  <a:srgbClr val="000000"/>
                </a:solidFill>
              </a:rPr>
              <a:t>CDR Filtration</a:t>
            </a:r>
          </a:p>
        </p:txBody>
      </p:sp>
      <p:sp>
        <p:nvSpPr>
          <p:cNvPr id="108" name="AutoShape 6"/>
          <p:cNvSpPr>
            <a:spLocks noChangeArrowheads="1"/>
          </p:cNvSpPr>
          <p:nvPr/>
        </p:nvSpPr>
        <p:spPr bwMode="auto">
          <a:xfrm>
            <a:off x="5486400" y="1905000"/>
            <a:ext cx="6985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a:spAutoFit/>
          </a:bodyPr>
          <a:lstStyle/>
          <a:p>
            <a:pPr algn="ctr" eaLnBrk="0" fontAlgn="base" hangingPunct="0">
              <a:spcBef>
                <a:spcPct val="50000"/>
              </a:spcBef>
              <a:spcAft>
                <a:spcPct val="0"/>
              </a:spcAft>
            </a:pPr>
            <a:r>
              <a:rPr lang="en-US" sz="1000" dirty="0" smtClean="0">
                <a:solidFill>
                  <a:srgbClr val="000000"/>
                </a:solidFill>
              </a:rPr>
              <a:t>GGSN</a:t>
            </a:r>
          </a:p>
        </p:txBody>
      </p:sp>
      <p:sp>
        <p:nvSpPr>
          <p:cNvPr id="109" name="TextBox 108"/>
          <p:cNvSpPr txBox="1"/>
          <p:nvPr/>
        </p:nvSpPr>
        <p:spPr>
          <a:xfrm>
            <a:off x="384630" y="1084944"/>
            <a:ext cx="8321040" cy="5087256"/>
          </a:xfrm>
          <a:prstGeom prst="rect">
            <a:avLst/>
          </a:prstGeom>
          <a:noFill/>
          <a:ln>
            <a:solidFill>
              <a:schemeClr val="accent1"/>
            </a:solidFill>
          </a:ln>
        </p:spPr>
        <p:txBody>
          <a:bodyPr wrap="square" rtlCol="0">
            <a:noAutofit/>
          </a:bodyPr>
          <a:lstStyle/>
          <a:p>
            <a:pPr marL="109538" indent="-109538">
              <a:lnSpc>
                <a:spcPct val="140000"/>
              </a:lnSpc>
              <a:buSzPct val="75000"/>
            </a:pPr>
            <a:endParaRPr lang="en-US" sz="1100" dirty="0">
              <a:latin typeface="EYInterstate" pitchFamily="2" charset="0"/>
            </a:endParaRPr>
          </a:p>
        </p:txBody>
      </p:sp>
      <p:sp>
        <p:nvSpPr>
          <p:cNvPr id="79" name="AutoShape 45"/>
          <p:cNvSpPr>
            <a:spLocks noChangeArrowheads="1"/>
          </p:cNvSpPr>
          <p:nvPr/>
        </p:nvSpPr>
        <p:spPr bwMode="auto">
          <a:xfrm>
            <a:off x="4407408" y="5334000"/>
            <a:ext cx="381000" cy="272415"/>
          </a:xfrm>
          <a:prstGeom prst="roundRect">
            <a:avLst>
              <a:gd name="adj" fmla="val 16667"/>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fontAlgn="base" hangingPunct="0">
              <a:spcBef>
                <a:spcPct val="50000"/>
              </a:spcBef>
              <a:spcAft>
                <a:spcPct val="0"/>
              </a:spcAft>
            </a:pPr>
            <a:endParaRPr lang="en-US" sz="1000" dirty="0" smtClean="0">
              <a:solidFill>
                <a:srgbClr val="000000"/>
              </a:solidFill>
            </a:endParaRPr>
          </a:p>
        </p:txBody>
      </p:sp>
      <p:sp>
        <p:nvSpPr>
          <p:cNvPr id="80" name="AutoShape 45"/>
          <p:cNvSpPr>
            <a:spLocks noChangeArrowheads="1"/>
          </p:cNvSpPr>
          <p:nvPr/>
        </p:nvSpPr>
        <p:spPr bwMode="auto">
          <a:xfrm>
            <a:off x="4419600" y="5715000"/>
            <a:ext cx="381000" cy="272415"/>
          </a:xfrm>
          <a:prstGeom prst="roundRect">
            <a:avLst>
              <a:gd name="adj" fmla="val 16667"/>
            </a:avLst>
          </a:prstGeom>
          <a:ln>
            <a:solidFill>
              <a:srgbClr val="00FFFF"/>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wrap="square">
            <a:spAutoFit/>
          </a:bodyPr>
          <a:lstStyle/>
          <a:p>
            <a:pPr algn="ctr" eaLnBrk="0" fontAlgn="base" hangingPunct="0">
              <a:spcBef>
                <a:spcPct val="50000"/>
              </a:spcBef>
              <a:spcAft>
                <a:spcPct val="0"/>
              </a:spcAft>
            </a:pPr>
            <a:endParaRPr lang="en-US" sz="1000" dirty="0" smtClean="0">
              <a:solidFill>
                <a:srgbClr val="000000"/>
              </a:solidFill>
            </a:endParaRPr>
          </a:p>
        </p:txBody>
      </p:sp>
      <p:sp>
        <p:nvSpPr>
          <p:cNvPr id="82" name="TextBox 81"/>
          <p:cNvSpPr txBox="1"/>
          <p:nvPr/>
        </p:nvSpPr>
        <p:spPr>
          <a:xfrm>
            <a:off x="4800600" y="5334000"/>
            <a:ext cx="3886200" cy="246221"/>
          </a:xfrm>
          <a:prstGeom prst="rect">
            <a:avLst/>
          </a:prstGeom>
          <a:noFill/>
        </p:spPr>
        <p:txBody>
          <a:bodyPr wrap="square" rtlCol="0">
            <a:spAutoFit/>
          </a:bodyPr>
          <a:lstStyle/>
          <a:p>
            <a:pPr marL="342900" indent="-342900"/>
            <a:r>
              <a:rPr lang="en-US" sz="1000" dirty="0" smtClean="0"/>
              <a:t>Network / IT elements used in postpaid revenue stream</a:t>
            </a:r>
            <a:endParaRPr lang="en-US" sz="1000" dirty="0"/>
          </a:p>
        </p:txBody>
      </p:sp>
      <p:sp>
        <p:nvSpPr>
          <p:cNvPr id="83" name="TextBox 82"/>
          <p:cNvSpPr txBox="1"/>
          <p:nvPr/>
        </p:nvSpPr>
        <p:spPr>
          <a:xfrm>
            <a:off x="4800600" y="5715000"/>
            <a:ext cx="3886200" cy="246221"/>
          </a:xfrm>
          <a:prstGeom prst="rect">
            <a:avLst/>
          </a:prstGeom>
          <a:noFill/>
        </p:spPr>
        <p:txBody>
          <a:bodyPr wrap="square" rtlCol="0">
            <a:spAutoFit/>
          </a:bodyPr>
          <a:lstStyle/>
          <a:p>
            <a:pPr marL="342900" indent="-342900"/>
            <a:r>
              <a:rPr lang="en-US" sz="1000" dirty="0" smtClean="0"/>
              <a:t>Network / IT elements not used in postpaid revenue stream</a:t>
            </a:r>
            <a:endParaRPr lang="en-US" sz="1000" dirty="0"/>
          </a:p>
        </p:txBody>
      </p:sp>
      <p:sp>
        <p:nvSpPr>
          <p:cNvPr id="85" name="TextBox 84"/>
          <p:cNvSpPr txBox="1"/>
          <p:nvPr/>
        </p:nvSpPr>
        <p:spPr>
          <a:xfrm>
            <a:off x="445008" y="1115639"/>
            <a:ext cx="4800600" cy="307777"/>
          </a:xfrm>
          <a:prstGeom prst="rect">
            <a:avLst/>
          </a:prstGeom>
          <a:noFill/>
        </p:spPr>
        <p:txBody>
          <a:bodyPr wrap="square" rtlCol="0">
            <a:spAutoFit/>
          </a:bodyPr>
          <a:lstStyle/>
          <a:p>
            <a:r>
              <a:rPr lang="en-US" sz="1400" i="1" u="sng" dirty="0" smtClean="0"/>
              <a:t>A typical GSM Network and IT element architecture..</a:t>
            </a:r>
            <a:endParaRPr lang="en-US" sz="1400" i="1" u="sng"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400"/>
            <a:ext cx="8232775" cy="863600"/>
          </a:xfrm>
        </p:spPr>
        <p:txBody>
          <a:bodyPr/>
          <a:lstStyle/>
          <a:p>
            <a:pPr>
              <a:tabLst>
                <a:tab pos="400050" algn="l"/>
              </a:tabLst>
              <a:defRPr/>
            </a:pPr>
            <a:r>
              <a:rPr lang="en-US" sz="2400" dirty="0" smtClean="0">
                <a:latin typeface="EYInterstate" pitchFamily="2" charset="0"/>
              </a:rPr>
              <a:t>General Postpaid Terminologies</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8.</a:t>
            </a:r>
            <a:endParaRPr lang="en-US" sz="4800" spc="-800" dirty="0">
              <a:solidFill>
                <a:schemeClr val="bg1"/>
              </a:solidFill>
              <a:latin typeface="EYInterstate Light" pitchFamily="2" charset="0"/>
            </a:endParaRPr>
          </a:p>
        </p:txBody>
      </p:sp>
      <p:grpSp>
        <p:nvGrpSpPr>
          <p:cNvPr id="39" name="Group 38"/>
          <p:cNvGrpSpPr/>
          <p:nvPr/>
        </p:nvGrpSpPr>
        <p:grpSpPr>
          <a:xfrm>
            <a:off x="304800" y="1981200"/>
            <a:ext cx="8467344" cy="2895600"/>
            <a:chOff x="304800" y="1981200"/>
            <a:chExt cx="8467344" cy="2895600"/>
          </a:xfrm>
        </p:grpSpPr>
        <p:sp>
          <p:nvSpPr>
            <p:cNvPr id="41" name="Rectangle 40"/>
            <p:cNvSpPr/>
            <p:nvPr/>
          </p:nvSpPr>
          <p:spPr>
            <a:xfrm>
              <a:off x="3990187" y="3432381"/>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2" name="Rectangle 41"/>
            <p:cNvSpPr/>
            <p:nvPr/>
          </p:nvSpPr>
          <p:spPr>
            <a:xfrm>
              <a:off x="1531449" y="3438477"/>
              <a:ext cx="1185681" cy="1401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3"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44"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97" name="Rectangle 96"/>
              <p:cNvSpPr/>
              <p:nvPr/>
            </p:nvSpPr>
            <p:spPr>
              <a:xfrm>
                <a:off x="4599803" y="2102667"/>
                <a:ext cx="1329095"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3"/>
              <p:cNvSpPr>
                <a:spLocks noChangeArrowheads="1"/>
              </p:cNvSpPr>
              <p:nvPr/>
            </p:nvSpPr>
            <p:spPr bwMode="auto">
              <a:xfrm>
                <a:off x="4633035" y="2162263"/>
                <a:ext cx="1136666" cy="373599"/>
              </a:xfrm>
              <a:prstGeom prst="rect">
                <a:avLst/>
              </a:prstGeom>
              <a:grp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45" name="Rectangle 22"/>
            <p:cNvSpPr>
              <a:spLocks noChangeArrowheads="1"/>
            </p:cNvSpPr>
            <p:nvPr/>
          </p:nvSpPr>
          <p:spPr bwMode="auto">
            <a:xfrm>
              <a:off x="4027182" y="4118451"/>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46"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95" name="Rectangle 94"/>
              <p:cNvSpPr/>
              <p:nvPr/>
            </p:nvSpPr>
            <p:spPr>
              <a:xfrm>
                <a:off x="5972094" y="3483677"/>
                <a:ext cx="1329077"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24"/>
              <p:cNvSpPr>
                <a:spLocks noChangeArrowheads="1"/>
              </p:cNvSpPr>
              <p:nvPr/>
            </p:nvSpPr>
            <p:spPr bwMode="auto">
              <a:xfrm>
                <a:off x="6011147" y="4464152"/>
                <a:ext cx="1136650" cy="384691"/>
              </a:xfrm>
              <a:prstGeom prst="rect">
                <a:avLst/>
              </a:prstGeom>
              <a:grp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7"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48"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49" name="Group 44"/>
            <p:cNvGrpSpPr/>
            <p:nvPr/>
          </p:nvGrpSpPr>
          <p:grpSpPr>
            <a:xfrm>
              <a:off x="304800" y="1993408"/>
              <a:ext cx="1185681" cy="1479901"/>
              <a:chOff x="402336" y="1993408"/>
              <a:chExt cx="1185681" cy="1479901"/>
            </a:xfrm>
          </p:grpSpPr>
          <p:sp>
            <p:nvSpPr>
              <p:cNvPr id="91" name="Rectangle 90"/>
              <p:cNvSpPr/>
              <p:nvPr/>
            </p:nvSpPr>
            <p:spPr>
              <a:xfrm>
                <a:off x="402336" y="1993408"/>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2"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93"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4"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50" name="Isosceles Triangle 49"/>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1" name="Isosceles Triangle 50"/>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2" name="Isosceles Triangle 51"/>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53" name="Group 97"/>
            <p:cNvGrpSpPr/>
            <p:nvPr/>
          </p:nvGrpSpPr>
          <p:grpSpPr>
            <a:xfrm>
              <a:off x="2544987" y="1993408"/>
              <a:ext cx="1402929" cy="1563815"/>
              <a:chOff x="2544987" y="1993408"/>
              <a:chExt cx="1402929" cy="1563815"/>
            </a:xfrm>
          </p:grpSpPr>
          <p:sp>
            <p:nvSpPr>
              <p:cNvPr id="86" name="Rectangle 85"/>
              <p:cNvSpPr/>
              <p:nvPr/>
            </p:nvSpPr>
            <p:spPr>
              <a:xfrm>
                <a:off x="2762235" y="1993408"/>
                <a:ext cx="1185681"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7" name="Rectangle 86"/>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88" name="Isosceles Triangle 87"/>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9" name="Isosceles Triangle 88"/>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0" name="Rectangle 89"/>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54" name="Rectangle 53"/>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55" name="Rectangle 54"/>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56" name="Rectangle 55"/>
            <p:cNvSpPr/>
            <p:nvPr/>
          </p:nvSpPr>
          <p:spPr>
            <a:xfrm>
              <a:off x="40228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59" name="Rectangle 58"/>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61"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62"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63"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70" name="Picture 5"/>
            <p:cNvPicPr>
              <a:picLocks noChangeArrowheads="1"/>
            </p:cNvPicPr>
            <p:nvPr/>
          </p:nvPicPr>
          <p:blipFill>
            <a:blip r:embed="rId7" cstate="print"/>
            <a:srcRect/>
            <a:stretch>
              <a:fillRect/>
            </a:stretch>
          </p:blipFill>
          <p:spPr bwMode="auto">
            <a:xfrm>
              <a:off x="6436868" y="2013039"/>
              <a:ext cx="1183132" cy="1399032"/>
            </a:xfrm>
            <a:prstGeom prst="rect">
              <a:avLst/>
            </a:prstGeom>
            <a:solidFill>
              <a:schemeClr val="tx1">
                <a:lumMod val="20000"/>
                <a:lumOff val="80000"/>
              </a:schemeClr>
            </a:solidFill>
            <a:ln>
              <a:noFill/>
            </a:ln>
          </p:spPr>
        </p:pic>
        <p:pic>
          <p:nvPicPr>
            <p:cNvPr id="73" name="Picture 2"/>
            <p:cNvPicPr>
              <a:picLocks noChangeAspect="1" noChangeArrowheads="1"/>
            </p:cNvPicPr>
            <p:nvPr/>
          </p:nvPicPr>
          <p:blipFill>
            <a:blip r:embed="rId8" cstate="print"/>
            <a:srcRect/>
            <a:stretch>
              <a:fillRect/>
            </a:stretch>
          </p:blipFill>
          <p:spPr bwMode="auto">
            <a:xfrm>
              <a:off x="7674863" y="3429000"/>
              <a:ext cx="1097280" cy="1429881"/>
            </a:xfrm>
            <a:prstGeom prst="rect">
              <a:avLst/>
            </a:prstGeom>
            <a:solidFill>
              <a:schemeClr val="tx1">
                <a:lumMod val="20000"/>
                <a:lumOff val="80000"/>
              </a:schemeClr>
            </a:solidFill>
            <a:ln>
              <a:noFill/>
            </a:ln>
          </p:spPr>
        </p:pic>
        <p:grpSp>
          <p:nvGrpSpPr>
            <p:cNvPr id="74" name="Group 45"/>
            <p:cNvGrpSpPr/>
            <p:nvPr/>
          </p:nvGrpSpPr>
          <p:grpSpPr>
            <a:xfrm>
              <a:off x="7674864" y="1981200"/>
              <a:ext cx="1097280" cy="1479901"/>
              <a:chOff x="402336" y="1993408"/>
              <a:chExt cx="1185681" cy="1479901"/>
            </a:xfrm>
          </p:grpSpPr>
          <p:sp>
            <p:nvSpPr>
              <p:cNvPr id="75" name="Rectangle 74"/>
              <p:cNvSpPr/>
              <p:nvPr/>
            </p:nvSpPr>
            <p:spPr>
              <a:xfrm>
                <a:off x="402336" y="1993408"/>
                <a:ext cx="1185681" cy="1401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Rectangle 75"/>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4" name="Isosceles Triangle 83"/>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5"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Key Concepts- General Postpaid Terminologies</a:t>
            </a:r>
          </a:p>
        </p:txBody>
      </p:sp>
      <p:sp>
        <p:nvSpPr>
          <p:cNvPr id="16" name="Rectangle 23"/>
          <p:cNvSpPr>
            <a:spLocks noChangeArrowheads="1"/>
          </p:cNvSpPr>
          <p:nvPr/>
        </p:nvSpPr>
        <p:spPr bwMode="auto">
          <a:xfrm>
            <a:off x="228600" y="1117295"/>
            <a:ext cx="8534400" cy="831639"/>
          </a:xfrm>
          <a:prstGeom prst="rect">
            <a:avLst/>
          </a:prstGeom>
          <a:solidFill>
            <a:schemeClr val="bg1">
              <a:lumMod val="50000"/>
            </a:schemeClr>
          </a:solidFill>
          <a:ln w="12700">
            <a:solidFill>
              <a:schemeClr val="bg1">
                <a:lumMod val="50000"/>
              </a:schemeClr>
            </a:solidFill>
            <a:miter lim="800000"/>
            <a:headEnd/>
            <a:tailEnd/>
          </a:ln>
          <a:effectLst>
            <a:outerShdw dist="35921" dir="2700000" algn="ctr" rotWithShape="0">
              <a:schemeClr val="bg2"/>
            </a:outerShdw>
          </a:effectLst>
        </p:spPr>
        <p:txBody>
          <a:bodyPr wrap="square" lIns="92075" tIns="46038" rIns="92075" bIns="46038">
            <a:spAutoFit/>
          </a:bodyPr>
          <a:lstStyle/>
          <a:p>
            <a:pPr eaLnBrk="0" hangingPunct="0">
              <a:defRPr/>
            </a:pPr>
            <a:r>
              <a:rPr lang="en-US" sz="1200" dirty="0" smtClean="0">
                <a:solidFill>
                  <a:schemeClr val="bg1"/>
                </a:solidFill>
                <a:latin typeface="EYInterstate" pitchFamily="2" charset="0"/>
              </a:rPr>
              <a:t>A Billing systems collect, rate, and calculate charges for the use of telecommunication services. The typical billing process involves collecting usage information from network equipment (such as switches), formatting the usage information into records that a billing system can understand, transferring these records to a Rating Engine, that assigns charges to each record, receiving and recording payments from the customers, and creating invoices.</a:t>
            </a:r>
          </a:p>
        </p:txBody>
      </p:sp>
      <p:grpSp>
        <p:nvGrpSpPr>
          <p:cNvPr id="17" name="Group 53"/>
          <p:cNvGrpSpPr/>
          <p:nvPr/>
        </p:nvGrpSpPr>
        <p:grpSpPr>
          <a:xfrm>
            <a:off x="304800" y="2682240"/>
            <a:ext cx="2011680" cy="2804160"/>
            <a:chOff x="228600" y="1371600"/>
            <a:chExt cx="1539240" cy="1676400"/>
          </a:xfrm>
        </p:grpSpPr>
        <p:sp>
          <p:nvSpPr>
            <p:cNvPr id="18" name="server"/>
            <p:cNvSpPr>
              <a:spLocks noEditPoints="1" noChangeArrowheads="1"/>
            </p:cNvSpPr>
            <p:nvPr/>
          </p:nvSpPr>
          <p:spPr bwMode="auto">
            <a:xfrm>
              <a:off x="228600" y="1371600"/>
              <a:ext cx="1539240" cy="1676400"/>
            </a:xfrm>
            <a:custGeom>
              <a:avLst/>
              <a:gdLst>
                <a:gd name="T0" fmla="*/ 0 w 21600"/>
                <a:gd name="T1" fmla="*/ 0 h 21600"/>
                <a:gd name="T2" fmla="*/ 10800 w 21600"/>
                <a:gd name="T3" fmla="*/ 0 h 21600"/>
                <a:gd name="T4" fmla="*/ 21600 w 21600"/>
                <a:gd name="T5" fmla="*/ 0 h 21600"/>
                <a:gd name="T6" fmla="*/ 21600 w 21600"/>
                <a:gd name="T7" fmla="*/ 10800 h 21600"/>
                <a:gd name="T8" fmla="*/ 21600 w 21600"/>
                <a:gd name="T9" fmla="*/ 21600 h 21600"/>
                <a:gd name="T10" fmla="*/ 10800 w 21600"/>
                <a:gd name="T11" fmla="*/ 21600 h 21600"/>
                <a:gd name="T12" fmla="*/ 0 w 21600"/>
                <a:gd name="T13" fmla="*/ 21600 h 21600"/>
                <a:gd name="T14" fmla="*/ 0 w 21600"/>
                <a:gd name="T15" fmla="*/ 10800 h 21600"/>
                <a:gd name="T16" fmla="*/ 761 w 21600"/>
                <a:gd name="T17" fmla="*/ 22454 h 21600"/>
                <a:gd name="T18" fmla="*/ 21069 w 21600"/>
                <a:gd name="T19" fmla="*/ 28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sz="1400"/>
            </a:p>
          </p:txBody>
        </p:sp>
        <p:grpSp>
          <p:nvGrpSpPr>
            <p:cNvPr id="19" name="Group 44"/>
            <p:cNvGrpSpPr/>
            <p:nvPr/>
          </p:nvGrpSpPr>
          <p:grpSpPr>
            <a:xfrm>
              <a:off x="304800" y="1828800"/>
              <a:ext cx="658368" cy="1088813"/>
              <a:chOff x="381000" y="1828800"/>
              <a:chExt cx="658368" cy="1088813"/>
            </a:xfrm>
          </p:grpSpPr>
          <p:sp>
            <p:nvSpPr>
              <p:cNvPr id="20" name="Rectangle 19"/>
              <p:cNvSpPr/>
              <p:nvPr/>
            </p:nvSpPr>
            <p:spPr>
              <a:xfrm>
                <a:off x="381000" y="1828800"/>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Provisioning</a:t>
                </a:r>
                <a:endParaRPr lang="en-US" sz="600" dirty="0"/>
              </a:p>
            </p:txBody>
          </p:sp>
          <p:sp>
            <p:nvSpPr>
              <p:cNvPr id="21" name="Rectangle 20"/>
              <p:cNvSpPr/>
              <p:nvPr/>
            </p:nvSpPr>
            <p:spPr>
              <a:xfrm>
                <a:off x="381000" y="2125133"/>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Rating</a:t>
                </a:r>
                <a:endParaRPr lang="en-US" sz="600" dirty="0"/>
              </a:p>
            </p:txBody>
          </p:sp>
          <p:sp>
            <p:nvSpPr>
              <p:cNvPr id="22" name="Rectangle 21"/>
              <p:cNvSpPr/>
              <p:nvPr/>
            </p:nvSpPr>
            <p:spPr>
              <a:xfrm>
                <a:off x="381000" y="2277533"/>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Billing</a:t>
                </a:r>
                <a:endParaRPr lang="en-US" sz="600" dirty="0"/>
              </a:p>
            </p:txBody>
          </p:sp>
          <p:sp>
            <p:nvSpPr>
              <p:cNvPr id="23" name="Rectangle 22"/>
              <p:cNvSpPr/>
              <p:nvPr/>
            </p:nvSpPr>
            <p:spPr>
              <a:xfrm>
                <a:off x="381000" y="1972733"/>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Credit Control</a:t>
                </a:r>
                <a:endParaRPr lang="en-US" sz="600" dirty="0"/>
              </a:p>
            </p:txBody>
          </p:sp>
          <p:sp>
            <p:nvSpPr>
              <p:cNvPr id="24" name="Rectangle 23"/>
              <p:cNvSpPr/>
              <p:nvPr/>
            </p:nvSpPr>
            <p:spPr>
              <a:xfrm>
                <a:off x="381000" y="2734733"/>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Accounting </a:t>
                </a:r>
                <a:endParaRPr lang="en-US" sz="600" dirty="0"/>
              </a:p>
            </p:txBody>
          </p:sp>
          <p:sp>
            <p:nvSpPr>
              <p:cNvPr id="25" name="Rectangle 24"/>
              <p:cNvSpPr/>
              <p:nvPr/>
            </p:nvSpPr>
            <p:spPr>
              <a:xfrm>
                <a:off x="381000" y="2429933"/>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Collection</a:t>
                </a:r>
                <a:endParaRPr lang="en-US" sz="600" dirty="0"/>
              </a:p>
            </p:txBody>
          </p:sp>
          <p:sp>
            <p:nvSpPr>
              <p:cNvPr id="26" name="Rectangle 25"/>
              <p:cNvSpPr/>
              <p:nvPr/>
            </p:nvSpPr>
            <p:spPr>
              <a:xfrm>
                <a:off x="381000" y="2582333"/>
                <a:ext cx="658368" cy="182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smtClean="0"/>
                  <a:t>Deposit</a:t>
                </a:r>
                <a:endParaRPr lang="en-US" sz="600" dirty="0"/>
              </a:p>
            </p:txBody>
          </p:sp>
        </p:grpSp>
      </p:grpSp>
      <p:sp>
        <p:nvSpPr>
          <p:cNvPr id="27" name="TextBox 26"/>
          <p:cNvSpPr txBox="1"/>
          <p:nvPr/>
        </p:nvSpPr>
        <p:spPr>
          <a:xfrm>
            <a:off x="228600" y="2133601"/>
            <a:ext cx="2209800" cy="430887"/>
          </a:xfrm>
          <a:prstGeom prst="rect">
            <a:avLst/>
          </a:prstGeom>
          <a:noFill/>
        </p:spPr>
        <p:txBody>
          <a:bodyPr wrap="square" rtlCol="0">
            <a:spAutoFit/>
          </a:bodyPr>
          <a:lstStyle/>
          <a:p>
            <a:pPr algn="ctr"/>
            <a:r>
              <a:rPr lang="en-US" sz="1100" b="1" dirty="0" smtClean="0"/>
              <a:t>A Typical Billing System &amp; its component</a:t>
            </a:r>
            <a:endParaRPr lang="en-US" sz="1100" b="1" dirty="0"/>
          </a:p>
        </p:txBody>
      </p:sp>
      <p:sp>
        <p:nvSpPr>
          <p:cNvPr id="28" name="Text Box 17"/>
          <p:cNvSpPr txBox="1">
            <a:spLocks noChangeArrowheads="1"/>
          </p:cNvSpPr>
          <p:nvPr/>
        </p:nvSpPr>
        <p:spPr bwMode="auto">
          <a:xfrm>
            <a:off x="2438400" y="2073274"/>
            <a:ext cx="6309360" cy="1097280"/>
          </a:xfrm>
          <a:prstGeom prst="rect">
            <a:avLst/>
          </a:prstGeom>
          <a:solidFill>
            <a:schemeClr val="bg1">
              <a:lumMod val="95000"/>
            </a:schemeClr>
          </a:solidFill>
          <a:ln w="12700">
            <a:solidFill>
              <a:schemeClr val="bg1">
                <a:lumMod val="95000"/>
              </a:schemeClr>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rgbClr val="646464"/>
                </a:solidFill>
                <a:latin typeface="EYInterstate" pitchFamily="2" charset="0"/>
              </a:rPr>
              <a:t>Provisioning - </a:t>
            </a:r>
            <a:r>
              <a:rPr lang="en-US" sz="1200" kern="0" dirty="0" smtClean="0">
                <a:solidFill>
                  <a:srgbClr val="646464"/>
                </a:solidFill>
                <a:latin typeface="EYInterstate" pitchFamily="2" charset="0"/>
              </a:rPr>
              <a:t>Process of configuring subscriber’s in various systems like Customer Relationship Management system, HLR, Billing System, etc. is known as the process of provisioning.  Process of provisioning begins after sale of connection, CAF (Customer Application Form) audit and Customer Verification completion (these processes are explained in detail later in module).</a:t>
            </a:r>
          </a:p>
        </p:txBody>
      </p:sp>
      <p:sp>
        <p:nvSpPr>
          <p:cNvPr id="29" name="Text Box 21"/>
          <p:cNvSpPr txBox="1">
            <a:spLocks noChangeArrowheads="1"/>
          </p:cNvSpPr>
          <p:nvPr/>
        </p:nvSpPr>
        <p:spPr bwMode="auto">
          <a:xfrm>
            <a:off x="2438400" y="3276600"/>
            <a:ext cx="6309360" cy="73152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chemeClr val="bg1"/>
                </a:solidFill>
                <a:latin typeface="EYInterstate" pitchFamily="2" charset="0"/>
              </a:rPr>
              <a:t>Rating - </a:t>
            </a:r>
            <a:r>
              <a:rPr lang="en-US" sz="1200" kern="0" dirty="0" smtClean="0">
                <a:solidFill>
                  <a:schemeClr val="bg1"/>
                </a:solidFill>
                <a:latin typeface="EYInterstate" pitchFamily="2" charset="0"/>
              </a:rPr>
              <a:t>Rating is the process of assigning a value to every billable CDR that has been generated by the customer.  CDRs are rated based on the pre-defined tariffs as per subscriber’s rate plan.</a:t>
            </a:r>
          </a:p>
        </p:txBody>
      </p:sp>
      <p:sp>
        <p:nvSpPr>
          <p:cNvPr id="30" name="Text Box 21"/>
          <p:cNvSpPr txBox="1">
            <a:spLocks noChangeArrowheads="1"/>
          </p:cNvSpPr>
          <p:nvPr/>
        </p:nvSpPr>
        <p:spPr bwMode="auto">
          <a:xfrm>
            <a:off x="381000" y="5715000"/>
            <a:ext cx="8382000" cy="45720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FFFFFF"/>
                </a:solidFill>
                <a:latin typeface="EYInterstate" pitchFamily="2" charset="0"/>
              </a:rPr>
              <a:t>Credit Limit – </a:t>
            </a:r>
            <a:r>
              <a:rPr lang="en-US" sz="1200" kern="0" dirty="0" smtClean="0">
                <a:solidFill>
                  <a:srgbClr val="FFFFFF"/>
                </a:solidFill>
                <a:latin typeface="EYInterstate" pitchFamily="2" charset="0"/>
              </a:rPr>
              <a:t>A maximum amount of limit that a operator provides to the postpaid customer for its usage. A credit limit is determined on the basis customer payment history, usage and age on network </a:t>
            </a:r>
          </a:p>
        </p:txBody>
      </p:sp>
      <p:sp>
        <p:nvSpPr>
          <p:cNvPr id="31" name="Text Box 21"/>
          <p:cNvSpPr txBox="1">
            <a:spLocks noChangeArrowheads="1"/>
          </p:cNvSpPr>
          <p:nvPr/>
        </p:nvSpPr>
        <p:spPr bwMode="auto">
          <a:xfrm>
            <a:off x="2453640" y="4084320"/>
            <a:ext cx="6309360" cy="1554480"/>
          </a:xfrm>
          <a:prstGeom prst="rect">
            <a:avLst/>
          </a:prstGeom>
          <a:solidFill>
            <a:schemeClr val="bg1">
              <a:lumMod val="95000"/>
            </a:schemeClr>
          </a:solidFill>
          <a:ln w="12700">
            <a:solidFill>
              <a:schemeClr val="bg1">
                <a:lumMod val="95000"/>
              </a:schemeClr>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Pulse - </a:t>
            </a:r>
            <a:r>
              <a:rPr lang="en-US" sz="1200" kern="0" dirty="0" smtClean="0">
                <a:solidFill>
                  <a:srgbClr val="646464"/>
                </a:solidFill>
                <a:latin typeface="EYInterstate" pitchFamily="2" charset="0"/>
              </a:rPr>
              <a:t>Pulse is the smallest unit of time which has a rate attached to it and is billable to the subscriber (i.e. typically 60 seconds). For e.g. In a 60 seconds pulse, even if the subscriber uses the service for only 10 seconds, he / she will be charged for all the 60 seconds. Advanced billing systems allow per second billing i.e. the pulse can be set as 1 second. This is  advantageous for the subscribers as they are charged for their exact duration of usage.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Key Concepts- General Postpaid Terminologies….</a:t>
            </a:r>
            <a:r>
              <a:rPr lang="en-US" sz="2400" b="1" dirty="0" smtClean="0">
                <a:solidFill>
                  <a:srgbClr val="646464"/>
                </a:solidFill>
                <a:latin typeface="EYInterstate" pitchFamily="2" charset="0"/>
                <a:ea typeface="+mj-ea"/>
                <a:cs typeface="+mj-cs"/>
              </a:rPr>
              <a:t>contd.</a:t>
            </a:r>
            <a:endParaRPr lang="en-US" sz="2400" b="1" dirty="0" smtClean="0">
              <a:solidFill>
                <a:srgbClr val="646464"/>
              </a:solidFill>
              <a:latin typeface="EYInterstate" pitchFamily="2" charset="0"/>
              <a:ea typeface="+mj-ea"/>
              <a:cs typeface="+mj-cs"/>
            </a:endParaRPr>
          </a:p>
        </p:txBody>
      </p:sp>
      <p:sp>
        <p:nvSpPr>
          <p:cNvPr id="4" name="Text Box 17"/>
          <p:cNvSpPr txBox="1">
            <a:spLocks noChangeArrowheads="1"/>
          </p:cNvSpPr>
          <p:nvPr/>
        </p:nvSpPr>
        <p:spPr bwMode="auto">
          <a:xfrm>
            <a:off x="381000" y="1097280"/>
            <a:ext cx="8366760" cy="731520"/>
          </a:xfrm>
          <a:prstGeom prst="rect">
            <a:avLst/>
          </a:prstGeom>
          <a:solidFill>
            <a:schemeClr val="bg1">
              <a:lumMod val="95000"/>
            </a:schemeClr>
          </a:solidFill>
          <a:ln w="12700">
            <a:solidFill>
              <a:schemeClr val="bg1">
                <a:lumMod val="95000"/>
              </a:schemeClr>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Rate plan - </a:t>
            </a:r>
            <a:r>
              <a:rPr lang="en-US" sz="1200" kern="0" dirty="0" smtClean="0">
                <a:solidFill>
                  <a:srgbClr val="646464"/>
                </a:solidFill>
                <a:latin typeface="EYInterstate" pitchFamily="2" charset="0"/>
              </a:rPr>
              <a:t>The subscriber chooses a rate plan at the time of entering into a contract with the service provider. The rate plan determines the rate to be charged for each “pulse” or unit, the duration of the pulse/ unit, the amount of fixed monthly charges to be billed, volume of free calls or SMS allowed, etc</a:t>
            </a:r>
          </a:p>
        </p:txBody>
      </p:sp>
      <p:sp>
        <p:nvSpPr>
          <p:cNvPr id="5" name="Text Box 17"/>
          <p:cNvSpPr txBox="1">
            <a:spLocks noChangeArrowheads="1"/>
          </p:cNvSpPr>
          <p:nvPr/>
        </p:nvSpPr>
        <p:spPr bwMode="auto">
          <a:xfrm>
            <a:off x="381000" y="1905000"/>
            <a:ext cx="8366760" cy="64008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rgbClr val="FFFFFF"/>
                </a:solidFill>
                <a:latin typeface="EYInterstate" pitchFamily="2" charset="0"/>
              </a:rPr>
              <a:t>Billing cycle- </a:t>
            </a:r>
            <a:r>
              <a:rPr lang="en-US" sz="1200" kern="0" dirty="0" smtClean="0">
                <a:solidFill>
                  <a:srgbClr val="FFFFFF"/>
                </a:solidFill>
                <a:latin typeface="EYInterstate" pitchFamily="2" charset="0"/>
              </a:rPr>
              <a:t>Billing cycle refers to the frequency of billing for subscriber’s usage. For example, if billing cycle is monthly, it signifies that each subscriber will be billed monthly for usage pertaining to last 1 month</a:t>
            </a:r>
          </a:p>
        </p:txBody>
      </p:sp>
      <p:sp>
        <p:nvSpPr>
          <p:cNvPr id="6" name="Text Box 17"/>
          <p:cNvSpPr txBox="1">
            <a:spLocks noChangeArrowheads="1"/>
          </p:cNvSpPr>
          <p:nvPr/>
        </p:nvSpPr>
        <p:spPr bwMode="auto">
          <a:xfrm>
            <a:off x="381000" y="2651760"/>
            <a:ext cx="8366760" cy="1005840"/>
          </a:xfrm>
          <a:prstGeom prst="rect">
            <a:avLst/>
          </a:prstGeom>
          <a:solidFill>
            <a:schemeClr val="bg1">
              <a:lumMod val="95000"/>
            </a:schemeClr>
          </a:solidFill>
          <a:ln w="12700">
            <a:solidFill>
              <a:schemeClr val="bg1">
                <a:lumMod val="95000"/>
              </a:schemeClr>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rgbClr val="646464"/>
                </a:solidFill>
                <a:latin typeface="EYInterstate" pitchFamily="2" charset="0"/>
              </a:rPr>
              <a:t>Bill Run - </a:t>
            </a:r>
            <a:r>
              <a:rPr lang="en-US" sz="1200" kern="0" dirty="0" smtClean="0">
                <a:solidFill>
                  <a:srgbClr val="646464"/>
                </a:solidFill>
                <a:latin typeface="EYInterstate" pitchFamily="2" charset="0"/>
              </a:rPr>
              <a:t>Bill run is the activity of generation of bills for post paid subscribers. All calls made during the billing period are rated and accumulated in the subscriber’s account. On triggering the bill run, billing system adds fixed monthly rentals to the accumulated call charges and provides discounts, if any (as applicable to the rate plan chosen by the subscriber)</a:t>
            </a:r>
          </a:p>
        </p:txBody>
      </p:sp>
      <p:sp>
        <p:nvSpPr>
          <p:cNvPr id="7" name="Text Box 17"/>
          <p:cNvSpPr txBox="1">
            <a:spLocks noChangeArrowheads="1"/>
          </p:cNvSpPr>
          <p:nvPr/>
        </p:nvSpPr>
        <p:spPr bwMode="auto">
          <a:xfrm>
            <a:off x="381000" y="3733800"/>
            <a:ext cx="8366760" cy="73152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rgbClr val="FFFFFF"/>
                </a:solidFill>
                <a:latin typeface="EYInterstate" pitchFamily="2" charset="0"/>
              </a:rPr>
              <a:t>Unbilled Usage - </a:t>
            </a:r>
            <a:r>
              <a:rPr lang="en-US" sz="1200" kern="0" dirty="0" smtClean="0">
                <a:solidFill>
                  <a:srgbClr val="FFFFFF"/>
                </a:solidFill>
                <a:latin typeface="EYInterstate" pitchFamily="2" charset="0"/>
              </a:rPr>
              <a:t>Due to the periodic nature of post paid billing, transactions are accumulated in the billing system against the subscriber’s account till the bill cycle date. These accumulated charges that are not yet due for payment refer to unbilled usage.</a:t>
            </a:r>
          </a:p>
        </p:txBody>
      </p:sp>
      <p:sp>
        <p:nvSpPr>
          <p:cNvPr id="8" name="Text Box 17"/>
          <p:cNvSpPr txBox="1">
            <a:spLocks noChangeArrowheads="1"/>
          </p:cNvSpPr>
          <p:nvPr/>
        </p:nvSpPr>
        <p:spPr bwMode="auto">
          <a:xfrm>
            <a:off x="381000" y="4541520"/>
            <a:ext cx="8366760" cy="1249680"/>
          </a:xfrm>
          <a:prstGeom prst="rect">
            <a:avLst/>
          </a:prstGeom>
          <a:solidFill>
            <a:schemeClr val="bg1">
              <a:lumMod val="95000"/>
            </a:schemeClr>
          </a:solidFill>
          <a:ln w="12700">
            <a:solidFill>
              <a:schemeClr val="bg1">
                <a:lumMod val="95000"/>
              </a:schemeClr>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Closed User Group (CUG) - </a:t>
            </a:r>
            <a:r>
              <a:rPr lang="en-US" sz="1200" kern="0" dirty="0" smtClean="0">
                <a:solidFill>
                  <a:srgbClr val="646464"/>
                </a:solidFill>
                <a:latin typeface="EYInterstate" pitchFamily="2" charset="0"/>
              </a:rPr>
              <a:t>Closed User Groups are groups of GSM mobile telephone subscribers who can only make calls and receive calls from members within the group. Any other calls would be rejected. This service is NOT applicable to Short messaging service (SMS). A customer can be part of CUG having access like </a:t>
            </a:r>
          </a:p>
          <a:p>
            <a:pPr marL="798513" lvl="1" indent="-287338" fontAlgn="auto">
              <a:spcBef>
                <a:spcPts val="600"/>
              </a:spcBef>
              <a:spcAft>
                <a:spcPts val="0"/>
              </a:spcAft>
              <a:buClr>
                <a:srgbClr val="FFC000"/>
              </a:buClr>
              <a:buSzPct val="100000"/>
              <a:buFont typeface="Arial" pitchFamily="34" charset="0"/>
              <a:buChar char="►"/>
              <a:defRPr/>
            </a:pPr>
            <a:r>
              <a:rPr lang="en-US" sz="1200" kern="0" dirty="0" smtClean="0">
                <a:solidFill>
                  <a:srgbClr val="646464"/>
                </a:solidFill>
                <a:latin typeface="EYInterstate" pitchFamily="2" charset="0"/>
              </a:rPr>
              <a:t>Be permitted to make calls outside of the Closed User Group (Outgoing Access). </a:t>
            </a:r>
          </a:p>
          <a:p>
            <a:pPr marL="798513" lvl="1" indent="-287338" fontAlgn="auto">
              <a:spcBef>
                <a:spcPts val="600"/>
              </a:spcBef>
              <a:spcAft>
                <a:spcPts val="0"/>
              </a:spcAft>
              <a:buClr>
                <a:srgbClr val="FFC000"/>
              </a:buClr>
              <a:buSzPct val="100000"/>
              <a:buFont typeface="Arial" pitchFamily="34" charset="0"/>
              <a:buChar char="►"/>
              <a:defRPr/>
            </a:pPr>
            <a:r>
              <a:rPr lang="en-US" sz="1200" kern="0" dirty="0" smtClean="0">
                <a:solidFill>
                  <a:srgbClr val="646464"/>
                </a:solidFill>
                <a:latin typeface="EYInterstate" pitchFamily="2" charset="0"/>
              </a:rPr>
              <a:t>Be permitted to receive calls from outside of the Closed User Group (Incoming Access).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Key Concepts- General Postpaid Terminologies….</a:t>
            </a:r>
            <a:r>
              <a:rPr lang="en-US" sz="2400" b="1" dirty="0" smtClean="0">
                <a:solidFill>
                  <a:srgbClr val="646464"/>
                </a:solidFill>
                <a:latin typeface="EYInterstate" pitchFamily="2" charset="0"/>
                <a:ea typeface="+mj-ea"/>
                <a:cs typeface="+mj-cs"/>
              </a:rPr>
              <a:t>contd.</a:t>
            </a:r>
            <a:endParaRPr lang="en-US" sz="2400" b="1" dirty="0" smtClean="0">
              <a:solidFill>
                <a:srgbClr val="646464"/>
              </a:solidFill>
              <a:latin typeface="EYInterstate" pitchFamily="2" charset="0"/>
              <a:ea typeface="+mj-ea"/>
              <a:cs typeface="+mj-cs"/>
            </a:endParaRPr>
          </a:p>
        </p:txBody>
      </p:sp>
      <p:sp>
        <p:nvSpPr>
          <p:cNvPr id="4" name="Text Box 17"/>
          <p:cNvSpPr txBox="1">
            <a:spLocks noChangeArrowheads="1"/>
          </p:cNvSpPr>
          <p:nvPr/>
        </p:nvSpPr>
        <p:spPr bwMode="auto">
          <a:xfrm>
            <a:off x="381000" y="1173480"/>
            <a:ext cx="8366760" cy="91440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rgbClr val="FFFFFF"/>
                </a:solidFill>
                <a:latin typeface="EYInterstate" pitchFamily="2" charset="0"/>
              </a:rPr>
              <a:t>Invoice - </a:t>
            </a:r>
            <a:r>
              <a:rPr lang="en-US" sz="1200" kern="0" dirty="0" smtClean="0">
                <a:solidFill>
                  <a:srgbClr val="FFFFFF"/>
                </a:solidFill>
                <a:latin typeface="EYInterstate" pitchFamily="2" charset="0"/>
              </a:rPr>
              <a:t>It is the entity generated by the billing system to inform the customer that he must pay for his service usage or ordering. Each invoice includes the customer account, date of payment, line items of the invoice, and invoice sales taxes. Invoices affect the account debits in the billing system. </a:t>
            </a:r>
          </a:p>
        </p:txBody>
      </p:sp>
      <p:sp>
        <p:nvSpPr>
          <p:cNvPr id="5" name="Text Box 17"/>
          <p:cNvSpPr txBox="1">
            <a:spLocks noChangeArrowheads="1"/>
          </p:cNvSpPr>
          <p:nvPr/>
        </p:nvSpPr>
        <p:spPr bwMode="auto">
          <a:xfrm>
            <a:off x="381000" y="2133600"/>
            <a:ext cx="8366760" cy="914400"/>
          </a:xfrm>
          <a:prstGeom prst="rect">
            <a:avLst/>
          </a:prstGeom>
          <a:solidFill>
            <a:schemeClr val="bg1">
              <a:lumMod val="95000"/>
            </a:schemeClr>
          </a:solidFill>
          <a:ln w="9525" algn="ctr">
            <a:solidFill>
              <a:schemeClr val="bg1">
                <a:lumMod val="95000"/>
              </a:schemeClr>
            </a:solidFill>
            <a:miter lim="800000"/>
            <a:headEnd/>
            <a:tailEnd/>
          </a:ln>
          <a:effectLst/>
        </p:spPr>
        <p:txBody>
          <a:bodyP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200" b="1" kern="0" dirty="0" smtClean="0">
                <a:solidFill>
                  <a:srgbClr val="646464"/>
                </a:solidFill>
                <a:latin typeface="EYInterstate" pitchFamily="2" charset="0"/>
              </a:rPr>
              <a:t>Payment - </a:t>
            </a:r>
            <a:r>
              <a:rPr lang="en-US" sz="1200" kern="0" dirty="0" smtClean="0">
                <a:solidFill>
                  <a:srgbClr val="646464"/>
                </a:solidFill>
                <a:latin typeface="EYInterstate" pitchFamily="2" charset="0"/>
              </a:rPr>
              <a:t>It is the process of collecting company money from the customers and adjusting their balances through adjusting the account debits and credits. The customers receive receipts of their payments. Each customer account should include its payment method to be used after generating invoices and to ask customers for payments.</a:t>
            </a:r>
          </a:p>
        </p:txBody>
      </p:sp>
      <p:sp>
        <p:nvSpPr>
          <p:cNvPr id="7" name="Text Box 21"/>
          <p:cNvSpPr txBox="1">
            <a:spLocks noChangeArrowheads="1"/>
          </p:cNvSpPr>
          <p:nvPr/>
        </p:nvSpPr>
        <p:spPr bwMode="auto">
          <a:xfrm>
            <a:off x="385762" y="3127375"/>
            <a:ext cx="8377238" cy="36576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FFFFFF"/>
                </a:solidFill>
                <a:latin typeface="EYInterstate" pitchFamily="2" charset="0"/>
              </a:rPr>
              <a:t>Tariff Plan - </a:t>
            </a:r>
            <a:r>
              <a:rPr lang="en-US" sz="1200" kern="0" dirty="0" smtClean="0">
                <a:solidFill>
                  <a:srgbClr val="FFFFFF"/>
                </a:solidFill>
                <a:latin typeface="EYInterstate" pitchFamily="2" charset="0"/>
              </a:rPr>
              <a:t>Rate Plan which has unique combination of rates / rentals to each destination</a:t>
            </a:r>
          </a:p>
        </p:txBody>
      </p:sp>
      <p:sp>
        <p:nvSpPr>
          <p:cNvPr id="8" name="Text Box 21"/>
          <p:cNvSpPr txBox="1">
            <a:spLocks noChangeArrowheads="1"/>
          </p:cNvSpPr>
          <p:nvPr/>
        </p:nvSpPr>
        <p:spPr bwMode="auto">
          <a:xfrm>
            <a:off x="385762" y="3581400"/>
            <a:ext cx="8377238" cy="731520"/>
          </a:xfrm>
          <a:prstGeom prst="rect">
            <a:avLst/>
          </a:prstGeom>
          <a:solidFill>
            <a:schemeClr val="bg1">
              <a:lumMod val="95000"/>
            </a:schemeClr>
          </a:solidFill>
          <a:ln w="9525" algn="ctr">
            <a:solidFill>
              <a:schemeClr val="bg1">
                <a:lumMod val="95000"/>
              </a:schemeClr>
            </a:solidFill>
            <a:miter lim="800000"/>
            <a:headEnd/>
            <a:tailEnd/>
          </a:ln>
          <a:effectLst/>
        </p:spPr>
        <p:txBody>
          <a:bodyP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Baring - </a:t>
            </a:r>
            <a:r>
              <a:rPr lang="en-US" sz="1200" kern="0" dirty="0" smtClean="0">
                <a:solidFill>
                  <a:srgbClr val="646464"/>
                </a:solidFill>
                <a:latin typeface="EYInterstate" pitchFamily="2" charset="0"/>
              </a:rPr>
              <a:t>Change in service status from allowed to disallowed. Baring can be done for Outgoing access (OG), Incoming access (IC) or both. Once the customer’s OG &amp; IC are barred the same state is called as </a:t>
            </a:r>
            <a:r>
              <a:rPr lang="en-US" sz="1200" b="1" kern="0" dirty="0" smtClean="0">
                <a:solidFill>
                  <a:srgbClr val="646464"/>
                </a:solidFill>
                <a:latin typeface="EYInterstate" pitchFamily="2" charset="0"/>
              </a:rPr>
              <a:t>Suspension </a:t>
            </a:r>
            <a:r>
              <a:rPr lang="en-US" sz="1200" kern="0" dirty="0" smtClean="0">
                <a:solidFill>
                  <a:srgbClr val="646464"/>
                </a:solidFill>
                <a:latin typeface="EYInterstate" pitchFamily="2" charset="0"/>
              </a:rPr>
              <a:t>or </a:t>
            </a:r>
            <a:r>
              <a:rPr lang="en-US" sz="1200" b="1" kern="0" dirty="0" smtClean="0">
                <a:solidFill>
                  <a:srgbClr val="646464"/>
                </a:solidFill>
                <a:latin typeface="EYInterstate" pitchFamily="2" charset="0"/>
              </a:rPr>
              <a:t>Temporary Disconnection</a:t>
            </a:r>
            <a:r>
              <a:rPr lang="en-US" sz="1200" kern="0" dirty="0" smtClean="0">
                <a:solidFill>
                  <a:srgbClr val="646464"/>
                </a:solidFill>
                <a:latin typeface="EYInterstate" pitchFamily="2" charset="0"/>
              </a:rPr>
              <a:t> </a:t>
            </a:r>
          </a:p>
        </p:txBody>
      </p:sp>
      <p:sp>
        <p:nvSpPr>
          <p:cNvPr id="9" name="Text Box 21"/>
          <p:cNvSpPr txBox="1">
            <a:spLocks noChangeArrowheads="1"/>
          </p:cNvSpPr>
          <p:nvPr/>
        </p:nvSpPr>
        <p:spPr bwMode="auto">
          <a:xfrm>
            <a:off x="381000" y="4358640"/>
            <a:ext cx="8377238" cy="365760"/>
          </a:xfrm>
          <a:prstGeom prst="rect">
            <a:avLst/>
          </a:prstGeom>
          <a:solidFill>
            <a:schemeClr val="bg1">
              <a:lumMod val="50000"/>
            </a:schemeClr>
          </a:solidFill>
          <a:ln w="12700">
            <a:solidFill>
              <a:schemeClr val="accent1"/>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FFFFFF"/>
                </a:solidFill>
                <a:latin typeface="EYInterstate" pitchFamily="2" charset="0"/>
              </a:rPr>
              <a:t>Permanent Disconnection – </a:t>
            </a:r>
            <a:r>
              <a:rPr lang="en-US" sz="1200" kern="0" dirty="0" smtClean="0">
                <a:solidFill>
                  <a:srgbClr val="FFFFFF"/>
                </a:solidFill>
                <a:latin typeface="EYInterstate" pitchFamily="2" charset="0"/>
              </a:rPr>
              <a:t>Deletion of subscriber from all IT &amp; network systems. Also known as Churn</a:t>
            </a:r>
          </a:p>
        </p:txBody>
      </p:sp>
      <p:sp>
        <p:nvSpPr>
          <p:cNvPr id="10" name="Text Box 21"/>
          <p:cNvSpPr txBox="1">
            <a:spLocks noChangeArrowheads="1"/>
          </p:cNvSpPr>
          <p:nvPr/>
        </p:nvSpPr>
        <p:spPr bwMode="auto">
          <a:xfrm>
            <a:off x="381000" y="4800600"/>
            <a:ext cx="8377238" cy="1371600"/>
          </a:xfrm>
          <a:prstGeom prst="rect">
            <a:avLst/>
          </a:prstGeom>
          <a:solidFill>
            <a:schemeClr val="bg1">
              <a:lumMod val="95000"/>
            </a:schemeClr>
          </a:solidFill>
          <a:ln w="9525" algn="ctr">
            <a:noFill/>
            <a:miter lim="800000"/>
            <a:headEnd/>
            <a:tailEnd/>
          </a:ln>
          <a:effectLst/>
        </p:spPr>
        <p:txBody>
          <a:bodyP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Dunning - </a:t>
            </a:r>
            <a:r>
              <a:rPr lang="en-US" sz="1200" kern="0" dirty="0" smtClean="0">
                <a:solidFill>
                  <a:srgbClr val="646464"/>
                </a:solidFill>
                <a:latin typeface="EYInterstate" pitchFamily="2" charset="0"/>
              </a:rPr>
              <a:t>Operators methodology to limit exposure caused due to delay in bill payment or in case of usage exceeding Credit Limit. There are two type of dunning processes – </a:t>
            </a:r>
          </a:p>
          <a:p>
            <a:pPr marL="798513" lvl="1" indent="-287338" fontAlgn="auto">
              <a:lnSpc>
                <a:spcPct val="120000"/>
              </a:lnSpc>
              <a:spcBef>
                <a:spcPts val="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Time Based Dunning </a:t>
            </a:r>
            <a:r>
              <a:rPr lang="en-US" sz="1200" kern="0" dirty="0" smtClean="0">
                <a:solidFill>
                  <a:srgbClr val="646464"/>
                </a:solidFill>
                <a:latin typeface="EYInterstate" pitchFamily="2" charset="0"/>
              </a:rPr>
              <a:t>- In this process, customer is reminded about the payment of bill on the specified time, before the due date, on the due date and after the due date of the payment.</a:t>
            </a:r>
          </a:p>
          <a:p>
            <a:pPr marL="798513" lvl="1" indent="-287338" fontAlgn="auto">
              <a:lnSpc>
                <a:spcPct val="120000"/>
              </a:lnSpc>
              <a:spcBef>
                <a:spcPts val="0"/>
              </a:spcBef>
              <a:spcAft>
                <a:spcPts val="0"/>
              </a:spcAft>
              <a:buClr>
                <a:srgbClr val="FFC000"/>
              </a:buClr>
              <a:buSzPct val="100000"/>
              <a:buFont typeface="Arial" pitchFamily="34" charset="0"/>
              <a:buChar char="►"/>
              <a:defRPr/>
            </a:pPr>
            <a:r>
              <a:rPr lang="en-US" sz="1200" b="1" kern="0" dirty="0" smtClean="0">
                <a:solidFill>
                  <a:srgbClr val="646464"/>
                </a:solidFill>
                <a:latin typeface="EYInterstate" pitchFamily="2" charset="0"/>
              </a:rPr>
              <a:t>Value based dunning</a:t>
            </a:r>
            <a:r>
              <a:rPr lang="en-US" sz="1200" kern="0" dirty="0" smtClean="0">
                <a:solidFill>
                  <a:srgbClr val="646464"/>
                </a:solidFill>
                <a:latin typeface="EYInterstate" pitchFamily="2" charset="0"/>
              </a:rPr>
              <a:t> - In this process, as customer’s unbilled amount approaches close to its predefined credit limit and once the usage crosses the CL baring of service is initiated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32775" cy="863600"/>
          </a:xfrm>
        </p:spPr>
        <p:txBody>
          <a:bodyPr/>
          <a:lstStyle/>
          <a:p>
            <a:pPr>
              <a:tabLst>
                <a:tab pos="400050" algn="l"/>
              </a:tabLst>
              <a:defRPr/>
            </a:pPr>
            <a:r>
              <a:rPr lang="en-US" sz="2400" dirty="0" smtClean="0">
                <a:latin typeface="EYInterstate" pitchFamily="2" charset="0"/>
              </a:rPr>
              <a:t>Postpaid Customer Life Cycle</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8.</a:t>
            </a:r>
            <a:endParaRPr lang="en-US" sz="4800" spc="-800" dirty="0">
              <a:solidFill>
                <a:schemeClr val="bg1"/>
              </a:solidFill>
              <a:latin typeface="EYInterstate Light" pitchFamily="2" charset="0"/>
            </a:endParaRPr>
          </a:p>
        </p:txBody>
      </p:sp>
      <p:grpSp>
        <p:nvGrpSpPr>
          <p:cNvPr id="39" name="Group 38"/>
          <p:cNvGrpSpPr/>
          <p:nvPr/>
        </p:nvGrpSpPr>
        <p:grpSpPr>
          <a:xfrm>
            <a:off x="304800" y="1981200"/>
            <a:ext cx="8467344" cy="2895600"/>
            <a:chOff x="304800" y="1981200"/>
            <a:chExt cx="8467344" cy="2895600"/>
          </a:xfrm>
        </p:grpSpPr>
        <p:sp>
          <p:nvSpPr>
            <p:cNvPr id="41" name="Rectangle 40"/>
            <p:cNvSpPr/>
            <p:nvPr/>
          </p:nvSpPr>
          <p:spPr>
            <a:xfrm>
              <a:off x="3990187" y="3432381"/>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2" name="Rectangle 41"/>
            <p:cNvSpPr/>
            <p:nvPr/>
          </p:nvSpPr>
          <p:spPr>
            <a:xfrm>
              <a:off x="1531449" y="3438477"/>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3"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44"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97" name="Rectangle 96"/>
              <p:cNvSpPr/>
              <p:nvPr/>
            </p:nvSpPr>
            <p:spPr>
              <a:xfrm>
                <a:off x="4599803" y="2102667"/>
                <a:ext cx="1329095"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3"/>
              <p:cNvSpPr>
                <a:spLocks noChangeArrowheads="1"/>
              </p:cNvSpPr>
              <p:nvPr/>
            </p:nvSpPr>
            <p:spPr bwMode="auto">
              <a:xfrm>
                <a:off x="4633035" y="2162263"/>
                <a:ext cx="1136666" cy="373599"/>
              </a:xfrm>
              <a:prstGeom prst="rect">
                <a:avLst/>
              </a:prstGeom>
              <a:grp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45" name="Rectangle 22"/>
            <p:cNvSpPr>
              <a:spLocks noChangeArrowheads="1"/>
            </p:cNvSpPr>
            <p:nvPr/>
          </p:nvSpPr>
          <p:spPr bwMode="auto">
            <a:xfrm>
              <a:off x="4027182" y="4118451"/>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46"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95" name="Rectangle 94"/>
              <p:cNvSpPr/>
              <p:nvPr/>
            </p:nvSpPr>
            <p:spPr>
              <a:xfrm>
                <a:off x="5972094" y="3483677"/>
                <a:ext cx="1329077"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24"/>
              <p:cNvSpPr>
                <a:spLocks noChangeArrowheads="1"/>
              </p:cNvSpPr>
              <p:nvPr/>
            </p:nvSpPr>
            <p:spPr bwMode="auto">
              <a:xfrm>
                <a:off x="6011147" y="4464152"/>
                <a:ext cx="1136650" cy="384691"/>
              </a:xfrm>
              <a:prstGeom prst="rect">
                <a:avLst/>
              </a:prstGeom>
              <a:grp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7"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48"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49" name="Group 44"/>
            <p:cNvGrpSpPr/>
            <p:nvPr/>
          </p:nvGrpSpPr>
          <p:grpSpPr>
            <a:xfrm>
              <a:off x="304800" y="1993408"/>
              <a:ext cx="1185681" cy="1479901"/>
              <a:chOff x="402336" y="1993408"/>
              <a:chExt cx="1185681" cy="1479901"/>
            </a:xfrm>
          </p:grpSpPr>
          <p:sp>
            <p:nvSpPr>
              <p:cNvPr id="91" name="Rectangle 90"/>
              <p:cNvSpPr/>
              <p:nvPr/>
            </p:nvSpPr>
            <p:spPr>
              <a:xfrm>
                <a:off x="402336" y="1993408"/>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2"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93"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4"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50" name="Isosceles Triangle 49"/>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1" name="Isosceles Triangle 50"/>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2" name="Isosceles Triangle 51"/>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53" name="Group 97"/>
            <p:cNvGrpSpPr/>
            <p:nvPr/>
          </p:nvGrpSpPr>
          <p:grpSpPr>
            <a:xfrm>
              <a:off x="2544987" y="1993408"/>
              <a:ext cx="1402929" cy="1563815"/>
              <a:chOff x="2544987" y="1993408"/>
              <a:chExt cx="1402929" cy="1563815"/>
            </a:xfrm>
          </p:grpSpPr>
          <p:sp>
            <p:nvSpPr>
              <p:cNvPr id="86" name="Rectangle 85"/>
              <p:cNvSpPr/>
              <p:nvPr/>
            </p:nvSpPr>
            <p:spPr>
              <a:xfrm>
                <a:off x="2762235" y="1993408"/>
                <a:ext cx="1185681" cy="1403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7" name="Rectangle 86"/>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88" name="Isosceles Triangle 87"/>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9" name="Isosceles Triangle 88"/>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0" name="Rectangle 89"/>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54" name="Rectangle 53"/>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55" name="Rectangle 54"/>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56" name="Rectangle 55"/>
            <p:cNvSpPr/>
            <p:nvPr/>
          </p:nvSpPr>
          <p:spPr>
            <a:xfrm>
              <a:off x="4022825" y="3450352"/>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59" name="Rectangle 58"/>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61"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62"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63"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70" name="Picture 5"/>
            <p:cNvPicPr>
              <a:picLocks noChangeArrowheads="1"/>
            </p:cNvPicPr>
            <p:nvPr/>
          </p:nvPicPr>
          <p:blipFill>
            <a:blip r:embed="rId7" cstate="print"/>
            <a:srcRect/>
            <a:stretch>
              <a:fillRect/>
            </a:stretch>
          </p:blipFill>
          <p:spPr bwMode="auto">
            <a:xfrm>
              <a:off x="6436868" y="2013039"/>
              <a:ext cx="1183132" cy="1399032"/>
            </a:xfrm>
            <a:prstGeom prst="rect">
              <a:avLst/>
            </a:prstGeom>
            <a:solidFill>
              <a:schemeClr val="tx1">
                <a:lumMod val="20000"/>
                <a:lumOff val="80000"/>
              </a:schemeClr>
            </a:solidFill>
            <a:ln>
              <a:noFill/>
            </a:ln>
          </p:spPr>
        </p:pic>
        <p:pic>
          <p:nvPicPr>
            <p:cNvPr id="73" name="Picture 2"/>
            <p:cNvPicPr>
              <a:picLocks noChangeAspect="1" noChangeArrowheads="1"/>
            </p:cNvPicPr>
            <p:nvPr/>
          </p:nvPicPr>
          <p:blipFill>
            <a:blip r:embed="rId8" cstate="print"/>
            <a:srcRect/>
            <a:stretch>
              <a:fillRect/>
            </a:stretch>
          </p:blipFill>
          <p:spPr bwMode="auto">
            <a:xfrm>
              <a:off x="7674863" y="3429000"/>
              <a:ext cx="1097280" cy="1429881"/>
            </a:xfrm>
            <a:prstGeom prst="rect">
              <a:avLst/>
            </a:prstGeom>
            <a:solidFill>
              <a:schemeClr val="tx1">
                <a:lumMod val="20000"/>
                <a:lumOff val="80000"/>
              </a:schemeClr>
            </a:solidFill>
            <a:ln>
              <a:noFill/>
            </a:ln>
          </p:spPr>
        </p:pic>
        <p:grpSp>
          <p:nvGrpSpPr>
            <p:cNvPr id="74" name="Group 45"/>
            <p:cNvGrpSpPr/>
            <p:nvPr/>
          </p:nvGrpSpPr>
          <p:grpSpPr>
            <a:xfrm>
              <a:off x="7674864" y="1981200"/>
              <a:ext cx="1097280" cy="1479901"/>
              <a:chOff x="402336" y="1993408"/>
              <a:chExt cx="1185681" cy="1479901"/>
            </a:xfrm>
          </p:grpSpPr>
          <p:sp>
            <p:nvSpPr>
              <p:cNvPr id="75" name="Rectangle 74"/>
              <p:cNvSpPr/>
              <p:nvPr/>
            </p:nvSpPr>
            <p:spPr>
              <a:xfrm>
                <a:off x="402336" y="1993408"/>
                <a:ext cx="1185681" cy="1401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Rectangle 75"/>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4" name="Isosceles Triangle 83"/>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5"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427038" y="1854200"/>
            <a:ext cx="8412162" cy="4241800"/>
            <a:chOff x="427038" y="1524000"/>
            <a:chExt cx="7650162" cy="4241800"/>
          </a:xfrm>
        </p:grpSpPr>
        <p:sp>
          <p:nvSpPr>
            <p:cNvPr id="4" name="AutoShape 122"/>
            <p:cNvSpPr>
              <a:spLocks noChangeArrowheads="1"/>
            </p:cNvSpPr>
            <p:nvPr/>
          </p:nvSpPr>
          <p:spPr bwMode="auto">
            <a:xfrm>
              <a:off x="6400800" y="4164177"/>
              <a:ext cx="1676400" cy="1544423"/>
            </a:xfrm>
            <a:prstGeom prst="roundRect">
              <a:avLst>
                <a:gd name="adj" fmla="val 0"/>
              </a:avLst>
            </a:prstGeom>
            <a:noFill/>
            <a:ln w="3175" algn="ctr">
              <a:noFill/>
              <a:prstDash val="sysDot"/>
              <a:round/>
              <a:headEnd/>
              <a:tailEnd/>
            </a:ln>
            <a:effectLst/>
          </p:spPr>
          <p:txBody>
            <a:bodyPr/>
            <a:lstStyle/>
            <a:p>
              <a:pPr algn="l">
                <a:lnSpc>
                  <a:spcPct val="140000"/>
                </a:lnSpc>
                <a:spcBef>
                  <a:spcPct val="20000"/>
                </a:spcBef>
                <a:spcAft>
                  <a:spcPct val="20000"/>
                </a:spcAft>
              </a:pPr>
              <a:r>
                <a:rPr lang="en-US" sz="900" b="1" dirty="0">
                  <a:solidFill>
                    <a:schemeClr val="bg1">
                      <a:lumMod val="50000"/>
                    </a:schemeClr>
                  </a:solidFill>
                  <a:ea typeface="굴림" charset="-127"/>
                </a:rPr>
                <a:t>POS</a:t>
              </a:r>
              <a:r>
                <a:rPr lang="en-US" sz="900" dirty="0">
                  <a:solidFill>
                    <a:schemeClr val="bg1">
                      <a:lumMod val="50000"/>
                    </a:schemeClr>
                  </a:solidFill>
                  <a:ea typeface="굴림" charset="-127"/>
                </a:rPr>
                <a:t> – </a:t>
              </a:r>
              <a:r>
                <a:rPr lang="en-US" sz="900" dirty="0">
                  <a:ea typeface="굴림" charset="-127"/>
                </a:rPr>
                <a:t>Point of Sale system</a:t>
              </a:r>
              <a:endParaRPr lang="en-US" sz="900" b="1" dirty="0">
                <a:solidFill>
                  <a:srgbClr val="FFCC66"/>
                </a:solidFill>
                <a:ea typeface="굴림" charset="-127"/>
              </a:endParaRPr>
            </a:p>
            <a:p>
              <a:pPr algn="l">
                <a:lnSpc>
                  <a:spcPct val="140000"/>
                </a:lnSpc>
                <a:spcBef>
                  <a:spcPct val="20000"/>
                </a:spcBef>
                <a:spcAft>
                  <a:spcPct val="20000"/>
                </a:spcAft>
              </a:pPr>
              <a:r>
                <a:rPr lang="en-US" sz="900" b="1" dirty="0">
                  <a:solidFill>
                    <a:schemeClr val="bg1">
                      <a:lumMod val="50000"/>
                    </a:schemeClr>
                  </a:solidFill>
                  <a:ea typeface="굴림" charset="-127"/>
                </a:rPr>
                <a:t>CRM</a:t>
              </a:r>
              <a:r>
                <a:rPr lang="en-US" sz="900" dirty="0">
                  <a:solidFill>
                    <a:schemeClr val="bg1">
                      <a:lumMod val="50000"/>
                    </a:schemeClr>
                  </a:solidFill>
                  <a:ea typeface="굴림" charset="-127"/>
                </a:rPr>
                <a:t> – </a:t>
              </a:r>
              <a:r>
                <a:rPr lang="en-US" sz="900" dirty="0">
                  <a:ea typeface="굴림" charset="-127"/>
                </a:rPr>
                <a:t>Customer Relationship Management system</a:t>
              </a:r>
              <a:endParaRPr lang="en-US" sz="900" dirty="0">
                <a:solidFill>
                  <a:srgbClr val="FFCC66"/>
                </a:solidFill>
                <a:ea typeface="굴림" charset="-127"/>
              </a:endParaRPr>
            </a:p>
          </p:txBody>
        </p:sp>
        <p:sp>
          <p:nvSpPr>
            <p:cNvPr id="5" name="Rectangle 124"/>
            <p:cNvSpPr>
              <a:spLocks noChangeArrowheads="1"/>
            </p:cNvSpPr>
            <p:nvPr/>
          </p:nvSpPr>
          <p:spPr bwMode="auto">
            <a:xfrm>
              <a:off x="427038" y="1524000"/>
              <a:ext cx="5821362" cy="4241800"/>
            </a:xfrm>
            <a:prstGeom prst="rect">
              <a:avLst/>
            </a:prstGeom>
            <a:noFill/>
            <a:ln w="9525">
              <a:solidFill>
                <a:schemeClr val="bg2"/>
              </a:solidFill>
              <a:miter lim="800000"/>
              <a:headEnd/>
              <a:tailEnd/>
            </a:ln>
            <a:effectLst/>
          </p:spPr>
          <p:txBody>
            <a:bodyPr wrap="none" anchor="ctr"/>
            <a:lstStyle/>
            <a:p>
              <a:endParaRPr lang="en-US"/>
            </a:p>
          </p:txBody>
        </p:sp>
        <p:sp>
          <p:nvSpPr>
            <p:cNvPr id="6" name="Rectangle 125">
              <a:hlinkClick r:id="rId2" action="ppaction://hlinksldjump"/>
            </p:cNvPr>
            <p:cNvSpPr>
              <a:spLocks noChangeArrowheads="1"/>
            </p:cNvSpPr>
            <p:nvPr/>
          </p:nvSpPr>
          <p:spPr bwMode="auto">
            <a:xfrm>
              <a:off x="2808288" y="1810005"/>
              <a:ext cx="992187"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Customer Verification</a:t>
              </a:r>
            </a:p>
          </p:txBody>
        </p:sp>
        <p:sp>
          <p:nvSpPr>
            <p:cNvPr id="7" name="Rectangle 126">
              <a:hlinkClick r:id="rId2" action="ppaction://hlinksldjump"/>
            </p:cNvPr>
            <p:cNvSpPr>
              <a:spLocks noChangeArrowheads="1"/>
            </p:cNvSpPr>
            <p:nvPr/>
          </p:nvSpPr>
          <p:spPr bwMode="auto">
            <a:xfrm>
              <a:off x="558800" y="1810005"/>
              <a:ext cx="992188"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Submission of forms and deposit</a:t>
              </a:r>
            </a:p>
          </p:txBody>
        </p:sp>
        <p:sp>
          <p:nvSpPr>
            <p:cNvPr id="8" name="Rectangle 127">
              <a:hlinkClick r:id="rId2" action="ppaction://hlinksldjump"/>
            </p:cNvPr>
            <p:cNvSpPr>
              <a:spLocks noChangeArrowheads="1"/>
            </p:cNvSpPr>
            <p:nvPr/>
          </p:nvSpPr>
          <p:spPr bwMode="auto">
            <a:xfrm>
              <a:off x="3933825" y="1810005"/>
              <a:ext cx="992188"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Provisioning in systems</a:t>
              </a:r>
            </a:p>
          </p:txBody>
        </p:sp>
        <p:sp>
          <p:nvSpPr>
            <p:cNvPr id="9" name="Rectangle 128">
              <a:hlinkClick r:id="rId2" action="ppaction://hlinksldjump"/>
            </p:cNvPr>
            <p:cNvSpPr>
              <a:spLocks noChangeArrowheads="1"/>
            </p:cNvSpPr>
            <p:nvPr/>
          </p:nvSpPr>
          <p:spPr bwMode="auto">
            <a:xfrm>
              <a:off x="1684338" y="1810005"/>
              <a:ext cx="992187"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Customer Application Form (CAF) Audit</a:t>
              </a:r>
            </a:p>
          </p:txBody>
        </p:sp>
        <p:sp>
          <p:nvSpPr>
            <p:cNvPr id="10" name="Oval 129">
              <a:hlinkClick r:id="rId2" action="ppaction://hlinksldjump"/>
            </p:cNvPr>
            <p:cNvSpPr>
              <a:spLocks noChangeArrowheads="1"/>
            </p:cNvSpPr>
            <p:nvPr/>
          </p:nvSpPr>
          <p:spPr bwMode="auto">
            <a:xfrm>
              <a:off x="5205413" y="1810005"/>
              <a:ext cx="992187" cy="55413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a:t>Usage</a:t>
              </a:r>
            </a:p>
          </p:txBody>
        </p:sp>
        <p:sp>
          <p:nvSpPr>
            <p:cNvPr id="11" name="Rectangle 130">
              <a:hlinkClick r:id="rId2" action="ppaction://hlinksldjump"/>
            </p:cNvPr>
            <p:cNvSpPr>
              <a:spLocks noChangeArrowheads="1"/>
            </p:cNvSpPr>
            <p:nvPr/>
          </p:nvSpPr>
          <p:spPr bwMode="auto">
            <a:xfrm>
              <a:off x="692150" y="2936147"/>
              <a:ext cx="992188"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Bill Printing and distribution</a:t>
              </a:r>
            </a:p>
          </p:txBody>
        </p:sp>
        <p:sp>
          <p:nvSpPr>
            <p:cNvPr id="12" name="Rectangle 131">
              <a:hlinkClick r:id="rId2" action="ppaction://hlinksldjump"/>
            </p:cNvPr>
            <p:cNvSpPr>
              <a:spLocks noChangeArrowheads="1"/>
            </p:cNvSpPr>
            <p:nvPr/>
          </p:nvSpPr>
          <p:spPr bwMode="auto">
            <a:xfrm>
              <a:off x="912813" y="4285729"/>
              <a:ext cx="992187"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Collections</a:t>
              </a:r>
            </a:p>
          </p:txBody>
        </p:sp>
        <p:sp>
          <p:nvSpPr>
            <p:cNvPr id="13" name="Rectangle 132">
              <a:hlinkClick r:id="rId2" action="ppaction://hlinksldjump"/>
            </p:cNvPr>
            <p:cNvSpPr>
              <a:spLocks noChangeArrowheads="1"/>
            </p:cNvSpPr>
            <p:nvPr/>
          </p:nvSpPr>
          <p:spPr bwMode="auto">
            <a:xfrm>
              <a:off x="558800" y="5134805"/>
              <a:ext cx="860425" cy="477269"/>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Dunning</a:t>
              </a:r>
            </a:p>
          </p:txBody>
        </p:sp>
        <p:sp>
          <p:nvSpPr>
            <p:cNvPr id="14" name="Rectangle 133">
              <a:hlinkClick r:id="rId2" action="ppaction://hlinksldjump"/>
            </p:cNvPr>
            <p:cNvSpPr>
              <a:spLocks noChangeArrowheads="1"/>
            </p:cNvSpPr>
            <p:nvPr/>
          </p:nvSpPr>
          <p:spPr bwMode="auto">
            <a:xfrm>
              <a:off x="1485900" y="5134805"/>
              <a:ext cx="858838" cy="477269"/>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Credit limit revisions</a:t>
              </a:r>
            </a:p>
          </p:txBody>
        </p:sp>
        <p:cxnSp>
          <p:nvCxnSpPr>
            <p:cNvPr id="15" name="AutoShape 134"/>
            <p:cNvCxnSpPr>
              <a:cxnSpLocks noChangeShapeType="1"/>
              <a:stCxn id="8" idx="3"/>
              <a:endCxn id="10" idx="2"/>
            </p:cNvCxnSpPr>
            <p:nvPr/>
          </p:nvCxnSpPr>
          <p:spPr bwMode="auto">
            <a:xfrm>
              <a:off x="4926013" y="2088859"/>
              <a:ext cx="279400" cy="0"/>
            </a:xfrm>
            <a:prstGeom prst="straightConnector1">
              <a:avLst/>
            </a:prstGeom>
            <a:noFill/>
            <a:ln w="19050">
              <a:solidFill>
                <a:schemeClr val="bg1">
                  <a:lumMod val="50000"/>
                </a:schemeClr>
              </a:solidFill>
              <a:round/>
              <a:headEnd/>
              <a:tailEnd type="triangle" w="med" len="med"/>
            </a:ln>
            <a:effectLst/>
          </p:spPr>
        </p:cxnSp>
        <p:cxnSp>
          <p:nvCxnSpPr>
            <p:cNvPr id="16" name="AutoShape 135"/>
            <p:cNvCxnSpPr>
              <a:cxnSpLocks noChangeShapeType="1"/>
              <a:stCxn id="10" idx="4"/>
              <a:endCxn id="41" idx="3"/>
            </p:cNvCxnSpPr>
            <p:nvPr/>
          </p:nvCxnSpPr>
          <p:spPr bwMode="auto">
            <a:xfrm rot="5400000">
              <a:off x="5062863" y="2557489"/>
              <a:ext cx="831199" cy="444500"/>
            </a:xfrm>
            <a:prstGeom prst="bentConnector2">
              <a:avLst/>
            </a:prstGeom>
            <a:noFill/>
            <a:ln w="19050">
              <a:solidFill>
                <a:schemeClr val="bg1">
                  <a:lumMod val="50000"/>
                </a:schemeClr>
              </a:solidFill>
              <a:miter lim="800000"/>
              <a:headEnd/>
              <a:tailEnd type="triangle" w="med" len="med"/>
            </a:ln>
            <a:effectLst/>
          </p:spPr>
        </p:cxnSp>
        <p:cxnSp>
          <p:nvCxnSpPr>
            <p:cNvPr id="17" name="AutoShape 136"/>
            <p:cNvCxnSpPr>
              <a:cxnSpLocks noChangeShapeType="1"/>
              <a:stCxn id="22" idx="1"/>
              <a:endCxn id="23" idx="3"/>
            </p:cNvCxnSpPr>
            <p:nvPr/>
          </p:nvCxnSpPr>
          <p:spPr bwMode="auto">
            <a:xfrm rot="10800000">
              <a:off x="3998913" y="3215001"/>
              <a:ext cx="133350" cy="0"/>
            </a:xfrm>
            <a:prstGeom prst="straightConnector1">
              <a:avLst/>
            </a:prstGeom>
            <a:noFill/>
            <a:ln w="19050">
              <a:solidFill>
                <a:schemeClr val="bg1">
                  <a:lumMod val="50000"/>
                </a:schemeClr>
              </a:solidFill>
              <a:round/>
              <a:headEnd/>
              <a:tailEnd type="triangle" w="med" len="med"/>
            </a:ln>
            <a:effectLst/>
          </p:spPr>
        </p:cxnSp>
        <p:cxnSp>
          <p:nvCxnSpPr>
            <p:cNvPr id="18" name="AutoShape 137"/>
            <p:cNvCxnSpPr>
              <a:cxnSpLocks noChangeShapeType="1"/>
              <a:stCxn id="24" idx="1"/>
              <a:endCxn id="11" idx="3"/>
            </p:cNvCxnSpPr>
            <p:nvPr/>
          </p:nvCxnSpPr>
          <p:spPr bwMode="auto">
            <a:xfrm rot="10800000">
              <a:off x="1684338" y="3215001"/>
              <a:ext cx="198437" cy="0"/>
            </a:xfrm>
            <a:prstGeom prst="straightConnector1">
              <a:avLst/>
            </a:prstGeom>
            <a:noFill/>
            <a:ln w="19050">
              <a:solidFill>
                <a:schemeClr val="bg1">
                  <a:lumMod val="50000"/>
                </a:schemeClr>
              </a:solidFill>
              <a:round/>
              <a:headEnd/>
              <a:tailEnd type="triangle" w="med" len="med"/>
            </a:ln>
            <a:effectLst/>
          </p:spPr>
        </p:cxnSp>
        <p:cxnSp>
          <p:nvCxnSpPr>
            <p:cNvPr id="19" name="AutoShape 138"/>
            <p:cNvCxnSpPr>
              <a:cxnSpLocks noChangeShapeType="1"/>
              <a:stCxn id="41" idx="2"/>
              <a:endCxn id="28" idx="0"/>
            </p:cNvCxnSpPr>
            <p:nvPr/>
          </p:nvCxnSpPr>
          <p:spPr bwMode="auto">
            <a:xfrm rot="5400000">
              <a:off x="2199852" y="3317463"/>
              <a:ext cx="284217" cy="1066007"/>
            </a:xfrm>
            <a:prstGeom prst="bentConnector3">
              <a:avLst>
                <a:gd name="adj1" fmla="val 50000"/>
              </a:avLst>
            </a:prstGeom>
            <a:noFill/>
            <a:ln w="19050">
              <a:solidFill>
                <a:schemeClr val="bg1">
                  <a:lumMod val="50000"/>
                </a:schemeClr>
              </a:solidFill>
              <a:miter lim="800000"/>
              <a:headEnd/>
              <a:tailEnd type="triangle" w="med" len="med"/>
            </a:ln>
            <a:effectLst/>
          </p:spPr>
        </p:cxnSp>
        <p:cxnSp>
          <p:nvCxnSpPr>
            <p:cNvPr id="20" name="AutoShape 139"/>
            <p:cNvCxnSpPr>
              <a:cxnSpLocks noChangeShapeType="1"/>
              <a:stCxn id="12" idx="2"/>
              <a:endCxn id="14" idx="0"/>
            </p:cNvCxnSpPr>
            <p:nvPr/>
          </p:nvCxnSpPr>
          <p:spPr bwMode="auto">
            <a:xfrm rot="16200000" flipH="1">
              <a:off x="1514642" y="4734127"/>
              <a:ext cx="294943" cy="506412"/>
            </a:xfrm>
            <a:prstGeom prst="bentConnector3">
              <a:avLst>
                <a:gd name="adj1" fmla="val 50000"/>
              </a:avLst>
            </a:prstGeom>
            <a:noFill/>
            <a:ln w="19050">
              <a:solidFill>
                <a:schemeClr val="bg1">
                  <a:lumMod val="50000"/>
                </a:schemeClr>
              </a:solidFill>
              <a:miter lim="800000"/>
              <a:headEnd/>
              <a:tailEnd type="triangle" w="med" len="med"/>
            </a:ln>
            <a:effectLst/>
          </p:spPr>
        </p:cxnSp>
        <p:cxnSp>
          <p:nvCxnSpPr>
            <p:cNvPr id="21" name="AutoShape 140"/>
            <p:cNvCxnSpPr>
              <a:cxnSpLocks noChangeShapeType="1"/>
              <a:stCxn id="12" idx="2"/>
              <a:endCxn id="13" idx="0"/>
            </p:cNvCxnSpPr>
            <p:nvPr/>
          </p:nvCxnSpPr>
          <p:spPr bwMode="auto">
            <a:xfrm rot="5400000">
              <a:off x="1051489" y="4777386"/>
              <a:ext cx="294943" cy="419894"/>
            </a:xfrm>
            <a:prstGeom prst="bentConnector3">
              <a:avLst>
                <a:gd name="adj1" fmla="val 50000"/>
              </a:avLst>
            </a:prstGeom>
            <a:noFill/>
            <a:ln w="19050">
              <a:solidFill>
                <a:schemeClr val="bg1">
                  <a:lumMod val="50000"/>
                </a:schemeClr>
              </a:solidFill>
              <a:miter lim="800000"/>
              <a:headEnd/>
              <a:tailEnd type="triangle" w="med" len="med"/>
            </a:ln>
            <a:effectLst/>
          </p:spPr>
        </p:cxnSp>
        <p:sp>
          <p:nvSpPr>
            <p:cNvPr id="22" name="Rectangle 141">
              <a:hlinkClick r:id="rId2" action="ppaction://hlinksldjump"/>
            </p:cNvPr>
            <p:cNvSpPr>
              <a:spLocks noChangeArrowheads="1"/>
            </p:cNvSpPr>
            <p:nvPr/>
          </p:nvSpPr>
          <p:spPr bwMode="auto">
            <a:xfrm>
              <a:off x="4132263" y="2936147"/>
              <a:ext cx="992187"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CDR generation</a:t>
              </a:r>
            </a:p>
          </p:txBody>
        </p:sp>
        <p:sp>
          <p:nvSpPr>
            <p:cNvPr id="23" name="Rectangle 142">
              <a:hlinkClick r:id="rId2" action="ppaction://hlinksldjump"/>
            </p:cNvPr>
            <p:cNvSpPr>
              <a:spLocks noChangeArrowheads="1"/>
            </p:cNvSpPr>
            <p:nvPr/>
          </p:nvSpPr>
          <p:spPr bwMode="auto">
            <a:xfrm>
              <a:off x="3006725" y="2936147"/>
              <a:ext cx="992188" cy="554133"/>
            </a:xfrm>
            <a:prstGeom prst="rect">
              <a:avLst/>
            </a:prstGeom>
            <a:solidFill>
              <a:schemeClr val="bg2"/>
            </a:solidFill>
            <a:ln w="9525" algn="ctr">
              <a:solidFill>
                <a:schemeClr val="bg1">
                  <a:lumMod val="50000"/>
                </a:schemeClr>
              </a:solid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Mediation processing</a:t>
              </a:r>
            </a:p>
          </p:txBody>
        </p:sp>
        <p:sp>
          <p:nvSpPr>
            <p:cNvPr id="24" name="Rectangle 143">
              <a:hlinkClick r:id="rId2" action="ppaction://hlinksldjump"/>
            </p:cNvPr>
            <p:cNvSpPr>
              <a:spLocks noChangeArrowheads="1"/>
            </p:cNvSpPr>
            <p:nvPr/>
          </p:nvSpPr>
          <p:spPr bwMode="auto">
            <a:xfrm>
              <a:off x="1882775" y="2936147"/>
              <a:ext cx="992188" cy="55413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a:solidFill>
                    <a:schemeClr val="bg1"/>
                  </a:solidFill>
                </a:rPr>
                <a:t>Rating and Billing</a:t>
              </a:r>
            </a:p>
          </p:txBody>
        </p:sp>
        <p:sp>
          <p:nvSpPr>
            <p:cNvPr id="25" name="Text Box 144"/>
            <p:cNvSpPr txBox="1">
              <a:spLocks noChangeArrowheads="1"/>
            </p:cNvSpPr>
            <p:nvPr/>
          </p:nvSpPr>
          <p:spPr bwMode="auto">
            <a:xfrm>
              <a:off x="2168525" y="1588352"/>
              <a:ext cx="1582484" cy="246221"/>
            </a:xfrm>
            <a:prstGeom prst="rect">
              <a:avLst/>
            </a:prstGeom>
            <a:noFill/>
            <a:ln w="9525">
              <a:noFill/>
              <a:miter lim="800000"/>
              <a:headEnd/>
              <a:tailEnd/>
            </a:ln>
            <a:effectLst/>
          </p:spPr>
          <p:txBody>
            <a:bodyPr wrap="none">
              <a:spAutoFit/>
            </a:bodyPr>
            <a:lstStyle/>
            <a:p>
              <a:pPr algn="l"/>
              <a:r>
                <a:rPr lang="en-US" sz="1000" b="1" i="1"/>
                <a:t>Sales and provisioning</a:t>
              </a:r>
            </a:p>
          </p:txBody>
        </p:sp>
        <p:sp>
          <p:nvSpPr>
            <p:cNvPr id="26" name="Text Box 145"/>
            <p:cNvSpPr txBox="1">
              <a:spLocks noChangeArrowheads="1"/>
            </p:cNvSpPr>
            <p:nvPr/>
          </p:nvSpPr>
          <p:spPr bwMode="auto">
            <a:xfrm>
              <a:off x="1652588" y="2680530"/>
              <a:ext cx="2917786" cy="246221"/>
            </a:xfrm>
            <a:prstGeom prst="rect">
              <a:avLst/>
            </a:prstGeom>
            <a:noFill/>
            <a:ln w="9525">
              <a:noFill/>
              <a:miter lim="800000"/>
              <a:headEnd/>
              <a:tailEnd/>
            </a:ln>
            <a:effectLst/>
          </p:spPr>
          <p:txBody>
            <a:bodyPr wrap="none">
              <a:spAutoFit/>
            </a:bodyPr>
            <a:lstStyle/>
            <a:p>
              <a:pPr algn="l"/>
              <a:r>
                <a:rPr lang="en-US" sz="1000" b="1" i="1"/>
                <a:t>Chargeable event generation and processing</a:t>
              </a:r>
            </a:p>
          </p:txBody>
        </p:sp>
        <p:sp>
          <p:nvSpPr>
            <p:cNvPr id="27" name="Text Box 146"/>
            <p:cNvSpPr txBox="1">
              <a:spLocks noChangeArrowheads="1"/>
            </p:cNvSpPr>
            <p:nvPr/>
          </p:nvSpPr>
          <p:spPr bwMode="auto">
            <a:xfrm>
              <a:off x="431800" y="3976487"/>
              <a:ext cx="2844800" cy="253916"/>
            </a:xfrm>
            <a:prstGeom prst="rect">
              <a:avLst/>
            </a:prstGeom>
            <a:noFill/>
            <a:ln w="9525">
              <a:noFill/>
              <a:miter lim="800000"/>
              <a:headEnd/>
              <a:tailEnd/>
            </a:ln>
            <a:effectLst/>
          </p:spPr>
          <p:txBody>
            <a:bodyPr>
              <a:spAutoFit/>
            </a:bodyPr>
            <a:lstStyle/>
            <a:p>
              <a:r>
                <a:rPr lang="en-US" sz="1000" b="1" i="1" dirty="0"/>
                <a:t>Collections and credit risk management</a:t>
              </a:r>
            </a:p>
          </p:txBody>
        </p:sp>
        <p:sp>
          <p:nvSpPr>
            <p:cNvPr id="28" name="Rectangle 147"/>
            <p:cNvSpPr>
              <a:spLocks noChangeArrowheads="1"/>
            </p:cNvSpPr>
            <p:nvPr/>
          </p:nvSpPr>
          <p:spPr bwMode="auto">
            <a:xfrm>
              <a:off x="493712" y="3992575"/>
              <a:ext cx="2630487" cy="16963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29" name="AutoShape 148"/>
            <p:cNvCxnSpPr>
              <a:cxnSpLocks noChangeShapeType="1"/>
              <a:stCxn id="7" idx="3"/>
              <a:endCxn id="9" idx="1"/>
            </p:cNvCxnSpPr>
            <p:nvPr/>
          </p:nvCxnSpPr>
          <p:spPr bwMode="auto">
            <a:xfrm>
              <a:off x="1550988" y="2088859"/>
              <a:ext cx="133350" cy="0"/>
            </a:xfrm>
            <a:prstGeom prst="straightConnector1">
              <a:avLst/>
            </a:prstGeom>
            <a:noFill/>
            <a:ln w="9525">
              <a:solidFill>
                <a:schemeClr val="bg1">
                  <a:lumMod val="50000"/>
                </a:schemeClr>
              </a:solidFill>
              <a:round/>
              <a:headEnd/>
              <a:tailEnd type="triangle" w="med" len="med"/>
            </a:ln>
            <a:effectLst/>
          </p:spPr>
        </p:cxnSp>
        <p:cxnSp>
          <p:nvCxnSpPr>
            <p:cNvPr id="30" name="AutoShape 149"/>
            <p:cNvCxnSpPr>
              <a:cxnSpLocks noChangeShapeType="1"/>
              <a:stCxn id="9" idx="3"/>
              <a:endCxn id="6" idx="1"/>
            </p:cNvCxnSpPr>
            <p:nvPr/>
          </p:nvCxnSpPr>
          <p:spPr bwMode="auto">
            <a:xfrm>
              <a:off x="2676525" y="2088859"/>
              <a:ext cx="131763" cy="0"/>
            </a:xfrm>
            <a:prstGeom prst="straightConnector1">
              <a:avLst/>
            </a:prstGeom>
            <a:noFill/>
            <a:ln w="9525">
              <a:solidFill>
                <a:schemeClr val="bg1">
                  <a:lumMod val="50000"/>
                </a:schemeClr>
              </a:solidFill>
              <a:round/>
              <a:headEnd/>
              <a:tailEnd type="triangle" w="med" len="med"/>
            </a:ln>
            <a:effectLst/>
          </p:spPr>
        </p:cxnSp>
        <p:cxnSp>
          <p:nvCxnSpPr>
            <p:cNvPr id="31" name="AutoShape 150"/>
            <p:cNvCxnSpPr>
              <a:cxnSpLocks noChangeShapeType="1"/>
              <a:stCxn id="6" idx="3"/>
              <a:endCxn id="8" idx="1"/>
            </p:cNvCxnSpPr>
            <p:nvPr/>
          </p:nvCxnSpPr>
          <p:spPr bwMode="auto">
            <a:xfrm>
              <a:off x="3800475" y="2088859"/>
              <a:ext cx="133350" cy="0"/>
            </a:xfrm>
            <a:prstGeom prst="straightConnector1">
              <a:avLst/>
            </a:prstGeom>
            <a:noFill/>
            <a:ln w="9525">
              <a:solidFill>
                <a:schemeClr val="bg1">
                  <a:lumMod val="50000"/>
                </a:schemeClr>
              </a:solidFill>
              <a:round/>
              <a:headEnd/>
              <a:tailEnd type="triangle" w="med" len="med"/>
            </a:ln>
            <a:effectLst/>
          </p:spPr>
        </p:cxnSp>
        <p:sp>
          <p:nvSpPr>
            <p:cNvPr id="32" name="Rectangle 151"/>
            <p:cNvSpPr>
              <a:spLocks noChangeArrowheads="1"/>
            </p:cNvSpPr>
            <p:nvPr/>
          </p:nvSpPr>
          <p:spPr bwMode="auto">
            <a:xfrm>
              <a:off x="493713" y="1600864"/>
              <a:ext cx="4497387" cy="925939"/>
            </a:xfrm>
            <a:prstGeom prst="rect">
              <a:avLst/>
            </a:prstGeom>
            <a:noFill/>
            <a:ln w="9525">
              <a:solidFill>
                <a:schemeClr val="bg2"/>
              </a:solidFill>
              <a:prstDash val="sysDot"/>
              <a:miter lim="800000"/>
              <a:headEnd/>
              <a:tailEnd/>
            </a:ln>
            <a:effectLst/>
          </p:spPr>
          <p:txBody>
            <a:bodyPr wrap="none" anchor="ctr"/>
            <a:lstStyle/>
            <a:p>
              <a:endParaRPr lang="en-US"/>
            </a:p>
          </p:txBody>
        </p:sp>
        <p:grpSp>
          <p:nvGrpSpPr>
            <p:cNvPr id="33" name="Group 152"/>
            <p:cNvGrpSpPr>
              <a:grpSpLocks/>
            </p:cNvGrpSpPr>
            <p:nvPr/>
          </p:nvGrpSpPr>
          <p:grpSpPr bwMode="auto">
            <a:xfrm>
              <a:off x="450851" y="2217560"/>
              <a:ext cx="402800" cy="292301"/>
              <a:chOff x="545" y="1488"/>
              <a:chExt cx="293" cy="182"/>
            </a:xfrm>
          </p:grpSpPr>
          <p:sp>
            <p:nvSpPr>
              <p:cNvPr id="54" name="AutoShape 153"/>
              <p:cNvSpPr>
                <a:spLocks noChangeArrowheads="1"/>
              </p:cNvSpPr>
              <p:nvPr/>
            </p:nvSpPr>
            <p:spPr bwMode="auto">
              <a:xfrm>
                <a:off x="597" y="1488"/>
                <a:ext cx="171" cy="17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dirty="0">
                  <a:solidFill>
                    <a:schemeClr val="bg1">
                      <a:lumMod val="50000"/>
                    </a:schemeClr>
                  </a:solidFill>
                </a:endParaRPr>
              </a:p>
            </p:txBody>
          </p:sp>
          <p:sp>
            <p:nvSpPr>
              <p:cNvPr id="55" name="Text Box 154"/>
              <p:cNvSpPr txBox="1">
                <a:spLocks noChangeArrowheads="1"/>
              </p:cNvSpPr>
              <p:nvPr/>
            </p:nvSpPr>
            <p:spPr bwMode="auto">
              <a:xfrm>
                <a:off x="545" y="1536"/>
                <a:ext cx="293" cy="134"/>
              </a:xfrm>
              <a:prstGeom prst="rect">
                <a:avLst/>
              </a:prstGeom>
              <a:noFill/>
              <a:ln w="9525" algn="ctr">
                <a:noFill/>
                <a:miter lim="800000"/>
                <a:headEnd/>
                <a:tailEnd/>
              </a:ln>
              <a:effectLst/>
            </p:spPr>
            <p:txBody>
              <a:bodyPr wrap="none">
                <a:spAutoFit/>
              </a:bodyPr>
              <a:lstStyle/>
              <a:p>
                <a:r>
                  <a:rPr lang="en-US" sz="800" b="1" dirty="0">
                    <a:solidFill>
                      <a:schemeClr val="bg1">
                        <a:lumMod val="50000"/>
                      </a:schemeClr>
                    </a:solidFill>
                  </a:rPr>
                  <a:t>POS</a:t>
                </a:r>
              </a:p>
            </p:txBody>
          </p:sp>
        </p:grpSp>
        <p:sp>
          <p:nvSpPr>
            <p:cNvPr id="48" name="AutoShape 156"/>
            <p:cNvSpPr>
              <a:spLocks noChangeArrowheads="1"/>
            </p:cNvSpPr>
            <p:nvPr/>
          </p:nvSpPr>
          <p:spPr bwMode="auto">
            <a:xfrm>
              <a:off x="4661462" y="2217560"/>
              <a:ext cx="235640" cy="28425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49" name="Text Box 157"/>
            <p:cNvSpPr txBox="1">
              <a:spLocks noChangeArrowheads="1"/>
            </p:cNvSpPr>
            <p:nvPr/>
          </p:nvSpPr>
          <p:spPr bwMode="auto">
            <a:xfrm>
              <a:off x="4563623" y="2294647"/>
              <a:ext cx="417538" cy="215202"/>
            </a:xfrm>
            <a:prstGeom prst="rect">
              <a:avLst/>
            </a:prstGeom>
            <a:noFill/>
            <a:ln w="9525" algn="ctr">
              <a:noFill/>
              <a:miter lim="800000"/>
              <a:headEnd/>
              <a:tailEnd/>
            </a:ln>
            <a:effectLst/>
          </p:spPr>
          <p:txBody>
            <a:bodyPr wrap="none">
              <a:spAutoFit/>
            </a:bodyPr>
            <a:lstStyle/>
            <a:p>
              <a:r>
                <a:rPr lang="en-US" sz="800" b="1" dirty="0">
                  <a:solidFill>
                    <a:schemeClr val="bg1">
                      <a:lumMod val="50000"/>
                    </a:schemeClr>
                  </a:solidFill>
                </a:rPr>
                <a:t>CRM</a:t>
              </a:r>
            </a:p>
          </p:txBody>
        </p:sp>
        <p:sp>
          <p:nvSpPr>
            <p:cNvPr id="50" name="AutoShape 158"/>
            <p:cNvSpPr>
              <a:spLocks noChangeArrowheads="1"/>
            </p:cNvSpPr>
            <p:nvPr/>
          </p:nvSpPr>
          <p:spPr bwMode="auto">
            <a:xfrm>
              <a:off x="4419600" y="2309101"/>
              <a:ext cx="235640" cy="28425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1" name="Text Box 159"/>
            <p:cNvSpPr txBox="1">
              <a:spLocks noChangeArrowheads="1"/>
            </p:cNvSpPr>
            <p:nvPr/>
          </p:nvSpPr>
          <p:spPr bwMode="auto">
            <a:xfrm>
              <a:off x="4344519" y="2386188"/>
              <a:ext cx="412026" cy="215202"/>
            </a:xfrm>
            <a:prstGeom prst="rect">
              <a:avLst/>
            </a:prstGeom>
            <a:noFill/>
            <a:ln w="9525" algn="ctr">
              <a:noFill/>
              <a:miter lim="800000"/>
              <a:headEnd/>
              <a:tailEnd/>
            </a:ln>
            <a:effectLst/>
          </p:spPr>
          <p:txBody>
            <a:bodyPr wrap="none">
              <a:spAutoFit/>
            </a:bodyPr>
            <a:lstStyle/>
            <a:p>
              <a:r>
                <a:rPr lang="en-US" sz="800" b="1" dirty="0">
                  <a:solidFill>
                    <a:schemeClr val="bg1">
                      <a:lumMod val="50000"/>
                    </a:schemeClr>
                  </a:solidFill>
                </a:rPr>
                <a:t>MSC</a:t>
              </a:r>
            </a:p>
          </p:txBody>
        </p:sp>
        <p:sp>
          <p:nvSpPr>
            <p:cNvPr id="52" name="AutoShape 160"/>
            <p:cNvSpPr>
              <a:spLocks noChangeArrowheads="1"/>
            </p:cNvSpPr>
            <p:nvPr/>
          </p:nvSpPr>
          <p:spPr bwMode="auto">
            <a:xfrm>
              <a:off x="4114800" y="2309101"/>
              <a:ext cx="235640" cy="28425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dirty="0">
                <a:solidFill>
                  <a:schemeClr val="bg1">
                    <a:lumMod val="50000"/>
                  </a:schemeClr>
                </a:solidFill>
              </a:endParaRPr>
            </a:p>
          </p:txBody>
        </p:sp>
        <p:sp>
          <p:nvSpPr>
            <p:cNvPr id="53" name="Text Box 161"/>
            <p:cNvSpPr txBox="1">
              <a:spLocks noChangeArrowheads="1"/>
            </p:cNvSpPr>
            <p:nvPr/>
          </p:nvSpPr>
          <p:spPr bwMode="auto">
            <a:xfrm>
              <a:off x="4035418" y="2387794"/>
              <a:ext cx="460382" cy="200055"/>
            </a:xfrm>
            <a:prstGeom prst="rect">
              <a:avLst/>
            </a:prstGeom>
            <a:noFill/>
            <a:ln w="9525" algn="ctr">
              <a:noFill/>
              <a:miter lim="800000"/>
              <a:headEnd/>
              <a:tailEnd/>
            </a:ln>
            <a:effectLst/>
          </p:spPr>
          <p:txBody>
            <a:bodyPr wrap="none">
              <a:spAutoFit/>
            </a:bodyPr>
            <a:lstStyle/>
            <a:p>
              <a:r>
                <a:rPr lang="en-US" sz="700" b="1" dirty="0">
                  <a:solidFill>
                    <a:schemeClr val="bg1">
                      <a:lumMod val="50000"/>
                    </a:schemeClr>
                  </a:solidFill>
                </a:rPr>
                <a:t>Billing</a:t>
              </a:r>
            </a:p>
          </p:txBody>
        </p:sp>
        <p:sp>
          <p:nvSpPr>
            <p:cNvPr id="46" name="AutoShape 163"/>
            <p:cNvSpPr>
              <a:spLocks noChangeArrowheads="1"/>
            </p:cNvSpPr>
            <p:nvPr/>
          </p:nvSpPr>
          <p:spPr bwMode="auto">
            <a:xfrm>
              <a:off x="4991260" y="3322253"/>
              <a:ext cx="235935" cy="28372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47" name="Text Box 164"/>
            <p:cNvSpPr txBox="1">
              <a:spLocks noChangeArrowheads="1"/>
            </p:cNvSpPr>
            <p:nvPr/>
          </p:nvSpPr>
          <p:spPr bwMode="auto">
            <a:xfrm>
              <a:off x="4897438" y="3375150"/>
              <a:ext cx="412292" cy="215444"/>
            </a:xfrm>
            <a:prstGeom prst="rect">
              <a:avLst/>
            </a:prstGeom>
            <a:noFill/>
            <a:ln w="9525" algn="ctr">
              <a:noFill/>
              <a:miter lim="800000"/>
              <a:headEnd/>
              <a:tailEnd/>
            </a:ln>
            <a:effectLst/>
          </p:spPr>
          <p:txBody>
            <a:bodyPr wrap="none">
              <a:spAutoFit/>
            </a:bodyPr>
            <a:lstStyle/>
            <a:p>
              <a:r>
                <a:rPr lang="en-US" sz="800" b="1" dirty="0"/>
                <a:t>MSC</a:t>
              </a:r>
            </a:p>
          </p:txBody>
        </p:sp>
        <p:sp>
          <p:nvSpPr>
            <p:cNvPr id="44" name="AutoShape 166"/>
            <p:cNvSpPr>
              <a:spLocks noChangeArrowheads="1"/>
            </p:cNvSpPr>
            <p:nvPr/>
          </p:nvSpPr>
          <p:spPr bwMode="auto">
            <a:xfrm>
              <a:off x="2940957" y="3329403"/>
              <a:ext cx="235684" cy="28555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45" name="Text Box 167"/>
            <p:cNvSpPr txBox="1">
              <a:spLocks noChangeArrowheads="1"/>
            </p:cNvSpPr>
            <p:nvPr/>
          </p:nvSpPr>
          <p:spPr bwMode="auto">
            <a:xfrm>
              <a:off x="2727325" y="3468148"/>
              <a:ext cx="663964" cy="215444"/>
            </a:xfrm>
            <a:prstGeom prst="rect">
              <a:avLst/>
            </a:prstGeom>
            <a:noFill/>
            <a:ln w="9525" algn="ctr">
              <a:noFill/>
              <a:miter lim="800000"/>
              <a:headEnd/>
              <a:tailEnd/>
            </a:ln>
            <a:effectLst/>
          </p:spPr>
          <p:txBody>
            <a:bodyPr wrap="none">
              <a:spAutoFit/>
            </a:bodyPr>
            <a:lstStyle/>
            <a:p>
              <a:r>
                <a:rPr lang="en-US" sz="800" b="1"/>
                <a:t>Mediation</a:t>
              </a:r>
            </a:p>
          </p:txBody>
        </p:sp>
        <p:sp>
          <p:nvSpPr>
            <p:cNvPr id="42" name="AutoShape 169"/>
            <p:cNvSpPr>
              <a:spLocks noChangeArrowheads="1"/>
            </p:cNvSpPr>
            <p:nvPr/>
          </p:nvSpPr>
          <p:spPr bwMode="auto">
            <a:xfrm>
              <a:off x="1855850" y="3327615"/>
              <a:ext cx="235923" cy="285938"/>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43" name="Text Box 170"/>
            <p:cNvSpPr txBox="1">
              <a:spLocks noChangeArrowheads="1"/>
            </p:cNvSpPr>
            <p:nvPr/>
          </p:nvSpPr>
          <p:spPr bwMode="auto">
            <a:xfrm>
              <a:off x="1719263" y="3389003"/>
              <a:ext cx="498855" cy="215444"/>
            </a:xfrm>
            <a:prstGeom prst="rect">
              <a:avLst/>
            </a:prstGeom>
            <a:noFill/>
            <a:ln w="9525" algn="ctr">
              <a:noFill/>
              <a:miter lim="800000"/>
              <a:headEnd/>
              <a:tailEnd/>
            </a:ln>
            <a:effectLst/>
          </p:spPr>
          <p:txBody>
            <a:bodyPr wrap="none">
              <a:spAutoFit/>
            </a:bodyPr>
            <a:lstStyle/>
            <a:p>
              <a:r>
                <a:rPr lang="en-US" sz="800" b="1"/>
                <a:t>Billing</a:t>
              </a:r>
            </a:p>
          </p:txBody>
        </p:sp>
        <p:sp>
          <p:nvSpPr>
            <p:cNvPr id="38" name="AutoShape 171"/>
            <p:cNvSpPr>
              <a:spLocks noChangeArrowheads="1"/>
            </p:cNvSpPr>
            <p:nvPr/>
          </p:nvSpPr>
          <p:spPr bwMode="auto">
            <a:xfrm>
              <a:off x="4572000" y="5250993"/>
              <a:ext cx="236538" cy="284217"/>
            </a:xfrm>
            <a:prstGeom prst="can">
              <a:avLst>
                <a:gd name="adj" fmla="val 26678"/>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9" name="Text Box 172"/>
            <p:cNvSpPr txBox="1">
              <a:spLocks noChangeArrowheads="1"/>
            </p:cNvSpPr>
            <p:nvPr/>
          </p:nvSpPr>
          <p:spPr bwMode="auto">
            <a:xfrm>
              <a:off x="4875213" y="4936389"/>
              <a:ext cx="1306512" cy="584775"/>
            </a:xfrm>
            <a:prstGeom prst="rect">
              <a:avLst/>
            </a:prstGeom>
            <a:noFill/>
            <a:ln w="9525" algn="ctr">
              <a:noFill/>
              <a:miter lim="800000"/>
              <a:headEnd/>
              <a:tailEnd/>
            </a:ln>
            <a:effectLst/>
          </p:spPr>
          <p:txBody>
            <a:bodyPr>
              <a:spAutoFit/>
            </a:bodyPr>
            <a:lstStyle/>
            <a:p>
              <a:pPr algn="l"/>
              <a:r>
                <a:rPr lang="en-US" sz="800" b="1"/>
                <a:t>Represents corresponding system interface at every process</a:t>
              </a:r>
            </a:p>
          </p:txBody>
        </p:sp>
        <p:cxnSp>
          <p:nvCxnSpPr>
            <p:cNvPr id="40" name="AutoShape 173"/>
            <p:cNvCxnSpPr>
              <a:cxnSpLocks noChangeShapeType="1"/>
              <a:stCxn id="23" idx="1"/>
              <a:endCxn id="24" idx="3"/>
            </p:cNvCxnSpPr>
            <p:nvPr/>
          </p:nvCxnSpPr>
          <p:spPr bwMode="auto">
            <a:xfrm rot="10800000">
              <a:off x="2874963" y="3215001"/>
              <a:ext cx="131762" cy="0"/>
            </a:xfrm>
            <a:prstGeom prst="straightConnector1">
              <a:avLst/>
            </a:prstGeom>
            <a:noFill/>
            <a:ln w="19050">
              <a:solidFill>
                <a:schemeClr val="bg1">
                  <a:lumMod val="50000"/>
                </a:schemeClr>
              </a:solidFill>
              <a:round/>
              <a:headEnd/>
              <a:tailEnd type="triangle" w="med" len="med"/>
            </a:ln>
            <a:effectLst/>
          </p:spPr>
        </p:cxnSp>
        <p:sp>
          <p:nvSpPr>
            <p:cNvPr id="41" name="Rectangle 174"/>
            <p:cNvSpPr>
              <a:spLocks noChangeArrowheads="1"/>
            </p:cNvSpPr>
            <p:nvPr/>
          </p:nvSpPr>
          <p:spPr bwMode="auto">
            <a:xfrm>
              <a:off x="493713" y="2680530"/>
              <a:ext cx="4762500" cy="1027828"/>
            </a:xfrm>
            <a:prstGeom prst="rect">
              <a:avLst/>
            </a:prstGeom>
            <a:noFill/>
            <a:ln w="9525">
              <a:solidFill>
                <a:schemeClr val="bg2"/>
              </a:solidFill>
              <a:prstDash val="sysDot"/>
              <a:miter lim="800000"/>
              <a:headEnd/>
              <a:tailEnd/>
            </a:ln>
            <a:effectLst/>
          </p:spPr>
          <p:txBody>
            <a:bodyPr wrap="none" anchor="ctr"/>
            <a:lstStyle/>
            <a:p>
              <a:endParaRPr lang="en-US"/>
            </a:p>
          </p:txBody>
        </p:sp>
      </p:grpSp>
      <p:sp>
        <p:nvSpPr>
          <p:cNvPr id="56" name="AutoShape 62"/>
          <p:cNvSpPr>
            <a:spLocks noChangeArrowheads="1"/>
          </p:cNvSpPr>
          <p:nvPr/>
        </p:nvSpPr>
        <p:spPr bwMode="auto">
          <a:xfrm>
            <a:off x="381000" y="1219200"/>
            <a:ext cx="8382000" cy="533400"/>
          </a:xfrm>
          <a:prstGeom prst="roundRect">
            <a:avLst>
              <a:gd name="adj" fmla="val 1083"/>
            </a:avLst>
          </a:prstGeom>
          <a:noFill/>
          <a:ln w="3175" algn="ctr">
            <a:noFill/>
            <a:prstDash val="sysDot"/>
            <a:round/>
            <a:headEnd/>
            <a:tailEnd/>
          </a:ln>
          <a:effectLst/>
        </p:spPr>
        <p:txBody>
          <a:bodyPr/>
          <a:lstStyle/>
          <a:p>
            <a:pPr>
              <a:lnSpc>
                <a:spcPct val="120000"/>
              </a:lnSpc>
              <a:spcBef>
                <a:spcPct val="20000"/>
              </a:spcBef>
              <a:spcAft>
                <a:spcPct val="20000"/>
              </a:spcAft>
            </a:pPr>
            <a:r>
              <a:rPr lang="en-US" sz="1200" dirty="0" smtClean="0">
                <a:latin typeface="EYInterstate" pitchFamily="2" charset="0"/>
                <a:ea typeface="굴림" charset="-127"/>
              </a:rPr>
              <a:t>A typical revenue cycle for a postpaid segment can be broadly divided into 3 processes - </a:t>
            </a:r>
            <a:r>
              <a:rPr lang="en-US" sz="1200" b="1" dirty="0" smtClean="0">
                <a:latin typeface="EYInterstate" pitchFamily="2" charset="0"/>
                <a:ea typeface="굴림" charset="-127"/>
              </a:rPr>
              <a:t>Sales &amp; Provisioning, Chargeable Event Generation &amp; Processing and Collections &amp; Credit Risk Management. </a:t>
            </a:r>
            <a:endParaRPr lang="en-US" sz="1200" b="1" dirty="0">
              <a:latin typeface="EYInterstate" pitchFamily="2" charset="0"/>
              <a:ea typeface="굴림" charset="-127"/>
            </a:endParaRPr>
          </a:p>
        </p:txBody>
      </p:sp>
      <p:sp>
        <p:nvSpPr>
          <p:cNvPr id="59" name="Title 1"/>
          <p:cNvSpPr txBox="1">
            <a:spLocks/>
          </p:cNvSpPr>
          <p:nvPr/>
        </p:nvSpPr>
        <p:spPr bwMode="auto">
          <a:xfrm>
            <a:off x="4572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tab pos="400050" algn="l"/>
              </a:tabLst>
              <a:defRPr/>
            </a:pPr>
            <a:r>
              <a:rPr kumimoji="0" lang="en-US" sz="2400" b="1" i="0" u="none" strike="noStrike" kern="0" cap="none" spc="0" normalizeH="0" baseline="0" noProof="0" dirty="0" smtClean="0">
                <a:ln>
                  <a:noFill/>
                </a:ln>
                <a:solidFill>
                  <a:srgbClr val="646464"/>
                </a:solidFill>
                <a:effectLst/>
                <a:uLnTx/>
                <a:uFillTx/>
                <a:latin typeface="EYInterstate" pitchFamily="2" charset="0"/>
                <a:ea typeface="+mj-ea"/>
                <a:cs typeface="+mj-cs"/>
              </a:rPr>
              <a:t>Postpaid Customer Life Cycle….Architecture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defRPr/>
            </a:pPr>
            <a:r>
              <a:rPr lang="en-US" dirty="0" smtClean="0"/>
              <a:t>Postpaid Customer Life Cycle – Sales &amp; Provisioning </a:t>
            </a:r>
            <a:endParaRPr lang="en-US" dirty="0"/>
          </a:p>
        </p:txBody>
      </p:sp>
      <p:sp>
        <p:nvSpPr>
          <p:cNvPr id="3" name="Rectangle 2"/>
          <p:cNvSpPr/>
          <p:nvPr/>
        </p:nvSpPr>
        <p:spPr>
          <a:xfrm>
            <a:off x="4963732" y="1993408"/>
            <a:ext cx="1328737"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 name="Rectangle 3"/>
          <p:cNvSpPr/>
          <p:nvPr/>
        </p:nvSpPr>
        <p:spPr>
          <a:xfrm>
            <a:off x="5016119" y="1998170"/>
            <a:ext cx="1222375"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Collections and Credit Risk Management</a:t>
            </a:r>
          </a:p>
        </p:txBody>
      </p:sp>
      <p:sp>
        <p:nvSpPr>
          <p:cNvPr id="5" name="Rectangle 4"/>
          <p:cNvSpPr/>
          <p:nvPr/>
        </p:nvSpPr>
        <p:spPr>
          <a:xfrm>
            <a:off x="3584448" y="3429000"/>
            <a:ext cx="1328737"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 name="Rectangle 20"/>
          <p:cNvSpPr>
            <a:spLocks noChangeArrowheads="1"/>
          </p:cNvSpPr>
          <p:nvPr/>
        </p:nvSpPr>
        <p:spPr bwMode="auto">
          <a:xfrm>
            <a:off x="3625977" y="4278868"/>
            <a:ext cx="1136650" cy="369332"/>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CDR Generation &amp; Billing</a:t>
            </a:r>
          </a:p>
        </p:txBody>
      </p:sp>
      <p:pic>
        <p:nvPicPr>
          <p:cNvPr id="7" name="Picture 29" descr="14H02278_RF.jpg"/>
          <p:cNvPicPr>
            <a:picLocks noChangeAspect="1"/>
          </p:cNvPicPr>
          <p:nvPr/>
        </p:nvPicPr>
        <p:blipFill>
          <a:blip r:embed="rId2" cstate="print"/>
          <a:srcRect b="29448"/>
          <a:stretch>
            <a:fillRect/>
          </a:stretch>
        </p:blipFill>
        <p:spPr bwMode="auto">
          <a:xfrm>
            <a:off x="4968240" y="3432064"/>
            <a:ext cx="1325562" cy="1401763"/>
          </a:xfrm>
          <a:prstGeom prst="rect">
            <a:avLst/>
          </a:prstGeom>
          <a:noFill/>
          <a:ln w="9525">
            <a:noFill/>
            <a:miter lim="800000"/>
            <a:headEnd/>
            <a:tailEnd/>
          </a:ln>
        </p:spPr>
      </p:pic>
      <p:sp>
        <p:nvSpPr>
          <p:cNvPr id="8" name="Rectangle 7"/>
          <p:cNvSpPr/>
          <p:nvPr/>
        </p:nvSpPr>
        <p:spPr>
          <a:xfrm>
            <a:off x="2209800" y="1993408"/>
            <a:ext cx="1328737"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 name="Rectangle 8"/>
          <p:cNvSpPr/>
          <p:nvPr/>
        </p:nvSpPr>
        <p:spPr>
          <a:xfrm>
            <a:off x="2223897" y="2734645"/>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10" name="Isosceles Triangle 9"/>
          <p:cNvSpPr/>
          <p:nvPr/>
        </p:nvSpPr>
        <p:spPr>
          <a:xfrm rot="10800000">
            <a:off x="3359023" y="3303477"/>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 name="Rectangle 20"/>
          <p:cNvSpPr>
            <a:spLocks noChangeArrowheads="1"/>
          </p:cNvSpPr>
          <p:nvPr/>
        </p:nvSpPr>
        <p:spPr bwMode="auto">
          <a:xfrm>
            <a:off x="2240280" y="2022110"/>
            <a:ext cx="1136650"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Sales &amp; Provisioning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sp>
        <p:nvSpPr>
          <p:cNvPr id="12" name="Isosceles Triangle 11"/>
          <p:cNvSpPr/>
          <p:nvPr/>
        </p:nvSpPr>
        <p:spPr bwMode="auto">
          <a:xfrm>
            <a:off x="4720272" y="3474673"/>
            <a:ext cx="16351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3" name="Isosceles Triangle 12"/>
          <p:cNvSpPr/>
          <p:nvPr/>
        </p:nvSpPr>
        <p:spPr>
          <a:xfrm rot="10800000">
            <a:off x="6086475" y="3297381"/>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4" name="Rectangle 13"/>
          <p:cNvSpPr/>
          <p:nvPr/>
        </p:nvSpPr>
        <p:spPr>
          <a:xfrm>
            <a:off x="4956048" y="2752933"/>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sp>
        <p:nvSpPr>
          <p:cNvPr id="15" name="Rectangle 14"/>
          <p:cNvSpPr/>
          <p:nvPr/>
        </p:nvSpPr>
        <p:spPr>
          <a:xfrm>
            <a:off x="3599688" y="3453400"/>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pic>
        <p:nvPicPr>
          <p:cNvPr id="16" name="Picture 1" descr="C:\TechM Warehouse\Data 1\Useful Presentations\Useful Pics\Cong 1.jpg"/>
          <p:cNvPicPr>
            <a:picLocks noChangeArrowheads="1"/>
          </p:cNvPicPr>
          <p:nvPr/>
        </p:nvPicPr>
        <p:blipFill>
          <a:blip r:embed="rId3" cstate="print"/>
          <a:srcRect/>
          <a:stretch>
            <a:fillRect/>
          </a:stretch>
        </p:blipFill>
        <p:spPr bwMode="auto">
          <a:xfrm>
            <a:off x="2215760" y="3429016"/>
            <a:ext cx="1325880" cy="1399032"/>
          </a:xfrm>
          <a:prstGeom prst="rect">
            <a:avLst/>
          </a:prstGeom>
          <a:noFill/>
        </p:spPr>
      </p:pic>
      <p:pic>
        <p:nvPicPr>
          <p:cNvPr id="17" name="Picture 3"/>
          <p:cNvPicPr>
            <a:picLocks noChangeArrowheads="1"/>
          </p:cNvPicPr>
          <p:nvPr/>
        </p:nvPicPr>
        <p:blipFill>
          <a:blip r:embed="rId4" cstate="print"/>
          <a:srcRect/>
          <a:stretch>
            <a:fillRect/>
          </a:stretch>
        </p:blipFill>
        <p:spPr bwMode="auto">
          <a:xfrm>
            <a:off x="3589632" y="1994864"/>
            <a:ext cx="1325880" cy="13990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CAF Form Submission</a:t>
            </a:r>
            <a:endParaRPr lang="en-US" dirty="0"/>
          </a:p>
        </p:txBody>
      </p:sp>
      <p:grpSp>
        <p:nvGrpSpPr>
          <p:cNvPr id="63" name="Group 62"/>
          <p:cNvGrpSpPr/>
          <p:nvPr/>
        </p:nvGrpSpPr>
        <p:grpSpPr>
          <a:xfrm>
            <a:off x="188912" y="1371600"/>
            <a:ext cx="3697288" cy="3048000"/>
            <a:chOff x="188912" y="1371600"/>
            <a:chExt cx="3697288" cy="3048000"/>
          </a:xfrm>
        </p:grpSpPr>
        <p:sp>
          <p:nvSpPr>
            <p:cNvPr id="17" name="Rectangle 21"/>
            <p:cNvSpPr>
              <a:spLocks noChangeArrowheads="1"/>
            </p:cNvSpPr>
            <p:nvPr/>
          </p:nvSpPr>
          <p:spPr bwMode="auto">
            <a:xfrm>
              <a:off x="228600" y="13716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18" name="Rectangle 22">
              <a:hlinkClick r:id="rId2" action="ppaction://hlinksldjump"/>
            </p:cNvPr>
            <p:cNvSpPr>
              <a:spLocks noChangeArrowheads="1"/>
            </p:cNvSpPr>
            <p:nvPr/>
          </p:nvSpPr>
          <p:spPr bwMode="auto">
            <a:xfrm>
              <a:off x="1725613"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19" name="Rectangle 23">
              <a:hlinkClick r:id="rId2" action="ppaction://hlinksldjump"/>
            </p:cNvPr>
            <p:cNvSpPr>
              <a:spLocks noChangeArrowheads="1"/>
            </p:cNvSpPr>
            <p:nvPr/>
          </p:nvSpPr>
          <p:spPr bwMode="auto">
            <a:xfrm>
              <a:off x="311150"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0" name="Rectangle 24">
              <a:hlinkClick r:id="rId2" action="ppaction://hlinksldjump"/>
            </p:cNvPr>
            <p:cNvSpPr>
              <a:spLocks noChangeArrowheads="1"/>
            </p:cNvSpPr>
            <p:nvPr/>
          </p:nvSpPr>
          <p:spPr bwMode="auto">
            <a:xfrm>
              <a:off x="2432050"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1" name="Rectangle 25">
              <a:hlinkClick r:id="rId2" action="ppaction://hlinksldjump"/>
            </p:cNvPr>
            <p:cNvSpPr>
              <a:spLocks noChangeArrowheads="1"/>
            </p:cNvSpPr>
            <p:nvPr/>
          </p:nvSpPr>
          <p:spPr bwMode="auto">
            <a:xfrm>
              <a:off x="1017588"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2" name="Oval 26">
              <a:hlinkClick r:id="rId2" action="ppaction://hlinksldjump"/>
            </p:cNvPr>
            <p:cNvSpPr>
              <a:spLocks noChangeArrowheads="1"/>
            </p:cNvSpPr>
            <p:nvPr/>
          </p:nvSpPr>
          <p:spPr bwMode="auto">
            <a:xfrm>
              <a:off x="3230563" y="15049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27">
              <a:hlinkClick r:id="rId2" action="ppaction://hlinksldjump"/>
            </p:cNvPr>
            <p:cNvSpPr>
              <a:spLocks noChangeArrowheads="1"/>
            </p:cNvSpPr>
            <p:nvPr/>
          </p:nvSpPr>
          <p:spPr bwMode="auto">
            <a:xfrm>
              <a:off x="395288" y="2032000"/>
              <a:ext cx="622300"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28">
              <a:hlinkClick r:id="rId2" action="ppaction://hlinksldjump"/>
            </p:cNvPr>
            <p:cNvSpPr>
              <a:spLocks noChangeArrowheads="1"/>
            </p:cNvSpPr>
            <p:nvPr/>
          </p:nvSpPr>
          <p:spPr bwMode="auto">
            <a:xfrm>
              <a:off x="519113" y="2662238"/>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Rectangle 29">
              <a:hlinkClick r:id="rId2" action="ppaction://hlinksldjump"/>
            </p:cNvPr>
            <p:cNvSpPr>
              <a:spLocks noChangeArrowheads="1"/>
            </p:cNvSpPr>
            <p:nvPr/>
          </p:nvSpPr>
          <p:spPr bwMode="auto">
            <a:xfrm>
              <a:off x="311150" y="3057525"/>
              <a:ext cx="541338"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30">
              <a:hlinkClick r:id="rId2" action="ppaction://hlinksldjump"/>
            </p:cNvPr>
            <p:cNvSpPr>
              <a:spLocks noChangeArrowheads="1"/>
            </p:cNvSpPr>
            <p:nvPr/>
          </p:nvSpPr>
          <p:spPr bwMode="auto">
            <a:xfrm>
              <a:off x="893763" y="3057525"/>
              <a:ext cx="539750"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27" name="AutoShape 31"/>
            <p:cNvCxnSpPr>
              <a:cxnSpLocks noChangeShapeType="1"/>
              <a:stCxn id="20" idx="3"/>
              <a:endCxn id="22" idx="2"/>
            </p:cNvCxnSpPr>
            <p:nvPr/>
          </p:nvCxnSpPr>
          <p:spPr bwMode="auto">
            <a:xfrm>
              <a:off x="3054350" y="1635125"/>
              <a:ext cx="176213" cy="0"/>
            </a:xfrm>
            <a:prstGeom prst="straightConnector1">
              <a:avLst/>
            </a:prstGeom>
            <a:noFill/>
            <a:ln w="19050">
              <a:solidFill>
                <a:schemeClr val="bg1">
                  <a:lumMod val="50000"/>
                </a:schemeClr>
              </a:solidFill>
              <a:round/>
              <a:headEnd/>
              <a:tailEnd type="triangle" w="med" len="med"/>
            </a:ln>
            <a:effectLst/>
          </p:spPr>
        </p:cxnSp>
        <p:cxnSp>
          <p:nvCxnSpPr>
            <p:cNvPr id="28" name="AutoShape 32"/>
            <p:cNvCxnSpPr>
              <a:cxnSpLocks noChangeShapeType="1"/>
              <a:stCxn id="22" idx="4"/>
              <a:endCxn id="48" idx="3"/>
            </p:cNvCxnSpPr>
            <p:nvPr/>
          </p:nvCxnSpPr>
          <p:spPr bwMode="auto">
            <a:xfrm rot="5400000">
              <a:off x="3206750" y="18192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29" name="AutoShape 33"/>
            <p:cNvCxnSpPr>
              <a:cxnSpLocks noChangeShapeType="1"/>
              <a:stCxn id="34" idx="1"/>
              <a:endCxn id="35" idx="3"/>
            </p:cNvCxnSpPr>
            <p:nvPr/>
          </p:nvCxnSpPr>
          <p:spPr bwMode="auto">
            <a:xfrm rot="10800000">
              <a:off x="2473325" y="2160588"/>
              <a:ext cx="82550" cy="0"/>
            </a:xfrm>
            <a:prstGeom prst="straightConnector1">
              <a:avLst/>
            </a:prstGeom>
            <a:noFill/>
            <a:ln w="19050">
              <a:solidFill>
                <a:schemeClr val="bg1">
                  <a:lumMod val="50000"/>
                </a:schemeClr>
              </a:solidFill>
              <a:round/>
              <a:headEnd/>
              <a:tailEnd type="triangle" w="med" len="med"/>
            </a:ln>
            <a:effectLst/>
          </p:spPr>
        </p:cxnSp>
        <p:cxnSp>
          <p:nvCxnSpPr>
            <p:cNvPr id="30" name="AutoShape 34"/>
            <p:cNvCxnSpPr>
              <a:cxnSpLocks noChangeShapeType="1"/>
              <a:stCxn id="36" idx="1"/>
              <a:endCxn id="23" idx="3"/>
            </p:cNvCxnSpPr>
            <p:nvPr/>
          </p:nvCxnSpPr>
          <p:spPr bwMode="auto">
            <a:xfrm rot="10800000">
              <a:off x="1017588" y="2160588"/>
              <a:ext cx="125413" cy="0"/>
            </a:xfrm>
            <a:prstGeom prst="straightConnector1">
              <a:avLst/>
            </a:prstGeom>
            <a:noFill/>
            <a:ln w="19050">
              <a:solidFill>
                <a:schemeClr val="bg1">
                  <a:lumMod val="50000"/>
                </a:schemeClr>
              </a:solidFill>
              <a:round/>
              <a:headEnd/>
              <a:tailEnd type="triangle" w="med" len="med"/>
            </a:ln>
            <a:effectLst/>
          </p:spPr>
        </p:cxnSp>
        <p:cxnSp>
          <p:nvCxnSpPr>
            <p:cNvPr id="31" name="AutoShape 35"/>
            <p:cNvCxnSpPr>
              <a:cxnSpLocks noChangeShapeType="1"/>
              <a:stCxn id="48" idx="2"/>
              <a:endCxn id="37" idx="0"/>
            </p:cNvCxnSpPr>
            <p:nvPr/>
          </p:nvCxnSpPr>
          <p:spPr bwMode="auto">
            <a:xfrm rot="5400000">
              <a:off x="1325563" y="20828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2" name="AutoShape 36"/>
            <p:cNvCxnSpPr>
              <a:cxnSpLocks noChangeShapeType="1"/>
              <a:stCxn id="24" idx="2"/>
              <a:endCxn id="26" idx="0"/>
            </p:cNvCxnSpPr>
            <p:nvPr/>
          </p:nvCxnSpPr>
          <p:spPr bwMode="auto">
            <a:xfrm rot="16200000" flipH="1">
              <a:off x="930275" y="28225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3" name="AutoShape 37"/>
            <p:cNvCxnSpPr>
              <a:cxnSpLocks noChangeShapeType="1"/>
              <a:stCxn id="24" idx="2"/>
              <a:endCxn id="25" idx="0"/>
            </p:cNvCxnSpPr>
            <p:nvPr/>
          </p:nvCxnSpPr>
          <p:spPr bwMode="auto">
            <a:xfrm rot="5400000">
              <a:off x="639763" y="28638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4" name="Rectangle 38">
              <a:hlinkClick r:id="rId2" action="ppaction://hlinksldjump"/>
            </p:cNvPr>
            <p:cNvSpPr>
              <a:spLocks noChangeArrowheads="1"/>
            </p:cNvSpPr>
            <p:nvPr/>
          </p:nvSpPr>
          <p:spPr bwMode="auto">
            <a:xfrm>
              <a:off x="2555875"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5" name="Rectangle 39">
              <a:hlinkClick r:id="rId2" action="ppaction://hlinksldjump"/>
            </p:cNvPr>
            <p:cNvSpPr>
              <a:spLocks noChangeArrowheads="1"/>
            </p:cNvSpPr>
            <p:nvPr/>
          </p:nvSpPr>
          <p:spPr bwMode="auto">
            <a:xfrm>
              <a:off x="1849438"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6" name="Rectangle 40">
              <a:hlinkClick r:id="rId2" action="ppaction://hlinksldjump"/>
            </p:cNvPr>
            <p:cNvSpPr>
              <a:spLocks noChangeArrowheads="1"/>
            </p:cNvSpPr>
            <p:nvPr/>
          </p:nvSpPr>
          <p:spPr bwMode="auto">
            <a:xfrm>
              <a:off x="1143000" y="2032000"/>
              <a:ext cx="623888" cy="258763"/>
            </a:xfrm>
            <a:prstGeom prst="rect">
              <a:avLst/>
            </a:prstGeom>
            <a:solidFill>
              <a:schemeClr val="bg1">
                <a:lumMod val="85000"/>
              </a:schemeClr>
            </a:solidFill>
            <a:ln w="9525" algn="ctr">
              <a:solidFill>
                <a:schemeClr val="bg1">
                  <a:lumMod val="50000"/>
                </a:schemeClr>
              </a:solid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7" name="Rectangle 41"/>
            <p:cNvSpPr>
              <a:spLocks noChangeArrowheads="1"/>
            </p:cNvSpPr>
            <p:nvPr/>
          </p:nvSpPr>
          <p:spPr bwMode="auto">
            <a:xfrm>
              <a:off x="269875" y="25241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38" name="AutoShape 42"/>
            <p:cNvCxnSpPr>
              <a:cxnSpLocks noChangeShapeType="1"/>
              <a:stCxn id="19" idx="3"/>
              <a:endCxn id="21" idx="1"/>
            </p:cNvCxnSpPr>
            <p:nvPr/>
          </p:nvCxnSpPr>
          <p:spPr bwMode="auto">
            <a:xfrm>
              <a:off x="935038" y="1635125"/>
              <a:ext cx="82550" cy="0"/>
            </a:xfrm>
            <a:prstGeom prst="straightConnector1">
              <a:avLst/>
            </a:prstGeom>
            <a:noFill/>
            <a:ln w="9525">
              <a:solidFill>
                <a:schemeClr val="bg1">
                  <a:lumMod val="50000"/>
                </a:schemeClr>
              </a:solidFill>
              <a:round/>
              <a:headEnd/>
              <a:tailEnd type="triangle" w="med" len="med"/>
            </a:ln>
            <a:effectLst/>
          </p:spPr>
        </p:cxnSp>
        <p:cxnSp>
          <p:nvCxnSpPr>
            <p:cNvPr id="39" name="AutoShape 43"/>
            <p:cNvCxnSpPr>
              <a:cxnSpLocks noChangeShapeType="1"/>
              <a:stCxn id="21" idx="3"/>
              <a:endCxn id="18" idx="1"/>
            </p:cNvCxnSpPr>
            <p:nvPr/>
          </p:nvCxnSpPr>
          <p:spPr bwMode="auto">
            <a:xfrm>
              <a:off x="1641475" y="1635125"/>
              <a:ext cx="84138" cy="0"/>
            </a:xfrm>
            <a:prstGeom prst="straightConnector1">
              <a:avLst/>
            </a:prstGeom>
            <a:noFill/>
            <a:ln w="9525">
              <a:solidFill>
                <a:schemeClr val="bg1">
                  <a:lumMod val="50000"/>
                </a:schemeClr>
              </a:solidFill>
              <a:round/>
              <a:headEnd/>
              <a:tailEnd type="triangle" w="med" len="med"/>
            </a:ln>
            <a:effectLst/>
          </p:spPr>
        </p:cxnSp>
        <p:cxnSp>
          <p:nvCxnSpPr>
            <p:cNvPr id="40" name="AutoShape 44"/>
            <p:cNvCxnSpPr>
              <a:cxnSpLocks noChangeShapeType="1"/>
              <a:stCxn id="18" idx="3"/>
              <a:endCxn id="20" idx="1"/>
            </p:cNvCxnSpPr>
            <p:nvPr/>
          </p:nvCxnSpPr>
          <p:spPr bwMode="auto">
            <a:xfrm>
              <a:off x="2347913" y="1635125"/>
              <a:ext cx="84138" cy="0"/>
            </a:xfrm>
            <a:prstGeom prst="straightConnector1">
              <a:avLst/>
            </a:prstGeom>
            <a:noFill/>
            <a:ln w="9525">
              <a:solidFill>
                <a:schemeClr val="bg1">
                  <a:lumMod val="50000"/>
                </a:schemeClr>
              </a:solidFill>
              <a:round/>
              <a:headEnd/>
              <a:tailEnd type="triangle" w="med" len="med"/>
            </a:ln>
            <a:effectLst/>
          </p:spPr>
        </p:cxnSp>
        <p:sp>
          <p:nvSpPr>
            <p:cNvPr id="41" name="Rectangle 45"/>
            <p:cNvSpPr>
              <a:spLocks noChangeArrowheads="1"/>
            </p:cNvSpPr>
            <p:nvPr/>
          </p:nvSpPr>
          <p:spPr bwMode="auto">
            <a:xfrm>
              <a:off x="269875" y="14081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1" name="AutoShape 47"/>
            <p:cNvSpPr>
              <a:spLocks noChangeArrowheads="1"/>
            </p:cNvSpPr>
            <p:nvPr/>
          </p:nvSpPr>
          <p:spPr bwMode="auto">
            <a:xfrm>
              <a:off x="288730" y="17033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55" name="AutoShape 50"/>
            <p:cNvSpPr>
              <a:spLocks noChangeArrowheads="1"/>
            </p:cNvSpPr>
            <p:nvPr/>
          </p:nvSpPr>
          <p:spPr bwMode="auto">
            <a:xfrm>
              <a:off x="2930377" y="1698625"/>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57" name="AutoShape 52"/>
            <p:cNvSpPr>
              <a:spLocks noChangeArrowheads="1"/>
            </p:cNvSpPr>
            <p:nvPr/>
          </p:nvSpPr>
          <p:spPr bwMode="auto">
            <a:xfrm>
              <a:off x="2791091"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59" name="AutoShape 54"/>
            <p:cNvSpPr>
              <a:spLocks noChangeArrowheads="1"/>
            </p:cNvSpPr>
            <p:nvPr/>
          </p:nvSpPr>
          <p:spPr bwMode="auto">
            <a:xfrm>
              <a:off x="2624986"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53" name="AutoShape 57"/>
            <p:cNvSpPr>
              <a:spLocks noChangeArrowheads="1"/>
            </p:cNvSpPr>
            <p:nvPr/>
          </p:nvSpPr>
          <p:spPr bwMode="auto">
            <a:xfrm>
              <a:off x="3096303" y="22225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4" name="Text Box 58"/>
            <p:cNvSpPr txBox="1">
              <a:spLocks noChangeArrowheads="1"/>
            </p:cNvSpPr>
            <p:nvPr/>
          </p:nvSpPr>
          <p:spPr bwMode="auto">
            <a:xfrm>
              <a:off x="3078163" y="22481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51" name="AutoShape 60"/>
            <p:cNvSpPr>
              <a:spLocks noChangeArrowheads="1"/>
            </p:cNvSpPr>
            <p:nvPr/>
          </p:nvSpPr>
          <p:spPr bwMode="auto">
            <a:xfrm>
              <a:off x="1807400" y="22145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Text Box 61"/>
            <p:cNvSpPr txBox="1">
              <a:spLocks noChangeArrowheads="1"/>
            </p:cNvSpPr>
            <p:nvPr/>
          </p:nvSpPr>
          <p:spPr bwMode="auto">
            <a:xfrm>
              <a:off x="1789113" y="2277805"/>
              <a:ext cx="179388" cy="214571"/>
            </a:xfrm>
            <a:prstGeom prst="rect">
              <a:avLst/>
            </a:prstGeom>
            <a:noFill/>
            <a:ln w="9525" algn="ctr">
              <a:noFill/>
              <a:miter lim="800000"/>
              <a:headEnd/>
              <a:tailEnd/>
            </a:ln>
            <a:effectLst/>
          </p:spPr>
          <p:txBody>
            <a:bodyPr wrap="none">
              <a:spAutoFit/>
            </a:bodyPr>
            <a:lstStyle/>
            <a:p>
              <a:endParaRPr lang="en-US" sz="800" b="1"/>
            </a:p>
          </p:txBody>
        </p:sp>
        <p:sp>
          <p:nvSpPr>
            <p:cNvPr id="49" name="AutoShape 63"/>
            <p:cNvSpPr>
              <a:spLocks noChangeArrowheads="1"/>
            </p:cNvSpPr>
            <p:nvPr/>
          </p:nvSpPr>
          <p:spPr bwMode="auto">
            <a:xfrm>
              <a:off x="1137745" y="22145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47" name="AutoShape 65"/>
            <p:cNvCxnSpPr>
              <a:cxnSpLocks noChangeShapeType="1"/>
              <a:stCxn id="35" idx="1"/>
              <a:endCxn id="36" idx="3"/>
            </p:cNvCxnSpPr>
            <p:nvPr/>
          </p:nvCxnSpPr>
          <p:spPr bwMode="auto">
            <a:xfrm rot="10800000">
              <a:off x="1766888" y="2160588"/>
              <a:ext cx="82550" cy="0"/>
            </a:xfrm>
            <a:prstGeom prst="straightConnector1">
              <a:avLst/>
            </a:prstGeom>
            <a:noFill/>
            <a:ln w="19050">
              <a:solidFill>
                <a:schemeClr val="bg1">
                  <a:lumMod val="50000"/>
                </a:schemeClr>
              </a:solidFill>
              <a:round/>
              <a:headEnd/>
              <a:tailEnd type="triangle" w="med" len="med"/>
            </a:ln>
            <a:effectLst/>
          </p:spPr>
        </p:cxnSp>
        <p:sp>
          <p:nvSpPr>
            <p:cNvPr id="48" name="Rectangle 66"/>
            <p:cNvSpPr>
              <a:spLocks noChangeArrowheads="1"/>
            </p:cNvSpPr>
            <p:nvPr/>
          </p:nvSpPr>
          <p:spPr bwMode="auto">
            <a:xfrm>
              <a:off x="269875" y="19113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5" name="Rectangle 67">
              <a:hlinkClick r:id="rId2" action="ppaction://hlinksldjump"/>
            </p:cNvPr>
            <p:cNvSpPr>
              <a:spLocks noChangeArrowheads="1"/>
            </p:cNvSpPr>
            <p:nvPr/>
          </p:nvSpPr>
          <p:spPr bwMode="auto">
            <a:xfrm>
              <a:off x="2111375" y="3948113"/>
              <a:ext cx="806450" cy="365125"/>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Customer Verification</a:t>
              </a:r>
            </a:p>
          </p:txBody>
        </p:sp>
        <p:sp>
          <p:nvSpPr>
            <p:cNvPr id="6" name="Rectangle 68">
              <a:hlinkClick r:id="rId2" action="ppaction://hlinksldjump"/>
            </p:cNvPr>
            <p:cNvSpPr>
              <a:spLocks noChangeArrowheads="1"/>
            </p:cNvSpPr>
            <p:nvPr/>
          </p:nvSpPr>
          <p:spPr bwMode="auto">
            <a:xfrm>
              <a:off x="282575" y="3948113"/>
              <a:ext cx="806450" cy="365125"/>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a:solidFill>
                    <a:schemeClr val="tx1"/>
                  </a:solidFill>
                </a:rPr>
                <a:t>Submission of forms and deposit</a:t>
              </a:r>
            </a:p>
          </p:txBody>
        </p:sp>
        <p:sp>
          <p:nvSpPr>
            <p:cNvPr id="7" name="Rectangle 69">
              <a:hlinkClick r:id="rId2" action="ppaction://hlinksldjump"/>
            </p:cNvPr>
            <p:cNvSpPr>
              <a:spLocks noChangeArrowheads="1"/>
            </p:cNvSpPr>
            <p:nvPr/>
          </p:nvSpPr>
          <p:spPr bwMode="auto">
            <a:xfrm>
              <a:off x="3025775" y="3948113"/>
              <a:ext cx="806450" cy="365125"/>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Provisioning</a:t>
              </a:r>
            </a:p>
          </p:txBody>
        </p:sp>
        <p:sp>
          <p:nvSpPr>
            <p:cNvPr id="8" name="Rectangle 70">
              <a:hlinkClick r:id="rId2" action="ppaction://hlinksldjump"/>
            </p:cNvPr>
            <p:cNvSpPr>
              <a:spLocks noChangeArrowheads="1"/>
            </p:cNvSpPr>
            <p:nvPr/>
          </p:nvSpPr>
          <p:spPr bwMode="auto">
            <a:xfrm>
              <a:off x="1196975" y="3948113"/>
              <a:ext cx="806450" cy="365125"/>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CAF Audit</a:t>
              </a:r>
            </a:p>
          </p:txBody>
        </p:sp>
        <p:sp>
          <p:nvSpPr>
            <p:cNvPr id="9" name="AutoShape 71"/>
            <p:cNvSpPr>
              <a:spLocks noChangeArrowheads="1"/>
            </p:cNvSpPr>
            <p:nvPr/>
          </p:nvSpPr>
          <p:spPr bwMode="auto">
            <a:xfrm>
              <a:off x="188912" y="41910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10" name="AutoShape 72"/>
            <p:cNvSpPr>
              <a:spLocks noChangeArrowheads="1"/>
            </p:cNvSpPr>
            <p:nvPr/>
          </p:nvSpPr>
          <p:spPr bwMode="auto">
            <a:xfrm>
              <a:off x="3670300" y="42164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11" name="AutoShape 73"/>
            <p:cNvCxnSpPr>
              <a:cxnSpLocks noChangeShapeType="1"/>
              <a:stCxn id="6" idx="3"/>
              <a:endCxn id="8" idx="1"/>
            </p:cNvCxnSpPr>
            <p:nvPr/>
          </p:nvCxnSpPr>
          <p:spPr bwMode="auto">
            <a:xfrm>
              <a:off x="1089025" y="4130675"/>
              <a:ext cx="107950" cy="0"/>
            </a:xfrm>
            <a:prstGeom prst="straightConnector1">
              <a:avLst/>
            </a:prstGeom>
            <a:noFill/>
            <a:ln w="9525">
              <a:solidFill>
                <a:schemeClr val="bg1">
                  <a:lumMod val="50000"/>
                </a:schemeClr>
              </a:solidFill>
              <a:round/>
              <a:headEnd/>
              <a:tailEnd type="triangle" w="med" len="med"/>
            </a:ln>
            <a:effectLst/>
          </p:spPr>
        </p:cxnSp>
        <p:cxnSp>
          <p:nvCxnSpPr>
            <p:cNvPr id="12" name="AutoShape 74"/>
            <p:cNvCxnSpPr>
              <a:cxnSpLocks noChangeShapeType="1"/>
              <a:stCxn id="8" idx="3"/>
              <a:endCxn id="5" idx="1"/>
            </p:cNvCxnSpPr>
            <p:nvPr/>
          </p:nvCxnSpPr>
          <p:spPr bwMode="auto">
            <a:xfrm>
              <a:off x="2003425" y="4130675"/>
              <a:ext cx="107950" cy="0"/>
            </a:xfrm>
            <a:prstGeom prst="straightConnector1">
              <a:avLst/>
            </a:prstGeom>
            <a:noFill/>
            <a:ln w="9525">
              <a:solidFill>
                <a:schemeClr val="bg1">
                  <a:lumMod val="50000"/>
                </a:schemeClr>
              </a:solidFill>
              <a:round/>
              <a:headEnd/>
              <a:tailEnd type="triangle" w="med" len="med"/>
            </a:ln>
            <a:effectLst/>
          </p:spPr>
        </p:cxnSp>
        <p:cxnSp>
          <p:nvCxnSpPr>
            <p:cNvPr id="13" name="AutoShape 75"/>
            <p:cNvCxnSpPr>
              <a:cxnSpLocks noChangeShapeType="1"/>
              <a:stCxn id="5" idx="3"/>
              <a:endCxn id="7" idx="1"/>
            </p:cNvCxnSpPr>
            <p:nvPr/>
          </p:nvCxnSpPr>
          <p:spPr bwMode="auto">
            <a:xfrm>
              <a:off x="2917825" y="4130675"/>
              <a:ext cx="107950" cy="0"/>
            </a:xfrm>
            <a:prstGeom prst="straightConnector1">
              <a:avLst/>
            </a:prstGeom>
            <a:noFill/>
            <a:ln w="9525">
              <a:solidFill>
                <a:schemeClr val="bg1">
                  <a:lumMod val="50000"/>
                </a:schemeClr>
              </a:solidFill>
              <a:round/>
              <a:headEnd/>
              <a:tailEnd type="triangle" w="med" len="med"/>
            </a:ln>
            <a:effectLst/>
          </p:spPr>
        </p:cxnSp>
        <p:sp>
          <p:nvSpPr>
            <p:cNvPr id="14" name="Rectangle 76"/>
            <p:cNvSpPr>
              <a:spLocks noChangeArrowheads="1"/>
            </p:cNvSpPr>
            <p:nvPr/>
          </p:nvSpPr>
          <p:spPr bwMode="auto">
            <a:xfrm>
              <a:off x="228600" y="3657600"/>
              <a:ext cx="3657600" cy="762000"/>
            </a:xfrm>
            <a:prstGeom prst="rect">
              <a:avLst/>
            </a:prstGeom>
            <a:noFill/>
            <a:ln w="9525">
              <a:solidFill>
                <a:srgbClr val="FFCC66"/>
              </a:solidFill>
              <a:prstDash val="sysDot"/>
              <a:miter lim="800000"/>
              <a:headEnd/>
              <a:tailEnd/>
            </a:ln>
            <a:effectLst/>
          </p:spPr>
          <p:txBody>
            <a:bodyPr wrap="none" anchor="ctr"/>
            <a:lstStyle/>
            <a:p>
              <a:endParaRPr lang="en-US"/>
            </a:p>
          </p:txBody>
        </p:sp>
        <p:sp>
          <p:nvSpPr>
            <p:cNvPr id="15" name="Line 77"/>
            <p:cNvSpPr>
              <a:spLocks noChangeShapeType="1"/>
            </p:cNvSpPr>
            <p:nvPr/>
          </p:nvSpPr>
          <p:spPr bwMode="auto">
            <a:xfrm>
              <a:off x="1905000" y="33528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16" name="Text Box 78"/>
            <p:cNvSpPr txBox="1">
              <a:spLocks noChangeArrowheads="1"/>
            </p:cNvSpPr>
            <p:nvPr/>
          </p:nvSpPr>
          <p:spPr bwMode="auto">
            <a:xfrm>
              <a:off x="1301750" y="3657600"/>
              <a:ext cx="1435100" cy="228600"/>
            </a:xfrm>
            <a:prstGeom prst="rect">
              <a:avLst/>
            </a:prstGeom>
            <a:noFill/>
            <a:ln w="9525">
              <a:noFill/>
              <a:miter lim="800000"/>
              <a:headEnd/>
              <a:tailEnd/>
            </a:ln>
            <a:effectLst/>
          </p:spPr>
          <p:txBody>
            <a:bodyPr wrap="none">
              <a:spAutoFit/>
            </a:bodyPr>
            <a:lstStyle/>
            <a:p>
              <a:pPr algn="l"/>
              <a:r>
                <a:rPr lang="en-US" sz="900" b="1" i="1" dirty="0">
                  <a:solidFill>
                    <a:schemeClr val="bg1">
                      <a:lumMod val="50000"/>
                    </a:schemeClr>
                  </a:solidFill>
                </a:rPr>
                <a:t>Sales and provisioning</a:t>
              </a:r>
            </a:p>
          </p:txBody>
        </p:sp>
      </p:grpSp>
      <p:sp>
        <p:nvSpPr>
          <p:cNvPr id="64" name="AutoShape 18"/>
          <p:cNvSpPr>
            <a:spLocks noChangeArrowheads="1"/>
          </p:cNvSpPr>
          <p:nvPr/>
        </p:nvSpPr>
        <p:spPr bwMode="auto">
          <a:xfrm>
            <a:off x="4267200" y="1066800"/>
            <a:ext cx="4495800" cy="5120640"/>
          </a:xfrm>
          <a:prstGeom prst="roundRect">
            <a:avLst>
              <a:gd name="adj" fmla="val 0"/>
            </a:avLst>
          </a:prstGeom>
          <a:solidFill>
            <a:schemeClr val="bg1">
              <a:lumMod val="95000"/>
            </a:schemeClr>
          </a:solidFill>
          <a:ln w="3175" algn="ctr">
            <a:noFill/>
            <a:prstDash val="sysDot"/>
            <a:round/>
            <a:headEnd/>
            <a:tailEnd/>
          </a:ln>
          <a:effectLst/>
        </p:spPr>
        <p:txBody>
          <a:bodyPr/>
          <a:lstStyle/>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Subscriber </a:t>
            </a:r>
            <a:r>
              <a:rPr lang="en-US" sz="1050" kern="0" dirty="0">
                <a:solidFill>
                  <a:srgbClr val="646464"/>
                </a:solidFill>
                <a:latin typeface="EYInterstate" pitchFamily="2" charset="0"/>
              </a:rPr>
              <a:t>A would now be required to fill a Customer Application Form (CAF) providing following minimum </a:t>
            </a:r>
            <a:r>
              <a:rPr lang="en-US" sz="1050" kern="0" dirty="0" smtClean="0">
                <a:solidFill>
                  <a:srgbClr val="646464"/>
                </a:solidFill>
                <a:latin typeface="EYInterstate" pitchFamily="2" charset="0"/>
              </a:rPr>
              <a:t>details and provide some mandatory documents:</a:t>
            </a:r>
            <a:endParaRPr lang="en-US" sz="1050" kern="0" dirty="0">
              <a:solidFill>
                <a:srgbClr val="646464"/>
              </a:solidFill>
              <a:latin typeface="EYInterstate" pitchFamily="2" charset="0"/>
            </a:endParaRPr>
          </a:p>
          <a:p>
            <a:pPr marL="635000" lvl="3" indent="-177800">
              <a:lnSpc>
                <a:spcPct val="140000"/>
              </a:lnSpc>
              <a:spcBef>
                <a:spcPts val="0"/>
              </a:spcBef>
              <a:buClr>
                <a:srgbClr val="FFD200"/>
              </a:buClr>
              <a:buSzPct val="75000"/>
              <a:buFont typeface="Arial" charset="0"/>
              <a:buChar char="►"/>
              <a:defRPr/>
            </a:pPr>
            <a:r>
              <a:rPr lang="en-US" sz="1050" kern="0" dirty="0">
                <a:solidFill>
                  <a:srgbClr val="646464"/>
                </a:solidFill>
                <a:latin typeface="EYInterstate" pitchFamily="2" charset="0"/>
              </a:rPr>
              <a:t>Subscriber name, address and signature (used for billing purposes);</a:t>
            </a:r>
          </a:p>
          <a:p>
            <a:pPr marL="635000" lvl="3" indent="-177800">
              <a:lnSpc>
                <a:spcPct val="140000"/>
              </a:lnSpc>
              <a:spcBef>
                <a:spcPts val="0"/>
              </a:spcBef>
              <a:buClr>
                <a:srgbClr val="FFD200"/>
              </a:buClr>
              <a:buSzPct val="75000"/>
              <a:buFont typeface="Arial" charset="0"/>
              <a:buChar char="►"/>
              <a:defRPr/>
            </a:pPr>
            <a:r>
              <a:rPr lang="en-US" sz="1050" kern="0" dirty="0">
                <a:solidFill>
                  <a:srgbClr val="646464"/>
                </a:solidFill>
                <a:latin typeface="EYInterstate" pitchFamily="2" charset="0"/>
              </a:rPr>
              <a:t>Selected rate plan details;</a:t>
            </a:r>
          </a:p>
          <a:p>
            <a:pPr marL="635000" lvl="3" indent="-177800">
              <a:lnSpc>
                <a:spcPct val="140000"/>
              </a:lnSpc>
              <a:spcBef>
                <a:spcPts val="0"/>
              </a:spcBef>
              <a:buClr>
                <a:srgbClr val="FFD200"/>
              </a:buClr>
              <a:buSzPct val="75000"/>
              <a:buFont typeface="Arial" charset="0"/>
              <a:buChar char="►"/>
              <a:defRPr/>
            </a:pPr>
            <a:r>
              <a:rPr lang="en-US" sz="1050" kern="0" dirty="0">
                <a:solidFill>
                  <a:srgbClr val="646464"/>
                </a:solidFill>
                <a:latin typeface="EYInterstate" pitchFamily="2" charset="0"/>
              </a:rPr>
              <a:t>Additional services requested, if any (GPRS etc); and</a:t>
            </a:r>
          </a:p>
          <a:p>
            <a:pPr marL="635000" lvl="3" indent="-177800">
              <a:lnSpc>
                <a:spcPct val="140000"/>
              </a:lnSpc>
              <a:spcBef>
                <a:spcPts val="0"/>
              </a:spcBef>
              <a:buClr>
                <a:srgbClr val="FFD200"/>
              </a:buClr>
              <a:buSzPct val="75000"/>
              <a:buFont typeface="Arial" charset="0"/>
              <a:buChar char="►"/>
              <a:defRPr/>
            </a:pPr>
            <a:r>
              <a:rPr lang="en-US" sz="1050" kern="0" dirty="0">
                <a:solidFill>
                  <a:srgbClr val="646464"/>
                </a:solidFill>
                <a:latin typeface="EYInterstate" pitchFamily="2" charset="0"/>
              </a:rPr>
              <a:t>Activation fee and deposit money </a:t>
            </a:r>
            <a:r>
              <a:rPr lang="en-US" sz="1050" kern="0" dirty="0" smtClean="0">
                <a:solidFill>
                  <a:srgbClr val="646464"/>
                </a:solidFill>
                <a:latin typeface="EYInterstate" pitchFamily="2" charset="0"/>
              </a:rPr>
              <a:t>details</a:t>
            </a:r>
          </a:p>
          <a:p>
            <a:pPr marL="635000" lvl="3"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Supporting documents refer to proof of identity and billing address</a:t>
            </a:r>
          </a:p>
          <a:p>
            <a:pPr marL="177800" lvl="1"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Once the dealer receives the duly filled form and total money due on sale, he would hand over an inactive connection (i.e. a SIM card) to Subscriber A. </a:t>
            </a:r>
          </a:p>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The dealer would now raise a provisioning request entry in Point of Sale (POS) system and forward the CAF, supporting documents and total money received from Subscriber A to the operator.</a:t>
            </a:r>
          </a:p>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With submission of documents to the operator, dealers complete the process of sale from their end and trigger the process of ‘provisioning’. </a:t>
            </a:r>
          </a:p>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Provisioning is broadly divided into 3 sequential sub processes:</a:t>
            </a:r>
          </a:p>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CAF Audit</a:t>
            </a:r>
          </a:p>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Customer Verification; and</a:t>
            </a:r>
          </a:p>
          <a:p>
            <a:pPr marL="177800" indent="-177800">
              <a:lnSpc>
                <a:spcPct val="140000"/>
              </a:lnSpc>
              <a:spcBef>
                <a:spcPts val="0"/>
              </a:spcBef>
              <a:buClr>
                <a:srgbClr val="FFD200"/>
              </a:buClr>
              <a:buSzPct val="75000"/>
              <a:buFont typeface="Arial" charset="0"/>
              <a:buChar char="►"/>
              <a:defRPr/>
            </a:pPr>
            <a:r>
              <a:rPr lang="en-US" sz="1050" kern="0" dirty="0" smtClean="0">
                <a:solidFill>
                  <a:srgbClr val="646464"/>
                </a:solidFill>
                <a:latin typeface="EYInterstate" pitchFamily="2" charset="0"/>
              </a:rPr>
              <a:t>Provisioning in systems</a:t>
            </a:r>
          </a:p>
        </p:txBody>
      </p:sp>
      <p:sp>
        <p:nvSpPr>
          <p:cNvPr id="65" name="AutoShape 18"/>
          <p:cNvSpPr>
            <a:spLocks noChangeArrowheads="1"/>
          </p:cNvSpPr>
          <p:nvPr/>
        </p:nvSpPr>
        <p:spPr bwMode="auto">
          <a:xfrm>
            <a:off x="167640" y="4709160"/>
            <a:ext cx="4023360" cy="1463040"/>
          </a:xfrm>
          <a:prstGeom prst="roundRect">
            <a:avLst>
              <a:gd name="adj" fmla="val 0"/>
            </a:avLst>
          </a:prstGeom>
          <a:solidFill>
            <a:schemeClr val="bg1">
              <a:lumMod val="95000"/>
            </a:schemeClr>
          </a:solidFill>
          <a:ln w="3175" algn="ctr">
            <a:noFill/>
            <a:prstDash val="sysDot"/>
            <a:round/>
            <a:headEnd/>
            <a:tailEnd/>
          </a:ln>
          <a:effectLst/>
        </p:spPr>
        <p:txBody>
          <a:bodyPr/>
          <a:lstStyle/>
          <a:p>
            <a:pPr marL="342900" indent="-342900" algn="l">
              <a:lnSpc>
                <a:spcPct val="140000"/>
              </a:lnSpc>
              <a:spcBef>
                <a:spcPct val="20000"/>
              </a:spcBef>
              <a:spcAft>
                <a:spcPct val="20000"/>
              </a:spcAft>
            </a:pPr>
            <a:r>
              <a:rPr lang="en-US" sz="1050" b="1" dirty="0" smtClean="0">
                <a:solidFill>
                  <a:srgbClr val="646464"/>
                </a:solidFill>
                <a:latin typeface="EYInterstate" pitchFamily="2" charset="0"/>
                <a:ea typeface="굴림" charset="-127"/>
              </a:rPr>
              <a:t>Submission </a:t>
            </a:r>
            <a:r>
              <a:rPr lang="en-US" sz="1050" b="1" dirty="0">
                <a:solidFill>
                  <a:srgbClr val="646464"/>
                </a:solidFill>
                <a:latin typeface="EYInterstate" pitchFamily="2" charset="0"/>
                <a:ea typeface="굴림" charset="-127"/>
              </a:rPr>
              <a:t>of forms and deposit</a:t>
            </a:r>
          </a:p>
          <a:p>
            <a:pPr marL="177800" indent="-177800">
              <a:lnSpc>
                <a:spcPct val="140000"/>
              </a:lnSpc>
              <a:spcBef>
                <a:spcPts val="0"/>
              </a:spcBef>
              <a:buClr>
                <a:srgbClr val="FFD200"/>
              </a:buClr>
              <a:buSzPct val="75000"/>
              <a:buFont typeface="Arial" charset="0"/>
              <a:buChar char="►"/>
              <a:defRPr/>
            </a:pPr>
            <a:r>
              <a:rPr lang="en-US" sz="1100" kern="0" dirty="0" smtClean="0">
                <a:solidFill>
                  <a:srgbClr val="646464"/>
                </a:solidFill>
                <a:latin typeface="EYInterstate" pitchFamily="2" charset="0"/>
              </a:rPr>
              <a:t>Subscriber A would be provided with details on various rate plans offered by Operator X.</a:t>
            </a:r>
          </a:p>
          <a:p>
            <a:pPr marL="177800" indent="-177800">
              <a:lnSpc>
                <a:spcPct val="140000"/>
              </a:lnSpc>
              <a:spcBef>
                <a:spcPts val="0"/>
              </a:spcBef>
              <a:buClr>
                <a:srgbClr val="FFD200"/>
              </a:buClr>
              <a:buSzPct val="75000"/>
              <a:buFont typeface="Arial" charset="0"/>
              <a:buChar char="►"/>
              <a:defRPr/>
            </a:pPr>
            <a:r>
              <a:rPr lang="en-US" sz="1100" kern="0" dirty="0" smtClean="0">
                <a:solidFill>
                  <a:srgbClr val="646464"/>
                </a:solidFill>
                <a:latin typeface="EYInterstate" pitchFamily="2" charset="0"/>
              </a:rPr>
              <a:t>He/ She would select a rate plan based on his/ her needs and budget.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8912" y="1371600"/>
            <a:ext cx="3697288" cy="3048000"/>
            <a:chOff x="188912" y="1371600"/>
            <a:chExt cx="3697288" cy="3048000"/>
          </a:xfrm>
        </p:grpSpPr>
        <p:sp>
          <p:nvSpPr>
            <p:cNvPr id="4" name="Rectangle 21"/>
            <p:cNvSpPr>
              <a:spLocks noChangeArrowheads="1"/>
            </p:cNvSpPr>
            <p:nvPr/>
          </p:nvSpPr>
          <p:spPr bwMode="auto">
            <a:xfrm>
              <a:off x="228600" y="13716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5" name="Rectangle 22">
              <a:hlinkClick r:id="rId2" action="ppaction://hlinksldjump"/>
            </p:cNvPr>
            <p:cNvSpPr>
              <a:spLocks noChangeArrowheads="1"/>
            </p:cNvSpPr>
            <p:nvPr/>
          </p:nvSpPr>
          <p:spPr bwMode="auto">
            <a:xfrm>
              <a:off x="1725613"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6" name="Rectangle 23">
              <a:hlinkClick r:id="rId2" action="ppaction://hlinksldjump"/>
            </p:cNvPr>
            <p:cNvSpPr>
              <a:spLocks noChangeArrowheads="1"/>
            </p:cNvSpPr>
            <p:nvPr/>
          </p:nvSpPr>
          <p:spPr bwMode="auto">
            <a:xfrm>
              <a:off x="311150"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7" name="Rectangle 24">
              <a:hlinkClick r:id="rId2" action="ppaction://hlinksldjump"/>
            </p:cNvPr>
            <p:cNvSpPr>
              <a:spLocks noChangeArrowheads="1"/>
            </p:cNvSpPr>
            <p:nvPr/>
          </p:nvSpPr>
          <p:spPr bwMode="auto">
            <a:xfrm>
              <a:off x="2432050"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8" name="Rectangle 25">
              <a:hlinkClick r:id="rId2" action="ppaction://hlinksldjump"/>
            </p:cNvPr>
            <p:cNvSpPr>
              <a:spLocks noChangeArrowheads="1"/>
            </p:cNvSpPr>
            <p:nvPr/>
          </p:nvSpPr>
          <p:spPr bwMode="auto">
            <a:xfrm>
              <a:off x="1017588"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9" name="Oval 26">
              <a:hlinkClick r:id="rId2" action="ppaction://hlinksldjump"/>
            </p:cNvPr>
            <p:cNvSpPr>
              <a:spLocks noChangeArrowheads="1"/>
            </p:cNvSpPr>
            <p:nvPr/>
          </p:nvSpPr>
          <p:spPr bwMode="auto">
            <a:xfrm>
              <a:off x="3230563" y="15049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0" name="Rectangle 27">
              <a:hlinkClick r:id="rId2" action="ppaction://hlinksldjump"/>
            </p:cNvPr>
            <p:cNvSpPr>
              <a:spLocks noChangeArrowheads="1"/>
            </p:cNvSpPr>
            <p:nvPr/>
          </p:nvSpPr>
          <p:spPr bwMode="auto">
            <a:xfrm>
              <a:off x="395288" y="2032000"/>
              <a:ext cx="622300"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1" name="Rectangle 28">
              <a:hlinkClick r:id="rId2" action="ppaction://hlinksldjump"/>
            </p:cNvPr>
            <p:cNvSpPr>
              <a:spLocks noChangeArrowheads="1"/>
            </p:cNvSpPr>
            <p:nvPr/>
          </p:nvSpPr>
          <p:spPr bwMode="auto">
            <a:xfrm>
              <a:off x="519113" y="2662238"/>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2" name="Rectangle 29">
              <a:hlinkClick r:id="rId2" action="ppaction://hlinksldjump"/>
            </p:cNvPr>
            <p:cNvSpPr>
              <a:spLocks noChangeArrowheads="1"/>
            </p:cNvSpPr>
            <p:nvPr/>
          </p:nvSpPr>
          <p:spPr bwMode="auto">
            <a:xfrm>
              <a:off x="311150" y="3057525"/>
              <a:ext cx="541338"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3" name="Rectangle 30">
              <a:hlinkClick r:id="rId2" action="ppaction://hlinksldjump"/>
            </p:cNvPr>
            <p:cNvSpPr>
              <a:spLocks noChangeArrowheads="1"/>
            </p:cNvSpPr>
            <p:nvPr/>
          </p:nvSpPr>
          <p:spPr bwMode="auto">
            <a:xfrm>
              <a:off x="893763" y="3057525"/>
              <a:ext cx="539750"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14" name="AutoShape 31"/>
            <p:cNvCxnSpPr>
              <a:cxnSpLocks noChangeShapeType="1"/>
              <a:stCxn id="7" idx="3"/>
              <a:endCxn id="9" idx="2"/>
            </p:cNvCxnSpPr>
            <p:nvPr/>
          </p:nvCxnSpPr>
          <p:spPr bwMode="auto">
            <a:xfrm>
              <a:off x="3054350" y="1635125"/>
              <a:ext cx="176213" cy="0"/>
            </a:xfrm>
            <a:prstGeom prst="straightConnector1">
              <a:avLst/>
            </a:prstGeom>
            <a:noFill/>
            <a:ln w="19050">
              <a:solidFill>
                <a:schemeClr val="bg1">
                  <a:lumMod val="50000"/>
                </a:schemeClr>
              </a:solidFill>
              <a:round/>
              <a:headEnd/>
              <a:tailEnd type="triangle" w="med" len="med"/>
            </a:ln>
            <a:effectLst/>
          </p:spPr>
        </p:cxnSp>
        <p:cxnSp>
          <p:nvCxnSpPr>
            <p:cNvPr id="15" name="AutoShape 32"/>
            <p:cNvCxnSpPr>
              <a:cxnSpLocks noChangeShapeType="1"/>
              <a:stCxn id="9" idx="4"/>
              <a:endCxn id="39" idx="3"/>
            </p:cNvCxnSpPr>
            <p:nvPr/>
          </p:nvCxnSpPr>
          <p:spPr bwMode="auto">
            <a:xfrm rot="5400000">
              <a:off x="3206750" y="18192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16" name="AutoShape 33"/>
            <p:cNvCxnSpPr>
              <a:cxnSpLocks noChangeShapeType="1"/>
              <a:stCxn id="21" idx="1"/>
              <a:endCxn id="22" idx="3"/>
            </p:cNvCxnSpPr>
            <p:nvPr/>
          </p:nvCxnSpPr>
          <p:spPr bwMode="auto">
            <a:xfrm rot="10800000">
              <a:off x="2473325" y="2160588"/>
              <a:ext cx="82550" cy="0"/>
            </a:xfrm>
            <a:prstGeom prst="straightConnector1">
              <a:avLst/>
            </a:prstGeom>
            <a:noFill/>
            <a:ln w="19050">
              <a:solidFill>
                <a:schemeClr val="bg1">
                  <a:lumMod val="50000"/>
                </a:schemeClr>
              </a:solidFill>
              <a:round/>
              <a:headEnd/>
              <a:tailEnd type="triangle" w="med" len="med"/>
            </a:ln>
            <a:effectLst/>
          </p:spPr>
        </p:cxnSp>
        <p:cxnSp>
          <p:nvCxnSpPr>
            <p:cNvPr id="17" name="AutoShape 34"/>
            <p:cNvCxnSpPr>
              <a:cxnSpLocks noChangeShapeType="1"/>
              <a:stCxn id="23" idx="1"/>
              <a:endCxn id="10" idx="3"/>
            </p:cNvCxnSpPr>
            <p:nvPr/>
          </p:nvCxnSpPr>
          <p:spPr bwMode="auto">
            <a:xfrm rot="10800000">
              <a:off x="1017588" y="2160588"/>
              <a:ext cx="125413" cy="0"/>
            </a:xfrm>
            <a:prstGeom prst="straightConnector1">
              <a:avLst/>
            </a:prstGeom>
            <a:noFill/>
            <a:ln w="19050">
              <a:solidFill>
                <a:schemeClr val="bg1">
                  <a:lumMod val="50000"/>
                </a:schemeClr>
              </a:solidFill>
              <a:round/>
              <a:headEnd/>
              <a:tailEnd type="triangle" w="med" len="med"/>
            </a:ln>
            <a:effectLst/>
          </p:spPr>
        </p:cxnSp>
        <p:cxnSp>
          <p:nvCxnSpPr>
            <p:cNvPr id="18" name="AutoShape 35"/>
            <p:cNvCxnSpPr>
              <a:cxnSpLocks noChangeShapeType="1"/>
              <a:stCxn id="39" idx="2"/>
              <a:endCxn id="24" idx="0"/>
            </p:cNvCxnSpPr>
            <p:nvPr/>
          </p:nvCxnSpPr>
          <p:spPr bwMode="auto">
            <a:xfrm rot="5400000">
              <a:off x="1325563" y="20828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19" name="AutoShape 36"/>
            <p:cNvCxnSpPr>
              <a:cxnSpLocks noChangeShapeType="1"/>
              <a:stCxn id="11" idx="2"/>
              <a:endCxn id="13" idx="0"/>
            </p:cNvCxnSpPr>
            <p:nvPr/>
          </p:nvCxnSpPr>
          <p:spPr bwMode="auto">
            <a:xfrm rot="16200000" flipH="1">
              <a:off x="930275" y="28225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20" name="AutoShape 37"/>
            <p:cNvCxnSpPr>
              <a:cxnSpLocks noChangeShapeType="1"/>
              <a:stCxn id="11" idx="2"/>
              <a:endCxn id="12" idx="0"/>
            </p:cNvCxnSpPr>
            <p:nvPr/>
          </p:nvCxnSpPr>
          <p:spPr bwMode="auto">
            <a:xfrm rot="5400000">
              <a:off x="639763" y="28638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21" name="Rectangle 38">
              <a:hlinkClick r:id="rId2" action="ppaction://hlinksldjump"/>
            </p:cNvPr>
            <p:cNvSpPr>
              <a:spLocks noChangeArrowheads="1"/>
            </p:cNvSpPr>
            <p:nvPr/>
          </p:nvSpPr>
          <p:spPr bwMode="auto">
            <a:xfrm>
              <a:off x="2555875"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39">
              <a:hlinkClick r:id="rId2" action="ppaction://hlinksldjump"/>
            </p:cNvPr>
            <p:cNvSpPr>
              <a:spLocks noChangeArrowheads="1"/>
            </p:cNvSpPr>
            <p:nvPr/>
          </p:nvSpPr>
          <p:spPr bwMode="auto">
            <a:xfrm>
              <a:off x="1849438"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40">
              <a:hlinkClick r:id="rId2" action="ppaction://hlinksldjump"/>
            </p:cNvPr>
            <p:cNvSpPr>
              <a:spLocks noChangeArrowheads="1"/>
            </p:cNvSpPr>
            <p:nvPr/>
          </p:nvSpPr>
          <p:spPr bwMode="auto">
            <a:xfrm>
              <a:off x="1143000" y="2032000"/>
              <a:ext cx="623888" cy="258763"/>
            </a:xfrm>
            <a:prstGeom prst="rect">
              <a:avLst/>
            </a:prstGeom>
            <a:solidFill>
              <a:schemeClr val="bg1">
                <a:lumMod val="85000"/>
              </a:schemeClr>
            </a:solidFill>
            <a:ln w="9525" algn="ctr">
              <a:solidFill>
                <a:schemeClr val="bg1">
                  <a:lumMod val="50000"/>
                </a:schemeClr>
              </a:solid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41"/>
            <p:cNvSpPr>
              <a:spLocks noChangeArrowheads="1"/>
            </p:cNvSpPr>
            <p:nvPr/>
          </p:nvSpPr>
          <p:spPr bwMode="auto">
            <a:xfrm>
              <a:off x="269875" y="25241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25" name="AutoShape 42"/>
            <p:cNvCxnSpPr>
              <a:cxnSpLocks noChangeShapeType="1"/>
              <a:stCxn id="6" idx="3"/>
              <a:endCxn id="8" idx="1"/>
            </p:cNvCxnSpPr>
            <p:nvPr/>
          </p:nvCxnSpPr>
          <p:spPr bwMode="auto">
            <a:xfrm>
              <a:off x="935038" y="1635125"/>
              <a:ext cx="82550" cy="0"/>
            </a:xfrm>
            <a:prstGeom prst="straightConnector1">
              <a:avLst/>
            </a:prstGeom>
            <a:noFill/>
            <a:ln w="9525">
              <a:solidFill>
                <a:schemeClr val="bg1">
                  <a:lumMod val="50000"/>
                </a:schemeClr>
              </a:solidFill>
              <a:round/>
              <a:headEnd/>
              <a:tailEnd type="triangle" w="med" len="med"/>
            </a:ln>
            <a:effectLst/>
          </p:spPr>
        </p:cxnSp>
        <p:cxnSp>
          <p:nvCxnSpPr>
            <p:cNvPr id="26" name="AutoShape 43"/>
            <p:cNvCxnSpPr>
              <a:cxnSpLocks noChangeShapeType="1"/>
              <a:stCxn id="8" idx="3"/>
              <a:endCxn id="5" idx="1"/>
            </p:cNvCxnSpPr>
            <p:nvPr/>
          </p:nvCxnSpPr>
          <p:spPr bwMode="auto">
            <a:xfrm>
              <a:off x="1641475" y="1635125"/>
              <a:ext cx="84138" cy="0"/>
            </a:xfrm>
            <a:prstGeom prst="straightConnector1">
              <a:avLst/>
            </a:prstGeom>
            <a:noFill/>
            <a:ln w="9525">
              <a:solidFill>
                <a:schemeClr val="bg1">
                  <a:lumMod val="50000"/>
                </a:schemeClr>
              </a:solidFill>
              <a:round/>
              <a:headEnd/>
              <a:tailEnd type="triangle" w="med" len="med"/>
            </a:ln>
            <a:effectLst/>
          </p:spPr>
        </p:cxnSp>
        <p:cxnSp>
          <p:nvCxnSpPr>
            <p:cNvPr id="27" name="AutoShape 44"/>
            <p:cNvCxnSpPr>
              <a:cxnSpLocks noChangeShapeType="1"/>
              <a:stCxn id="5" idx="3"/>
              <a:endCxn id="7" idx="1"/>
            </p:cNvCxnSpPr>
            <p:nvPr/>
          </p:nvCxnSpPr>
          <p:spPr bwMode="auto">
            <a:xfrm>
              <a:off x="2347913" y="1635125"/>
              <a:ext cx="84138" cy="0"/>
            </a:xfrm>
            <a:prstGeom prst="straightConnector1">
              <a:avLst/>
            </a:prstGeom>
            <a:noFill/>
            <a:ln w="9525">
              <a:solidFill>
                <a:schemeClr val="bg1">
                  <a:lumMod val="50000"/>
                </a:schemeClr>
              </a:solidFill>
              <a:round/>
              <a:headEnd/>
              <a:tailEnd type="triangle" w="med" len="med"/>
            </a:ln>
            <a:effectLst/>
          </p:spPr>
        </p:cxnSp>
        <p:sp>
          <p:nvSpPr>
            <p:cNvPr id="28" name="Rectangle 45"/>
            <p:cNvSpPr>
              <a:spLocks noChangeArrowheads="1"/>
            </p:cNvSpPr>
            <p:nvPr/>
          </p:nvSpPr>
          <p:spPr bwMode="auto">
            <a:xfrm>
              <a:off x="269875" y="14081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29" name="AutoShape 47"/>
            <p:cNvSpPr>
              <a:spLocks noChangeArrowheads="1"/>
            </p:cNvSpPr>
            <p:nvPr/>
          </p:nvSpPr>
          <p:spPr bwMode="auto">
            <a:xfrm>
              <a:off x="288730" y="17033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30" name="AutoShape 50"/>
            <p:cNvSpPr>
              <a:spLocks noChangeArrowheads="1"/>
            </p:cNvSpPr>
            <p:nvPr/>
          </p:nvSpPr>
          <p:spPr bwMode="auto">
            <a:xfrm>
              <a:off x="2930377" y="1698625"/>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1" name="AutoShape 52"/>
            <p:cNvSpPr>
              <a:spLocks noChangeArrowheads="1"/>
            </p:cNvSpPr>
            <p:nvPr/>
          </p:nvSpPr>
          <p:spPr bwMode="auto">
            <a:xfrm>
              <a:off x="2791091"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2" name="AutoShape 54"/>
            <p:cNvSpPr>
              <a:spLocks noChangeArrowheads="1"/>
            </p:cNvSpPr>
            <p:nvPr/>
          </p:nvSpPr>
          <p:spPr bwMode="auto">
            <a:xfrm>
              <a:off x="2624986"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3" name="AutoShape 57"/>
            <p:cNvSpPr>
              <a:spLocks noChangeArrowheads="1"/>
            </p:cNvSpPr>
            <p:nvPr/>
          </p:nvSpPr>
          <p:spPr bwMode="auto">
            <a:xfrm>
              <a:off x="3096303" y="22225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4" name="Text Box 58"/>
            <p:cNvSpPr txBox="1">
              <a:spLocks noChangeArrowheads="1"/>
            </p:cNvSpPr>
            <p:nvPr/>
          </p:nvSpPr>
          <p:spPr bwMode="auto">
            <a:xfrm>
              <a:off x="3078163" y="22481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35" name="AutoShape 60"/>
            <p:cNvSpPr>
              <a:spLocks noChangeArrowheads="1"/>
            </p:cNvSpPr>
            <p:nvPr/>
          </p:nvSpPr>
          <p:spPr bwMode="auto">
            <a:xfrm>
              <a:off x="1807400" y="22145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6" name="Text Box 61"/>
            <p:cNvSpPr txBox="1">
              <a:spLocks noChangeArrowheads="1"/>
            </p:cNvSpPr>
            <p:nvPr/>
          </p:nvSpPr>
          <p:spPr bwMode="auto">
            <a:xfrm>
              <a:off x="1789113" y="2277805"/>
              <a:ext cx="179388" cy="214571"/>
            </a:xfrm>
            <a:prstGeom prst="rect">
              <a:avLst/>
            </a:prstGeom>
            <a:noFill/>
            <a:ln w="9525" algn="ctr">
              <a:noFill/>
              <a:miter lim="800000"/>
              <a:headEnd/>
              <a:tailEnd/>
            </a:ln>
            <a:effectLst/>
          </p:spPr>
          <p:txBody>
            <a:bodyPr wrap="none">
              <a:spAutoFit/>
            </a:bodyPr>
            <a:lstStyle/>
            <a:p>
              <a:endParaRPr lang="en-US" sz="800" b="1"/>
            </a:p>
          </p:txBody>
        </p:sp>
        <p:sp>
          <p:nvSpPr>
            <p:cNvPr id="37" name="AutoShape 63"/>
            <p:cNvSpPr>
              <a:spLocks noChangeArrowheads="1"/>
            </p:cNvSpPr>
            <p:nvPr/>
          </p:nvSpPr>
          <p:spPr bwMode="auto">
            <a:xfrm>
              <a:off x="1137745" y="22145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38" name="AutoShape 65"/>
            <p:cNvCxnSpPr>
              <a:cxnSpLocks noChangeShapeType="1"/>
              <a:stCxn id="22" idx="1"/>
              <a:endCxn id="23" idx="3"/>
            </p:cNvCxnSpPr>
            <p:nvPr/>
          </p:nvCxnSpPr>
          <p:spPr bwMode="auto">
            <a:xfrm rot="10800000">
              <a:off x="1766888" y="2160588"/>
              <a:ext cx="82550" cy="0"/>
            </a:xfrm>
            <a:prstGeom prst="straightConnector1">
              <a:avLst/>
            </a:prstGeom>
            <a:noFill/>
            <a:ln w="19050">
              <a:solidFill>
                <a:schemeClr val="bg1">
                  <a:lumMod val="50000"/>
                </a:schemeClr>
              </a:solidFill>
              <a:round/>
              <a:headEnd/>
              <a:tailEnd type="triangle" w="med" len="med"/>
            </a:ln>
            <a:effectLst/>
          </p:spPr>
        </p:cxnSp>
        <p:sp>
          <p:nvSpPr>
            <p:cNvPr id="39" name="Rectangle 66"/>
            <p:cNvSpPr>
              <a:spLocks noChangeArrowheads="1"/>
            </p:cNvSpPr>
            <p:nvPr/>
          </p:nvSpPr>
          <p:spPr bwMode="auto">
            <a:xfrm>
              <a:off x="269875" y="19113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40" name="Rectangle 67">
              <a:hlinkClick r:id="rId2" action="ppaction://hlinksldjump"/>
            </p:cNvPr>
            <p:cNvSpPr>
              <a:spLocks noChangeArrowheads="1"/>
            </p:cNvSpPr>
            <p:nvPr/>
          </p:nvSpPr>
          <p:spPr bwMode="auto">
            <a:xfrm>
              <a:off x="2111375" y="3948113"/>
              <a:ext cx="806450" cy="365125"/>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Customer Verification</a:t>
              </a:r>
            </a:p>
          </p:txBody>
        </p:sp>
        <p:sp>
          <p:nvSpPr>
            <p:cNvPr id="41" name="Rectangle 68">
              <a:hlinkClick r:id="rId2" action="ppaction://hlinksldjump"/>
            </p:cNvPr>
            <p:cNvSpPr>
              <a:spLocks noChangeArrowheads="1"/>
            </p:cNvSpPr>
            <p:nvPr/>
          </p:nvSpPr>
          <p:spPr bwMode="auto">
            <a:xfrm>
              <a:off x="282575" y="3948113"/>
              <a:ext cx="806450" cy="365125"/>
            </a:xfrm>
            <a:prstGeom prst="rect">
              <a:avLst/>
            </a:prstGeom>
            <a:solidFill>
              <a:schemeClr val="bg1">
                <a:lumMod val="50000"/>
              </a:schemeClr>
            </a:solidFill>
            <a:ln w="9525" algn="ctr">
              <a:solidFill>
                <a:schemeClr val="bg1">
                  <a:lumMod val="50000"/>
                </a:schemeClr>
              </a:solid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a:solidFill>
                    <a:schemeClr val="bg1"/>
                  </a:solidFill>
                </a:rPr>
                <a:t>Submission of forms and deposit</a:t>
              </a:r>
            </a:p>
          </p:txBody>
        </p:sp>
        <p:sp>
          <p:nvSpPr>
            <p:cNvPr id="42" name="Rectangle 69">
              <a:hlinkClick r:id="rId2" action="ppaction://hlinksldjump"/>
            </p:cNvPr>
            <p:cNvSpPr>
              <a:spLocks noChangeArrowheads="1"/>
            </p:cNvSpPr>
            <p:nvPr/>
          </p:nvSpPr>
          <p:spPr bwMode="auto">
            <a:xfrm>
              <a:off x="3025775" y="3948113"/>
              <a:ext cx="806450" cy="365125"/>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Provisioning</a:t>
              </a:r>
            </a:p>
          </p:txBody>
        </p:sp>
        <p:sp>
          <p:nvSpPr>
            <p:cNvPr id="43" name="Rectangle 70">
              <a:hlinkClick r:id="rId2" action="ppaction://hlinksldjump"/>
            </p:cNvPr>
            <p:cNvSpPr>
              <a:spLocks noChangeArrowheads="1"/>
            </p:cNvSpPr>
            <p:nvPr/>
          </p:nvSpPr>
          <p:spPr bwMode="auto">
            <a:xfrm>
              <a:off x="1196975" y="3948113"/>
              <a:ext cx="806450" cy="365125"/>
            </a:xfrm>
            <a:prstGeom prst="rect">
              <a:avLst/>
            </a:prstGeom>
            <a:solidFill>
              <a:schemeClr val="accent2">
                <a:lumMod val="40000"/>
                <a:lumOff val="60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lumMod val="50000"/>
                    </a:schemeClr>
                  </a:solidFill>
                </a:rPr>
                <a:t>CAF Audit</a:t>
              </a:r>
            </a:p>
          </p:txBody>
        </p:sp>
        <p:sp>
          <p:nvSpPr>
            <p:cNvPr id="44" name="AutoShape 71"/>
            <p:cNvSpPr>
              <a:spLocks noChangeArrowheads="1"/>
            </p:cNvSpPr>
            <p:nvPr/>
          </p:nvSpPr>
          <p:spPr bwMode="auto">
            <a:xfrm>
              <a:off x="188912" y="41910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45" name="AutoShape 72"/>
            <p:cNvSpPr>
              <a:spLocks noChangeArrowheads="1"/>
            </p:cNvSpPr>
            <p:nvPr/>
          </p:nvSpPr>
          <p:spPr bwMode="auto">
            <a:xfrm>
              <a:off x="3670300" y="42164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46" name="AutoShape 73"/>
            <p:cNvCxnSpPr>
              <a:cxnSpLocks noChangeShapeType="1"/>
              <a:stCxn id="41" idx="3"/>
              <a:endCxn id="43" idx="1"/>
            </p:cNvCxnSpPr>
            <p:nvPr/>
          </p:nvCxnSpPr>
          <p:spPr bwMode="auto">
            <a:xfrm>
              <a:off x="1089025" y="4130675"/>
              <a:ext cx="107950" cy="0"/>
            </a:xfrm>
            <a:prstGeom prst="straightConnector1">
              <a:avLst/>
            </a:prstGeom>
            <a:noFill/>
            <a:ln w="9525">
              <a:solidFill>
                <a:schemeClr val="bg1">
                  <a:lumMod val="50000"/>
                </a:schemeClr>
              </a:solidFill>
              <a:round/>
              <a:headEnd/>
              <a:tailEnd type="triangle" w="med" len="med"/>
            </a:ln>
            <a:effectLst/>
          </p:spPr>
        </p:cxnSp>
        <p:cxnSp>
          <p:nvCxnSpPr>
            <p:cNvPr id="47" name="AutoShape 74"/>
            <p:cNvCxnSpPr>
              <a:cxnSpLocks noChangeShapeType="1"/>
              <a:stCxn id="43" idx="3"/>
              <a:endCxn id="40" idx="1"/>
            </p:cNvCxnSpPr>
            <p:nvPr/>
          </p:nvCxnSpPr>
          <p:spPr bwMode="auto">
            <a:xfrm>
              <a:off x="2003425" y="4130675"/>
              <a:ext cx="107950" cy="0"/>
            </a:xfrm>
            <a:prstGeom prst="straightConnector1">
              <a:avLst/>
            </a:prstGeom>
            <a:noFill/>
            <a:ln w="9525">
              <a:solidFill>
                <a:schemeClr val="bg1">
                  <a:lumMod val="50000"/>
                </a:schemeClr>
              </a:solidFill>
              <a:round/>
              <a:headEnd/>
              <a:tailEnd type="triangle" w="med" len="med"/>
            </a:ln>
            <a:effectLst/>
          </p:spPr>
        </p:cxnSp>
        <p:cxnSp>
          <p:nvCxnSpPr>
            <p:cNvPr id="48" name="AutoShape 75"/>
            <p:cNvCxnSpPr>
              <a:cxnSpLocks noChangeShapeType="1"/>
              <a:stCxn id="40" idx="3"/>
              <a:endCxn id="42" idx="1"/>
            </p:cNvCxnSpPr>
            <p:nvPr/>
          </p:nvCxnSpPr>
          <p:spPr bwMode="auto">
            <a:xfrm>
              <a:off x="2917825" y="4130675"/>
              <a:ext cx="107950" cy="0"/>
            </a:xfrm>
            <a:prstGeom prst="straightConnector1">
              <a:avLst/>
            </a:prstGeom>
            <a:noFill/>
            <a:ln w="9525">
              <a:solidFill>
                <a:schemeClr val="bg1">
                  <a:lumMod val="50000"/>
                </a:schemeClr>
              </a:solidFill>
              <a:round/>
              <a:headEnd/>
              <a:tailEnd type="triangle" w="med" len="med"/>
            </a:ln>
            <a:effectLst/>
          </p:spPr>
        </p:cxnSp>
        <p:sp>
          <p:nvSpPr>
            <p:cNvPr id="49" name="Rectangle 76"/>
            <p:cNvSpPr>
              <a:spLocks noChangeArrowheads="1"/>
            </p:cNvSpPr>
            <p:nvPr/>
          </p:nvSpPr>
          <p:spPr bwMode="auto">
            <a:xfrm>
              <a:off x="228600" y="3657600"/>
              <a:ext cx="3657600" cy="762000"/>
            </a:xfrm>
            <a:prstGeom prst="rect">
              <a:avLst/>
            </a:prstGeom>
            <a:noFill/>
            <a:ln w="9525">
              <a:solidFill>
                <a:srgbClr val="FFCC66"/>
              </a:solidFill>
              <a:prstDash val="sysDot"/>
              <a:miter lim="800000"/>
              <a:headEnd/>
              <a:tailEnd/>
            </a:ln>
            <a:effectLst/>
          </p:spPr>
          <p:txBody>
            <a:bodyPr wrap="none" anchor="ctr"/>
            <a:lstStyle/>
            <a:p>
              <a:endParaRPr lang="en-US"/>
            </a:p>
          </p:txBody>
        </p:sp>
        <p:sp>
          <p:nvSpPr>
            <p:cNvPr id="50" name="Line 77"/>
            <p:cNvSpPr>
              <a:spLocks noChangeShapeType="1"/>
            </p:cNvSpPr>
            <p:nvPr/>
          </p:nvSpPr>
          <p:spPr bwMode="auto">
            <a:xfrm>
              <a:off x="1905000" y="33528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51" name="Text Box 78"/>
            <p:cNvSpPr txBox="1">
              <a:spLocks noChangeArrowheads="1"/>
            </p:cNvSpPr>
            <p:nvPr/>
          </p:nvSpPr>
          <p:spPr bwMode="auto">
            <a:xfrm>
              <a:off x="1301750" y="3657600"/>
              <a:ext cx="1435100" cy="228600"/>
            </a:xfrm>
            <a:prstGeom prst="rect">
              <a:avLst/>
            </a:prstGeom>
            <a:noFill/>
            <a:ln w="9525">
              <a:noFill/>
              <a:miter lim="800000"/>
              <a:headEnd/>
              <a:tailEnd/>
            </a:ln>
            <a:effectLst/>
          </p:spPr>
          <p:txBody>
            <a:bodyPr wrap="none">
              <a:spAutoFit/>
            </a:bodyPr>
            <a:lstStyle/>
            <a:p>
              <a:pPr algn="l"/>
              <a:r>
                <a:rPr lang="en-US" sz="900" b="1" i="1" dirty="0">
                  <a:solidFill>
                    <a:schemeClr val="bg1">
                      <a:lumMod val="50000"/>
                    </a:schemeClr>
                  </a:solidFill>
                </a:rPr>
                <a:t>Sales and provisioning</a:t>
              </a:r>
            </a:p>
          </p:txBody>
        </p:sp>
      </p:grpSp>
      <p:sp>
        <p:nvSpPr>
          <p:cNvPr id="52"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CAF</a:t>
            </a:r>
            <a:r>
              <a:rPr kumimoji="0" lang="en-US" sz="3000" b="1" i="0" u="none" strike="noStrike" kern="0" cap="none" spc="0" normalizeH="0" noProof="0" dirty="0" smtClean="0">
                <a:ln>
                  <a:noFill/>
                </a:ln>
                <a:solidFill>
                  <a:srgbClr val="646464"/>
                </a:solidFill>
                <a:effectLst/>
                <a:uLnTx/>
                <a:uFillTx/>
                <a:latin typeface="+mj-lt"/>
                <a:ea typeface="+mj-ea"/>
                <a:cs typeface="+mj-cs"/>
              </a:rPr>
              <a:t> Audit</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53" name="AutoShape 18"/>
          <p:cNvSpPr>
            <a:spLocks noChangeArrowheads="1"/>
          </p:cNvSpPr>
          <p:nvPr/>
        </p:nvSpPr>
        <p:spPr bwMode="auto">
          <a:xfrm>
            <a:off x="4191000" y="1143000"/>
            <a:ext cx="4572000" cy="4953000"/>
          </a:xfrm>
          <a:prstGeom prst="roundRect">
            <a:avLst>
              <a:gd name="adj" fmla="val 0"/>
            </a:avLst>
          </a:prstGeom>
          <a:solidFill>
            <a:schemeClr val="bg1">
              <a:lumMod val="95000"/>
            </a:schemeClr>
          </a:solidFill>
          <a:ln w="3175" algn="ctr">
            <a:noFill/>
            <a:prstDash val="sysDot"/>
            <a:round/>
            <a:headEnd/>
            <a:tailEnd/>
          </a:ln>
          <a:effectLst/>
        </p:spPr>
        <p:txBody>
          <a:bodyPr/>
          <a:lstStyle/>
          <a:p>
            <a:pPr marL="342900" indent="-177800">
              <a:lnSpc>
                <a:spcPct val="140000"/>
              </a:lnSpc>
              <a:spcBef>
                <a:spcPct val="20000"/>
              </a:spcBef>
              <a:spcAft>
                <a:spcPct val="20000"/>
              </a:spcAft>
              <a:buClr>
                <a:schemeClr val="accent4">
                  <a:lumMod val="50000"/>
                </a:schemeClr>
              </a:buClr>
            </a:pPr>
            <a:r>
              <a:rPr lang="en-US" sz="1100" b="1" dirty="0" smtClean="0">
                <a:solidFill>
                  <a:srgbClr val="646464"/>
                </a:solidFill>
                <a:latin typeface="EYInterstate" pitchFamily="2" charset="0"/>
                <a:ea typeface="굴림" charset="-127"/>
              </a:rPr>
              <a:t>CAF Audit</a:t>
            </a:r>
          </a:p>
          <a:p>
            <a:pPr marL="342900" indent="-177800">
              <a:lnSpc>
                <a:spcPct val="140000"/>
              </a:lnSpc>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 CAF Audit primarily aims at reviewing the CAFs submitted by subscribers to ensure the following:</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All necessary details for Customer Verification and provisioning are filled in accurately and completely</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All supporting documents are submitted by the subscriber</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Details as per CAF, details as per supporting documents  and details as per POS entry do not have any discrepancies</a:t>
            </a:r>
          </a:p>
          <a:p>
            <a:pPr marL="342900" indent="-177800">
              <a:lnSpc>
                <a:spcPct val="140000"/>
              </a:lnSpc>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In case of any errors noted, CAF is rejected, else CAF is forwarded to the Customer Verification team. For e.g. Subscriber A’s CAF would be rejected in case:</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Billing address is not provided completely; or</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Rate plan is not ticked; or</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Different signatures exist on CAF and on the proof of identity document; or</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Different rate plans are ticked in CAF and POS entry; or</a:t>
            </a:r>
          </a:p>
          <a:p>
            <a:pPr marL="742950" lvl="1"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Address or identity proof is not attached.</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8912" y="1219200"/>
            <a:ext cx="3749040" cy="2743200"/>
            <a:chOff x="188912" y="1371600"/>
            <a:chExt cx="3697288" cy="3048000"/>
          </a:xfrm>
        </p:grpSpPr>
        <p:sp>
          <p:nvSpPr>
            <p:cNvPr id="4" name="Rectangle 21"/>
            <p:cNvSpPr>
              <a:spLocks noChangeArrowheads="1"/>
            </p:cNvSpPr>
            <p:nvPr/>
          </p:nvSpPr>
          <p:spPr bwMode="auto">
            <a:xfrm>
              <a:off x="228600" y="13716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5" name="Rectangle 22">
              <a:hlinkClick r:id="rId2" action="ppaction://hlinksldjump"/>
            </p:cNvPr>
            <p:cNvSpPr>
              <a:spLocks noChangeArrowheads="1"/>
            </p:cNvSpPr>
            <p:nvPr/>
          </p:nvSpPr>
          <p:spPr bwMode="auto">
            <a:xfrm>
              <a:off x="1725613"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6" name="Rectangle 23">
              <a:hlinkClick r:id="rId2" action="ppaction://hlinksldjump"/>
            </p:cNvPr>
            <p:cNvSpPr>
              <a:spLocks noChangeArrowheads="1"/>
            </p:cNvSpPr>
            <p:nvPr/>
          </p:nvSpPr>
          <p:spPr bwMode="auto">
            <a:xfrm>
              <a:off x="311150"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7" name="Rectangle 24">
              <a:hlinkClick r:id="rId2" action="ppaction://hlinksldjump"/>
            </p:cNvPr>
            <p:cNvSpPr>
              <a:spLocks noChangeArrowheads="1"/>
            </p:cNvSpPr>
            <p:nvPr/>
          </p:nvSpPr>
          <p:spPr bwMode="auto">
            <a:xfrm>
              <a:off x="2432050"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8" name="Rectangle 25">
              <a:hlinkClick r:id="rId2" action="ppaction://hlinksldjump"/>
            </p:cNvPr>
            <p:cNvSpPr>
              <a:spLocks noChangeArrowheads="1"/>
            </p:cNvSpPr>
            <p:nvPr/>
          </p:nvSpPr>
          <p:spPr bwMode="auto">
            <a:xfrm>
              <a:off x="1017588"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9" name="Oval 26">
              <a:hlinkClick r:id="rId2" action="ppaction://hlinksldjump"/>
            </p:cNvPr>
            <p:cNvSpPr>
              <a:spLocks noChangeArrowheads="1"/>
            </p:cNvSpPr>
            <p:nvPr/>
          </p:nvSpPr>
          <p:spPr bwMode="auto">
            <a:xfrm>
              <a:off x="3230563" y="15049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0" name="Rectangle 27">
              <a:hlinkClick r:id="rId2" action="ppaction://hlinksldjump"/>
            </p:cNvPr>
            <p:cNvSpPr>
              <a:spLocks noChangeArrowheads="1"/>
            </p:cNvSpPr>
            <p:nvPr/>
          </p:nvSpPr>
          <p:spPr bwMode="auto">
            <a:xfrm>
              <a:off x="395288" y="2032000"/>
              <a:ext cx="622300"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1" name="Rectangle 28">
              <a:hlinkClick r:id="rId2" action="ppaction://hlinksldjump"/>
            </p:cNvPr>
            <p:cNvSpPr>
              <a:spLocks noChangeArrowheads="1"/>
            </p:cNvSpPr>
            <p:nvPr/>
          </p:nvSpPr>
          <p:spPr bwMode="auto">
            <a:xfrm>
              <a:off x="519113" y="2662238"/>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2" name="Rectangle 29">
              <a:hlinkClick r:id="rId2" action="ppaction://hlinksldjump"/>
            </p:cNvPr>
            <p:cNvSpPr>
              <a:spLocks noChangeArrowheads="1"/>
            </p:cNvSpPr>
            <p:nvPr/>
          </p:nvSpPr>
          <p:spPr bwMode="auto">
            <a:xfrm>
              <a:off x="311150" y="3057525"/>
              <a:ext cx="541338"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3" name="Rectangle 30">
              <a:hlinkClick r:id="rId2" action="ppaction://hlinksldjump"/>
            </p:cNvPr>
            <p:cNvSpPr>
              <a:spLocks noChangeArrowheads="1"/>
            </p:cNvSpPr>
            <p:nvPr/>
          </p:nvSpPr>
          <p:spPr bwMode="auto">
            <a:xfrm>
              <a:off x="893763" y="3057525"/>
              <a:ext cx="539750"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14" name="AutoShape 31"/>
            <p:cNvCxnSpPr>
              <a:cxnSpLocks noChangeShapeType="1"/>
              <a:stCxn id="7" idx="3"/>
              <a:endCxn id="9" idx="2"/>
            </p:cNvCxnSpPr>
            <p:nvPr/>
          </p:nvCxnSpPr>
          <p:spPr bwMode="auto">
            <a:xfrm>
              <a:off x="3054350" y="1635125"/>
              <a:ext cx="176213" cy="0"/>
            </a:xfrm>
            <a:prstGeom prst="straightConnector1">
              <a:avLst/>
            </a:prstGeom>
            <a:noFill/>
            <a:ln w="19050">
              <a:solidFill>
                <a:schemeClr val="bg1">
                  <a:lumMod val="50000"/>
                </a:schemeClr>
              </a:solidFill>
              <a:round/>
              <a:headEnd/>
              <a:tailEnd type="triangle" w="med" len="med"/>
            </a:ln>
            <a:effectLst/>
          </p:spPr>
        </p:cxnSp>
        <p:cxnSp>
          <p:nvCxnSpPr>
            <p:cNvPr id="15" name="AutoShape 32"/>
            <p:cNvCxnSpPr>
              <a:cxnSpLocks noChangeShapeType="1"/>
              <a:stCxn id="9" idx="4"/>
              <a:endCxn id="39" idx="3"/>
            </p:cNvCxnSpPr>
            <p:nvPr/>
          </p:nvCxnSpPr>
          <p:spPr bwMode="auto">
            <a:xfrm rot="5400000">
              <a:off x="3206750" y="18192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16" name="AutoShape 33"/>
            <p:cNvCxnSpPr>
              <a:cxnSpLocks noChangeShapeType="1"/>
              <a:stCxn id="21" idx="1"/>
              <a:endCxn id="22" idx="3"/>
            </p:cNvCxnSpPr>
            <p:nvPr/>
          </p:nvCxnSpPr>
          <p:spPr bwMode="auto">
            <a:xfrm rot="10800000">
              <a:off x="2473325" y="2160588"/>
              <a:ext cx="82550" cy="0"/>
            </a:xfrm>
            <a:prstGeom prst="straightConnector1">
              <a:avLst/>
            </a:prstGeom>
            <a:noFill/>
            <a:ln w="19050">
              <a:solidFill>
                <a:schemeClr val="bg1">
                  <a:lumMod val="50000"/>
                </a:schemeClr>
              </a:solidFill>
              <a:round/>
              <a:headEnd/>
              <a:tailEnd type="triangle" w="med" len="med"/>
            </a:ln>
            <a:effectLst/>
          </p:spPr>
        </p:cxnSp>
        <p:cxnSp>
          <p:nvCxnSpPr>
            <p:cNvPr id="17" name="AutoShape 34"/>
            <p:cNvCxnSpPr>
              <a:cxnSpLocks noChangeShapeType="1"/>
              <a:stCxn id="23" idx="1"/>
              <a:endCxn id="10" idx="3"/>
            </p:cNvCxnSpPr>
            <p:nvPr/>
          </p:nvCxnSpPr>
          <p:spPr bwMode="auto">
            <a:xfrm rot="10800000">
              <a:off x="1017588" y="2160588"/>
              <a:ext cx="125413" cy="0"/>
            </a:xfrm>
            <a:prstGeom prst="straightConnector1">
              <a:avLst/>
            </a:prstGeom>
            <a:noFill/>
            <a:ln w="19050">
              <a:solidFill>
                <a:schemeClr val="bg1">
                  <a:lumMod val="50000"/>
                </a:schemeClr>
              </a:solidFill>
              <a:round/>
              <a:headEnd/>
              <a:tailEnd type="triangle" w="med" len="med"/>
            </a:ln>
            <a:effectLst/>
          </p:spPr>
        </p:cxnSp>
        <p:cxnSp>
          <p:nvCxnSpPr>
            <p:cNvPr id="18" name="AutoShape 35"/>
            <p:cNvCxnSpPr>
              <a:cxnSpLocks noChangeShapeType="1"/>
              <a:stCxn id="39" idx="2"/>
              <a:endCxn id="24" idx="0"/>
            </p:cNvCxnSpPr>
            <p:nvPr/>
          </p:nvCxnSpPr>
          <p:spPr bwMode="auto">
            <a:xfrm rot="5400000">
              <a:off x="1325563" y="20828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19" name="AutoShape 36"/>
            <p:cNvCxnSpPr>
              <a:cxnSpLocks noChangeShapeType="1"/>
              <a:stCxn id="11" idx="2"/>
              <a:endCxn id="13" idx="0"/>
            </p:cNvCxnSpPr>
            <p:nvPr/>
          </p:nvCxnSpPr>
          <p:spPr bwMode="auto">
            <a:xfrm rot="16200000" flipH="1">
              <a:off x="930275" y="28225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20" name="AutoShape 37"/>
            <p:cNvCxnSpPr>
              <a:cxnSpLocks noChangeShapeType="1"/>
              <a:stCxn id="11" idx="2"/>
              <a:endCxn id="12" idx="0"/>
            </p:cNvCxnSpPr>
            <p:nvPr/>
          </p:nvCxnSpPr>
          <p:spPr bwMode="auto">
            <a:xfrm rot="5400000">
              <a:off x="639763" y="28638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21" name="Rectangle 38">
              <a:hlinkClick r:id="rId2" action="ppaction://hlinksldjump"/>
            </p:cNvPr>
            <p:cNvSpPr>
              <a:spLocks noChangeArrowheads="1"/>
            </p:cNvSpPr>
            <p:nvPr/>
          </p:nvSpPr>
          <p:spPr bwMode="auto">
            <a:xfrm>
              <a:off x="2555875"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39">
              <a:hlinkClick r:id="rId2" action="ppaction://hlinksldjump"/>
            </p:cNvPr>
            <p:cNvSpPr>
              <a:spLocks noChangeArrowheads="1"/>
            </p:cNvSpPr>
            <p:nvPr/>
          </p:nvSpPr>
          <p:spPr bwMode="auto">
            <a:xfrm>
              <a:off x="1849438"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40">
              <a:hlinkClick r:id="rId2" action="ppaction://hlinksldjump"/>
            </p:cNvPr>
            <p:cNvSpPr>
              <a:spLocks noChangeArrowheads="1"/>
            </p:cNvSpPr>
            <p:nvPr/>
          </p:nvSpPr>
          <p:spPr bwMode="auto">
            <a:xfrm>
              <a:off x="1143000" y="2032000"/>
              <a:ext cx="623888" cy="258763"/>
            </a:xfrm>
            <a:prstGeom prst="rect">
              <a:avLst/>
            </a:prstGeom>
            <a:solidFill>
              <a:schemeClr val="bg1">
                <a:lumMod val="85000"/>
              </a:schemeClr>
            </a:solidFill>
            <a:ln w="9525" algn="ctr">
              <a:solidFill>
                <a:schemeClr val="bg1">
                  <a:lumMod val="50000"/>
                </a:schemeClr>
              </a:solid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41"/>
            <p:cNvSpPr>
              <a:spLocks noChangeArrowheads="1"/>
            </p:cNvSpPr>
            <p:nvPr/>
          </p:nvSpPr>
          <p:spPr bwMode="auto">
            <a:xfrm>
              <a:off x="269875" y="25241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25" name="AutoShape 42"/>
            <p:cNvCxnSpPr>
              <a:cxnSpLocks noChangeShapeType="1"/>
              <a:stCxn id="6" idx="3"/>
              <a:endCxn id="8" idx="1"/>
            </p:cNvCxnSpPr>
            <p:nvPr/>
          </p:nvCxnSpPr>
          <p:spPr bwMode="auto">
            <a:xfrm>
              <a:off x="935038" y="1635125"/>
              <a:ext cx="82550" cy="0"/>
            </a:xfrm>
            <a:prstGeom prst="straightConnector1">
              <a:avLst/>
            </a:prstGeom>
            <a:noFill/>
            <a:ln w="9525">
              <a:solidFill>
                <a:schemeClr val="bg1">
                  <a:lumMod val="50000"/>
                </a:schemeClr>
              </a:solidFill>
              <a:round/>
              <a:headEnd/>
              <a:tailEnd type="triangle" w="med" len="med"/>
            </a:ln>
            <a:effectLst/>
          </p:spPr>
        </p:cxnSp>
        <p:cxnSp>
          <p:nvCxnSpPr>
            <p:cNvPr id="26" name="AutoShape 43"/>
            <p:cNvCxnSpPr>
              <a:cxnSpLocks noChangeShapeType="1"/>
              <a:stCxn id="8" idx="3"/>
              <a:endCxn id="5" idx="1"/>
            </p:cNvCxnSpPr>
            <p:nvPr/>
          </p:nvCxnSpPr>
          <p:spPr bwMode="auto">
            <a:xfrm>
              <a:off x="1641475" y="1635125"/>
              <a:ext cx="84138" cy="0"/>
            </a:xfrm>
            <a:prstGeom prst="straightConnector1">
              <a:avLst/>
            </a:prstGeom>
            <a:noFill/>
            <a:ln w="9525">
              <a:solidFill>
                <a:schemeClr val="bg1">
                  <a:lumMod val="50000"/>
                </a:schemeClr>
              </a:solidFill>
              <a:round/>
              <a:headEnd/>
              <a:tailEnd type="triangle" w="med" len="med"/>
            </a:ln>
            <a:effectLst/>
          </p:spPr>
        </p:cxnSp>
        <p:cxnSp>
          <p:nvCxnSpPr>
            <p:cNvPr id="27" name="AutoShape 44"/>
            <p:cNvCxnSpPr>
              <a:cxnSpLocks noChangeShapeType="1"/>
              <a:stCxn id="5" idx="3"/>
              <a:endCxn id="7" idx="1"/>
            </p:cNvCxnSpPr>
            <p:nvPr/>
          </p:nvCxnSpPr>
          <p:spPr bwMode="auto">
            <a:xfrm>
              <a:off x="2347913" y="1635125"/>
              <a:ext cx="84138" cy="0"/>
            </a:xfrm>
            <a:prstGeom prst="straightConnector1">
              <a:avLst/>
            </a:prstGeom>
            <a:noFill/>
            <a:ln w="9525">
              <a:solidFill>
                <a:schemeClr val="bg1">
                  <a:lumMod val="50000"/>
                </a:schemeClr>
              </a:solidFill>
              <a:round/>
              <a:headEnd/>
              <a:tailEnd type="triangle" w="med" len="med"/>
            </a:ln>
            <a:effectLst/>
          </p:spPr>
        </p:cxnSp>
        <p:sp>
          <p:nvSpPr>
            <p:cNvPr id="28" name="Rectangle 45"/>
            <p:cNvSpPr>
              <a:spLocks noChangeArrowheads="1"/>
            </p:cNvSpPr>
            <p:nvPr/>
          </p:nvSpPr>
          <p:spPr bwMode="auto">
            <a:xfrm>
              <a:off x="269875" y="14081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29" name="AutoShape 47"/>
            <p:cNvSpPr>
              <a:spLocks noChangeArrowheads="1"/>
            </p:cNvSpPr>
            <p:nvPr/>
          </p:nvSpPr>
          <p:spPr bwMode="auto">
            <a:xfrm>
              <a:off x="288730" y="17033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30" name="AutoShape 50"/>
            <p:cNvSpPr>
              <a:spLocks noChangeArrowheads="1"/>
            </p:cNvSpPr>
            <p:nvPr/>
          </p:nvSpPr>
          <p:spPr bwMode="auto">
            <a:xfrm>
              <a:off x="2930377" y="1698625"/>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1" name="AutoShape 52"/>
            <p:cNvSpPr>
              <a:spLocks noChangeArrowheads="1"/>
            </p:cNvSpPr>
            <p:nvPr/>
          </p:nvSpPr>
          <p:spPr bwMode="auto">
            <a:xfrm>
              <a:off x="2791091"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2" name="AutoShape 54"/>
            <p:cNvSpPr>
              <a:spLocks noChangeArrowheads="1"/>
            </p:cNvSpPr>
            <p:nvPr/>
          </p:nvSpPr>
          <p:spPr bwMode="auto">
            <a:xfrm>
              <a:off x="2624986"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3" name="AutoShape 57"/>
            <p:cNvSpPr>
              <a:spLocks noChangeArrowheads="1"/>
            </p:cNvSpPr>
            <p:nvPr/>
          </p:nvSpPr>
          <p:spPr bwMode="auto">
            <a:xfrm>
              <a:off x="3096303" y="22225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4" name="Text Box 58"/>
            <p:cNvSpPr txBox="1">
              <a:spLocks noChangeArrowheads="1"/>
            </p:cNvSpPr>
            <p:nvPr/>
          </p:nvSpPr>
          <p:spPr bwMode="auto">
            <a:xfrm>
              <a:off x="3078163" y="22481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35" name="AutoShape 60"/>
            <p:cNvSpPr>
              <a:spLocks noChangeArrowheads="1"/>
            </p:cNvSpPr>
            <p:nvPr/>
          </p:nvSpPr>
          <p:spPr bwMode="auto">
            <a:xfrm>
              <a:off x="1807400" y="22145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6" name="Text Box 61"/>
            <p:cNvSpPr txBox="1">
              <a:spLocks noChangeArrowheads="1"/>
            </p:cNvSpPr>
            <p:nvPr/>
          </p:nvSpPr>
          <p:spPr bwMode="auto">
            <a:xfrm>
              <a:off x="1789113" y="2277805"/>
              <a:ext cx="179388" cy="214571"/>
            </a:xfrm>
            <a:prstGeom prst="rect">
              <a:avLst/>
            </a:prstGeom>
            <a:noFill/>
            <a:ln w="9525" algn="ctr">
              <a:noFill/>
              <a:miter lim="800000"/>
              <a:headEnd/>
              <a:tailEnd/>
            </a:ln>
            <a:effectLst/>
          </p:spPr>
          <p:txBody>
            <a:bodyPr wrap="none">
              <a:spAutoFit/>
            </a:bodyPr>
            <a:lstStyle/>
            <a:p>
              <a:endParaRPr lang="en-US" sz="800" b="1"/>
            </a:p>
          </p:txBody>
        </p:sp>
        <p:sp>
          <p:nvSpPr>
            <p:cNvPr id="37" name="AutoShape 63"/>
            <p:cNvSpPr>
              <a:spLocks noChangeArrowheads="1"/>
            </p:cNvSpPr>
            <p:nvPr/>
          </p:nvSpPr>
          <p:spPr bwMode="auto">
            <a:xfrm>
              <a:off x="1137745" y="22145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38" name="AutoShape 65"/>
            <p:cNvCxnSpPr>
              <a:cxnSpLocks noChangeShapeType="1"/>
              <a:stCxn id="22" idx="1"/>
              <a:endCxn id="23" idx="3"/>
            </p:cNvCxnSpPr>
            <p:nvPr/>
          </p:nvCxnSpPr>
          <p:spPr bwMode="auto">
            <a:xfrm rot="10800000">
              <a:off x="1766888" y="2160588"/>
              <a:ext cx="82550" cy="0"/>
            </a:xfrm>
            <a:prstGeom prst="straightConnector1">
              <a:avLst/>
            </a:prstGeom>
            <a:noFill/>
            <a:ln w="19050">
              <a:solidFill>
                <a:schemeClr val="bg1">
                  <a:lumMod val="50000"/>
                </a:schemeClr>
              </a:solidFill>
              <a:round/>
              <a:headEnd/>
              <a:tailEnd type="triangle" w="med" len="med"/>
            </a:ln>
            <a:effectLst/>
          </p:spPr>
        </p:cxnSp>
        <p:sp>
          <p:nvSpPr>
            <p:cNvPr id="39" name="Rectangle 66"/>
            <p:cNvSpPr>
              <a:spLocks noChangeArrowheads="1"/>
            </p:cNvSpPr>
            <p:nvPr/>
          </p:nvSpPr>
          <p:spPr bwMode="auto">
            <a:xfrm>
              <a:off x="269875" y="19113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40" name="Rectangle 67">
              <a:hlinkClick r:id="rId2" action="ppaction://hlinksldjump"/>
            </p:cNvPr>
            <p:cNvSpPr>
              <a:spLocks noChangeArrowheads="1"/>
            </p:cNvSpPr>
            <p:nvPr/>
          </p:nvSpPr>
          <p:spPr bwMode="auto">
            <a:xfrm>
              <a:off x="2111375" y="3948113"/>
              <a:ext cx="806450" cy="365125"/>
            </a:xfrm>
            <a:prstGeom prst="rect">
              <a:avLst/>
            </a:prstGeom>
            <a:solidFill>
              <a:schemeClr val="accent2">
                <a:lumMod val="40000"/>
                <a:lumOff val="60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lumMod val="50000"/>
                    </a:schemeClr>
                  </a:solidFill>
                </a:rPr>
                <a:t>Customer Verification</a:t>
              </a:r>
            </a:p>
          </p:txBody>
        </p:sp>
        <p:sp>
          <p:nvSpPr>
            <p:cNvPr id="41" name="Rectangle 68">
              <a:hlinkClick r:id="rId2" action="ppaction://hlinksldjump"/>
            </p:cNvPr>
            <p:cNvSpPr>
              <a:spLocks noChangeArrowheads="1"/>
            </p:cNvSpPr>
            <p:nvPr/>
          </p:nvSpPr>
          <p:spPr bwMode="auto">
            <a:xfrm>
              <a:off x="282575" y="3948113"/>
              <a:ext cx="806450" cy="365125"/>
            </a:xfrm>
            <a:prstGeom prst="rect">
              <a:avLst/>
            </a:prstGeom>
            <a:solidFill>
              <a:schemeClr val="bg1">
                <a:lumMod val="50000"/>
              </a:schemeClr>
            </a:solidFill>
            <a:ln w="9525" algn="ctr">
              <a:solidFill>
                <a:schemeClr val="bg1">
                  <a:lumMod val="50000"/>
                </a:schemeClr>
              </a:solid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a:solidFill>
                    <a:schemeClr val="bg1"/>
                  </a:solidFill>
                </a:rPr>
                <a:t>Submission of forms and deposit</a:t>
              </a:r>
            </a:p>
          </p:txBody>
        </p:sp>
        <p:sp>
          <p:nvSpPr>
            <p:cNvPr id="42" name="Rectangle 69">
              <a:hlinkClick r:id="rId2" action="ppaction://hlinksldjump"/>
            </p:cNvPr>
            <p:cNvSpPr>
              <a:spLocks noChangeArrowheads="1"/>
            </p:cNvSpPr>
            <p:nvPr/>
          </p:nvSpPr>
          <p:spPr bwMode="auto">
            <a:xfrm>
              <a:off x="3025775" y="3948113"/>
              <a:ext cx="806450" cy="365125"/>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Provisioning</a:t>
              </a:r>
            </a:p>
          </p:txBody>
        </p:sp>
        <p:sp>
          <p:nvSpPr>
            <p:cNvPr id="43" name="Rectangle 70">
              <a:hlinkClick r:id="rId2" action="ppaction://hlinksldjump"/>
            </p:cNvPr>
            <p:cNvSpPr>
              <a:spLocks noChangeArrowheads="1"/>
            </p:cNvSpPr>
            <p:nvPr/>
          </p:nvSpPr>
          <p:spPr bwMode="auto">
            <a:xfrm>
              <a:off x="1196975" y="3948113"/>
              <a:ext cx="806450" cy="365125"/>
            </a:xfrm>
            <a:prstGeom prst="rect">
              <a:avLst/>
            </a:prstGeom>
            <a:solidFill>
              <a:schemeClr val="bg1">
                <a:lumMod val="50000"/>
              </a:schemeClr>
            </a:solidFill>
            <a:ln w="9525" algn="ctr">
              <a:solidFill>
                <a:schemeClr val="bg1">
                  <a:lumMod val="50000"/>
                </a:schemeClr>
              </a:solid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dirty="0">
                  <a:solidFill>
                    <a:schemeClr val="bg1"/>
                  </a:solidFill>
                </a:rPr>
                <a:t>CAF Audit</a:t>
              </a:r>
            </a:p>
          </p:txBody>
        </p:sp>
        <p:sp>
          <p:nvSpPr>
            <p:cNvPr id="44" name="AutoShape 71"/>
            <p:cNvSpPr>
              <a:spLocks noChangeArrowheads="1"/>
            </p:cNvSpPr>
            <p:nvPr/>
          </p:nvSpPr>
          <p:spPr bwMode="auto">
            <a:xfrm>
              <a:off x="188912" y="41910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45" name="AutoShape 72"/>
            <p:cNvSpPr>
              <a:spLocks noChangeArrowheads="1"/>
            </p:cNvSpPr>
            <p:nvPr/>
          </p:nvSpPr>
          <p:spPr bwMode="auto">
            <a:xfrm>
              <a:off x="3670300" y="42164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46" name="AutoShape 73"/>
            <p:cNvCxnSpPr>
              <a:cxnSpLocks noChangeShapeType="1"/>
              <a:stCxn id="41" idx="3"/>
              <a:endCxn id="43" idx="1"/>
            </p:cNvCxnSpPr>
            <p:nvPr/>
          </p:nvCxnSpPr>
          <p:spPr bwMode="auto">
            <a:xfrm>
              <a:off x="1089025" y="4130675"/>
              <a:ext cx="107950" cy="0"/>
            </a:xfrm>
            <a:prstGeom prst="straightConnector1">
              <a:avLst/>
            </a:prstGeom>
            <a:noFill/>
            <a:ln w="9525">
              <a:solidFill>
                <a:schemeClr val="bg1">
                  <a:lumMod val="50000"/>
                </a:schemeClr>
              </a:solidFill>
              <a:round/>
              <a:headEnd/>
              <a:tailEnd type="triangle" w="med" len="med"/>
            </a:ln>
            <a:effectLst/>
          </p:spPr>
        </p:cxnSp>
        <p:cxnSp>
          <p:nvCxnSpPr>
            <p:cNvPr id="47" name="AutoShape 74"/>
            <p:cNvCxnSpPr>
              <a:cxnSpLocks noChangeShapeType="1"/>
              <a:stCxn id="43" idx="3"/>
              <a:endCxn id="40" idx="1"/>
            </p:cNvCxnSpPr>
            <p:nvPr/>
          </p:nvCxnSpPr>
          <p:spPr bwMode="auto">
            <a:xfrm>
              <a:off x="2003425" y="4130675"/>
              <a:ext cx="107950" cy="0"/>
            </a:xfrm>
            <a:prstGeom prst="straightConnector1">
              <a:avLst/>
            </a:prstGeom>
            <a:noFill/>
            <a:ln w="9525">
              <a:solidFill>
                <a:schemeClr val="bg1">
                  <a:lumMod val="50000"/>
                </a:schemeClr>
              </a:solidFill>
              <a:round/>
              <a:headEnd/>
              <a:tailEnd type="triangle" w="med" len="med"/>
            </a:ln>
            <a:effectLst/>
          </p:spPr>
        </p:cxnSp>
        <p:cxnSp>
          <p:nvCxnSpPr>
            <p:cNvPr id="48" name="AutoShape 75"/>
            <p:cNvCxnSpPr>
              <a:cxnSpLocks noChangeShapeType="1"/>
              <a:stCxn id="40" idx="3"/>
              <a:endCxn id="42" idx="1"/>
            </p:cNvCxnSpPr>
            <p:nvPr/>
          </p:nvCxnSpPr>
          <p:spPr bwMode="auto">
            <a:xfrm>
              <a:off x="2917825" y="4130675"/>
              <a:ext cx="107950" cy="0"/>
            </a:xfrm>
            <a:prstGeom prst="straightConnector1">
              <a:avLst/>
            </a:prstGeom>
            <a:noFill/>
            <a:ln w="9525">
              <a:solidFill>
                <a:schemeClr val="bg1">
                  <a:lumMod val="50000"/>
                </a:schemeClr>
              </a:solidFill>
              <a:round/>
              <a:headEnd/>
              <a:tailEnd type="triangle" w="med" len="med"/>
            </a:ln>
            <a:effectLst/>
          </p:spPr>
        </p:cxnSp>
        <p:sp>
          <p:nvSpPr>
            <p:cNvPr id="49" name="Rectangle 76"/>
            <p:cNvSpPr>
              <a:spLocks noChangeArrowheads="1"/>
            </p:cNvSpPr>
            <p:nvPr/>
          </p:nvSpPr>
          <p:spPr bwMode="auto">
            <a:xfrm>
              <a:off x="228600" y="3657600"/>
              <a:ext cx="3657600" cy="762000"/>
            </a:xfrm>
            <a:prstGeom prst="rect">
              <a:avLst/>
            </a:prstGeom>
            <a:noFill/>
            <a:ln w="9525">
              <a:solidFill>
                <a:srgbClr val="FFCC66"/>
              </a:solidFill>
              <a:prstDash val="sysDot"/>
              <a:miter lim="800000"/>
              <a:headEnd/>
              <a:tailEnd/>
            </a:ln>
            <a:effectLst/>
          </p:spPr>
          <p:txBody>
            <a:bodyPr wrap="none" anchor="ctr"/>
            <a:lstStyle/>
            <a:p>
              <a:endParaRPr lang="en-US"/>
            </a:p>
          </p:txBody>
        </p:sp>
        <p:sp>
          <p:nvSpPr>
            <p:cNvPr id="50" name="Line 77"/>
            <p:cNvSpPr>
              <a:spLocks noChangeShapeType="1"/>
            </p:cNvSpPr>
            <p:nvPr/>
          </p:nvSpPr>
          <p:spPr bwMode="auto">
            <a:xfrm>
              <a:off x="1905000" y="33528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51" name="Text Box 78"/>
            <p:cNvSpPr txBox="1">
              <a:spLocks noChangeArrowheads="1"/>
            </p:cNvSpPr>
            <p:nvPr/>
          </p:nvSpPr>
          <p:spPr bwMode="auto">
            <a:xfrm>
              <a:off x="1301750" y="3657600"/>
              <a:ext cx="1435100" cy="228600"/>
            </a:xfrm>
            <a:prstGeom prst="rect">
              <a:avLst/>
            </a:prstGeom>
            <a:noFill/>
            <a:ln w="9525">
              <a:noFill/>
              <a:miter lim="800000"/>
              <a:headEnd/>
              <a:tailEnd/>
            </a:ln>
            <a:effectLst/>
          </p:spPr>
          <p:txBody>
            <a:bodyPr wrap="none">
              <a:spAutoFit/>
            </a:bodyPr>
            <a:lstStyle/>
            <a:p>
              <a:pPr algn="l"/>
              <a:r>
                <a:rPr lang="en-US" sz="900" b="1" i="1" dirty="0">
                  <a:solidFill>
                    <a:schemeClr val="bg1">
                      <a:lumMod val="50000"/>
                    </a:schemeClr>
                  </a:solidFill>
                </a:rPr>
                <a:t>Sales and provisioning</a:t>
              </a:r>
            </a:p>
          </p:txBody>
        </p:sp>
      </p:grpSp>
      <p:sp>
        <p:nvSpPr>
          <p:cNvPr id="52"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lang="en-US" sz="3000" b="1" kern="0" dirty="0" smtClean="0">
                <a:solidFill>
                  <a:srgbClr val="646464"/>
                </a:solidFill>
                <a:latin typeface="+mj-lt"/>
                <a:ea typeface="+mj-ea"/>
                <a:cs typeface="+mj-cs"/>
              </a:rPr>
              <a:t>Customer Verification</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53" name="AutoShape 18"/>
          <p:cNvSpPr>
            <a:spLocks noChangeArrowheads="1"/>
          </p:cNvSpPr>
          <p:nvPr/>
        </p:nvSpPr>
        <p:spPr bwMode="auto">
          <a:xfrm>
            <a:off x="4267200" y="1143000"/>
            <a:ext cx="4572000" cy="4953000"/>
          </a:xfrm>
          <a:prstGeom prst="roundRect">
            <a:avLst>
              <a:gd name="adj" fmla="val 0"/>
            </a:avLst>
          </a:prstGeom>
          <a:solidFill>
            <a:schemeClr val="bg1">
              <a:lumMod val="95000"/>
            </a:schemeClr>
          </a:solidFill>
          <a:ln w="3175" algn="ctr">
            <a:noFill/>
            <a:prstDash val="sysDot"/>
            <a:round/>
            <a:headEnd/>
            <a:tailEnd/>
          </a:ln>
          <a:effectLst/>
        </p:spPr>
        <p:txBody>
          <a:bodyPr/>
          <a:lstStyle/>
          <a:p>
            <a:pPr marL="742950" lvl="1" indent="-285750">
              <a:spcBef>
                <a:spcPct val="20000"/>
              </a:spcBef>
              <a:spcAft>
                <a:spcPct val="20000"/>
              </a:spcAft>
              <a:buClr>
                <a:srgbClr val="FFD200"/>
              </a:buClr>
              <a:buSzPct val="75000"/>
              <a:buFont typeface="Arial" pitchFamily="34" charset="0"/>
              <a:buChar char="►"/>
            </a:pPr>
            <a:endParaRPr lang="en-US" sz="1100" dirty="0" smtClean="0">
              <a:solidFill>
                <a:srgbClr val="646464"/>
              </a:solidFill>
              <a:ea typeface="굴림" charset="-127"/>
            </a:endParaRPr>
          </a:p>
          <a:p>
            <a:pPr marL="742950" lvl="1"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Physically visiting the subscriber at the billing address mentioned in CAF; and</a:t>
            </a:r>
          </a:p>
          <a:p>
            <a:pPr marL="742950" lvl="1"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Running a ‘deduping’ query through fraud management system.</a:t>
            </a:r>
          </a:p>
          <a:p>
            <a:pPr marL="1143000" lvl="2" indent="-2286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Deduping refers to a fraudulent subscriber trying to regain an entry into the network by disguising his/ her identity. This is checked by matching the new subscriber details against details of existing blacklisted or fraudulent subscribers. </a:t>
            </a:r>
          </a:p>
          <a:p>
            <a:pPr marL="742950" lvl="1"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In case a subscriber fails on any of the above two checks, operator can deny services to that subscriber</a:t>
            </a:r>
          </a:p>
          <a:p>
            <a:pPr marL="742950" lvl="1" indent="-285750">
              <a:spcBef>
                <a:spcPct val="20000"/>
              </a:spcBef>
              <a:spcAft>
                <a:spcPct val="20000"/>
              </a:spcAft>
              <a:buClr>
                <a:srgbClr val="FFD200"/>
              </a:buClr>
              <a:buSzPct val="75000"/>
              <a:buFont typeface="Arial" pitchFamily="34" charset="0"/>
              <a:buChar char="►"/>
            </a:pPr>
            <a:endParaRPr lang="en-US" sz="1100" dirty="0" smtClean="0">
              <a:solidFill>
                <a:srgbClr val="646464"/>
              </a:solidFill>
              <a:ea typeface="굴림" charset="-127"/>
            </a:endParaRPr>
          </a:p>
          <a:p>
            <a:pPr marL="285750"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With clearance on CAF Audit and Customer Verification, a default credit rating and a credit limit is assigned to the subscriber. </a:t>
            </a:r>
          </a:p>
          <a:p>
            <a:pPr marL="285750"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Credit limit refers to the amount of unbilled usage allowed to the subscriber without requesting for interim payment.</a:t>
            </a:r>
          </a:p>
          <a:p>
            <a:pPr marL="742950" lvl="1" indent="-285750">
              <a:spcBef>
                <a:spcPct val="20000"/>
              </a:spcBef>
              <a:spcAft>
                <a:spcPct val="20000"/>
              </a:spcAft>
              <a:buClr>
                <a:srgbClr val="FFD200"/>
              </a:buClr>
              <a:buSzPct val="75000"/>
              <a:buFont typeface="Arial" pitchFamily="34" charset="0"/>
              <a:buChar char="►"/>
            </a:pPr>
            <a:r>
              <a:rPr lang="en-US" sz="1100" i="1" dirty="0" smtClean="0">
                <a:solidFill>
                  <a:srgbClr val="646464"/>
                </a:solidFill>
                <a:ea typeface="굴림" charset="-127"/>
              </a:rPr>
              <a:t>Generally, the initial credit limit is equal to the value of deposit received from the subscriber or  as per  the credit and collection policy of the operator</a:t>
            </a:r>
          </a:p>
          <a:p>
            <a:pPr marL="285750"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Completion of customer verification procedures with positive results triggers the process of provisioning subscriber’s connection on the network.</a:t>
            </a:r>
          </a:p>
          <a:p>
            <a:pPr marL="285750" indent="-285750">
              <a:spcBef>
                <a:spcPct val="20000"/>
              </a:spcBef>
              <a:spcAft>
                <a:spcPct val="20000"/>
              </a:spcAft>
              <a:buClr>
                <a:srgbClr val="FFD200"/>
              </a:buClr>
              <a:buSzPct val="75000"/>
              <a:buFont typeface="Arial" pitchFamily="34" charset="0"/>
              <a:buChar char="►"/>
            </a:pPr>
            <a:endParaRPr lang="en-US" sz="1100" dirty="0" smtClean="0">
              <a:solidFill>
                <a:srgbClr val="646464"/>
              </a:solidFill>
              <a:ea typeface="굴림" charset="-127"/>
            </a:endParaRPr>
          </a:p>
        </p:txBody>
      </p:sp>
      <p:sp>
        <p:nvSpPr>
          <p:cNvPr id="54" name="AutoShape 18"/>
          <p:cNvSpPr>
            <a:spLocks noChangeArrowheads="1"/>
          </p:cNvSpPr>
          <p:nvPr/>
        </p:nvSpPr>
        <p:spPr bwMode="auto">
          <a:xfrm>
            <a:off x="167640" y="4038600"/>
            <a:ext cx="4023360" cy="2057400"/>
          </a:xfrm>
          <a:prstGeom prst="roundRect">
            <a:avLst>
              <a:gd name="adj" fmla="val 0"/>
            </a:avLst>
          </a:prstGeom>
          <a:solidFill>
            <a:schemeClr val="bg1">
              <a:lumMod val="95000"/>
            </a:schemeClr>
          </a:solidFill>
          <a:ln w="3175" algn="ctr">
            <a:noFill/>
            <a:prstDash val="sysDot"/>
            <a:round/>
            <a:headEnd/>
            <a:tailEnd/>
          </a:ln>
          <a:effectLst/>
        </p:spPr>
        <p:txBody>
          <a:bodyPr/>
          <a:lstStyle/>
          <a:p>
            <a:pPr marL="342900" indent="-342900" algn="l">
              <a:lnSpc>
                <a:spcPct val="140000"/>
              </a:lnSpc>
              <a:spcBef>
                <a:spcPct val="20000"/>
              </a:spcBef>
              <a:spcAft>
                <a:spcPct val="20000"/>
              </a:spcAft>
              <a:buSzPct val="75000"/>
            </a:pPr>
            <a:r>
              <a:rPr lang="en-US" sz="1050" b="1" dirty="0" smtClean="0">
                <a:solidFill>
                  <a:srgbClr val="646464"/>
                </a:solidFill>
                <a:latin typeface="EYInterstate" pitchFamily="2" charset="0"/>
                <a:ea typeface="굴림" charset="-127"/>
              </a:rPr>
              <a:t>Customer Verification</a:t>
            </a:r>
            <a:endParaRPr lang="en-US" sz="1050" b="1" dirty="0">
              <a:solidFill>
                <a:srgbClr val="646464"/>
              </a:solidFill>
              <a:latin typeface="EYInterstate" pitchFamily="2" charset="0"/>
              <a:ea typeface="굴림" charset="-127"/>
            </a:endParaRP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Telecom operators run a credit risk with their postpaid subscribers, as services are allowed prior to payment. Therefore, in order to ensure that credit risk is at its minimum, operators undertake an exercise of ‘Customer Verification.</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The objective of this exercise is to ensure that fraudulent subscribers are not allowed to enter into the operator’s network. This check is done in following 2 ways:</a:t>
            </a:r>
          </a:p>
          <a:p>
            <a:pPr marL="342900" indent="-342900">
              <a:spcBef>
                <a:spcPct val="20000"/>
              </a:spcBef>
              <a:spcAft>
                <a:spcPct val="20000"/>
              </a:spcAft>
              <a:buSzPct val="75000"/>
            </a:pPr>
            <a:endParaRPr lang="en-US" sz="1100" dirty="0" smtClean="0">
              <a:solidFill>
                <a:srgbClr val="646464"/>
              </a:solidFill>
              <a:ea typeface="굴림" charset="-127"/>
            </a:endParaRPr>
          </a:p>
          <a:p>
            <a:pPr marL="342900" indent="-342900">
              <a:spcBef>
                <a:spcPct val="20000"/>
              </a:spcBef>
              <a:spcAft>
                <a:spcPct val="20000"/>
              </a:spcAft>
              <a:buSzPct val="75000"/>
              <a:buFont typeface="EYInterstate" pitchFamily="2" charset="0"/>
              <a:buChar char="•"/>
            </a:pPr>
            <a:endParaRPr lang="en-US" sz="1100" dirty="0" smtClean="0">
              <a:solidFill>
                <a:srgbClr val="646464"/>
              </a:solidFill>
              <a:ea typeface="굴림" charset="-127"/>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8912" y="1371600"/>
            <a:ext cx="3697288" cy="3048000"/>
            <a:chOff x="188912" y="1371600"/>
            <a:chExt cx="3697288" cy="3048000"/>
          </a:xfrm>
        </p:grpSpPr>
        <p:sp>
          <p:nvSpPr>
            <p:cNvPr id="4" name="Rectangle 21"/>
            <p:cNvSpPr>
              <a:spLocks noChangeArrowheads="1"/>
            </p:cNvSpPr>
            <p:nvPr/>
          </p:nvSpPr>
          <p:spPr bwMode="auto">
            <a:xfrm>
              <a:off x="228600" y="13716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5" name="Rectangle 22">
              <a:hlinkClick r:id="rId2" action="ppaction://hlinksldjump"/>
            </p:cNvPr>
            <p:cNvSpPr>
              <a:spLocks noChangeArrowheads="1"/>
            </p:cNvSpPr>
            <p:nvPr/>
          </p:nvSpPr>
          <p:spPr bwMode="auto">
            <a:xfrm>
              <a:off x="1725613"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6" name="Rectangle 23">
              <a:hlinkClick r:id="rId2" action="ppaction://hlinksldjump"/>
            </p:cNvPr>
            <p:cNvSpPr>
              <a:spLocks noChangeArrowheads="1"/>
            </p:cNvSpPr>
            <p:nvPr/>
          </p:nvSpPr>
          <p:spPr bwMode="auto">
            <a:xfrm>
              <a:off x="311150"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7" name="Rectangle 24">
              <a:hlinkClick r:id="rId2" action="ppaction://hlinksldjump"/>
            </p:cNvPr>
            <p:cNvSpPr>
              <a:spLocks noChangeArrowheads="1"/>
            </p:cNvSpPr>
            <p:nvPr/>
          </p:nvSpPr>
          <p:spPr bwMode="auto">
            <a:xfrm>
              <a:off x="2432050" y="1504950"/>
              <a:ext cx="622300"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8" name="Rectangle 25">
              <a:hlinkClick r:id="rId2" action="ppaction://hlinksldjump"/>
            </p:cNvPr>
            <p:cNvSpPr>
              <a:spLocks noChangeArrowheads="1"/>
            </p:cNvSpPr>
            <p:nvPr/>
          </p:nvSpPr>
          <p:spPr bwMode="auto">
            <a:xfrm>
              <a:off x="1017588" y="1504950"/>
              <a:ext cx="623888" cy="258763"/>
            </a:xfrm>
            <a:prstGeom prst="rect">
              <a:avLst/>
            </a:prstGeom>
            <a:solidFill>
              <a:schemeClr val="accent2">
                <a:lumMod val="40000"/>
                <a:lumOff val="60000"/>
              </a:schemeClr>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9" name="Oval 26">
              <a:hlinkClick r:id="rId2" action="ppaction://hlinksldjump"/>
            </p:cNvPr>
            <p:cNvSpPr>
              <a:spLocks noChangeArrowheads="1"/>
            </p:cNvSpPr>
            <p:nvPr/>
          </p:nvSpPr>
          <p:spPr bwMode="auto">
            <a:xfrm>
              <a:off x="3230563" y="15049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0" name="Rectangle 27">
              <a:hlinkClick r:id="rId2" action="ppaction://hlinksldjump"/>
            </p:cNvPr>
            <p:cNvSpPr>
              <a:spLocks noChangeArrowheads="1"/>
            </p:cNvSpPr>
            <p:nvPr/>
          </p:nvSpPr>
          <p:spPr bwMode="auto">
            <a:xfrm>
              <a:off x="395288" y="2032000"/>
              <a:ext cx="622300"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1" name="Rectangle 28">
              <a:hlinkClick r:id="rId2" action="ppaction://hlinksldjump"/>
            </p:cNvPr>
            <p:cNvSpPr>
              <a:spLocks noChangeArrowheads="1"/>
            </p:cNvSpPr>
            <p:nvPr/>
          </p:nvSpPr>
          <p:spPr bwMode="auto">
            <a:xfrm>
              <a:off x="519113" y="2662238"/>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2" name="Rectangle 29">
              <a:hlinkClick r:id="rId2" action="ppaction://hlinksldjump"/>
            </p:cNvPr>
            <p:cNvSpPr>
              <a:spLocks noChangeArrowheads="1"/>
            </p:cNvSpPr>
            <p:nvPr/>
          </p:nvSpPr>
          <p:spPr bwMode="auto">
            <a:xfrm>
              <a:off x="311150" y="3057525"/>
              <a:ext cx="541338"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13" name="Rectangle 30">
              <a:hlinkClick r:id="rId2" action="ppaction://hlinksldjump"/>
            </p:cNvPr>
            <p:cNvSpPr>
              <a:spLocks noChangeArrowheads="1"/>
            </p:cNvSpPr>
            <p:nvPr/>
          </p:nvSpPr>
          <p:spPr bwMode="auto">
            <a:xfrm>
              <a:off x="893763" y="3057525"/>
              <a:ext cx="539750" cy="223838"/>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14" name="AutoShape 31"/>
            <p:cNvCxnSpPr>
              <a:cxnSpLocks noChangeShapeType="1"/>
              <a:stCxn id="7" idx="3"/>
              <a:endCxn id="9" idx="2"/>
            </p:cNvCxnSpPr>
            <p:nvPr/>
          </p:nvCxnSpPr>
          <p:spPr bwMode="auto">
            <a:xfrm>
              <a:off x="3054350" y="1635125"/>
              <a:ext cx="176213" cy="0"/>
            </a:xfrm>
            <a:prstGeom prst="straightConnector1">
              <a:avLst/>
            </a:prstGeom>
            <a:noFill/>
            <a:ln w="19050">
              <a:solidFill>
                <a:schemeClr val="bg1">
                  <a:lumMod val="50000"/>
                </a:schemeClr>
              </a:solidFill>
              <a:round/>
              <a:headEnd/>
              <a:tailEnd type="triangle" w="med" len="med"/>
            </a:ln>
            <a:effectLst/>
          </p:spPr>
        </p:cxnSp>
        <p:cxnSp>
          <p:nvCxnSpPr>
            <p:cNvPr id="15" name="AutoShape 32"/>
            <p:cNvCxnSpPr>
              <a:cxnSpLocks noChangeShapeType="1"/>
              <a:stCxn id="9" idx="4"/>
              <a:endCxn id="39" idx="3"/>
            </p:cNvCxnSpPr>
            <p:nvPr/>
          </p:nvCxnSpPr>
          <p:spPr bwMode="auto">
            <a:xfrm rot="5400000">
              <a:off x="3206750" y="18192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16" name="AutoShape 33"/>
            <p:cNvCxnSpPr>
              <a:cxnSpLocks noChangeShapeType="1"/>
              <a:stCxn id="21" idx="1"/>
              <a:endCxn id="22" idx="3"/>
            </p:cNvCxnSpPr>
            <p:nvPr/>
          </p:nvCxnSpPr>
          <p:spPr bwMode="auto">
            <a:xfrm rot="10800000">
              <a:off x="2473325" y="2160588"/>
              <a:ext cx="82550" cy="0"/>
            </a:xfrm>
            <a:prstGeom prst="straightConnector1">
              <a:avLst/>
            </a:prstGeom>
            <a:noFill/>
            <a:ln w="19050">
              <a:solidFill>
                <a:schemeClr val="bg1">
                  <a:lumMod val="50000"/>
                </a:schemeClr>
              </a:solidFill>
              <a:round/>
              <a:headEnd/>
              <a:tailEnd type="triangle" w="med" len="med"/>
            </a:ln>
            <a:effectLst/>
          </p:spPr>
        </p:cxnSp>
        <p:cxnSp>
          <p:nvCxnSpPr>
            <p:cNvPr id="17" name="AutoShape 34"/>
            <p:cNvCxnSpPr>
              <a:cxnSpLocks noChangeShapeType="1"/>
              <a:stCxn id="23" idx="1"/>
              <a:endCxn id="10" idx="3"/>
            </p:cNvCxnSpPr>
            <p:nvPr/>
          </p:nvCxnSpPr>
          <p:spPr bwMode="auto">
            <a:xfrm rot="10800000">
              <a:off x="1017588" y="2160588"/>
              <a:ext cx="125413" cy="0"/>
            </a:xfrm>
            <a:prstGeom prst="straightConnector1">
              <a:avLst/>
            </a:prstGeom>
            <a:noFill/>
            <a:ln w="19050">
              <a:solidFill>
                <a:schemeClr val="bg1">
                  <a:lumMod val="50000"/>
                </a:schemeClr>
              </a:solidFill>
              <a:round/>
              <a:headEnd/>
              <a:tailEnd type="triangle" w="med" len="med"/>
            </a:ln>
            <a:effectLst/>
          </p:spPr>
        </p:cxnSp>
        <p:cxnSp>
          <p:nvCxnSpPr>
            <p:cNvPr id="18" name="AutoShape 35"/>
            <p:cNvCxnSpPr>
              <a:cxnSpLocks noChangeShapeType="1"/>
              <a:stCxn id="39" idx="2"/>
              <a:endCxn id="24" idx="0"/>
            </p:cNvCxnSpPr>
            <p:nvPr/>
          </p:nvCxnSpPr>
          <p:spPr bwMode="auto">
            <a:xfrm rot="5400000">
              <a:off x="1325563" y="20828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19" name="AutoShape 36"/>
            <p:cNvCxnSpPr>
              <a:cxnSpLocks noChangeShapeType="1"/>
              <a:stCxn id="11" idx="2"/>
              <a:endCxn id="13" idx="0"/>
            </p:cNvCxnSpPr>
            <p:nvPr/>
          </p:nvCxnSpPr>
          <p:spPr bwMode="auto">
            <a:xfrm rot="16200000" flipH="1">
              <a:off x="930275" y="28225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20" name="AutoShape 37"/>
            <p:cNvCxnSpPr>
              <a:cxnSpLocks noChangeShapeType="1"/>
              <a:stCxn id="11" idx="2"/>
              <a:endCxn id="12" idx="0"/>
            </p:cNvCxnSpPr>
            <p:nvPr/>
          </p:nvCxnSpPr>
          <p:spPr bwMode="auto">
            <a:xfrm rot="5400000">
              <a:off x="639763" y="28638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21" name="Rectangle 38">
              <a:hlinkClick r:id="rId2" action="ppaction://hlinksldjump"/>
            </p:cNvPr>
            <p:cNvSpPr>
              <a:spLocks noChangeArrowheads="1"/>
            </p:cNvSpPr>
            <p:nvPr/>
          </p:nvSpPr>
          <p:spPr bwMode="auto">
            <a:xfrm>
              <a:off x="2555875"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39">
              <a:hlinkClick r:id="rId2" action="ppaction://hlinksldjump"/>
            </p:cNvPr>
            <p:cNvSpPr>
              <a:spLocks noChangeArrowheads="1"/>
            </p:cNvSpPr>
            <p:nvPr/>
          </p:nvSpPr>
          <p:spPr bwMode="auto">
            <a:xfrm>
              <a:off x="1849438" y="2032000"/>
              <a:ext cx="623888" cy="258763"/>
            </a:xfrm>
            <a:prstGeom prst="rect">
              <a:avLst/>
            </a:prstGeom>
            <a:solidFill>
              <a:schemeClr val="bg1">
                <a:lumMod val="85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40">
              <a:hlinkClick r:id="rId2" action="ppaction://hlinksldjump"/>
            </p:cNvPr>
            <p:cNvSpPr>
              <a:spLocks noChangeArrowheads="1"/>
            </p:cNvSpPr>
            <p:nvPr/>
          </p:nvSpPr>
          <p:spPr bwMode="auto">
            <a:xfrm>
              <a:off x="1143000" y="2032000"/>
              <a:ext cx="623888" cy="258763"/>
            </a:xfrm>
            <a:prstGeom prst="rect">
              <a:avLst/>
            </a:prstGeom>
            <a:solidFill>
              <a:schemeClr val="bg1">
                <a:lumMod val="85000"/>
              </a:schemeClr>
            </a:solidFill>
            <a:ln w="9525" algn="ctr">
              <a:solidFill>
                <a:schemeClr val="bg1">
                  <a:lumMod val="50000"/>
                </a:schemeClr>
              </a:solid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41"/>
            <p:cNvSpPr>
              <a:spLocks noChangeArrowheads="1"/>
            </p:cNvSpPr>
            <p:nvPr/>
          </p:nvSpPr>
          <p:spPr bwMode="auto">
            <a:xfrm>
              <a:off x="269875" y="25241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25" name="AutoShape 42"/>
            <p:cNvCxnSpPr>
              <a:cxnSpLocks noChangeShapeType="1"/>
              <a:stCxn id="6" idx="3"/>
              <a:endCxn id="8" idx="1"/>
            </p:cNvCxnSpPr>
            <p:nvPr/>
          </p:nvCxnSpPr>
          <p:spPr bwMode="auto">
            <a:xfrm>
              <a:off x="935038" y="1635125"/>
              <a:ext cx="82550" cy="0"/>
            </a:xfrm>
            <a:prstGeom prst="straightConnector1">
              <a:avLst/>
            </a:prstGeom>
            <a:noFill/>
            <a:ln w="9525">
              <a:solidFill>
                <a:schemeClr val="bg1">
                  <a:lumMod val="50000"/>
                </a:schemeClr>
              </a:solidFill>
              <a:round/>
              <a:headEnd/>
              <a:tailEnd type="triangle" w="med" len="med"/>
            </a:ln>
            <a:effectLst/>
          </p:spPr>
        </p:cxnSp>
        <p:cxnSp>
          <p:nvCxnSpPr>
            <p:cNvPr id="26" name="AutoShape 43"/>
            <p:cNvCxnSpPr>
              <a:cxnSpLocks noChangeShapeType="1"/>
              <a:stCxn id="8" idx="3"/>
              <a:endCxn id="5" idx="1"/>
            </p:cNvCxnSpPr>
            <p:nvPr/>
          </p:nvCxnSpPr>
          <p:spPr bwMode="auto">
            <a:xfrm>
              <a:off x="1641475" y="1635125"/>
              <a:ext cx="84138" cy="0"/>
            </a:xfrm>
            <a:prstGeom prst="straightConnector1">
              <a:avLst/>
            </a:prstGeom>
            <a:noFill/>
            <a:ln w="9525">
              <a:solidFill>
                <a:schemeClr val="bg1">
                  <a:lumMod val="50000"/>
                </a:schemeClr>
              </a:solidFill>
              <a:round/>
              <a:headEnd/>
              <a:tailEnd type="triangle" w="med" len="med"/>
            </a:ln>
            <a:effectLst/>
          </p:spPr>
        </p:cxnSp>
        <p:cxnSp>
          <p:nvCxnSpPr>
            <p:cNvPr id="27" name="AutoShape 44"/>
            <p:cNvCxnSpPr>
              <a:cxnSpLocks noChangeShapeType="1"/>
              <a:stCxn id="5" idx="3"/>
              <a:endCxn id="7" idx="1"/>
            </p:cNvCxnSpPr>
            <p:nvPr/>
          </p:nvCxnSpPr>
          <p:spPr bwMode="auto">
            <a:xfrm>
              <a:off x="2347913" y="1635125"/>
              <a:ext cx="84138" cy="0"/>
            </a:xfrm>
            <a:prstGeom prst="straightConnector1">
              <a:avLst/>
            </a:prstGeom>
            <a:noFill/>
            <a:ln w="9525">
              <a:solidFill>
                <a:schemeClr val="bg1">
                  <a:lumMod val="50000"/>
                </a:schemeClr>
              </a:solidFill>
              <a:round/>
              <a:headEnd/>
              <a:tailEnd type="triangle" w="med" len="med"/>
            </a:ln>
            <a:effectLst/>
          </p:spPr>
        </p:cxnSp>
        <p:sp>
          <p:nvSpPr>
            <p:cNvPr id="28" name="Rectangle 45"/>
            <p:cNvSpPr>
              <a:spLocks noChangeArrowheads="1"/>
            </p:cNvSpPr>
            <p:nvPr/>
          </p:nvSpPr>
          <p:spPr bwMode="auto">
            <a:xfrm>
              <a:off x="269875" y="14081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29" name="AutoShape 47"/>
            <p:cNvSpPr>
              <a:spLocks noChangeArrowheads="1"/>
            </p:cNvSpPr>
            <p:nvPr/>
          </p:nvSpPr>
          <p:spPr bwMode="auto">
            <a:xfrm>
              <a:off x="288730" y="17033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30" name="AutoShape 50"/>
            <p:cNvSpPr>
              <a:spLocks noChangeArrowheads="1"/>
            </p:cNvSpPr>
            <p:nvPr/>
          </p:nvSpPr>
          <p:spPr bwMode="auto">
            <a:xfrm>
              <a:off x="2930377" y="1698625"/>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1" name="AutoShape 52"/>
            <p:cNvSpPr>
              <a:spLocks noChangeArrowheads="1"/>
            </p:cNvSpPr>
            <p:nvPr/>
          </p:nvSpPr>
          <p:spPr bwMode="auto">
            <a:xfrm>
              <a:off x="2791091"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2" name="AutoShape 54"/>
            <p:cNvSpPr>
              <a:spLocks noChangeArrowheads="1"/>
            </p:cNvSpPr>
            <p:nvPr/>
          </p:nvSpPr>
          <p:spPr bwMode="auto">
            <a:xfrm>
              <a:off x="2624986" y="1741670"/>
              <a:ext cx="147937" cy="133667"/>
            </a:xfrm>
            <a:prstGeom prst="can">
              <a:avLst>
                <a:gd name="adj" fmla="val 25877"/>
              </a:avLst>
            </a:prstGeom>
            <a:solidFill>
              <a:schemeClr val="accent2">
                <a:lumMod val="40000"/>
                <a:lumOff val="60000"/>
              </a:schemeClr>
            </a:solidFill>
            <a:ln w="9525">
              <a:solidFill>
                <a:schemeClr val="tx1"/>
              </a:solidFill>
              <a:round/>
              <a:headEnd/>
              <a:tailEnd/>
            </a:ln>
            <a:effectLst/>
          </p:spPr>
          <p:txBody>
            <a:bodyPr wrap="none" anchor="ctr"/>
            <a:lstStyle/>
            <a:p>
              <a:endParaRPr lang="en-US"/>
            </a:p>
          </p:txBody>
        </p:sp>
        <p:sp>
          <p:nvSpPr>
            <p:cNvPr id="33" name="AutoShape 57"/>
            <p:cNvSpPr>
              <a:spLocks noChangeArrowheads="1"/>
            </p:cNvSpPr>
            <p:nvPr/>
          </p:nvSpPr>
          <p:spPr bwMode="auto">
            <a:xfrm>
              <a:off x="3096303" y="22225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4" name="Text Box 58"/>
            <p:cNvSpPr txBox="1">
              <a:spLocks noChangeArrowheads="1"/>
            </p:cNvSpPr>
            <p:nvPr/>
          </p:nvSpPr>
          <p:spPr bwMode="auto">
            <a:xfrm>
              <a:off x="3078163" y="22481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35" name="AutoShape 60"/>
            <p:cNvSpPr>
              <a:spLocks noChangeArrowheads="1"/>
            </p:cNvSpPr>
            <p:nvPr/>
          </p:nvSpPr>
          <p:spPr bwMode="auto">
            <a:xfrm>
              <a:off x="1807400" y="22145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36" name="Text Box 61"/>
            <p:cNvSpPr txBox="1">
              <a:spLocks noChangeArrowheads="1"/>
            </p:cNvSpPr>
            <p:nvPr/>
          </p:nvSpPr>
          <p:spPr bwMode="auto">
            <a:xfrm>
              <a:off x="1789113" y="2277805"/>
              <a:ext cx="179388" cy="214571"/>
            </a:xfrm>
            <a:prstGeom prst="rect">
              <a:avLst/>
            </a:prstGeom>
            <a:noFill/>
            <a:ln w="9525" algn="ctr">
              <a:noFill/>
              <a:miter lim="800000"/>
              <a:headEnd/>
              <a:tailEnd/>
            </a:ln>
            <a:effectLst/>
          </p:spPr>
          <p:txBody>
            <a:bodyPr wrap="none">
              <a:spAutoFit/>
            </a:bodyPr>
            <a:lstStyle/>
            <a:p>
              <a:endParaRPr lang="en-US" sz="800" b="1"/>
            </a:p>
          </p:txBody>
        </p:sp>
        <p:sp>
          <p:nvSpPr>
            <p:cNvPr id="37" name="AutoShape 63"/>
            <p:cNvSpPr>
              <a:spLocks noChangeArrowheads="1"/>
            </p:cNvSpPr>
            <p:nvPr/>
          </p:nvSpPr>
          <p:spPr bwMode="auto">
            <a:xfrm>
              <a:off x="1137745" y="22145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38" name="AutoShape 65"/>
            <p:cNvCxnSpPr>
              <a:cxnSpLocks noChangeShapeType="1"/>
              <a:stCxn id="22" idx="1"/>
              <a:endCxn id="23" idx="3"/>
            </p:cNvCxnSpPr>
            <p:nvPr/>
          </p:nvCxnSpPr>
          <p:spPr bwMode="auto">
            <a:xfrm rot="10800000">
              <a:off x="1766888" y="2160588"/>
              <a:ext cx="82550" cy="0"/>
            </a:xfrm>
            <a:prstGeom prst="straightConnector1">
              <a:avLst/>
            </a:prstGeom>
            <a:noFill/>
            <a:ln w="19050">
              <a:solidFill>
                <a:schemeClr val="bg1">
                  <a:lumMod val="50000"/>
                </a:schemeClr>
              </a:solidFill>
              <a:round/>
              <a:headEnd/>
              <a:tailEnd type="triangle" w="med" len="med"/>
            </a:ln>
            <a:effectLst/>
          </p:spPr>
        </p:cxnSp>
        <p:sp>
          <p:nvSpPr>
            <p:cNvPr id="39" name="Rectangle 66"/>
            <p:cNvSpPr>
              <a:spLocks noChangeArrowheads="1"/>
            </p:cNvSpPr>
            <p:nvPr/>
          </p:nvSpPr>
          <p:spPr bwMode="auto">
            <a:xfrm>
              <a:off x="269875" y="19113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40" name="Rectangle 67">
              <a:hlinkClick r:id="rId2" action="ppaction://hlinksldjump"/>
            </p:cNvPr>
            <p:cNvSpPr>
              <a:spLocks noChangeArrowheads="1"/>
            </p:cNvSpPr>
            <p:nvPr/>
          </p:nvSpPr>
          <p:spPr bwMode="auto">
            <a:xfrm>
              <a:off x="2111375" y="3948113"/>
              <a:ext cx="806450" cy="365125"/>
            </a:xfrm>
            <a:prstGeom prst="rect">
              <a:avLst/>
            </a:prstGeom>
            <a:solidFill>
              <a:schemeClr val="bg1">
                <a:lumMod val="50000"/>
              </a:schemeClr>
            </a:solidFill>
            <a:ln w="9525" algn="ctr">
              <a:solidFill>
                <a:schemeClr val="bg1">
                  <a:lumMod val="50000"/>
                </a:schemeClr>
              </a:solid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dirty="0">
                  <a:solidFill>
                    <a:schemeClr val="bg1"/>
                  </a:solidFill>
                </a:rPr>
                <a:t>Customer Verification</a:t>
              </a:r>
            </a:p>
          </p:txBody>
        </p:sp>
        <p:sp>
          <p:nvSpPr>
            <p:cNvPr id="41" name="Rectangle 68">
              <a:hlinkClick r:id="rId2" action="ppaction://hlinksldjump"/>
            </p:cNvPr>
            <p:cNvSpPr>
              <a:spLocks noChangeArrowheads="1"/>
            </p:cNvSpPr>
            <p:nvPr/>
          </p:nvSpPr>
          <p:spPr bwMode="auto">
            <a:xfrm>
              <a:off x="282575" y="3948113"/>
              <a:ext cx="806450" cy="365125"/>
            </a:xfrm>
            <a:prstGeom prst="rect">
              <a:avLst/>
            </a:prstGeom>
            <a:solidFill>
              <a:schemeClr val="bg1">
                <a:lumMod val="50000"/>
              </a:schemeClr>
            </a:solidFill>
            <a:ln w="9525" algn="ctr">
              <a:solidFill>
                <a:schemeClr val="bg1">
                  <a:lumMod val="50000"/>
                </a:schemeClr>
              </a:solid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a:solidFill>
                    <a:schemeClr val="bg1"/>
                  </a:solidFill>
                </a:rPr>
                <a:t>Submission of forms and deposit</a:t>
              </a:r>
            </a:p>
          </p:txBody>
        </p:sp>
        <p:sp>
          <p:nvSpPr>
            <p:cNvPr id="42" name="Rectangle 69">
              <a:hlinkClick r:id="rId2" action="ppaction://hlinksldjump"/>
            </p:cNvPr>
            <p:cNvSpPr>
              <a:spLocks noChangeArrowheads="1"/>
            </p:cNvSpPr>
            <p:nvPr/>
          </p:nvSpPr>
          <p:spPr bwMode="auto">
            <a:xfrm>
              <a:off x="3025775" y="3948113"/>
              <a:ext cx="806450" cy="365125"/>
            </a:xfrm>
            <a:prstGeom prst="rect">
              <a:avLst/>
            </a:prstGeom>
            <a:solidFill>
              <a:schemeClr val="accent2">
                <a:lumMod val="40000"/>
                <a:lumOff val="60000"/>
              </a:schemeClr>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lumMod val="50000"/>
                    </a:schemeClr>
                  </a:solidFill>
                </a:rPr>
                <a:t>Provisioning</a:t>
              </a:r>
            </a:p>
          </p:txBody>
        </p:sp>
        <p:sp>
          <p:nvSpPr>
            <p:cNvPr id="43" name="Rectangle 70">
              <a:hlinkClick r:id="rId2" action="ppaction://hlinksldjump"/>
            </p:cNvPr>
            <p:cNvSpPr>
              <a:spLocks noChangeArrowheads="1"/>
            </p:cNvSpPr>
            <p:nvPr/>
          </p:nvSpPr>
          <p:spPr bwMode="auto">
            <a:xfrm>
              <a:off x="1196975" y="3948113"/>
              <a:ext cx="806450" cy="365125"/>
            </a:xfrm>
            <a:prstGeom prst="rect">
              <a:avLst/>
            </a:prstGeom>
            <a:solidFill>
              <a:schemeClr val="bg1">
                <a:lumMod val="50000"/>
              </a:schemeClr>
            </a:solidFill>
            <a:ln w="9525" algn="ctr">
              <a:solidFill>
                <a:schemeClr val="bg1">
                  <a:lumMod val="50000"/>
                </a:schemeClr>
              </a:solid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dirty="0">
                  <a:solidFill>
                    <a:schemeClr val="bg1"/>
                  </a:solidFill>
                </a:rPr>
                <a:t>CAF Audit</a:t>
              </a:r>
            </a:p>
          </p:txBody>
        </p:sp>
        <p:sp>
          <p:nvSpPr>
            <p:cNvPr id="44" name="AutoShape 71"/>
            <p:cNvSpPr>
              <a:spLocks noChangeArrowheads="1"/>
            </p:cNvSpPr>
            <p:nvPr/>
          </p:nvSpPr>
          <p:spPr bwMode="auto">
            <a:xfrm>
              <a:off x="188912" y="41910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45" name="AutoShape 72"/>
            <p:cNvSpPr>
              <a:spLocks noChangeArrowheads="1"/>
            </p:cNvSpPr>
            <p:nvPr/>
          </p:nvSpPr>
          <p:spPr bwMode="auto">
            <a:xfrm>
              <a:off x="3670300" y="4216400"/>
              <a:ext cx="192088" cy="187325"/>
            </a:xfrm>
            <a:prstGeom prst="can">
              <a:avLst>
                <a:gd name="adj" fmla="val 25000"/>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46" name="AutoShape 73"/>
            <p:cNvCxnSpPr>
              <a:cxnSpLocks noChangeShapeType="1"/>
              <a:stCxn id="41" idx="3"/>
              <a:endCxn id="43" idx="1"/>
            </p:cNvCxnSpPr>
            <p:nvPr/>
          </p:nvCxnSpPr>
          <p:spPr bwMode="auto">
            <a:xfrm>
              <a:off x="1089025" y="4130675"/>
              <a:ext cx="107950" cy="0"/>
            </a:xfrm>
            <a:prstGeom prst="straightConnector1">
              <a:avLst/>
            </a:prstGeom>
            <a:noFill/>
            <a:ln w="9525">
              <a:solidFill>
                <a:schemeClr val="bg1">
                  <a:lumMod val="50000"/>
                </a:schemeClr>
              </a:solidFill>
              <a:round/>
              <a:headEnd/>
              <a:tailEnd type="triangle" w="med" len="med"/>
            </a:ln>
            <a:effectLst/>
          </p:spPr>
        </p:cxnSp>
        <p:cxnSp>
          <p:nvCxnSpPr>
            <p:cNvPr id="47" name="AutoShape 74"/>
            <p:cNvCxnSpPr>
              <a:cxnSpLocks noChangeShapeType="1"/>
              <a:stCxn id="43" idx="3"/>
              <a:endCxn id="40" idx="1"/>
            </p:cNvCxnSpPr>
            <p:nvPr/>
          </p:nvCxnSpPr>
          <p:spPr bwMode="auto">
            <a:xfrm>
              <a:off x="2003425" y="4130675"/>
              <a:ext cx="107950" cy="0"/>
            </a:xfrm>
            <a:prstGeom prst="straightConnector1">
              <a:avLst/>
            </a:prstGeom>
            <a:noFill/>
            <a:ln w="9525">
              <a:solidFill>
                <a:schemeClr val="bg1">
                  <a:lumMod val="50000"/>
                </a:schemeClr>
              </a:solidFill>
              <a:round/>
              <a:headEnd/>
              <a:tailEnd type="triangle" w="med" len="med"/>
            </a:ln>
            <a:effectLst/>
          </p:spPr>
        </p:cxnSp>
        <p:cxnSp>
          <p:nvCxnSpPr>
            <p:cNvPr id="48" name="AutoShape 75"/>
            <p:cNvCxnSpPr>
              <a:cxnSpLocks noChangeShapeType="1"/>
              <a:stCxn id="40" idx="3"/>
              <a:endCxn id="42" idx="1"/>
            </p:cNvCxnSpPr>
            <p:nvPr/>
          </p:nvCxnSpPr>
          <p:spPr bwMode="auto">
            <a:xfrm>
              <a:off x="2917825" y="4130675"/>
              <a:ext cx="107950" cy="0"/>
            </a:xfrm>
            <a:prstGeom prst="straightConnector1">
              <a:avLst/>
            </a:prstGeom>
            <a:noFill/>
            <a:ln w="9525">
              <a:solidFill>
                <a:schemeClr val="bg1">
                  <a:lumMod val="50000"/>
                </a:schemeClr>
              </a:solidFill>
              <a:round/>
              <a:headEnd/>
              <a:tailEnd type="triangle" w="med" len="med"/>
            </a:ln>
            <a:effectLst/>
          </p:spPr>
        </p:cxnSp>
        <p:sp>
          <p:nvSpPr>
            <p:cNvPr id="49" name="Rectangle 76"/>
            <p:cNvSpPr>
              <a:spLocks noChangeArrowheads="1"/>
            </p:cNvSpPr>
            <p:nvPr/>
          </p:nvSpPr>
          <p:spPr bwMode="auto">
            <a:xfrm>
              <a:off x="228600" y="3657600"/>
              <a:ext cx="3657600" cy="762000"/>
            </a:xfrm>
            <a:prstGeom prst="rect">
              <a:avLst/>
            </a:prstGeom>
            <a:noFill/>
            <a:ln w="9525">
              <a:solidFill>
                <a:srgbClr val="FFCC66"/>
              </a:solidFill>
              <a:prstDash val="sysDot"/>
              <a:miter lim="800000"/>
              <a:headEnd/>
              <a:tailEnd/>
            </a:ln>
            <a:effectLst/>
          </p:spPr>
          <p:txBody>
            <a:bodyPr wrap="none" anchor="ctr"/>
            <a:lstStyle/>
            <a:p>
              <a:endParaRPr lang="en-US"/>
            </a:p>
          </p:txBody>
        </p:sp>
        <p:sp>
          <p:nvSpPr>
            <p:cNvPr id="50" name="Line 77"/>
            <p:cNvSpPr>
              <a:spLocks noChangeShapeType="1"/>
            </p:cNvSpPr>
            <p:nvPr/>
          </p:nvSpPr>
          <p:spPr bwMode="auto">
            <a:xfrm>
              <a:off x="1905000" y="33528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51" name="Text Box 78"/>
            <p:cNvSpPr txBox="1">
              <a:spLocks noChangeArrowheads="1"/>
            </p:cNvSpPr>
            <p:nvPr/>
          </p:nvSpPr>
          <p:spPr bwMode="auto">
            <a:xfrm>
              <a:off x="1301750" y="3657600"/>
              <a:ext cx="1435100" cy="228600"/>
            </a:xfrm>
            <a:prstGeom prst="rect">
              <a:avLst/>
            </a:prstGeom>
            <a:noFill/>
            <a:ln w="9525">
              <a:noFill/>
              <a:miter lim="800000"/>
              <a:headEnd/>
              <a:tailEnd/>
            </a:ln>
            <a:effectLst/>
          </p:spPr>
          <p:txBody>
            <a:bodyPr wrap="none">
              <a:spAutoFit/>
            </a:bodyPr>
            <a:lstStyle/>
            <a:p>
              <a:pPr algn="l"/>
              <a:r>
                <a:rPr lang="en-US" sz="900" b="1" i="1" dirty="0">
                  <a:solidFill>
                    <a:schemeClr val="bg1">
                      <a:lumMod val="50000"/>
                    </a:schemeClr>
                  </a:solidFill>
                </a:rPr>
                <a:t>Sales and provisioning</a:t>
              </a:r>
            </a:p>
          </p:txBody>
        </p:sp>
      </p:grpSp>
      <p:sp>
        <p:nvSpPr>
          <p:cNvPr id="52"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Provisioning &amp; Activation</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53" name="AutoShape 18"/>
          <p:cNvSpPr>
            <a:spLocks noChangeArrowheads="1"/>
          </p:cNvSpPr>
          <p:nvPr/>
        </p:nvSpPr>
        <p:spPr bwMode="auto">
          <a:xfrm>
            <a:off x="4191000" y="1143000"/>
            <a:ext cx="4572000" cy="495300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lnSpc>
                <a:spcPct val="140000"/>
              </a:lnSpc>
              <a:spcBef>
                <a:spcPct val="20000"/>
              </a:spcBef>
              <a:spcAft>
                <a:spcPct val="20000"/>
              </a:spcAft>
              <a:buClr>
                <a:srgbClr val="FFD200"/>
              </a:buClr>
              <a:buSzPct val="75000"/>
              <a:buFont typeface="Arial" pitchFamily="34" charset="0"/>
              <a:buChar char="►"/>
            </a:pPr>
            <a:r>
              <a:rPr lang="en-US" sz="1100" b="1" dirty="0" smtClean="0">
                <a:solidFill>
                  <a:srgbClr val="646464"/>
                </a:solidFill>
                <a:ea typeface="굴림" charset="-127"/>
              </a:rPr>
              <a:t>Provisioning</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Provisioning refers to inclusion of the new subscriber in the following systems</a:t>
            </a:r>
          </a:p>
          <a:p>
            <a:pPr marL="800100" lvl="1" indent="-342900">
              <a:spcBef>
                <a:spcPct val="20000"/>
              </a:spcBef>
              <a:spcAft>
                <a:spcPct val="20000"/>
              </a:spcAft>
              <a:buClr>
                <a:srgbClr val="FFD200"/>
              </a:buClr>
              <a:buSzPct val="75000"/>
              <a:buFont typeface="Arial" pitchFamily="34" charset="0"/>
              <a:buChar char="►"/>
            </a:pPr>
            <a:r>
              <a:rPr lang="en-US" sz="1100" b="1" dirty="0" smtClean="0">
                <a:solidFill>
                  <a:srgbClr val="646464"/>
                </a:solidFill>
                <a:ea typeface="굴림" charset="-127"/>
              </a:rPr>
              <a:t>Order Management </a:t>
            </a:r>
          </a:p>
          <a:p>
            <a:pPr marL="1257300" lvl="2"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Entering the accepted CAF data on the Order Management System (OMS)</a:t>
            </a:r>
          </a:p>
          <a:p>
            <a:pPr marL="1257300" lvl="2"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Activation of Subscriber in network and billing systems.</a:t>
            </a:r>
          </a:p>
          <a:p>
            <a:pPr marL="1257300" lvl="2"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Category assigned to customer for e.g. VIP , Retails, Enterprise etc. </a:t>
            </a:r>
          </a:p>
          <a:p>
            <a:pPr marL="1257300" lvl="2"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Assigning the subscribers, services applied for, against the relevant network elements</a:t>
            </a:r>
          </a:p>
          <a:p>
            <a:pPr marL="1257300" lvl="2"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Assigning the Tariff plan requested for by the subscriber in the billing system.</a:t>
            </a:r>
          </a:p>
          <a:p>
            <a:pPr marL="1257300" lvl="2" indent="-34290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Bill cycle assigned to the subscriber for bill generation.</a:t>
            </a:r>
          </a:p>
          <a:p>
            <a:pPr marL="742950" lvl="1" indent="-285750">
              <a:spcBef>
                <a:spcPct val="20000"/>
              </a:spcBef>
              <a:spcAft>
                <a:spcPct val="20000"/>
              </a:spcAft>
              <a:buClr>
                <a:srgbClr val="FFD200"/>
              </a:buClr>
              <a:buSzPct val="75000"/>
              <a:buFont typeface="Arial" pitchFamily="34" charset="0"/>
              <a:buChar char="►"/>
            </a:pPr>
            <a:r>
              <a:rPr lang="en-US" sz="1100" b="1" dirty="0" smtClean="0">
                <a:solidFill>
                  <a:srgbClr val="646464"/>
                </a:solidFill>
                <a:ea typeface="굴림" charset="-127"/>
              </a:rPr>
              <a:t>Customer Relationship Management (CRM) System</a:t>
            </a:r>
          </a:p>
          <a:p>
            <a:pPr marL="1200150" lvl="2"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It captures all the subscriber details pertaining to services requested, selected rate plan, billing address, billing cycle etc.</a:t>
            </a:r>
          </a:p>
          <a:p>
            <a:pPr marL="742950" lvl="1" indent="-285750">
              <a:spcBef>
                <a:spcPct val="20000"/>
              </a:spcBef>
              <a:spcAft>
                <a:spcPct val="20000"/>
              </a:spcAft>
              <a:buClr>
                <a:srgbClr val="FFD200"/>
              </a:buClr>
              <a:buSzPct val="75000"/>
              <a:buFont typeface="Arial" pitchFamily="34" charset="0"/>
              <a:buChar char="►"/>
            </a:pPr>
            <a:r>
              <a:rPr lang="en-US" sz="1100" b="1" dirty="0" smtClean="0">
                <a:solidFill>
                  <a:srgbClr val="646464"/>
                </a:solidFill>
                <a:ea typeface="굴림" charset="-127"/>
              </a:rPr>
              <a:t>Billing System</a:t>
            </a:r>
          </a:p>
          <a:p>
            <a:pPr marL="1200150" lvl="2" indent="-285750">
              <a:spcBef>
                <a:spcPct val="20000"/>
              </a:spcBef>
              <a:spcAft>
                <a:spcPct val="20000"/>
              </a:spcAft>
              <a:buClr>
                <a:srgbClr val="FFD200"/>
              </a:buClr>
              <a:buSzPct val="75000"/>
              <a:buFont typeface="Arial" pitchFamily="34" charset="0"/>
              <a:buChar char="►"/>
            </a:pPr>
            <a:r>
              <a:rPr lang="en-US" sz="1100" dirty="0" smtClean="0">
                <a:solidFill>
                  <a:srgbClr val="646464"/>
                </a:solidFill>
                <a:ea typeface="굴림" charset="-127"/>
              </a:rPr>
              <a:t>It captures all the subscriber details necessary for charging the subscriber for services used.</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457200" y="228600"/>
            <a:ext cx="8232775" cy="942975"/>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Postpaid Customer Life Cycle – CDR Generation &amp; Billing</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4" name="Rectangle 3"/>
          <p:cNvSpPr/>
          <p:nvPr/>
        </p:nvSpPr>
        <p:spPr>
          <a:xfrm>
            <a:off x="4963732" y="1993408"/>
            <a:ext cx="1328737"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 name="Rectangle 4"/>
          <p:cNvSpPr/>
          <p:nvPr/>
        </p:nvSpPr>
        <p:spPr>
          <a:xfrm>
            <a:off x="5016119" y="1998170"/>
            <a:ext cx="1222375"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Collections and Credit Risk Management</a:t>
            </a:r>
          </a:p>
        </p:txBody>
      </p:sp>
      <p:sp>
        <p:nvSpPr>
          <p:cNvPr id="6" name="Rectangle 5"/>
          <p:cNvSpPr/>
          <p:nvPr/>
        </p:nvSpPr>
        <p:spPr>
          <a:xfrm>
            <a:off x="3584448" y="3429000"/>
            <a:ext cx="1328737"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 name="Rectangle 20"/>
          <p:cNvSpPr>
            <a:spLocks noChangeArrowheads="1"/>
          </p:cNvSpPr>
          <p:nvPr/>
        </p:nvSpPr>
        <p:spPr bwMode="auto">
          <a:xfrm>
            <a:off x="3625977" y="4278868"/>
            <a:ext cx="1136650" cy="369332"/>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CDR Generation &amp; Billing</a:t>
            </a:r>
          </a:p>
        </p:txBody>
      </p:sp>
      <p:pic>
        <p:nvPicPr>
          <p:cNvPr id="8" name="Picture 29" descr="14H02278_RF.jpg"/>
          <p:cNvPicPr>
            <a:picLocks noChangeAspect="1"/>
          </p:cNvPicPr>
          <p:nvPr/>
        </p:nvPicPr>
        <p:blipFill>
          <a:blip r:embed="rId2" cstate="print"/>
          <a:srcRect b="29448"/>
          <a:stretch>
            <a:fillRect/>
          </a:stretch>
        </p:blipFill>
        <p:spPr bwMode="auto">
          <a:xfrm>
            <a:off x="4968240" y="3432064"/>
            <a:ext cx="1325562" cy="1401763"/>
          </a:xfrm>
          <a:prstGeom prst="rect">
            <a:avLst/>
          </a:prstGeom>
          <a:noFill/>
          <a:ln w="9525">
            <a:noFill/>
            <a:miter lim="800000"/>
            <a:headEnd/>
            <a:tailEnd/>
          </a:ln>
        </p:spPr>
      </p:pic>
      <p:sp>
        <p:nvSpPr>
          <p:cNvPr id="9" name="Rectangle 8"/>
          <p:cNvSpPr/>
          <p:nvPr/>
        </p:nvSpPr>
        <p:spPr>
          <a:xfrm>
            <a:off x="2209800" y="1993408"/>
            <a:ext cx="1328737"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 name="Rectangle 9"/>
          <p:cNvSpPr/>
          <p:nvPr/>
        </p:nvSpPr>
        <p:spPr>
          <a:xfrm>
            <a:off x="2223897" y="2734645"/>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11" name="Isosceles Triangle 10"/>
          <p:cNvSpPr/>
          <p:nvPr/>
        </p:nvSpPr>
        <p:spPr>
          <a:xfrm rot="10800000">
            <a:off x="3359023" y="3303477"/>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 name="Rectangle 20"/>
          <p:cNvSpPr>
            <a:spLocks noChangeArrowheads="1"/>
          </p:cNvSpPr>
          <p:nvPr/>
        </p:nvSpPr>
        <p:spPr bwMode="auto">
          <a:xfrm>
            <a:off x="2240280" y="2022110"/>
            <a:ext cx="1136650"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Sales &amp; Provisioning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sp>
        <p:nvSpPr>
          <p:cNvPr id="13" name="Isosceles Triangle 12"/>
          <p:cNvSpPr/>
          <p:nvPr/>
        </p:nvSpPr>
        <p:spPr bwMode="auto">
          <a:xfrm>
            <a:off x="4720272" y="3474673"/>
            <a:ext cx="16351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4" name="Isosceles Triangle 13"/>
          <p:cNvSpPr/>
          <p:nvPr/>
        </p:nvSpPr>
        <p:spPr>
          <a:xfrm rot="10800000">
            <a:off x="6086475" y="3297381"/>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5" name="Rectangle 14"/>
          <p:cNvSpPr/>
          <p:nvPr/>
        </p:nvSpPr>
        <p:spPr>
          <a:xfrm>
            <a:off x="4956048" y="2752933"/>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sp>
        <p:nvSpPr>
          <p:cNvPr id="16" name="Rectangle 15"/>
          <p:cNvSpPr/>
          <p:nvPr/>
        </p:nvSpPr>
        <p:spPr>
          <a:xfrm>
            <a:off x="3599688" y="3453400"/>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pic>
        <p:nvPicPr>
          <p:cNvPr id="17" name="Picture 1" descr="C:\TechM Warehouse\Data 1\Useful Presentations\Useful Pics\Cong 1.jpg"/>
          <p:cNvPicPr>
            <a:picLocks noChangeArrowheads="1"/>
          </p:cNvPicPr>
          <p:nvPr/>
        </p:nvPicPr>
        <p:blipFill>
          <a:blip r:embed="rId3" cstate="print"/>
          <a:srcRect/>
          <a:stretch>
            <a:fillRect/>
          </a:stretch>
        </p:blipFill>
        <p:spPr bwMode="auto">
          <a:xfrm>
            <a:off x="2215760" y="3429016"/>
            <a:ext cx="1325880" cy="1399032"/>
          </a:xfrm>
          <a:prstGeom prst="rect">
            <a:avLst/>
          </a:prstGeom>
          <a:noFill/>
        </p:spPr>
      </p:pic>
      <p:pic>
        <p:nvPicPr>
          <p:cNvPr id="18" name="Picture 3"/>
          <p:cNvPicPr>
            <a:picLocks noChangeArrowheads="1"/>
          </p:cNvPicPr>
          <p:nvPr/>
        </p:nvPicPr>
        <p:blipFill>
          <a:blip r:embed="rId4" cstate="print"/>
          <a:srcRect/>
          <a:stretch>
            <a:fillRect/>
          </a:stretch>
        </p:blipFill>
        <p:spPr bwMode="auto">
          <a:xfrm>
            <a:off x="3589632" y="1994864"/>
            <a:ext cx="1325880" cy="13990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Postpaid Revenue Cycle</a:t>
            </a:r>
            <a:endParaRPr lang="en-US" dirty="0"/>
          </a:p>
        </p:txBody>
      </p:sp>
      <p:grpSp>
        <p:nvGrpSpPr>
          <p:cNvPr id="40" name="Group 39"/>
          <p:cNvGrpSpPr/>
          <p:nvPr/>
        </p:nvGrpSpPr>
        <p:grpSpPr>
          <a:xfrm>
            <a:off x="304800" y="1306688"/>
            <a:ext cx="8469312" cy="4636911"/>
            <a:chOff x="304800" y="1905000"/>
            <a:chExt cx="8469312" cy="4038600"/>
          </a:xfrm>
        </p:grpSpPr>
        <p:graphicFrame>
          <p:nvGraphicFramePr>
            <p:cNvPr id="49" name="Object 94"/>
            <p:cNvGraphicFramePr>
              <a:graphicFrameLocks noChangeAspect="1"/>
            </p:cNvGraphicFramePr>
            <p:nvPr/>
          </p:nvGraphicFramePr>
          <p:xfrm>
            <a:off x="1146175" y="3556000"/>
            <a:ext cx="830262" cy="1206500"/>
          </p:xfrm>
          <a:graphic>
            <a:graphicData uri="http://schemas.openxmlformats.org/presentationml/2006/ole">
              <p:oleObj spid="_x0000_s1030" name="Visio" r:id="rId3" imgW="650962" imgH="971877" progId="">
                <p:embed/>
              </p:oleObj>
            </a:graphicData>
          </a:graphic>
        </p:graphicFrame>
        <p:graphicFrame>
          <p:nvGraphicFramePr>
            <p:cNvPr id="50" name="Object 95"/>
            <p:cNvGraphicFramePr>
              <a:graphicFrameLocks noChangeAspect="1"/>
            </p:cNvGraphicFramePr>
            <p:nvPr/>
          </p:nvGraphicFramePr>
          <p:xfrm>
            <a:off x="3530600" y="2017713"/>
            <a:ext cx="869950" cy="1081087"/>
          </p:xfrm>
          <a:graphic>
            <a:graphicData uri="http://schemas.openxmlformats.org/presentationml/2006/ole">
              <p:oleObj spid="_x0000_s1031" name="Visio" r:id="rId4" imgW="680946" imgH="870257" progId="">
                <p:embed/>
              </p:oleObj>
            </a:graphicData>
          </a:graphic>
        </p:graphicFrame>
        <p:graphicFrame>
          <p:nvGraphicFramePr>
            <p:cNvPr id="51" name="Object 96"/>
            <p:cNvGraphicFramePr>
              <a:graphicFrameLocks noChangeAspect="1"/>
            </p:cNvGraphicFramePr>
            <p:nvPr/>
          </p:nvGraphicFramePr>
          <p:xfrm>
            <a:off x="5802312" y="1987141"/>
            <a:ext cx="1044575" cy="1301750"/>
          </p:xfrm>
          <a:graphic>
            <a:graphicData uri="http://schemas.openxmlformats.org/presentationml/2006/ole">
              <p:oleObj spid="_x0000_s1032" name="Visio" r:id="rId5" imgW="819664" imgH="1047551" progId="">
                <p:embed/>
              </p:oleObj>
            </a:graphicData>
          </a:graphic>
        </p:graphicFrame>
        <p:pic>
          <p:nvPicPr>
            <p:cNvPr id="52" name="Picture 97"/>
            <p:cNvPicPr>
              <a:picLocks noChangeAspect="1" noChangeArrowheads="1"/>
            </p:cNvPicPr>
            <p:nvPr/>
          </p:nvPicPr>
          <p:blipFill>
            <a:blip r:embed="rId6" cstate="print"/>
            <a:srcRect l="55325" t="68571" r="26631" b="8571"/>
            <a:stretch>
              <a:fillRect/>
            </a:stretch>
          </p:blipFill>
          <p:spPr bwMode="auto">
            <a:xfrm>
              <a:off x="3897312" y="3813175"/>
              <a:ext cx="914400" cy="587375"/>
            </a:xfrm>
            <a:prstGeom prst="rect">
              <a:avLst/>
            </a:prstGeom>
            <a:noFill/>
          </p:spPr>
        </p:pic>
        <p:sp>
          <p:nvSpPr>
            <p:cNvPr id="53" name="Line 100"/>
            <p:cNvSpPr>
              <a:spLocks noChangeShapeType="1"/>
            </p:cNvSpPr>
            <p:nvPr/>
          </p:nvSpPr>
          <p:spPr bwMode="auto">
            <a:xfrm>
              <a:off x="1879600" y="2870200"/>
              <a:ext cx="0" cy="661988"/>
            </a:xfrm>
            <a:prstGeom prst="line">
              <a:avLst/>
            </a:prstGeom>
            <a:noFill/>
            <a:ln w="9525">
              <a:solidFill>
                <a:schemeClr val="bg1">
                  <a:lumMod val="50000"/>
                </a:schemeClr>
              </a:solidFill>
              <a:prstDash val="dashDot"/>
              <a:round/>
              <a:headEnd/>
              <a:tailEnd type="triangle" w="med" len="med"/>
            </a:ln>
            <a:effectLst/>
          </p:spPr>
          <p:txBody>
            <a:bodyPr/>
            <a:lstStyle/>
            <a:p>
              <a:endParaRPr lang="en-US"/>
            </a:p>
          </p:txBody>
        </p:sp>
        <p:sp>
          <p:nvSpPr>
            <p:cNvPr id="54" name="Line 102"/>
            <p:cNvSpPr>
              <a:spLocks noChangeShapeType="1"/>
            </p:cNvSpPr>
            <p:nvPr/>
          </p:nvSpPr>
          <p:spPr bwMode="auto">
            <a:xfrm flipV="1">
              <a:off x="2068512" y="2870200"/>
              <a:ext cx="1268413" cy="790575"/>
            </a:xfrm>
            <a:prstGeom prst="line">
              <a:avLst/>
            </a:prstGeom>
            <a:noFill/>
            <a:ln w="9525">
              <a:solidFill>
                <a:schemeClr val="bg1">
                  <a:lumMod val="50000"/>
                </a:schemeClr>
              </a:solidFill>
              <a:round/>
              <a:headEnd/>
              <a:tailEnd type="triangle" w="med" len="med"/>
            </a:ln>
            <a:effectLst/>
          </p:spPr>
          <p:txBody>
            <a:bodyPr/>
            <a:lstStyle/>
            <a:p>
              <a:endParaRPr lang="en-US"/>
            </a:p>
          </p:txBody>
        </p:sp>
        <p:sp>
          <p:nvSpPr>
            <p:cNvPr id="55" name="Line 103"/>
            <p:cNvSpPr>
              <a:spLocks noChangeShapeType="1"/>
            </p:cNvSpPr>
            <p:nvPr/>
          </p:nvSpPr>
          <p:spPr bwMode="auto">
            <a:xfrm flipH="1">
              <a:off x="3516312" y="3432175"/>
              <a:ext cx="228600" cy="304800"/>
            </a:xfrm>
            <a:prstGeom prst="line">
              <a:avLst/>
            </a:prstGeom>
            <a:noFill/>
            <a:ln w="9525">
              <a:solidFill>
                <a:schemeClr val="bg1">
                  <a:lumMod val="50000"/>
                </a:schemeClr>
              </a:solidFill>
              <a:round/>
              <a:headEnd/>
              <a:tailEnd type="triangle" w="med" len="med"/>
            </a:ln>
            <a:effectLst/>
          </p:spPr>
          <p:txBody>
            <a:bodyPr/>
            <a:lstStyle/>
            <a:p>
              <a:endParaRPr lang="en-US"/>
            </a:p>
          </p:txBody>
        </p:sp>
        <p:sp>
          <p:nvSpPr>
            <p:cNvPr id="56" name="Line 104"/>
            <p:cNvSpPr>
              <a:spLocks noChangeShapeType="1"/>
            </p:cNvSpPr>
            <p:nvPr/>
          </p:nvSpPr>
          <p:spPr bwMode="auto">
            <a:xfrm>
              <a:off x="4049712" y="3432175"/>
              <a:ext cx="228600" cy="304800"/>
            </a:xfrm>
            <a:prstGeom prst="line">
              <a:avLst/>
            </a:prstGeom>
            <a:noFill/>
            <a:ln w="9525">
              <a:solidFill>
                <a:schemeClr val="bg1">
                  <a:lumMod val="50000"/>
                </a:schemeClr>
              </a:solidFill>
              <a:round/>
              <a:headEnd/>
              <a:tailEnd type="triangle" w="med" len="med"/>
            </a:ln>
            <a:effectLst/>
          </p:spPr>
          <p:txBody>
            <a:bodyPr/>
            <a:lstStyle/>
            <a:p>
              <a:endParaRPr lang="en-US"/>
            </a:p>
          </p:txBody>
        </p:sp>
        <p:sp>
          <p:nvSpPr>
            <p:cNvPr id="57" name="Line 105"/>
            <p:cNvSpPr>
              <a:spLocks noChangeShapeType="1"/>
            </p:cNvSpPr>
            <p:nvPr/>
          </p:nvSpPr>
          <p:spPr bwMode="auto">
            <a:xfrm flipV="1">
              <a:off x="4456112" y="2362200"/>
              <a:ext cx="1346200" cy="3175"/>
            </a:xfrm>
            <a:prstGeom prst="line">
              <a:avLst/>
            </a:prstGeom>
            <a:noFill/>
            <a:ln w="9525">
              <a:solidFill>
                <a:schemeClr val="bg1">
                  <a:lumMod val="50000"/>
                </a:schemeClr>
              </a:solidFill>
              <a:round/>
              <a:headEnd/>
              <a:tailEnd type="triangle" w="med" len="med"/>
            </a:ln>
            <a:effectLst/>
          </p:spPr>
          <p:txBody>
            <a:bodyPr/>
            <a:lstStyle/>
            <a:p>
              <a:endParaRPr lang="en-US"/>
            </a:p>
          </p:txBody>
        </p:sp>
        <p:sp>
          <p:nvSpPr>
            <p:cNvPr id="58" name="Text Box 107"/>
            <p:cNvSpPr txBox="1">
              <a:spLocks noChangeArrowheads="1"/>
            </p:cNvSpPr>
            <p:nvPr/>
          </p:nvSpPr>
          <p:spPr bwMode="auto">
            <a:xfrm>
              <a:off x="5646737" y="3207314"/>
              <a:ext cx="1069975" cy="214313"/>
            </a:xfrm>
            <a:prstGeom prst="rect">
              <a:avLst/>
            </a:prstGeom>
            <a:noFill/>
            <a:ln w="9525">
              <a:noFill/>
              <a:miter lim="800000"/>
              <a:headEnd/>
              <a:tailEnd/>
            </a:ln>
            <a:effectLst/>
          </p:spPr>
          <p:txBody>
            <a:bodyPr>
              <a:spAutoFit/>
            </a:bodyPr>
            <a:lstStyle/>
            <a:p>
              <a:pPr>
                <a:spcBef>
                  <a:spcPct val="50000"/>
                </a:spcBef>
              </a:pPr>
              <a:r>
                <a:rPr lang="en-US" sz="800" b="1" dirty="0">
                  <a:solidFill>
                    <a:srgbClr val="FFCC66"/>
                  </a:solidFill>
                </a:rPr>
                <a:t>Billing System</a:t>
              </a:r>
            </a:p>
          </p:txBody>
        </p:sp>
        <p:sp>
          <p:nvSpPr>
            <p:cNvPr id="59" name="Text Box 108"/>
            <p:cNvSpPr txBox="1">
              <a:spLocks noChangeArrowheads="1"/>
            </p:cNvSpPr>
            <p:nvPr/>
          </p:nvSpPr>
          <p:spPr bwMode="auto">
            <a:xfrm>
              <a:off x="3251200" y="3076575"/>
              <a:ext cx="1325562" cy="214313"/>
            </a:xfrm>
            <a:prstGeom prst="rect">
              <a:avLst/>
            </a:prstGeom>
            <a:noFill/>
            <a:ln w="9525">
              <a:noFill/>
              <a:miter lim="800000"/>
              <a:headEnd/>
              <a:tailEnd/>
            </a:ln>
            <a:effectLst/>
          </p:spPr>
          <p:txBody>
            <a:bodyPr>
              <a:spAutoFit/>
            </a:bodyPr>
            <a:lstStyle/>
            <a:p>
              <a:pPr>
                <a:spcBef>
                  <a:spcPct val="50000"/>
                </a:spcBef>
              </a:pPr>
              <a:r>
                <a:rPr lang="en-US" sz="800" b="1">
                  <a:solidFill>
                    <a:srgbClr val="FFCC66"/>
                  </a:solidFill>
                </a:rPr>
                <a:t>Mediation System</a:t>
              </a:r>
            </a:p>
          </p:txBody>
        </p:sp>
        <p:sp>
          <p:nvSpPr>
            <p:cNvPr id="60" name="Text Box 109"/>
            <p:cNvSpPr txBox="1">
              <a:spLocks noChangeArrowheads="1"/>
            </p:cNvSpPr>
            <p:nvPr/>
          </p:nvSpPr>
          <p:spPr bwMode="auto">
            <a:xfrm>
              <a:off x="5640388" y="4346575"/>
              <a:ext cx="1217612" cy="336550"/>
            </a:xfrm>
            <a:prstGeom prst="rect">
              <a:avLst/>
            </a:prstGeom>
            <a:noFill/>
            <a:ln w="9525">
              <a:noFill/>
              <a:miter lim="800000"/>
              <a:headEnd/>
              <a:tailEnd/>
            </a:ln>
            <a:effectLst/>
          </p:spPr>
          <p:txBody>
            <a:bodyPr>
              <a:spAutoFit/>
            </a:bodyPr>
            <a:lstStyle/>
            <a:p>
              <a:pPr>
                <a:spcBef>
                  <a:spcPct val="50000"/>
                </a:spcBef>
              </a:pPr>
              <a:r>
                <a:rPr lang="en-US" sz="800" dirty="0"/>
                <a:t>Blank A party number, Missing rate plans etc</a:t>
              </a:r>
            </a:p>
          </p:txBody>
        </p:sp>
        <p:sp>
          <p:nvSpPr>
            <p:cNvPr id="61" name="Text Box 110"/>
            <p:cNvSpPr txBox="1">
              <a:spLocks noChangeArrowheads="1"/>
            </p:cNvSpPr>
            <p:nvPr/>
          </p:nvSpPr>
          <p:spPr bwMode="auto">
            <a:xfrm>
              <a:off x="3892550" y="4389438"/>
              <a:ext cx="1441450" cy="336550"/>
            </a:xfrm>
            <a:prstGeom prst="rect">
              <a:avLst/>
            </a:prstGeom>
            <a:noFill/>
            <a:ln w="9525">
              <a:noFill/>
              <a:miter lim="800000"/>
              <a:headEnd/>
              <a:tailEnd/>
            </a:ln>
            <a:effectLst/>
          </p:spPr>
          <p:txBody>
            <a:bodyPr>
              <a:spAutoFit/>
            </a:bodyPr>
            <a:lstStyle/>
            <a:p>
              <a:pPr>
                <a:spcBef>
                  <a:spcPct val="50000"/>
                </a:spcBef>
              </a:pPr>
              <a:r>
                <a:rPr lang="en-US" sz="800" dirty="0"/>
                <a:t>CDRs filtered as per business rules</a:t>
              </a:r>
            </a:p>
          </p:txBody>
        </p:sp>
        <p:sp>
          <p:nvSpPr>
            <p:cNvPr id="62" name="Text Box 111"/>
            <p:cNvSpPr txBox="1">
              <a:spLocks noChangeArrowheads="1"/>
            </p:cNvSpPr>
            <p:nvPr/>
          </p:nvSpPr>
          <p:spPr bwMode="auto">
            <a:xfrm>
              <a:off x="2297112" y="4343400"/>
              <a:ext cx="1752600" cy="336550"/>
            </a:xfrm>
            <a:prstGeom prst="rect">
              <a:avLst/>
            </a:prstGeom>
            <a:noFill/>
            <a:ln w="9525">
              <a:noFill/>
              <a:miter lim="800000"/>
              <a:headEnd/>
              <a:tailEnd/>
            </a:ln>
            <a:effectLst/>
          </p:spPr>
          <p:txBody>
            <a:bodyPr>
              <a:spAutoFit/>
            </a:bodyPr>
            <a:lstStyle/>
            <a:p>
              <a:pPr>
                <a:spcBef>
                  <a:spcPct val="50000"/>
                </a:spcBef>
              </a:pPr>
              <a:r>
                <a:rPr lang="en-US" sz="800" dirty="0"/>
                <a:t>Duplicate CDRs, invalid MSC number, blank B party number etc</a:t>
              </a:r>
            </a:p>
          </p:txBody>
        </p:sp>
        <p:sp>
          <p:nvSpPr>
            <p:cNvPr id="63" name="Text Box 112"/>
            <p:cNvSpPr txBox="1">
              <a:spLocks noChangeArrowheads="1"/>
            </p:cNvSpPr>
            <p:nvPr/>
          </p:nvSpPr>
          <p:spPr bwMode="auto">
            <a:xfrm>
              <a:off x="1828800" y="2514600"/>
              <a:ext cx="1458912" cy="458788"/>
            </a:xfrm>
            <a:prstGeom prst="rect">
              <a:avLst/>
            </a:prstGeom>
            <a:noFill/>
            <a:ln w="9525">
              <a:noFill/>
              <a:miter lim="800000"/>
              <a:headEnd/>
              <a:tailEnd/>
            </a:ln>
            <a:effectLst/>
          </p:spPr>
          <p:txBody>
            <a:bodyPr>
              <a:spAutoFit/>
            </a:bodyPr>
            <a:lstStyle/>
            <a:p>
              <a:pPr>
                <a:spcBef>
                  <a:spcPct val="50000"/>
                </a:spcBef>
              </a:pPr>
              <a:r>
                <a:rPr lang="en-US" sz="800" dirty="0"/>
                <a:t>CDRs generated by MSC and SMSC pulled by Mediation</a:t>
              </a:r>
            </a:p>
          </p:txBody>
        </p:sp>
        <p:sp>
          <p:nvSpPr>
            <p:cNvPr id="64" name="Text Box 113"/>
            <p:cNvSpPr txBox="1">
              <a:spLocks noChangeArrowheads="1"/>
            </p:cNvSpPr>
            <p:nvPr/>
          </p:nvSpPr>
          <p:spPr bwMode="auto">
            <a:xfrm>
              <a:off x="4292600" y="2482850"/>
              <a:ext cx="1458912" cy="336550"/>
            </a:xfrm>
            <a:prstGeom prst="rect">
              <a:avLst/>
            </a:prstGeom>
            <a:noFill/>
            <a:ln w="9525">
              <a:noFill/>
              <a:miter lim="800000"/>
              <a:headEnd/>
              <a:tailEnd/>
            </a:ln>
            <a:effectLst/>
          </p:spPr>
          <p:txBody>
            <a:bodyPr>
              <a:spAutoFit/>
            </a:bodyPr>
            <a:lstStyle/>
            <a:p>
              <a:pPr>
                <a:spcBef>
                  <a:spcPct val="50000"/>
                </a:spcBef>
              </a:pPr>
              <a:r>
                <a:rPr lang="en-US" sz="800"/>
                <a:t>CDRs sent to Billing System for rating and billing</a:t>
              </a:r>
            </a:p>
          </p:txBody>
        </p:sp>
        <p:pic>
          <p:nvPicPr>
            <p:cNvPr id="65" name="Picture 115" descr="pp15000"/>
            <p:cNvPicPr>
              <a:picLocks noChangeAspect="1" noChangeArrowheads="1"/>
            </p:cNvPicPr>
            <p:nvPr/>
          </p:nvPicPr>
          <p:blipFill>
            <a:blip r:embed="rId7" cstate="print"/>
            <a:srcRect/>
            <a:stretch>
              <a:fillRect/>
            </a:stretch>
          </p:blipFill>
          <p:spPr bwMode="auto">
            <a:xfrm>
              <a:off x="1295400" y="2057400"/>
              <a:ext cx="492125" cy="914400"/>
            </a:xfrm>
            <a:prstGeom prst="rect">
              <a:avLst/>
            </a:prstGeom>
            <a:noFill/>
          </p:spPr>
        </p:pic>
        <p:sp>
          <p:nvSpPr>
            <p:cNvPr id="66" name="Text Box 116"/>
            <p:cNvSpPr txBox="1">
              <a:spLocks noChangeArrowheads="1"/>
            </p:cNvSpPr>
            <p:nvPr/>
          </p:nvSpPr>
          <p:spPr bwMode="auto">
            <a:xfrm>
              <a:off x="914400" y="2971800"/>
              <a:ext cx="914400" cy="214313"/>
            </a:xfrm>
            <a:prstGeom prst="rect">
              <a:avLst/>
            </a:prstGeom>
            <a:noFill/>
            <a:ln w="9525" algn="ctr">
              <a:noFill/>
              <a:miter lim="800000"/>
              <a:headEnd/>
              <a:tailEnd/>
            </a:ln>
            <a:effectLst/>
          </p:spPr>
          <p:txBody>
            <a:bodyPr>
              <a:spAutoFit/>
            </a:bodyPr>
            <a:lstStyle/>
            <a:p>
              <a:pPr>
                <a:spcBef>
                  <a:spcPct val="50000"/>
                </a:spcBef>
              </a:pPr>
              <a:r>
                <a:rPr lang="en-US" sz="800" b="1">
                  <a:solidFill>
                    <a:srgbClr val="FFCC66"/>
                  </a:solidFill>
                </a:rPr>
                <a:t>Switch (MSC)</a:t>
              </a:r>
            </a:p>
          </p:txBody>
        </p:sp>
        <p:sp>
          <p:nvSpPr>
            <p:cNvPr id="67" name="Text Box 117"/>
            <p:cNvSpPr txBox="1">
              <a:spLocks noChangeArrowheads="1"/>
            </p:cNvSpPr>
            <p:nvPr/>
          </p:nvSpPr>
          <p:spPr bwMode="auto">
            <a:xfrm>
              <a:off x="1143000" y="4572000"/>
              <a:ext cx="1458912" cy="214313"/>
            </a:xfrm>
            <a:prstGeom prst="rect">
              <a:avLst/>
            </a:prstGeom>
            <a:noFill/>
            <a:ln w="9525" algn="ctr">
              <a:noFill/>
              <a:miter lim="800000"/>
              <a:headEnd/>
              <a:tailEnd/>
            </a:ln>
            <a:effectLst/>
          </p:spPr>
          <p:txBody>
            <a:bodyPr>
              <a:spAutoFit/>
            </a:bodyPr>
            <a:lstStyle/>
            <a:p>
              <a:pPr>
                <a:spcBef>
                  <a:spcPct val="50000"/>
                </a:spcBef>
              </a:pPr>
              <a:r>
                <a:rPr lang="en-US" sz="800" b="1">
                  <a:solidFill>
                    <a:srgbClr val="FFCC66"/>
                  </a:solidFill>
                </a:rPr>
                <a:t>SMSC</a:t>
              </a:r>
            </a:p>
          </p:txBody>
        </p:sp>
        <p:sp>
          <p:nvSpPr>
            <p:cNvPr id="68" name="Line 118"/>
            <p:cNvSpPr>
              <a:spLocks noChangeShapeType="1"/>
            </p:cNvSpPr>
            <p:nvPr/>
          </p:nvSpPr>
          <p:spPr bwMode="auto">
            <a:xfrm flipV="1">
              <a:off x="2068512" y="2362200"/>
              <a:ext cx="1295400" cy="3175"/>
            </a:xfrm>
            <a:prstGeom prst="line">
              <a:avLst/>
            </a:prstGeom>
            <a:noFill/>
            <a:ln w="9525">
              <a:solidFill>
                <a:schemeClr val="bg1">
                  <a:lumMod val="50000"/>
                </a:schemeClr>
              </a:solidFill>
              <a:round/>
              <a:headEnd/>
              <a:tailEnd type="triangle" w="med" len="med"/>
            </a:ln>
            <a:effectLst/>
          </p:spPr>
          <p:txBody>
            <a:bodyPr/>
            <a:lstStyle/>
            <a:p>
              <a:endParaRPr lang="en-US"/>
            </a:p>
          </p:txBody>
        </p:sp>
        <p:pic>
          <p:nvPicPr>
            <p:cNvPr id="69" name="Picture 120"/>
            <p:cNvPicPr>
              <a:picLocks noChangeAspect="1" noChangeArrowheads="1"/>
            </p:cNvPicPr>
            <p:nvPr/>
          </p:nvPicPr>
          <p:blipFill>
            <a:blip r:embed="rId6" cstate="print"/>
            <a:srcRect l="26808" t="68571" r="55148" b="8571"/>
            <a:stretch>
              <a:fillRect/>
            </a:stretch>
          </p:blipFill>
          <p:spPr bwMode="auto">
            <a:xfrm>
              <a:off x="2906712" y="3813175"/>
              <a:ext cx="914400" cy="587375"/>
            </a:xfrm>
            <a:prstGeom prst="rect">
              <a:avLst/>
            </a:prstGeom>
            <a:noFill/>
          </p:spPr>
        </p:pic>
        <p:sp>
          <p:nvSpPr>
            <p:cNvPr id="71" name="Line 122"/>
            <p:cNvSpPr>
              <a:spLocks noChangeShapeType="1"/>
            </p:cNvSpPr>
            <p:nvPr/>
          </p:nvSpPr>
          <p:spPr bwMode="auto">
            <a:xfrm flipH="1">
              <a:off x="6096000" y="3352800"/>
              <a:ext cx="0" cy="406400"/>
            </a:xfrm>
            <a:prstGeom prst="line">
              <a:avLst/>
            </a:prstGeom>
            <a:noFill/>
            <a:ln w="9525">
              <a:solidFill>
                <a:schemeClr val="bg1">
                  <a:lumMod val="50000"/>
                </a:schemeClr>
              </a:solidFill>
              <a:round/>
              <a:headEnd/>
              <a:tailEnd type="triangle" w="med" len="med"/>
            </a:ln>
            <a:effectLst/>
          </p:spPr>
          <p:txBody>
            <a:bodyPr/>
            <a:lstStyle/>
            <a:p>
              <a:endParaRPr lang="en-US"/>
            </a:p>
          </p:txBody>
        </p:sp>
        <p:grpSp>
          <p:nvGrpSpPr>
            <p:cNvPr id="73" name="Group 125"/>
            <p:cNvGrpSpPr>
              <a:grpSpLocks/>
            </p:cNvGrpSpPr>
            <p:nvPr/>
          </p:nvGrpSpPr>
          <p:grpSpPr bwMode="auto">
            <a:xfrm>
              <a:off x="5715000" y="3835400"/>
              <a:ext cx="914400" cy="587375"/>
              <a:chOff x="3696" y="2654"/>
              <a:chExt cx="576" cy="370"/>
            </a:xfrm>
          </p:grpSpPr>
          <p:pic>
            <p:nvPicPr>
              <p:cNvPr id="81" name="Picture 124"/>
              <p:cNvPicPr>
                <a:picLocks noChangeAspect="1" noChangeArrowheads="1"/>
              </p:cNvPicPr>
              <p:nvPr/>
            </p:nvPicPr>
            <p:blipFill>
              <a:blip r:embed="rId6" cstate="print"/>
              <a:srcRect l="26808" t="68571" r="55148" b="8571"/>
              <a:stretch>
                <a:fillRect/>
              </a:stretch>
            </p:blipFill>
            <p:spPr bwMode="auto">
              <a:xfrm>
                <a:off x="3696" y="2654"/>
                <a:ext cx="576" cy="370"/>
              </a:xfrm>
              <a:prstGeom prst="rect">
                <a:avLst/>
              </a:prstGeom>
              <a:noFill/>
            </p:spPr>
          </p:pic>
          <p:pic>
            <p:nvPicPr>
              <p:cNvPr id="82" name="Picture 99"/>
              <p:cNvPicPr>
                <a:picLocks noChangeAspect="1" noChangeArrowheads="1"/>
              </p:cNvPicPr>
              <p:nvPr/>
            </p:nvPicPr>
            <p:blipFill>
              <a:blip r:embed="rId6" cstate="print"/>
              <a:srcRect l="81834" t="68571" r="5995" b="23810"/>
              <a:stretch>
                <a:fillRect/>
              </a:stretch>
            </p:blipFill>
            <p:spPr bwMode="auto">
              <a:xfrm>
                <a:off x="3744" y="2769"/>
                <a:ext cx="432" cy="146"/>
              </a:xfrm>
              <a:prstGeom prst="rect">
                <a:avLst/>
              </a:prstGeom>
              <a:noFill/>
            </p:spPr>
          </p:pic>
        </p:grpSp>
        <p:sp>
          <p:nvSpPr>
            <p:cNvPr id="75" name="Line 127"/>
            <p:cNvSpPr>
              <a:spLocks noChangeShapeType="1"/>
            </p:cNvSpPr>
            <p:nvPr/>
          </p:nvSpPr>
          <p:spPr bwMode="auto">
            <a:xfrm flipV="1">
              <a:off x="6792912" y="2212975"/>
              <a:ext cx="533400" cy="228600"/>
            </a:xfrm>
            <a:prstGeom prst="line">
              <a:avLst/>
            </a:prstGeom>
            <a:noFill/>
            <a:ln w="9525">
              <a:solidFill>
                <a:schemeClr val="bg1">
                  <a:lumMod val="50000"/>
                </a:schemeClr>
              </a:solidFill>
              <a:round/>
              <a:headEnd/>
              <a:tailEnd type="triangle" w="med" len="med"/>
            </a:ln>
            <a:effectLst/>
          </p:spPr>
          <p:txBody>
            <a:bodyPr/>
            <a:lstStyle/>
            <a:p>
              <a:endParaRPr lang="en-US"/>
            </a:p>
          </p:txBody>
        </p:sp>
        <p:sp>
          <p:nvSpPr>
            <p:cNvPr id="76" name="Rectangle 128"/>
            <p:cNvSpPr>
              <a:spLocks noChangeArrowheads="1"/>
            </p:cNvSpPr>
            <p:nvPr/>
          </p:nvSpPr>
          <p:spPr bwMode="auto">
            <a:xfrm>
              <a:off x="7402512" y="2060575"/>
              <a:ext cx="1219200" cy="457200"/>
            </a:xfrm>
            <a:prstGeom prst="rect">
              <a:avLst/>
            </a:prstGeom>
            <a:noFill/>
            <a:ln w="9525" algn="ctr">
              <a:solidFill>
                <a:schemeClr val="bg2"/>
              </a:solidFill>
              <a:miter lim="800000"/>
              <a:headEnd/>
              <a:tailEnd/>
            </a:ln>
            <a:effectLst/>
          </p:spPr>
          <p:txBody>
            <a:bodyPr anchor="ctr"/>
            <a:lstStyle/>
            <a:p>
              <a:r>
                <a:rPr lang="en-US" sz="900" b="1" i="1"/>
                <a:t>BILL PRINTING AND DISTRIBUTION</a:t>
              </a:r>
            </a:p>
          </p:txBody>
        </p:sp>
        <p:sp>
          <p:nvSpPr>
            <p:cNvPr id="77" name="Line 130"/>
            <p:cNvSpPr>
              <a:spLocks noChangeShapeType="1"/>
            </p:cNvSpPr>
            <p:nvPr/>
          </p:nvSpPr>
          <p:spPr bwMode="auto">
            <a:xfrm>
              <a:off x="6869112" y="2746375"/>
              <a:ext cx="457200" cy="304800"/>
            </a:xfrm>
            <a:prstGeom prst="line">
              <a:avLst/>
            </a:prstGeom>
            <a:noFill/>
            <a:ln w="9525">
              <a:solidFill>
                <a:schemeClr val="bg1">
                  <a:lumMod val="50000"/>
                </a:schemeClr>
              </a:solidFill>
              <a:round/>
              <a:headEnd/>
              <a:tailEnd type="triangle" w="med" len="med"/>
            </a:ln>
            <a:effectLst/>
          </p:spPr>
          <p:txBody>
            <a:bodyPr/>
            <a:lstStyle/>
            <a:p>
              <a:endParaRPr lang="en-US"/>
            </a:p>
          </p:txBody>
        </p:sp>
        <p:graphicFrame>
          <p:nvGraphicFramePr>
            <p:cNvPr id="78" name="Object 131"/>
            <p:cNvGraphicFramePr>
              <a:graphicFrameLocks noChangeAspect="1"/>
            </p:cNvGraphicFramePr>
            <p:nvPr/>
          </p:nvGraphicFramePr>
          <p:xfrm>
            <a:off x="7402512" y="2881313"/>
            <a:ext cx="762000" cy="703262"/>
          </p:xfrm>
          <a:graphic>
            <a:graphicData uri="http://schemas.openxmlformats.org/presentationml/2006/ole">
              <p:oleObj spid="_x0000_s1033" name="Visio" r:id="rId8" imgW="1027176" imgH="947623" progId="">
                <p:embed/>
              </p:oleObj>
            </a:graphicData>
          </a:graphic>
        </p:graphicFrame>
        <p:sp>
          <p:nvSpPr>
            <p:cNvPr id="79" name="Text Box 132"/>
            <p:cNvSpPr txBox="1">
              <a:spLocks noChangeArrowheads="1"/>
            </p:cNvSpPr>
            <p:nvPr/>
          </p:nvSpPr>
          <p:spPr bwMode="auto">
            <a:xfrm>
              <a:off x="7323137" y="3598863"/>
              <a:ext cx="1069975" cy="214312"/>
            </a:xfrm>
            <a:prstGeom prst="rect">
              <a:avLst/>
            </a:prstGeom>
            <a:noFill/>
            <a:ln w="9525">
              <a:noFill/>
              <a:miter lim="800000"/>
              <a:headEnd/>
              <a:tailEnd/>
            </a:ln>
            <a:effectLst/>
          </p:spPr>
          <p:txBody>
            <a:bodyPr>
              <a:spAutoFit/>
            </a:bodyPr>
            <a:lstStyle/>
            <a:p>
              <a:pPr>
                <a:spcBef>
                  <a:spcPct val="50000"/>
                </a:spcBef>
              </a:pPr>
              <a:r>
                <a:rPr lang="en-US" sz="800" b="1">
                  <a:solidFill>
                    <a:srgbClr val="FFCC66"/>
                  </a:solidFill>
                </a:rPr>
                <a:t>Accounting</a:t>
              </a:r>
            </a:p>
          </p:txBody>
        </p:sp>
        <p:sp>
          <p:nvSpPr>
            <p:cNvPr id="80" name="Rectangle 133"/>
            <p:cNvSpPr>
              <a:spLocks noChangeArrowheads="1"/>
            </p:cNvSpPr>
            <p:nvPr/>
          </p:nvSpPr>
          <p:spPr bwMode="auto">
            <a:xfrm>
              <a:off x="304800" y="1905000"/>
              <a:ext cx="8469312" cy="4038600"/>
            </a:xfrm>
            <a:prstGeom prst="rect">
              <a:avLst/>
            </a:prstGeom>
            <a:noFill/>
            <a:ln w="19050" algn="ctr">
              <a:solidFill>
                <a:schemeClr val="bg2"/>
              </a:solidFill>
              <a:prstDash val="sysDot"/>
              <a:miter lim="800000"/>
              <a:headEnd/>
              <a:tailEnd/>
            </a:ln>
            <a:effectLst/>
          </p:spPr>
          <p:txBody>
            <a:bodyPr wrap="none" anchor="ctr"/>
            <a:lstStyle/>
            <a:p>
              <a:endParaRPr lang="en-US"/>
            </a:p>
          </p:txBody>
        </p:sp>
        <p:graphicFrame>
          <p:nvGraphicFramePr>
            <p:cNvPr id="1034" name="Object 10"/>
            <p:cNvGraphicFramePr>
              <a:graphicFrameLocks noChangeAspect="1"/>
            </p:cNvGraphicFramePr>
            <p:nvPr/>
          </p:nvGraphicFramePr>
          <p:xfrm>
            <a:off x="381000" y="3055938"/>
            <a:ext cx="403225" cy="525462"/>
          </p:xfrm>
          <a:graphic>
            <a:graphicData uri="http://schemas.openxmlformats.org/presentationml/2006/ole">
              <p:oleObj spid="_x0000_s1034" name="Visio" r:id="rId9" imgW="593588" imgH="774104" progId="">
                <p:embed/>
              </p:oleObj>
            </a:graphicData>
          </a:graphic>
        </p:graphicFrame>
        <p:sp>
          <p:nvSpPr>
            <p:cNvPr id="84" name="Line 118"/>
            <p:cNvSpPr>
              <a:spLocks noChangeShapeType="1"/>
            </p:cNvSpPr>
            <p:nvPr/>
          </p:nvSpPr>
          <p:spPr bwMode="auto">
            <a:xfrm flipV="1">
              <a:off x="609600" y="2514598"/>
              <a:ext cx="609600" cy="381001"/>
            </a:xfrm>
            <a:prstGeom prst="line">
              <a:avLst/>
            </a:prstGeom>
            <a:noFill/>
            <a:ln w="9525">
              <a:solidFill>
                <a:schemeClr val="bg1">
                  <a:lumMod val="50000"/>
                </a:schemeClr>
              </a:solidFill>
              <a:round/>
              <a:headEnd/>
              <a:tailEnd type="triangle" w="med" len="med"/>
            </a:ln>
            <a:effectLst/>
          </p:spPr>
          <p:txBody>
            <a:bodyPr/>
            <a:lstStyle/>
            <a:p>
              <a:endParaRPr lang="en-US"/>
            </a:p>
          </p:txBody>
        </p:sp>
        <p:sp>
          <p:nvSpPr>
            <p:cNvPr id="86" name="TextBox 85"/>
            <p:cNvSpPr txBox="1"/>
            <p:nvPr/>
          </p:nvSpPr>
          <p:spPr>
            <a:xfrm>
              <a:off x="304800" y="3670756"/>
              <a:ext cx="685800" cy="215444"/>
            </a:xfrm>
            <a:prstGeom prst="rect">
              <a:avLst/>
            </a:prstGeom>
            <a:noFill/>
          </p:spPr>
          <p:txBody>
            <a:bodyPr wrap="square" rtlCol="0">
              <a:spAutoFit/>
            </a:bodyPr>
            <a:lstStyle/>
            <a:p>
              <a:r>
                <a:rPr lang="en-US" sz="800" dirty="0" smtClean="0"/>
                <a:t>Subscriber</a:t>
              </a:r>
              <a:endParaRPr lang="en-US" sz="800" dirty="0"/>
            </a:p>
          </p:txBody>
        </p:sp>
        <p:cxnSp>
          <p:nvCxnSpPr>
            <p:cNvPr id="89" name="Elbow Connector 88"/>
            <p:cNvCxnSpPr>
              <a:stCxn id="86" idx="2"/>
              <a:endCxn id="79" idx="2"/>
            </p:cNvCxnSpPr>
            <p:nvPr/>
          </p:nvCxnSpPr>
          <p:spPr>
            <a:xfrm rot="5400000" flipH="1" flipV="1">
              <a:off x="4216399" y="244475"/>
              <a:ext cx="73025" cy="7210425"/>
            </a:xfrm>
            <a:prstGeom prst="bentConnector3">
              <a:avLst>
                <a:gd name="adj1" fmla="val -2163271"/>
              </a:avLst>
            </a:prstGeom>
            <a:ln>
              <a:tailEnd type="arrow"/>
            </a:ln>
          </p:spPr>
          <p:style>
            <a:lnRef idx="1">
              <a:schemeClr val="accent1"/>
            </a:lnRef>
            <a:fillRef idx="0">
              <a:schemeClr val="accent1"/>
            </a:fillRef>
            <a:effectRef idx="0">
              <a:schemeClr val="accent1"/>
            </a:effectRef>
            <a:fontRef idx="minor">
              <a:schemeClr val="tx1"/>
            </a:fontRef>
          </p:style>
        </p:cxnSp>
        <p:sp>
          <p:nvSpPr>
            <p:cNvPr id="92" name="Rectangle 91"/>
            <p:cNvSpPr/>
            <p:nvPr/>
          </p:nvSpPr>
          <p:spPr>
            <a:xfrm>
              <a:off x="6781800" y="5181600"/>
              <a:ext cx="762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Collection</a:t>
              </a:r>
              <a:endParaRPr lang="en-US" sz="1000" dirty="0"/>
            </a:p>
          </p:txBody>
        </p:sp>
        <p:sp>
          <p:nvSpPr>
            <p:cNvPr id="93" name="TextBox 92"/>
            <p:cNvSpPr txBox="1"/>
            <p:nvPr/>
          </p:nvSpPr>
          <p:spPr>
            <a:xfrm>
              <a:off x="3352800" y="5334000"/>
              <a:ext cx="822960" cy="253916"/>
            </a:xfrm>
            <a:prstGeom prst="rect">
              <a:avLst/>
            </a:prstGeom>
            <a:solidFill>
              <a:schemeClr val="bg1"/>
            </a:solidFill>
          </p:spPr>
          <p:txBody>
            <a:bodyPr wrap="square" rtlCol="0">
              <a:spAutoFit/>
            </a:bodyPr>
            <a:lstStyle/>
            <a:p>
              <a:r>
                <a:rPr lang="en-US" sz="1050" dirty="0" smtClean="0"/>
                <a:t>Payments</a:t>
              </a:r>
              <a:endParaRPr lang="en-US" sz="1050" dirty="0"/>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CDR Generation</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grpSp>
        <p:nvGrpSpPr>
          <p:cNvPr id="66" name="Group 65"/>
          <p:cNvGrpSpPr/>
          <p:nvPr/>
        </p:nvGrpSpPr>
        <p:grpSpPr>
          <a:xfrm>
            <a:off x="228600" y="1295400"/>
            <a:ext cx="3657600" cy="3048001"/>
            <a:chOff x="228600" y="1295400"/>
            <a:chExt cx="3657600" cy="3048001"/>
          </a:xfrm>
        </p:grpSpPr>
        <p:sp>
          <p:nvSpPr>
            <p:cNvPr id="20" name="Rectangle 112"/>
            <p:cNvSpPr>
              <a:spLocks noChangeArrowheads="1"/>
            </p:cNvSpPr>
            <p:nvPr/>
          </p:nvSpPr>
          <p:spPr bwMode="auto">
            <a:xfrm>
              <a:off x="228600" y="12954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287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955800"/>
              <a:ext cx="622300"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586038"/>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981325"/>
              <a:ext cx="541338"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981325"/>
              <a:ext cx="539750"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58925"/>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06750" y="17430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2084388"/>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2084388"/>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25563" y="20066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30275" y="27463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39763" y="27876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4479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58925"/>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58925"/>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58925"/>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319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6271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62696"/>
              <a:ext cx="174625" cy="215317"/>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622425"/>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1463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1719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1383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1383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2084388"/>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8351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32766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8" name="Text Box 159"/>
            <p:cNvSpPr txBox="1">
              <a:spLocks noChangeArrowheads="1"/>
            </p:cNvSpPr>
            <p:nvPr/>
          </p:nvSpPr>
          <p:spPr bwMode="auto">
            <a:xfrm>
              <a:off x="685800" y="3581400"/>
              <a:ext cx="2660650" cy="228600"/>
            </a:xfrm>
            <a:prstGeom prst="rect">
              <a:avLst/>
            </a:prstGeom>
            <a:noFill/>
            <a:ln w="9525">
              <a:noFill/>
              <a:miter lim="800000"/>
              <a:headEnd/>
              <a:tailEnd/>
            </a:ln>
            <a:effectLst/>
          </p:spPr>
          <p:txBody>
            <a:bodyPr wrap="none">
              <a:spAutoFit/>
            </a:bodyPr>
            <a:lstStyle/>
            <a:p>
              <a:pPr algn="l"/>
              <a:r>
                <a:rPr lang="en-US" sz="900" b="1" i="1"/>
                <a:t>Chargeable Event Generation and processing</a:t>
              </a:r>
            </a:p>
          </p:txBody>
        </p:sp>
        <p:sp>
          <p:nvSpPr>
            <p:cNvPr id="9" name="Rectangle 160">
              <a:hlinkClick r:id="rId2" action="ppaction://hlinksldjump"/>
            </p:cNvPr>
            <p:cNvSpPr>
              <a:spLocks noChangeArrowheads="1"/>
            </p:cNvSpPr>
            <p:nvPr/>
          </p:nvSpPr>
          <p:spPr bwMode="auto">
            <a:xfrm>
              <a:off x="3810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Bill printing and distribution</a:t>
              </a:r>
            </a:p>
          </p:txBody>
        </p:sp>
        <p:cxnSp>
          <p:nvCxnSpPr>
            <p:cNvPr id="10" name="AutoShape 161"/>
            <p:cNvCxnSpPr>
              <a:cxnSpLocks noChangeShapeType="1"/>
              <a:stCxn id="13" idx="1"/>
              <a:endCxn id="14" idx="3"/>
            </p:cNvCxnSpPr>
            <p:nvPr/>
          </p:nvCxnSpPr>
          <p:spPr bwMode="auto">
            <a:xfrm rot="10800000">
              <a:off x="2921000" y="4046538"/>
              <a:ext cx="101600" cy="0"/>
            </a:xfrm>
            <a:prstGeom prst="straightConnector1">
              <a:avLst/>
            </a:prstGeom>
            <a:noFill/>
            <a:ln w="19050">
              <a:solidFill>
                <a:schemeClr val="bg1">
                  <a:lumMod val="50000"/>
                </a:schemeClr>
              </a:solidFill>
              <a:round/>
              <a:headEnd/>
              <a:tailEnd type="triangle" w="med" len="med"/>
            </a:ln>
            <a:effectLst/>
          </p:spPr>
        </p:cxnSp>
        <p:cxnSp>
          <p:nvCxnSpPr>
            <p:cNvPr id="11" name="AutoShape 162"/>
            <p:cNvCxnSpPr>
              <a:cxnSpLocks noChangeShapeType="1"/>
              <a:stCxn id="14" idx="1"/>
              <a:endCxn id="15" idx="3"/>
            </p:cNvCxnSpPr>
            <p:nvPr/>
          </p:nvCxnSpPr>
          <p:spPr bwMode="auto">
            <a:xfrm rot="10800000">
              <a:off x="2057400" y="4046538"/>
              <a:ext cx="101600" cy="0"/>
            </a:xfrm>
            <a:prstGeom prst="straightConnector1">
              <a:avLst/>
            </a:prstGeom>
            <a:noFill/>
            <a:ln w="19050">
              <a:solidFill>
                <a:schemeClr val="bg1">
                  <a:lumMod val="50000"/>
                </a:schemeClr>
              </a:solidFill>
              <a:round/>
              <a:headEnd/>
              <a:tailEnd type="triangle" w="med" len="med"/>
            </a:ln>
            <a:effectLst/>
          </p:spPr>
        </p:cxnSp>
        <p:cxnSp>
          <p:nvCxnSpPr>
            <p:cNvPr id="12" name="AutoShape 163"/>
            <p:cNvCxnSpPr>
              <a:cxnSpLocks noChangeShapeType="1"/>
              <a:stCxn id="15" idx="1"/>
              <a:endCxn id="9" idx="3"/>
            </p:cNvCxnSpPr>
            <p:nvPr/>
          </p:nvCxnSpPr>
          <p:spPr bwMode="auto">
            <a:xfrm rot="10800000">
              <a:off x="1143000" y="4046538"/>
              <a:ext cx="152400" cy="0"/>
            </a:xfrm>
            <a:prstGeom prst="straightConnector1">
              <a:avLst/>
            </a:prstGeom>
            <a:noFill/>
            <a:ln w="19050">
              <a:solidFill>
                <a:schemeClr val="bg1">
                  <a:lumMod val="50000"/>
                </a:schemeClr>
              </a:solidFill>
              <a:round/>
              <a:headEnd/>
              <a:tailEnd type="triangle" w="med" len="med"/>
            </a:ln>
            <a:effectLst/>
          </p:spPr>
        </p:cxnSp>
        <p:sp>
          <p:nvSpPr>
            <p:cNvPr id="13" name="Rectangle 164">
              <a:hlinkClick r:id="rId2" action="ppaction://hlinksldjump"/>
            </p:cNvPr>
            <p:cNvSpPr>
              <a:spLocks noChangeArrowheads="1"/>
            </p:cNvSpPr>
            <p:nvPr/>
          </p:nvSpPr>
          <p:spPr bwMode="auto">
            <a:xfrm>
              <a:off x="3022600" y="3840163"/>
              <a:ext cx="762000" cy="412750"/>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a:solidFill>
                    <a:schemeClr val="tx1"/>
                  </a:solidFill>
                </a:rPr>
                <a:t>CDR generation</a:t>
              </a:r>
            </a:p>
          </p:txBody>
        </p:sp>
        <p:sp>
          <p:nvSpPr>
            <p:cNvPr id="14" name="Rectangle 165">
              <a:hlinkClick r:id="rId2" action="ppaction://hlinksldjump"/>
            </p:cNvPr>
            <p:cNvSpPr>
              <a:spLocks noChangeArrowheads="1"/>
            </p:cNvSpPr>
            <p:nvPr/>
          </p:nvSpPr>
          <p:spPr bwMode="auto">
            <a:xfrm>
              <a:off x="21590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Mediation processing</a:t>
              </a:r>
            </a:p>
          </p:txBody>
        </p:sp>
        <p:sp>
          <p:nvSpPr>
            <p:cNvPr id="15" name="Rectangle 166">
              <a:hlinkClick r:id="rId2" action="ppaction://hlinksldjump"/>
            </p:cNvPr>
            <p:cNvSpPr>
              <a:spLocks noChangeArrowheads="1"/>
            </p:cNvSpPr>
            <p:nvPr/>
          </p:nvSpPr>
          <p:spPr bwMode="auto">
            <a:xfrm>
              <a:off x="12954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Rating and billing</a:t>
              </a:r>
            </a:p>
          </p:txBody>
        </p:sp>
        <p:sp>
          <p:nvSpPr>
            <p:cNvPr id="16" name="AutoShape 167"/>
            <p:cNvSpPr>
              <a:spLocks noChangeArrowheads="1"/>
            </p:cNvSpPr>
            <p:nvPr/>
          </p:nvSpPr>
          <p:spPr bwMode="auto">
            <a:xfrm>
              <a:off x="3683000" y="4127500"/>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7" name="AutoShape 168"/>
            <p:cNvSpPr>
              <a:spLocks noChangeArrowheads="1"/>
            </p:cNvSpPr>
            <p:nvPr/>
          </p:nvSpPr>
          <p:spPr bwMode="auto">
            <a:xfrm>
              <a:off x="2108200"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8" name="AutoShape 169"/>
            <p:cNvSpPr>
              <a:spLocks noChangeArrowheads="1"/>
            </p:cNvSpPr>
            <p:nvPr/>
          </p:nvSpPr>
          <p:spPr bwMode="auto">
            <a:xfrm>
              <a:off x="1274763"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9" name="Rectangle 170"/>
            <p:cNvSpPr>
              <a:spLocks noChangeArrowheads="1"/>
            </p:cNvSpPr>
            <p:nvPr/>
          </p:nvSpPr>
          <p:spPr bwMode="auto">
            <a:xfrm>
              <a:off x="228600" y="3581400"/>
              <a:ext cx="3657600" cy="762000"/>
            </a:xfrm>
            <a:prstGeom prst="rect">
              <a:avLst/>
            </a:prstGeom>
            <a:noFill/>
            <a:ln w="9525">
              <a:solidFill>
                <a:schemeClr val="bg2"/>
              </a:solidFill>
              <a:prstDash val="sysDot"/>
              <a:miter lim="800000"/>
              <a:headEnd/>
              <a:tailEnd/>
            </a:ln>
            <a:effectLst/>
          </p:spPr>
          <p:txBody>
            <a:bodyPr wrap="none" anchor="ctr"/>
            <a:lstStyle/>
            <a:p>
              <a:endParaRPr lang="en-US"/>
            </a:p>
          </p:txBody>
        </p:sp>
      </p:grpSp>
      <p:sp>
        <p:nvSpPr>
          <p:cNvPr id="67" name="AutoShape 109"/>
          <p:cNvSpPr>
            <a:spLocks noChangeArrowheads="1"/>
          </p:cNvSpPr>
          <p:nvPr/>
        </p:nvSpPr>
        <p:spPr bwMode="auto">
          <a:xfrm>
            <a:off x="4191000" y="1249680"/>
            <a:ext cx="4572000" cy="484632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lgn="l">
              <a:spcBef>
                <a:spcPct val="20000"/>
              </a:spcBef>
              <a:spcAft>
                <a:spcPct val="20000"/>
              </a:spcAft>
            </a:pPr>
            <a:r>
              <a:rPr lang="en-US" sz="1100" b="1" dirty="0">
                <a:solidFill>
                  <a:srgbClr val="646464"/>
                </a:solidFill>
                <a:latin typeface="EYInterstate" pitchFamily="2" charset="0"/>
                <a:ea typeface="굴림" charset="-127"/>
              </a:rPr>
              <a:t>CDR </a:t>
            </a:r>
            <a:r>
              <a:rPr lang="en-US" sz="1100" b="1" dirty="0" smtClean="0">
                <a:solidFill>
                  <a:srgbClr val="646464"/>
                </a:solidFill>
                <a:latin typeface="EYInterstate" pitchFamily="2" charset="0"/>
                <a:ea typeface="굴림" charset="-127"/>
              </a:rPr>
              <a:t>Generation</a:t>
            </a:r>
          </a:p>
          <a:p>
            <a:pPr marL="342900" indent="-342900" algn="l">
              <a:spcBef>
                <a:spcPct val="20000"/>
              </a:spcBef>
              <a:spcAft>
                <a:spcPct val="20000"/>
              </a:spcAft>
            </a:pPr>
            <a:endParaRPr lang="en-US" sz="1100" b="1" dirty="0">
              <a:solidFill>
                <a:srgbClr val="646464"/>
              </a:solidFill>
              <a:latin typeface="EYInterstate" pitchFamily="2" charset="0"/>
              <a:ea typeface="굴림" charset="-127"/>
            </a:endParaRPr>
          </a:p>
          <a:p>
            <a:pPr marL="342900" indent="-34290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MSC/ Switch </a:t>
            </a:r>
            <a:r>
              <a:rPr lang="en-US" sz="1100" dirty="0" smtClean="0">
                <a:solidFill>
                  <a:srgbClr val="646464"/>
                </a:solidFill>
                <a:latin typeface="EYInterstate" pitchFamily="2" charset="0"/>
                <a:ea typeface="굴림" charset="-127"/>
              </a:rPr>
              <a:t>always generates </a:t>
            </a:r>
            <a:r>
              <a:rPr lang="en-US" sz="1100" dirty="0">
                <a:solidFill>
                  <a:srgbClr val="646464"/>
                </a:solidFill>
                <a:latin typeface="EYInterstate" pitchFamily="2" charset="0"/>
                <a:ea typeface="굴림" charset="-127"/>
              </a:rPr>
              <a:t>a CDR whenever a billable event such as a call or SMS occurs</a:t>
            </a:r>
            <a:r>
              <a:rPr lang="en-US" sz="1100" dirty="0" smtClean="0">
                <a:solidFill>
                  <a:srgbClr val="646464"/>
                </a:solidFill>
                <a:latin typeface="EYInterstate" pitchFamily="2" charset="0"/>
                <a:ea typeface="굴림" charset="-127"/>
              </a:rPr>
              <a:t>.</a:t>
            </a:r>
            <a:endParaRPr lang="en-US" sz="1100" dirty="0">
              <a:solidFill>
                <a:srgbClr val="646464"/>
              </a:solidFill>
              <a:latin typeface="EYInterstate" pitchFamily="2" charset="0"/>
              <a:ea typeface="굴림" charset="-127"/>
            </a:endParaRPr>
          </a:p>
          <a:p>
            <a:pPr marL="914400" lvl="1" indent="-457200">
              <a:spcBef>
                <a:spcPct val="20000"/>
              </a:spcBef>
              <a:spcAft>
                <a:spcPct val="20000"/>
              </a:spcAft>
              <a:buClr>
                <a:srgbClr val="FFD200"/>
              </a:buClr>
              <a:buSzPct val="75000"/>
              <a:buFont typeface="Arial" pitchFamily="34" charset="0"/>
              <a:buChar char="►"/>
            </a:pPr>
            <a:r>
              <a:rPr lang="en-US" sz="1100" i="1" dirty="0" smtClean="0">
                <a:solidFill>
                  <a:srgbClr val="646464"/>
                </a:solidFill>
                <a:latin typeface="EYInterstate" pitchFamily="2" charset="0"/>
                <a:ea typeface="굴림" charset="-127"/>
              </a:rPr>
              <a:t>NOTE</a:t>
            </a:r>
            <a:r>
              <a:rPr lang="en-US" sz="1100" i="1" dirty="0">
                <a:solidFill>
                  <a:srgbClr val="646464"/>
                </a:solidFill>
                <a:latin typeface="EYInterstate" pitchFamily="2" charset="0"/>
                <a:ea typeface="굴림" charset="-127"/>
              </a:rPr>
              <a:t>: In case of an SMS, a CDR is also generated at the SMSC</a:t>
            </a:r>
          </a:p>
          <a:p>
            <a:pPr marL="342900" indent="-34290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A CDR captures usage details of the billable event like:</a:t>
            </a:r>
          </a:p>
          <a:p>
            <a:pPr marL="742950" lvl="1" indent="-28575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 Originating number</a:t>
            </a:r>
          </a:p>
          <a:p>
            <a:pPr marL="742950" lvl="1" indent="-28575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 Destination number</a:t>
            </a:r>
          </a:p>
          <a:p>
            <a:pPr marL="742950" lvl="1" indent="-28575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 Duration of the call</a:t>
            </a:r>
          </a:p>
          <a:p>
            <a:pPr marL="742950" lvl="1" indent="-28575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 Date and time of the call</a:t>
            </a:r>
          </a:p>
          <a:p>
            <a:pPr marL="342900" indent="-34290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A CDR is generated for each billable event</a:t>
            </a:r>
            <a:r>
              <a:rPr lang="en-US" sz="1100" dirty="0" smtClean="0">
                <a:solidFill>
                  <a:srgbClr val="646464"/>
                </a:solidFill>
                <a:latin typeface="EYInterstate" pitchFamily="2" charset="0"/>
                <a:ea typeface="굴림" charset="-127"/>
              </a:rPr>
              <a:t>.</a:t>
            </a:r>
            <a:endParaRPr lang="en-US" sz="1100" dirty="0">
              <a:solidFill>
                <a:srgbClr val="646464"/>
              </a:solidFill>
              <a:latin typeface="EYInterstate" pitchFamily="2" charset="0"/>
              <a:ea typeface="굴림" charset="-127"/>
            </a:endParaRPr>
          </a:p>
          <a:p>
            <a:pPr marL="342900" indent="-34290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These CDRs are written into a Toll Ticket File (TT file) in order to transfer it to Mediation device for further processing. </a:t>
            </a:r>
          </a:p>
          <a:p>
            <a:pPr marL="342900" indent="-342900" algn="l">
              <a:spcBef>
                <a:spcPct val="20000"/>
              </a:spcBef>
              <a:spcAft>
                <a:spcPct val="20000"/>
              </a:spcAft>
              <a:buClr>
                <a:srgbClr val="FFD200"/>
              </a:buClr>
              <a:buSzPct val="75000"/>
              <a:buFont typeface="Arial" pitchFamily="34" charset="0"/>
              <a:buChar char="►"/>
            </a:pPr>
            <a:r>
              <a:rPr lang="en-US" sz="1100" dirty="0">
                <a:solidFill>
                  <a:srgbClr val="646464"/>
                </a:solidFill>
                <a:latin typeface="EYInterstate" pitchFamily="2" charset="0"/>
                <a:ea typeface="굴림" charset="-127"/>
              </a:rPr>
              <a:t>Each TT file carries a unique file name - typically including Switch identifier and a unique number (like a sequence number etc</a:t>
            </a:r>
            <a:r>
              <a:rPr lang="en-US" sz="1100" dirty="0" smtClean="0">
                <a:solidFill>
                  <a:srgbClr val="646464"/>
                </a:solidFill>
                <a:latin typeface="EYInterstate" pitchFamily="2" charset="0"/>
                <a:ea typeface="굴림" charset="-127"/>
              </a:rPr>
              <a:t>).</a:t>
            </a:r>
          </a:p>
          <a:p>
            <a:pPr marL="342900" indent="-342900" algn="l">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Each CDR is tagged with the Unique sequence no called as </a:t>
            </a:r>
            <a:r>
              <a:rPr lang="en-US" sz="1100" b="1" dirty="0" smtClean="0">
                <a:solidFill>
                  <a:srgbClr val="646464"/>
                </a:solidFill>
                <a:latin typeface="EYInterstate" pitchFamily="2" charset="0"/>
                <a:ea typeface="굴림" charset="-127"/>
              </a:rPr>
              <a:t>Record Sequence Number (RSN)</a:t>
            </a:r>
          </a:p>
          <a:p>
            <a:pPr marL="342900" indent="-342900" algn="l">
              <a:spcBef>
                <a:spcPct val="20000"/>
              </a:spcBef>
              <a:spcAft>
                <a:spcPct val="20000"/>
              </a:spcAft>
              <a:buFont typeface="EYInterstate" pitchFamily="2" charset="0"/>
              <a:buChar char="•"/>
            </a:pPr>
            <a:endParaRPr lang="en-US" sz="1100" dirty="0">
              <a:solidFill>
                <a:srgbClr val="646464"/>
              </a:solidFill>
              <a:latin typeface="EYInterstate" pitchFamily="2" charset="0"/>
              <a:ea typeface="굴림" charset="-127"/>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Mediation Processing </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grpSp>
        <p:nvGrpSpPr>
          <p:cNvPr id="2" name="Group 65"/>
          <p:cNvGrpSpPr/>
          <p:nvPr/>
        </p:nvGrpSpPr>
        <p:grpSpPr>
          <a:xfrm>
            <a:off x="228600" y="1295400"/>
            <a:ext cx="3657600" cy="2560320"/>
            <a:chOff x="228600" y="1295400"/>
            <a:chExt cx="3657600" cy="3048001"/>
          </a:xfrm>
        </p:grpSpPr>
        <p:sp>
          <p:nvSpPr>
            <p:cNvPr id="20" name="Rectangle 112"/>
            <p:cNvSpPr>
              <a:spLocks noChangeArrowheads="1"/>
            </p:cNvSpPr>
            <p:nvPr/>
          </p:nvSpPr>
          <p:spPr bwMode="auto">
            <a:xfrm>
              <a:off x="228600" y="12954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287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955800"/>
              <a:ext cx="622300"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586038"/>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981325"/>
              <a:ext cx="541338"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981325"/>
              <a:ext cx="539750"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58925"/>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06750" y="17430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2084388"/>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2084388"/>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25563" y="20066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30275" y="27463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39763" y="27876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4479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58925"/>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58925"/>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58925"/>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319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6271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62696"/>
              <a:ext cx="174625" cy="215317"/>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622425"/>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1463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1719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1383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1383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2084388"/>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8351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32766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8" name="Text Box 159"/>
            <p:cNvSpPr txBox="1">
              <a:spLocks noChangeArrowheads="1"/>
            </p:cNvSpPr>
            <p:nvPr/>
          </p:nvSpPr>
          <p:spPr bwMode="auto">
            <a:xfrm>
              <a:off x="685800" y="3581400"/>
              <a:ext cx="2660650" cy="228600"/>
            </a:xfrm>
            <a:prstGeom prst="rect">
              <a:avLst/>
            </a:prstGeom>
            <a:noFill/>
            <a:ln w="9525">
              <a:noFill/>
              <a:miter lim="800000"/>
              <a:headEnd/>
              <a:tailEnd/>
            </a:ln>
            <a:effectLst/>
          </p:spPr>
          <p:txBody>
            <a:bodyPr wrap="none">
              <a:spAutoFit/>
            </a:bodyPr>
            <a:lstStyle/>
            <a:p>
              <a:pPr algn="l"/>
              <a:r>
                <a:rPr lang="en-US" sz="900" b="1" i="1"/>
                <a:t>Chargeable Event Generation and processing</a:t>
              </a:r>
            </a:p>
          </p:txBody>
        </p:sp>
        <p:sp>
          <p:nvSpPr>
            <p:cNvPr id="9" name="Rectangle 160">
              <a:hlinkClick r:id="rId2" action="ppaction://hlinksldjump"/>
            </p:cNvPr>
            <p:cNvSpPr>
              <a:spLocks noChangeArrowheads="1"/>
            </p:cNvSpPr>
            <p:nvPr/>
          </p:nvSpPr>
          <p:spPr bwMode="auto">
            <a:xfrm>
              <a:off x="3810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Bill printing and distribution</a:t>
              </a:r>
            </a:p>
          </p:txBody>
        </p:sp>
        <p:cxnSp>
          <p:nvCxnSpPr>
            <p:cNvPr id="10" name="AutoShape 161"/>
            <p:cNvCxnSpPr>
              <a:cxnSpLocks noChangeShapeType="1"/>
              <a:stCxn id="13" idx="1"/>
              <a:endCxn id="14" idx="3"/>
            </p:cNvCxnSpPr>
            <p:nvPr/>
          </p:nvCxnSpPr>
          <p:spPr bwMode="auto">
            <a:xfrm rot="10800000">
              <a:off x="2921000" y="4046538"/>
              <a:ext cx="101600" cy="0"/>
            </a:xfrm>
            <a:prstGeom prst="straightConnector1">
              <a:avLst/>
            </a:prstGeom>
            <a:noFill/>
            <a:ln w="19050">
              <a:solidFill>
                <a:schemeClr val="bg1">
                  <a:lumMod val="50000"/>
                </a:schemeClr>
              </a:solidFill>
              <a:round/>
              <a:headEnd/>
              <a:tailEnd type="triangle" w="med" len="med"/>
            </a:ln>
            <a:effectLst/>
          </p:spPr>
        </p:cxnSp>
        <p:cxnSp>
          <p:nvCxnSpPr>
            <p:cNvPr id="11" name="AutoShape 162"/>
            <p:cNvCxnSpPr>
              <a:cxnSpLocks noChangeShapeType="1"/>
              <a:stCxn id="14" idx="1"/>
              <a:endCxn id="15" idx="3"/>
            </p:cNvCxnSpPr>
            <p:nvPr/>
          </p:nvCxnSpPr>
          <p:spPr bwMode="auto">
            <a:xfrm rot="10800000">
              <a:off x="2057400" y="4046538"/>
              <a:ext cx="101600" cy="0"/>
            </a:xfrm>
            <a:prstGeom prst="straightConnector1">
              <a:avLst/>
            </a:prstGeom>
            <a:noFill/>
            <a:ln w="19050">
              <a:solidFill>
                <a:schemeClr val="bg1">
                  <a:lumMod val="50000"/>
                </a:schemeClr>
              </a:solidFill>
              <a:round/>
              <a:headEnd/>
              <a:tailEnd type="triangle" w="med" len="med"/>
            </a:ln>
            <a:effectLst/>
          </p:spPr>
        </p:cxnSp>
        <p:cxnSp>
          <p:nvCxnSpPr>
            <p:cNvPr id="12" name="AutoShape 163"/>
            <p:cNvCxnSpPr>
              <a:cxnSpLocks noChangeShapeType="1"/>
              <a:stCxn id="15" idx="1"/>
              <a:endCxn id="9" idx="3"/>
            </p:cNvCxnSpPr>
            <p:nvPr/>
          </p:nvCxnSpPr>
          <p:spPr bwMode="auto">
            <a:xfrm rot="10800000">
              <a:off x="1143000" y="4046538"/>
              <a:ext cx="152400" cy="0"/>
            </a:xfrm>
            <a:prstGeom prst="straightConnector1">
              <a:avLst/>
            </a:prstGeom>
            <a:noFill/>
            <a:ln w="19050">
              <a:solidFill>
                <a:schemeClr val="bg1">
                  <a:lumMod val="50000"/>
                </a:schemeClr>
              </a:solidFill>
              <a:round/>
              <a:headEnd/>
              <a:tailEnd type="triangle" w="med" len="med"/>
            </a:ln>
            <a:effectLst/>
          </p:spPr>
        </p:cxnSp>
        <p:sp>
          <p:nvSpPr>
            <p:cNvPr id="13" name="Rectangle 164">
              <a:hlinkClick r:id="rId2" action="ppaction://hlinksldjump"/>
            </p:cNvPr>
            <p:cNvSpPr>
              <a:spLocks noChangeArrowheads="1"/>
            </p:cNvSpPr>
            <p:nvPr/>
          </p:nvSpPr>
          <p:spPr bwMode="auto">
            <a:xfrm>
              <a:off x="30226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CDR generation</a:t>
              </a:r>
            </a:p>
          </p:txBody>
        </p:sp>
        <p:sp>
          <p:nvSpPr>
            <p:cNvPr id="14" name="Rectangle 165">
              <a:hlinkClick r:id="rId2" action="ppaction://hlinksldjump"/>
            </p:cNvPr>
            <p:cNvSpPr>
              <a:spLocks noChangeArrowheads="1"/>
            </p:cNvSpPr>
            <p:nvPr/>
          </p:nvSpPr>
          <p:spPr bwMode="auto">
            <a:xfrm>
              <a:off x="2159000" y="3840163"/>
              <a:ext cx="762000" cy="412750"/>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a:t>Mediation processing</a:t>
              </a:r>
            </a:p>
          </p:txBody>
        </p:sp>
        <p:sp>
          <p:nvSpPr>
            <p:cNvPr id="15" name="Rectangle 166">
              <a:hlinkClick r:id="rId2" action="ppaction://hlinksldjump"/>
            </p:cNvPr>
            <p:cNvSpPr>
              <a:spLocks noChangeArrowheads="1"/>
            </p:cNvSpPr>
            <p:nvPr/>
          </p:nvSpPr>
          <p:spPr bwMode="auto">
            <a:xfrm>
              <a:off x="12954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Rating and billing</a:t>
              </a:r>
            </a:p>
          </p:txBody>
        </p:sp>
        <p:sp>
          <p:nvSpPr>
            <p:cNvPr id="16" name="AutoShape 167"/>
            <p:cNvSpPr>
              <a:spLocks noChangeArrowheads="1"/>
            </p:cNvSpPr>
            <p:nvPr/>
          </p:nvSpPr>
          <p:spPr bwMode="auto">
            <a:xfrm>
              <a:off x="3683000" y="4127500"/>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7" name="AutoShape 168"/>
            <p:cNvSpPr>
              <a:spLocks noChangeArrowheads="1"/>
            </p:cNvSpPr>
            <p:nvPr/>
          </p:nvSpPr>
          <p:spPr bwMode="auto">
            <a:xfrm>
              <a:off x="2108200"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8" name="AutoShape 169"/>
            <p:cNvSpPr>
              <a:spLocks noChangeArrowheads="1"/>
            </p:cNvSpPr>
            <p:nvPr/>
          </p:nvSpPr>
          <p:spPr bwMode="auto">
            <a:xfrm>
              <a:off x="1274763"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9" name="Rectangle 170"/>
            <p:cNvSpPr>
              <a:spLocks noChangeArrowheads="1"/>
            </p:cNvSpPr>
            <p:nvPr/>
          </p:nvSpPr>
          <p:spPr bwMode="auto">
            <a:xfrm>
              <a:off x="228600" y="3581400"/>
              <a:ext cx="3657600" cy="762000"/>
            </a:xfrm>
            <a:prstGeom prst="rect">
              <a:avLst/>
            </a:prstGeom>
            <a:noFill/>
            <a:ln w="9525">
              <a:solidFill>
                <a:schemeClr val="bg2"/>
              </a:solidFill>
              <a:prstDash val="sysDot"/>
              <a:miter lim="800000"/>
              <a:headEnd/>
              <a:tailEnd/>
            </a:ln>
            <a:effectLst/>
          </p:spPr>
          <p:txBody>
            <a:bodyPr wrap="none" anchor="ctr"/>
            <a:lstStyle/>
            <a:p>
              <a:endParaRPr lang="en-US"/>
            </a:p>
          </p:txBody>
        </p:sp>
      </p:grpSp>
      <p:sp>
        <p:nvSpPr>
          <p:cNvPr id="67" name="AutoShape 109"/>
          <p:cNvSpPr>
            <a:spLocks noChangeArrowheads="1"/>
          </p:cNvSpPr>
          <p:nvPr/>
        </p:nvSpPr>
        <p:spPr bwMode="auto">
          <a:xfrm>
            <a:off x="4191000" y="1325880"/>
            <a:ext cx="4572000" cy="484632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Any duplicate TT file (based on TT file sequencing number) detected by Mediation at this stage is pushed in the Mediation error bucket. </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Once a check for duplication is complete, Mediation would begin CDR processing.</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CDRs received after duplicate verification stage are converted from a switch readable format to a common format that is readable by various billing systems</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After CDR format conversion, mediation filters out (based on business rules) any CDRs that are not required for rating and billing (for example calls to customer care, prepaid CDRs etc). This is performed to reduce the processing load during the billing stage. </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Now, processed CDRs are forwarded to the billing system with the same file name prefixed with mediation stamp. </a:t>
            </a:r>
            <a:r>
              <a:rPr lang="en-US" sz="1100" i="1" dirty="0" smtClean="0">
                <a:solidFill>
                  <a:srgbClr val="646464"/>
                </a:solidFill>
                <a:latin typeface="EYInterstate" pitchFamily="2" charset="0"/>
                <a:ea typeface="굴림" charset="-127"/>
              </a:rPr>
              <a:t>This is done to maintain the continuity &amp; further tracking of the same</a:t>
            </a:r>
          </a:p>
          <a:p>
            <a:pPr marL="800100" lvl="1" indent="-342900">
              <a:spcBef>
                <a:spcPct val="20000"/>
              </a:spcBef>
              <a:spcAft>
                <a:spcPct val="20000"/>
              </a:spcAft>
              <a:buClr>
                <a:srgbClr val="FFD200"/>
              </a:buClr>
              <a:buSzPct val="75000"/>
              <a:buFont typeface="Arial" pitchFamily="34" charset="0"/>
              <a:buChar char="►"/>
            </a:pPr>
            <a:r>
              <a:rPr lang="en-US" sz="1100" i="1" dirty="0" smtClean="0">
                <a:solidFill>
                  <a:srgbClr val="646464"/>
                </a:solidFill>
                <a:latin typeface="EYInterstate" pitchFamily="2" charset="0"/>
                <a:ea typeface="굴림" charset="-127"/>
              </a:rPr>
              <a:t>NOTE: An operator may set rules in the Mediation device whereby invalid CDRs like CDRs with missing A party or B party number, invalid MSC number etc would be dropped in the mediation error bucket.  Operator needs to ensure that the mediation error bucket is reviewed on a regular basis to detect reasons for CDR rejection and push billable CDRs to the billing system for rating and billing.</a:t>
            </a:r>
          </a:p>
          <a:p>
            <a:pPr marL="342900" indent="-342900">
              <a:spcBef>
                <a:spcPct val="20000"/>
              </a:spcBef>
              <a:spcAft>
                <a:spcPct val="20000"/>
              </a:spcAft>
              <a:buClr>
                <a:srgbClr val="FFD200"/>
              </a:buClr>
              <a:buSzPct val="75000"/>
              <a:buFont typeface="Arial" pitchFamily="34" charset="0"/>
              <a:buChar char="►"/>
            </a:pPr>
            <a:endParaRPr lang="en-US" sz="1100" dirty="0" smtClean="0">
              <a:solidFill>
                <a:srgbClr val="646464"/>
              </a:solidFill>
              <a:latin typeface="EYInterstate" pitchFamily="2" charset="0"/>
              <a:ea typeface="굴림" charset="-127"/>
            </a:endParaRPr>
          </a:p>
        </p:txBody>
      </p:sp>
      <p:sp>
        <p:nvSpPr>
          <p:cNvPr id="55" name="AutoShape 18"/>
          <p:cNvSpPr>
            <a:spLocks noChangeArrowheads="1"/>
          </p:cNvSpPr>
          <p:nvPr/>
        </p:nvSpPr>
        <p:spPr bwMode="auto">
          <a:xfrm>
            <a:off x="167640" y="3962400"/>
            <a:ext cx="3931920" cy="219456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spcBef>
                <a:spcPct val="20000"/>
              </a:spcBef>
              <a:spcAft>
                <a:spcPct val="20000"/>
              </a:spcAft>
            </a:pPr>
            <a:r>
              <a:rPr lang="en-US" sz="1050" b="1" dirty="0" smtClean="0">
                <a:solidFill>
                  <a:srgbClr val="646464"/>
                </a:solidFill>
                <a:latin typeface="EYInterstate" pitchFamily="2" charset="0"/>
                <a:ea typeface="굴림" charset="-127"/>
              </a:rPr>
              <a:t>Mediation Processing </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Once a TT file reaches a specific size limit or the fixed interval of time elapses, it is closed and a new TT file is created. </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All closed TT files are placed at a path from where the same are pulled by Mediation. </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The polling schedule (i.e. time interval or maximum file size indicator) for all the switches are defined in mediation and is reviewed and updated based on the volume of calls.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Rating &amp; Billing</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grpSp>
        <p:nvGrpSpPr>
          <p:cNvPr id="2" name="Group 65"/>
          <p:cNvGrpSpPr/>
          <p:nvPr/>
        </p:nvGrpSpPr>
        <p:grpSpPr>
          <a:xfrm>
            <a:off x="228600" y="1295400"/>
            <a:ext cx="3657600" cy="2743200"/>
            <a:chOff x="228600" y="1295400"/>
            <a:chExt cx="3657600" cy="3048001"/>
          </a:xfrm>
        </p:grpSpPr>
        <p:sp>
          <p:nvSpPr>
            <p:cNvPr id="20" name="Rectangle 112"/>
            <p:cNvSpPr>
              <a:spLocks noChangeArrowheads="1"/>
            </p:cNvSpPr>
            <p:nvPr/>
          </p:nvSpPr>
          <p:spPr bwMode="auto">
            <a:xfrm>
              <a:off x="228600" y="12954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287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955800"/>
              <a:ext cx="622300"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586038"/>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981325"/>
              <a:ext cx="541338"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981325"/>
              <a:ext cx="539750"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58925"/>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06750" y="17430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2084388"/>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2084388"/>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25563" y="20066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30275" y="27463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39763" y="27876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4479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58925"/>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58925"/>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58925"/>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319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6271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62696"/>
              <a:ext cx="174625" cy="215317"/>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622425"/>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1463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1719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1383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1383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2084388"/>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8351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32766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8" name="Text Box 159"/>
            <p:cNvSpPr txBox="1">
              <a:spLocks noChangeArrowheads="1"/>
            </p:cNvSpPr>
            <p:nvPr/>
          </p:nvSpPr>
          <p:spPr bwMode="auto">
            <a:xfrm>
              <a:off x="685800" y="3581400"/>
              <a:ext cx="2660650" cy="228600"/>
            </a:xfrm>
            <a:prstGeom prst="rect">
              <a:avLst/>
            </a:prstGeom>
            <a:noFill/>
            <a:ln w="9525">
              <a:noFill/>
              <a:miter lim="800000"/>
              <a:headEnd/>
              <a:tailEnd/>
            </a:ln>
            <a:effectLst/>
          </p:spPr>
          <p:txBody>
            <a:bodyPr wrap="none">
              <a:spAutoFit/>
            </a:bodyPr>
            <a:lstStyle/>
            <a:p>
              <a:pPr algn="l"/>
              <a:r>
                <a:rPr lang="en-US" sz="900" b="1" i="1" dirty="0"/>
                <a:t>Chargeable Event Generation and processing</a:t>
              </a:r>
            </a:p>
          </p:txBody>
        </p:sp>
        <p:sp>
          <p:nvSpPr>
            <p:cNvPr id="9" name="Rectangle 160">
              <a:hlinkClick r:id="rId2" action="ppaction://hlinksldjump"/>
            </p:cNvPr>
            <p:cNvSpPr>
              <a:spLocks noChangeArrowheads="1"/>
            </p:cNvSpPr>
            <p:nvPr/>
          </p:nvSpPr>
          <p:spPr bwMode="auto">
            <a:xfrm>
              <a:off x="3810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Bill printing and distribution</a:t>
              </a:r>
            </a:p>
          </p:txBody>
        </p:sp>
        <p:cxnSp>
          <p:nvCxnSpPr>
            <p:cNvPr id="10" name="AutoShape 161"/>
            <p:cNvCxnSpPr>
              <a:cxnSpLocks noChangeShapeType="1"/>
              <a:stCxn id="13" idx="1"/>
              <a:endCxn id="14" idx="3"/>
            </p:cNvCxnSpPr>
            <p:nvPr/>
          </p:nvCxnSpPr>
          <p:spPr bwMode="auto">
            <a:xfrm rot="10800000">
              <a:off x="2921000" y="4046538"/>
              <a:ext cx="101600" cy="0"/>
            </a:xfrm>
            <a:prstGeom prst="straightConnector1">
              <a:avLst/>
            </a:prstGeom>
            <a:noFill/>
            <a:ln w="19050">
              <a:solidFill>
                <a:schemeClr val="bg1">
                  <a:lumMod val="50000"/>
                </a:schemeClr>
              </a:solidFill>
              <a:round/>
              <a:headEnd/>
              <a:tailEnd type="triangle" w="med" len="med"/>
            </a:ln>
            <a:effectLst/>
          </p:spPr>
        </p:cxnSp>
        <p:cxnSp>
          <p:nvCxnSpPr>
            <p:cNvPr id="11" name="AutoShape 162"/>
            <p:cNvCxnSpPr>
              <a:cxnSpLocks noChangeShapeType="1"/>
              <a:stCxn id="14" idx="1"/>
              <a:endCxn id="15" idx="3"/>
            </p:cNvCxnSpPr>
            <p:nvPr/>
          </p:nvCxnSpPr>
          <p:spPr bwMode="auto">
            <a:xfrm rot="10800000">
              <a:off x="2057400" y="4046538"/>
              <a:ext cx="101600" cy="0"/>
            </a:xfrm>
            <a:prstGeom prst="straightConnector1">
              <a:avLst/>
            </a:prstGeom>
            <a:noFill/>
            <a:ln w="19050">
              <a:solidFill>
                <a:schemeClr val="bg1">
                  <a:lumMod val="50000"/>
                </a:schemeClr>
              </a:solidFill>
              <a:round/>
              <a:headEnd/>
              <a:tailEnd type="triangle" w="med" len="med"/>
            </a:ln>
            <a:effectLst/>
          </p:spPr>
        </p:cxnSp>
        <p:cxnSp>
          <p:nvCxnSpPr>
            <p:cNvPr id="12" name="AutoShape 163"/>
            <p:cNvCxnSpPr>
              <a:cxnSpLocks noChangeShapeType="1"/>
              <a:stCxn id="15" idx="1"/>
              <a:endCxn id="9" idx="3"/>
            </p:cNvCxnSpPr>
            <p:nvPr/>
          </p:nvCxnSpPr>
          <p:spPr bwMode="auto">
            <a:xfrm rot="10800000">
              <a:off x="1143000" y="4046538"/>
              <a:ext cx="152400" cy="0"/>
            </a:xfrm>
            <a:prstGeom prst="straightConnector1">
              <a:avLst/>
            </a:prstGeom>
            <a:noFill/>
            <a:ln w="19050">
              <a:solidFill>
                <a:schemeClr val="bg1">
                  <a:lumMod val="50000"/>
                </a:schemeClr>
              </a:solidFill>
              <a:round/>
              <a:headEnd/>
              <a:tailEnd type="triangle" w="med" len="med"/>
            </a:ln>
            <a:effectLst/>
          </p:spPr>
        </p:cxnSp>
        <p:sp>
          <p:nvSpPr>
            <p:cNvPr id="13" name="Rectangle 164">
              <a:hlinkClick r:id="rId2" action="ppaction://hlinksldjump"/>
            </p:cNvPr>
            <p:cNvSpPr>
              <a:spLocks noChangeArrowheads="1"/>
            </p:cNvSpPr>
            <p:nvPr/>
          </p:nvSpPr>
          <p:spPr bwMode="auto">
            <a:xfrm>
              <a:off x="30226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CDR generation</a:t>
              </a:r>
            </a:p>
          </p:txBody>
        </p:sp>
        <p:sp>
          <p:nvSpPr>
            <p:cNvPr id="14" name="Rectangle 165">
              <a:hlinkClick r:id="rId2" action="ppaction://hlinksldjump"/>
            </p:cNvPr>
            <p:cNvSpPr>
              <a:spLocks noChangeArrowheads="1"/>
            </p:cNvSpPr>
            <p:nvPr/>
          </p:nvSpPr>
          <p:spPr bwMode="auto">
            <a:xfrm>
              <a:off x="21590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Mediation processing</a:t>
              </a:r>
            </a:p>
          </p:txBody>
        </p:sp>
        <p:sp>
          <p:nvSpPr>
            <p:cNvPr id="15" name="Rectangle 166">
              <a:hlinkClick r:id="rId2" action="ppaction://hlinksldjump"/>
            </p:cNvPr>
            <p:cNvSpPr>
              <a:spLocks noChangeArrowheads="1"/>
            </p:cNvSpPr>
            <p:nvPr/>
          </p:nvSpPr>
          <p:spPr bwMode="auto">
            <a:xfrm>
              <a:off x="1295400" y="3840163"/>
              <a:ext cx="762000" cy="412750"/>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dirty="0"/>
                <a:t>Rating and billing</a:t>
              </a:r>
            </a:p>
          </p:txBody>
        </p:sp>
        <p:sp>
          <p:nvSpPr>
            <p:cNvPr id="16" name="AutoShape 167"/>
            <p:cNvSpPr>
              <a:spLocks noChangeArrowheads="1"/>
            </p:cNvSpPr>
            <p:nvPr/>
          </p:nvSpPr>
          <p:spPr bwMode="auto">
            <a:xfrm>
              <a:off x="3683000" y="4127500"/>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7" name="AutoShape 168"/>
            <p:cNvSpPr>
              <a:spLocks noChangeArrowheads="1"/>
            </p:cNvSpPr>
            <p:nvPr/>
          </p:nvSpPr>
          <p:spPr bwMode="auto">
            <a:xfrm>
              <a:off x="2108200"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8" name="AutoShape 169"/>
            <p:cNvSpPr>
              <a:spLocks noChangeArrowheads="1"/>
            </p:cNvSpPr>
            <p:nvPr/>
          </p:nvSpPr>
          <p:spPr bwMode="auto">
            <a:xfrm>
              <a:off x="1274763"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9" name="Rectangle 170"/>
            <p:cNvSpPr>
              <a:spLocks noChangeArrowheads="1"/>
            </p:cNvSpPr>
            <p:nvPr/>
          </p:nvSpPr>
          <p:spPr bwMode="auto">
            <a:xfrm>
              <a:off x="228600" y="3581400"/>
              <a:ext cx="3657600" cy="762000"/>
            </a:xfrm>
            <a:prstGeom prst="rect">
              <a:avLst/>
            </a:prstGeom>
            <a:noFill/>
            <a:ln w="9525">
              <a:solidFill>
                <a:schemeClr val="bg2"/>
              </a:solidFill>
              <a:prstDash val="sysDot"/>
              <a:miter lim="800000"/>
              <a:headEnd/>
              <a:tailEnd/>
            </a:ln>
            <a:effectLst/>
          </p:spPr>
          <p:txBody>
            <a:bodyPr wrap="none" anchor="ctr"/>
            <a:lstStyle/>
            <a:p>
              <a:endParaRPr lang="en-US"/>
            </a:p>
          </p:txBody>
        </p:sp>
      </p:grpSp>
      <p:sp>
        <p:nvSpPr>
          <p:cNvPr id="67" name="AutoShape 109"/>
          <p:cNvSpPr>
            <a:spLocks noChangeArrowheads="1"/>
          </p:cNvSpPr>
          <p:nvPr/>
        </p:nvSpPr>
        <p:spPr bwMode="auto">
          <a:xfrm>
            <a:off x="4191000" y="1234440"/>
            <a:ext cx="4572000" cy="493776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688975" lvl="2" indent="-177800">
              <a:spcBef>
                <a:spcPts val="0"/>
              </a:spcBef>
              <a:spcAft>
                <a:spcPts val="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Destination zone information</a:t>
            </a:r>
          </a:p>
          <a:p>
            <a:pPr marL="688975" lvl="2" indent="-177800">
              <a:spcBef>
                <a:spcPts val="0"/>
              </a:spcBef>
              <a:spcAft>
                <a:spcPts val="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Rate plan information</a:t>
            </a:r>
          </a:p>
          <a:p>
            <a:pPr marL="688975" lvl="2" indent="-177800">
              <a:spcBef>
                <a:spcPts val="0"/>
              </a:spcBef>
              <a:spcAft>
                <a:spcPts val="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Subscriber information</a:t>
            </a:r>
          </a:p>
          <a:p>
            <a:pPr marL="688975" lvl="2" indent="-177800">
              <a:spcBef>
                <a:spcPts val="0"/>
              </a:spcBef>
              <a:spcAft>
                <a:spcPts val="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Event type references</a:t>
            </a:r>
          </a:p>
          <a:p>
            <a:pPr marL="688975" lvl="2" indent="-177800">
              <a:spcBef>
                <a:spcPts val="0"/>
              </a:spcBef>
              <a:spcAft>
                <a:spcPts val="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Event duration and time details</a:t>
            </a:r>
          </a:p>
          <a:p>
            <a:pPr marL="688975" lvl="2" indent="-177800">
              <a:spcBef>
                <a:spcPts val="0"/>
              </a:spcBef>
              <a:spcAft>
                <a:spcPts val="0"/>
              </a:spcAft>
              <a:buClr>
                <a:srgbClr val="FFD200"/>
              </a:buClr>
              <a:buSzPct val="75000"/>
              <a:buFont typeface="Arial" pitchFamily="34" charset="0"/>
              <a:buChar char="►"/>
            </a:pPr>
            <a:endParaRPr lang="en-US" sz="1100" dirty="0" smtClean="0">
              <a:solidFill>
                <a:srgbClr val="646464"/>
              </a:solidFill>
              <a:latin typeface="EYInterstate" pitchFamily="2" charset="0"/>
              <a:ea typeface="굴림" charset="-127"/>
            </a:endParaRP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After CDRs are validated, rating engine identifies the appropriate charge for the event based on subscriber's rate plan and then applies the rate to the call. From the duration of the call pulse is being identified as per the rate plan and than the total rate is calculated</a:t>
            </a:r>
          </a:p>
          <a:p>
            <a:pPr marL="800100" lvl="1" indent="-342900">
              <a:spcBef>
                <a:spcPct val="20000"/>
              </a:spcBef>
              <a:spcAft>
                <a:spcPct val="20000"/>
              </a:spcAft>
              <a:buClr>
                <a:srgbClr val="FFD200"/>
              </a:buClr>
              <a:buSzPct val="75000"/>
              <a:buFont typeface="Arial" pitchFamily="34" charset="0"/>
              <a:buChar char="►"/>
            </a:pPr>
            <a:r>
              <a:rPr lang="en-US" sz="1100" i="1" dirty="0" smtClean="0">
                <a:solidFill>
                  <a:srgbClr val="646464"/>
                </a:solidFill>
                <a:latin typeface="EYInterstate" pitchFamily="2" charset="0"/>
                <a:ea typeface="굴림" charset="-127"/>
              </a:rPr>
              <a:t>Incase, destination code is not configured in billing system, the CDR’s goes in the rejection bucket</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Total value of rated CDRs is referred to as unbilled usage amount. This does not include any discounts or fixed charges applicable to the subscriber.</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On day of subscriber’s billing cycle, rated CDRs are forwarded for billing and calculation of total amount to be invoiced. This includes the following:</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Aggregation of rated CDRs</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Adding monthly fixed rentals</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Deducting discounts as per rate plan or promotion schemes (if applicable)</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Calculating total outstanding balance for the subscribers</a:t>
            </a:r>
          </a:p>
        </p:txBody>
      </p:sp>
      <p:sp>
        <p:nvSpPr>
          <p:cNvPr id="55" name="AutoShape 18"/>
          <p:cNvSpPr>
            <a:spLocks noChangeArrowheads="1"/>
          </p:cNvSpPr>
          <p:nvPr/>
        </p:nvSpPr>
        <p:spPr bwMode="auto">
          <a:xfrm>
            <a:off x="167640" y="4358640"/>
            <a:ext cx="3931920" cy="173736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spcBef>
                <a:spcPct val="20000"/>
              </a:spcBef>
              <a:spcAft>
                <a:spcPct val="20000"/>
              </a:spcAft>
            </a:pPr>
            <a:r>
              <a:rPr lang="en-US" sz="1050" b="1" dirty="0" smtClean="0">
                <a:solidFill>
                  <a:srgbClr val="646464"/>
                </a:solidFill>
                <a:latin typeface="EYInterstate" pitchFamily="2" charset="0"/>
                <a:ea typeface="굴림" charset="-127"/>
              </a:rPr>
              <a:t>Rating &amp; Billing</a:t>
            </a:r>
          </a:p>
          <a:p>
            <a:pPr marL="231775"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Rating happens on customer IMSI and not on Mobile no</a:t>
            </a:r>
          </a:p>
          <a:p>
            <a:pPr marL="231775" indent="-1778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Once CDRs are received by Billing system, they undergo basic validation checks. If CDRs fail on any one of these checks, these are dropped in the billing system error bucket. Some of the validation rules can be listed as follows: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Bill Printing</a:t>
            </a:r>
            <a:r>
              <a:rPr kumimoji="0" lang="en-US" sz="3000" b="1" i="0" u="none" strike="noStrike" kern="0" cap="none" spc="0" normalizeH="0" noProof="0" dirty="0" smtClean="0">
                <a:ln>
                  <a:noFill/>
                </a:ln>
                <a:solidFill>
                  <a:srgbClr val="646464"/>
                </a:solidFill>
                <a:effectLst/>
                <a:uLnTx/>
                <a:uFillTx/>
                <a:latin typeface="+mj-lt"/>
                <a:ea typeface="+mj-ea"/>
                <a:cs typeface="+mj-cs"/>
              </a:rPr>
              <a:t> &amp; Distribution</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grpSp>
        <p:nvGrpSpPr>
          <p:cNvPr id="2" name="Group 65"/>
          <p:cNvGrpSpPr/>
          <p:nvPr/>
        </p:nvGrpSpPr>
        <p:grpSpPr>
          <a:xfrm>
            <a:off x="228600" y="1295400"/>
            <a:ext cx="3657600" cy="2560320"/>
            <a:chOff x="228600" y="1295400"/>
            <a:chExt cx="3657600" cy="3048001"/>
          </a:xfrm>
        </p:grpSpPr>
        <p:sp>
          <p:nvSpPr>
            <p:cNvPr id="20" name="Rectangle 112"/>
            <p:cNvSpPr>
              <a:spLocks noChangeArrowheads="1"/>
            </p:cNvSpPr>
            <p:nvPr/>
          </p:nvSpPr>
          <p:spPr bwMode="auto">
            <a:xfrm>
              <a:off x="228600" y="1295400"/>
              <a:ext cx="3657600" cy="1981200"/>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28750"/>
              <a:ext cx="622300"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28750"/>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28750"/>
              <a:ext cx="623888" cy="258763"/>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955800"/>
              <a:ext cx="622300"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586038"/>
              <a:ext cx="623888" cy="25876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981325"/>
              <a:ext cx="541338"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981325"/>
              <a:ext cx="539750" cy="223838"/>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58925"/>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06750" y="1743075"/>
              <a:ext cx="38893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2084388"/>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2084388"/>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25563" y="2006600"/>
              <a:ext cx="133350"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30275" y="2746375"/>
              <a:ext cx="136525"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39763" y="2787650"/>
              <a:ext cx="136525"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955800"/>
              <a:ext cx="623888" cy="25876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447925"/>
              <a:ext cx="1497013" cy="792163"/>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58925"/>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58925"/>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58925"/>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31913"/>
              <a:ext cx="2827338" cy="4318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627188"/>
              <a:ext cx="147098" cy="133723"/>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62696"/>
              <a:ext cx="174625" cy="215317"/>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622425"/>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65470"/>
              <a:ext cx="147937" cy="13366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146300"/>
              <a:ext cx="147708" cy="133469"/>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171938"/>
              <a:ext cx="176213" cy="215662"/>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138363"/>
              <a:ext cx="148909" cy="13326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138363"/>
              <a:ext cx="149772" cy="13310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2084388"/>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835150"/>
              <a:ext cx="2992438" cy="479425"/>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3276600"/>
              <a:ext cx="0" cy="30480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8" name="Text Box 159"/>
            <p:cNvSpPr txBox="1">
              <a:spLocks noChangeArrowheads="1"/>
            </p:cNvSpPr>
            <p:nvPr/>
          </p:nvSpPr>
          <p:spPr bwMode="auto">
            <a:xfrm>
              <a:off x="685800" y="3581400"/>
              <a:ext cx="2660650" cy="228600"/>
            </a:xfrm>
            <a:prstGeom prst="rect">
              <a:avLst/>
            </a:prstGeom>
            <a:noFill/>
            <a:ln w="9525">
              <a:noFill/>
              <a:miter lim="800000"/>
              <a:headEnd/>
              <a:tailEnd/>
            </a:ln>
            <a:effectLst/>
          </p:spPr>
          <p:txBody>
            <a:bodyPr wrap="none">
              <a:spAutoFit/>
            </a:bodyPr>
            <a:lstStyle/>
            <a:p>
              <a:pPr algn="l"/>
              <a:r>
                <a:rPr lang="en-US" sz="900" b="1" i="1"/>
                <a:t>Chargeable Event Generation and processing</a:t>
              </a:r>
            </a:p>
          </p:txBody>
        </p:sp>
        <p:sp>
          <p:nvSpPr>
            <p:cNvPr id="9" name="Rectangle 160">
              <a:hlinkClick r:id="rId2" action="ppaction://hlinksldjump"/>
            </p:cNvPr>
            <p:cNvSpPr>
              <a:spLocks noChangeArrowheads="1"/>
            </p:cNvSpPr>
            <p:nvPr/>
          </p:nvSpPr>
          <p:spPr bwMode="auto">
            <a:xfrm>
              <a:off x="381000" y="3840163"/>
              <a:ext cx="762000" cy="412750"/>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800" b="1" dirty="0"/>
                <a:t>Bill printing and distribution</a:t>
              </a:r>
            </a:p>
          </p:txBody>
        </p:sp>
        <p:cxnSp>
          <p:nvCxnSpPr>
            <p:cNvPr id="10" name="AutoShape 161"/>
            <p:cNvCxnSpPr>
              <a:cxnSpLocks noChangeShapeType="1"/>
              <a:stCxn id="13" idx="1"/>
              <a:endCxn id="14" idx="3"/>
            </p:cNvCxnSpPr>
            <p:nvPr/>
          </p:nvCxnSpPr>
          <p:spPr bwMode="auto">
            <a:xfrm rot="10800000">
              <a:off x="2921000" y="4046538"/>
              <a:ext cx="101600" cy="0"/>
            </a:xfrm>
            <a:prstGeom prst="straightConnector1">
              <a:avLst/>
            </a:prstGeom>
            <a:noFill/>
            <a:ln w="19050">
              <a:solidFill>
                <a:schemeClr val="bg1">
                  <a:lumMod val="50000"/>
                </a:schemeClr>
              </a:solidFill>
              <a:round/>
              <a:headEnd/>
              <a:tailEnd type="triangle" w="med" len="med"/>
            </a:ln>
            <a:effectLst/>
          </p:spPr>
        </p:cxnSp>
        <p:cxnSp>
          <p:nvCxnSpPr>
            <p:cNvPr id="11" name="AutoShape 162"/>
            <p:cNvCxnSpPr>
              <a:cxnSpLocks noChangeShapeType="1"/>
              <a:stCxn id="14" idx="1"/>
              <a:endCxn id="15" idx="3"/>
            </p:cNvCxnSpPr>
            <p:nvPr/>
          </p:nvCxnSpPr>
          <p:spPr bwMode="auto">
            <a:xfrm rot="10800000">
              <a:off x="2057400" y="4046538"/>
              <a:ext cx="101600" cy="0"/>
            </a:xfrm>
            <a:prstGeom prst="straightConnector1">
              <a:avLst/>
            </a:prstGeom>
            <a:noFill/>
            <a:ln w="19050">
              <a:solidFill>
                <a:schemeClr val="bg1">
                  <a:lumMod val="50000"/>
                </a:schemeClr>
              </a:solidFill>
              <a:round/>
              <a:headEnd/>
              <a:tailEnd type="triangle" w="med" len="med"/>
            </a:ln>
            <a:effectLst/>
          </p:spPr>
        </p:cxnSp>
        <p:cxnSp>
          <p:nvCxnSpPr>
            <p:cNvPr id="12" name="AutoShape 163"/>
            <p:cNvCxnSpPr>
              <a:cxnSpLocks noChangeShapeType="1"/>
              <a:stCxn id="15" idx="1"/>
              <a:endCxn id="9" idx="3"/>
            </p:cNvCxnSpPr>
            <p:nvPr/>
          </p:nvCxnSpPr>
          <p:spPr bwMode="auto">
            <a:xfrm rot="10800000">
              <a:off x="1143000" y="4046538"/>
              <a:ext cx="152400" cy="0"/>
            </a:xfrm>
            <a:prstGeom prst="straightConnector1">
              <a:avLst/>
            </a:prstGeom>
            <a:noFill/>
            <a:ln w="19050">
              <a:solidFill>
                <a:schemeClr val="bg1">
                  <a:lumMod val="50000"/>
                </a:schemeClr>
              </a:solidFill>
              <a:round/>
              <a:headEnd/>
              <a:tailEnd type="triangle" w="med" len="med"/>
            </a:ln>
            <a:effectLst/>
          </p:spPr>
        </p:cxnSp>
        <p:sp>
          <p:nvSpPr>
            <p:cNvPr id="13" name="Rectangle 164">
              <a:hlinkClick r:id="rId2" action="ppaction://hlinksldjump"/>
            </p:cNvPr>
            <p:cNvSpPr>
              <a:spLocks noChangeArrowheads="1"/>
            </p:cNvSpPr>
            <p:nvPr/>
          </p:nvSpPr>
          <p:spPr bwMode="auto">
            <a:xfrm>
              <a:off x="30226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CDR generation</a:t>
              </a:r>
            </a:p>
          </p:txBody>
        </p:sp>
        <p:sp>
          <p:nvSpPr>
            <p:cNvPr id="14" name="Rectangle 165">
              <a:hlinkClick r:id="rId2" action="ppaction://hlinksldjump"/>
            </p:cNvPr>
            <p:cNvSpPr>
              <a:spLocks noChangeArrowheads="1"/>
            </p:cNvSpPr>
            <p:nvPr/>
          </p:nvSpPr>
          <p:spPr bwMode="auto">
            <a:xfrm>
              <a:off x="21590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Mediation processing</a:t>
              </a:r>
            </a:p>
          </p:txBody>
        </p:sp>
        <p:sp>
          <p:nvSpPr>
            <p:cNvPr id="15" name="Rectangle 166">
              <a:hlinkClick r:id="rId2" action="ppaction://hlinksldjump"/>
            </p:cNvPr>
            <p:cNvSpPr>
              <a:spLocks noChangeArrowheads="1"/>
            </p:cNvSpPr>
            <p:nvPr/>
          </p:nvSpPr>
          <p:spPr bwMode="auto">
            <a:xfrm>
              <a:off x="1295400" y="3840163"/>
              <a:ext cx="762000" cy="412750"/>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800" b="1" dirty="0">
                  <a:solidFill>
                    <a:schemeClr val="bg1"/>
                  </a:solidFill>
                </a:rPr>
                <a:t>Rating and billing</a:t>
              </a:r>
            </a:p>
          </p:txBody>
        </p:sp>
        <p:sp>
          <p:nvSpPr>
            <p:cNvPr id="16" name="AutoShape 167"/>
            <p:cNvSpPr>
              <a:spLocks noChangeArrowheads="1"/>
            </p:cNvSpPr>
            <p:nvPr/>
          </p:nvSpPr>
          <p:spPr bwMode="auto">
            <a:xfrm>
              <a:off x="3683000" y="4127500"/>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7" name="AutoShape 168"/>
            <p:cNvSpPr>
              <a:spLocks noChangeArrowheads="1"/>
            </p:cNvSpPr>
            <p:nvPr/>
          </p:nvSpPr>
          <p:spPr bwMode="auto">
            <a:xfrm>
              <a:off x="2108200"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8" name="AutoShape 169"/>
            <p:cNvSpPr>
              <a:spLocks noChangeArrowheads="1"/>
            </p:cNvSpPr>
            <p:nvPr/>
          </p:nvSpPr>
          <p:spPr bwMode="auto">
            <a:xfrm>
              <a:off x="1274763" y="4132263"/>
              <a:ext cx="180975" cy="211138"/>
            </a:xfrm>
            <a:prstGeom prst="can">
              <a:avLst>
                <a:gd name="adj" fmla="val 2916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19" name="Rectangle 170"/>
            <p:cNvSpPr>
              <a:spLocks noChangeArrowheads="1"/>
            </p:cNvSpPr>
            <p:nvPr/>
          </p:nvSpPr>
          <p:spPr bwMode="auto">
            <a:xfrm>
              <a:off x="228600" y="3581400"/>
              <a:ext cx="3657600" cy="762000"/>
            </a:xfrm>
            <a:prstGeom prst="rect">
              <a:avLst/>
            </a:prstGeom>
            <a:noFill/>
            <a:ln w="9525">
              <a:solidFill>
                <a:schemeClr val="bg2"/>
              </a:solidFill>
              <a:prstDash val="sysDot"/>
              <a:miter lim="800000"/>
              <a:headEnd/>
              <a:tailEnd/>
            </a:ln>
            <a:effectLst/>
          </p:spPr>
          <p:txBody>
            <a:bodyPr wrap="none" anchor="ctr"/>
            <a:lstStyle/>
            <a:p>
              <a:endParaRPr lang="en-US"/>
            </a:p>
          </p:txBody>
        </p:sp>
      </p:grpSp>
      <p:sp>
        <p:nvSpPr>
          <p:cNvPr id="67" name="AutoShape 109"/>
          <p:cNvSpPr>
            <a:spLocks noChangeArrowheads="1"/>
          </p:cNvSpPr>
          <p:nvPr/>
        </p:nvSpPr>
        <p:spPr bwMode="auto">
          <a:xfrm>
            <a:off x="4191000" y="1325880"/>
            <a:ext cx="4572000" cy="454152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spcBef>
                <a:spcPct val="20000"/>
              </a:spcBef>
              <a:spcAft>
                <a:spcPct val="20000"/>
              </a:spcAft>
            </a:pPr>
            <a:r>
              <a:rPr lang="en-US" sz="1100" b="1" dirty="0" smtClean="0">
                <a:solidFill>
                  <a:srgbClr val="646464"/>
                </a:solidFill>
                <a:latin typeface="EYInterstate" pitchFamily="2" charset="0"/>
                <a:ea typeface="굴림" charset="-127"/>
              </a:rPr>
              <a:t>Bill Printing and Distribution</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Once the billing is completed, flat files with subscriber invoices are generated and sent for printing. </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Once all bills are printed, these are dispatched to each subscriber.  Mode of distribution to subscribers can vary from traditional mail to courier based services.</a:t>
            </a:r>
          </a:p>
          <a:p>
            <a:pPr marL="800100" lvl="1" indent="-342900">
              <a:spcBef>
                <a:spcPct val="20000"/>
              </a:spcBef>
              <a:spcAft>
                <a:spcPct val="20000"/>
              </a:spcAft>
              <a:buClr>
                <a:srgbClr val="FFD200"/>
              </a:buClr>
              <a:buSzPct val="75000"/>
              <a:buFont typeface="Arial" pitchFamily="34" charset="0"/>
              <a:buChar char="►"/>
            </a:pPr>
            <a:r>
              <a:rPr lang="en-US" sz="1100" i="1" dirty="0" smtClean="0">
                <a:solidFill>
                  <a:srgbClr val="646464"/>
                </a:solidFill>
                <a:latin typeface="EYInterstate" pitchFamily="2" charset="0"/>
                <a:ea typeface="굴림" charset="-127"/>
              </a:rPr>
              <a:t>NOTE: These days some of the operators send monthly bills to the subscribers via email. This is done in order to save on printing and dispatch costs.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457200" y="228600"/>
            <a:ext cx="8232775" cy="942975"/>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lnSpc>
                <a:spcPct val="85000"/>
              </a:lnSpc>
            </a:pPr>
            <a:r>
              <a:rPr kumimoji="0" lang="en-US" sz="3000" b="1" i="0" u="none" strike="noStrike" kern="0" cap="none" spc="0" normalizeH="0" baseline="0" noProof="0" dirty="0" smtClean="0">
                <a:ln>
                  <a:noFill/>
                </a:ln>
                <a:solidFill>
                  <a:srgbClr val="646464"/>
                </a:solidFill>
                <a:effectLst/>
                <a:uLnTx/>
                <a:uFillTx/>
                <a:latin typeface="+mj-lt"/>
                <a:ea typeface="+mj-ea"/>
                <a:cs typeface="+mj-cs"/>
              </a:rPr>
              <a:t>Postpaid Customer Life Cycle </a:t>
            </a:r>
            <a:r>
              <a:rPr lang="en-US" sz="3000" b="1" kern="0" dirty="0" smtClean="0">
                <a:solidFill>
                  <a:srgbClr val="646464"/>
                </a:solidFill>
                <a:latin typeface="+mj-lt"/>
                <a:ea typeface="+mj-ea"/>
                <a:cs typeface="+mj-cs"/>
              </a:rPr>
              <a:t>– Collections and Credit Risk Management</a:t>
            </a:r>
          </a:p>
        </p:txBody>
      </p:sp>
      <p:sp>
        <p:nvSpPr>
          <p:cNvPr id="4" name="Rectangle 3"/>
          <p:cNvSpPr/>
          <p:nvPr/>
        </p:nvSpPr>
        <p:spPr>
          <a:xfrm>
            <a:off x="4963732" y="1993408"/>
            <a:ext cx="1328737" cy="140335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 name="Rectangle 4"/>
          <p:cNvSpPr/>
          <p:nvPr/>
        </p:nvSpPr>
        <p:spPr>
          <a:xfrm>
            <a:off x="5016119" y="1998170"/>
            <a:ext cx="1222375"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Collections and Credit Risk Management</a:t>
            </a:r>
          </a:p>
        </p:txBody>
      </p:sp>
      <p:sp>
        <p:nvSpPr>
          <p:cNvPr id="6" name="Rectangle 5"/>
          <p:cNvSpPr/>
          <p:nvPr/>
        </p:nvSpPr>
        <p:spPr>
          <a:xfrm>
            <a:off x="3584448" y="3429000"/>
            <a:ext cx="1328737"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 name="Rectangle 20"/>
          <p:cNvSpPr>
            <a:spLocks noChangeArrowheads="1"/>
          </p:cNvSpPr>
          <p:nvPr/>
        </p:nvSpPr>
        <p:spPr bwMode="auto">
          <a:xfrm>
            <a:off x="3625977" y="4278868"/>
            <a:ext cx="1136650" cy="369332"/>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CDR Generation &amp; Billing</a:t>
            </a:r>
          </a:p>
        </p:txBody>
      </p:sp>
      <p:pic>
        <p:nvPicPr>
          <p:cNvPr id="8" name="Picture 29" descr="14H02278_RF.jpg"/>
          <p:cNvPicPr>
            <a:picLocks noChangeAspect="1"/>
          </p:cNvPicPr>
          <p:nvPr/>
        </p:nvPicPr>
        <p:blipFill>
          <a:blip r:embed="rId2" cstate="print"/>
          <a:srcRect b="29448"/>
          <a:stretch>
            <a:fillRect/>
          </a:stretch>
        </p:blipFill>
        <p:spPr bwMode="auto">
          <a:xfrm>
            <a:off x="4968240" y="3432064"/>
            <a:ext cx="1325562" cy="1401763"/>
          </a:xfrm>
          <a:prstGeom prst="rect">
            <a:avLst/>
          </a:prstGeom>
          <a:noFill/>
          <a:ln w="9525">
            <a:noFill/>
            <a:miter lim="800000"/>
            <a:headEnd/>
            <a:tailEnd/>
          </a:ln>
        </p:spPr>
      </p:pic>
      <p:sp>
        <p:nvSpPr>
          <p:cNvPr id="9" name="Rectangle 8"/>
          <p:cNvSpPr/>
          <p:nvPr/>
        </p:nvSpPr>
        <p:spPr>
          <a:xfrm>
            <a:off x="2209800" y="1993408"/>
            <a:ext cx="1328737"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 name="Rectangle 9"/>
          <p:cNvSpPr/>
          <p:nvPr/>
        </p:nvSpPr>
        <p:spPr>
          <a:xfrm>
            <a:off x="2223897" y="2734645"/>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11" name="Isosceles Triangle 10"/>
          <p:cNvSpPr/>
          <p:nvPr/>
        </p:nvSpPr>
        <p:spPr>
          <a:xfrm rot="10800000">
            <a:off x="3359023" y="3303477"/>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2" name="Rectangle 20"/>
          <p:cNvSpPr>
            <a:spLocks noChangeArrowheads="1"/>
          </p:cNvSpPr>
          <p:nvPr/>
        </p:nvSpPr>
        <p:spPr bwMode="auto">
          <a:xfrm>
            <a:off x="2240280" y="2022110"/>
            <a:ext cx="1136650"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Sales &amp; Provisioning</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sp>
        <p:nvSpPr>
          <p:cNvPr id="13" name="Isosceles Triangle 12"/>
          <p:cNvSpPr/>
          <p:nvPr/>
        </p:nvSpPr>
        <p:spPr bwMode="auto">
          <a:xfrm>
            <a:off x="4720272" y="3474673"/>
            <a:ext cx="16351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4" name="Isosceles Triangle 13"/>
          <p:cNvSpPr/>
          <p:nvPr/>
        </p:nvSpPr>
        <p:spPr>
          <a:xfrm rot="10800000">
            <a:off x="6086475" y="3297381"/>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5" name="Rectangle 14"/>
          <p:cNvSpPr/>
          <p:nvPr/>
        </p:nvSpPr>
        <p:spPr>
          <a:xfrm>
            <a:off x="4956048" y="2752933"/>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sp>
        <p:nvSpPr>
          <p:cNvPr id="16" name="Rectangle 15"/>
          <p:cNvSpPr/>
          <p:nvPr/>
        </p:nvSpPr>
        <p:spPr>
          <a:xfrm>
            <a:off x="3599688" y="3453400"/>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pic>
        <p:nvPicPr>
          <p:cNvPr id="17" name="Picture 1" descr="C:\TechM Warehouse\Data 1\Useful Presentations\Useful Pics\Cong 1.jpg"/>
          <p:cNvPicPr>
            <a:picLocks noChangeArrowheads="1"/>
          </p:cNvPicPr>
          <p:nvPr/>
        </p:nvPicPr>
        <p:blipFill>
          <a:blip r:embed="rId3" cstate="print"/>
          <a:srcRect/>
          <a:stretch>
            <a:fillRect/>
          </a:stretch>
        </p:blipFill>
        <p:spPr bwMode="auto">
          <a:xfrm>
            <a:off x="2215760" y="3429016"/>
            <a:ext cx="1325880" cy="1399032"/>
          </a:xfrm>
          <a:prstGeom prst="rect">
            <a:avLst/>
          </a:prstGeom>
          <a:noFill/>
        </p:spPr>
      </p:pic>
      <p:pic>
        <p:nvPicPr>
          <p:cNvPr id="18" name="Picture 3"/>
          <p:cNvPicPr>
            <a:picLocks noChangeArrowheads="1"/>
          </p:cNvPicPr>
          <p:nvPr/>
        </p:nvPicPr>
        <p:blipFill>
          <a:blip r:embed="rId4" cstate="print"/>
          <a:srcRect/>
          <a:stretch>
            <a:fillRect/>
          </a:stretch>
        </p:blipFill>
        <p:spPr bwMode="auto">
          <a:xfrm>
            <a:off x="3589632" y="1994864"/>
            <a:ext cx="1325880" cy="13990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lnSpc>
                <a:spcPct val="85000"/>
              </a:lnSpc>
              <a:defRPr/>
            </a:pPr>
            <a:r>
              <a:rPr lang="en-US" sz="3000" b="1" kern="0" dirty="0" smtClean="0">
                <a:solidFill>
                  <a:srgbClr val="646464"/>
                </a:solidFill>
                <a:latin typeface="+mj-lt"/>
                <a:ea typeface="+mj-ea"/>
                <a:cs typeface="+mj-cs"/>
              </a:rPr>
              <a:t>Collections</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20" name="Rectangle 112"/>
          <p:cNvSpPr>
            <a:spLocks noChangeArrowheads="1"/>
          </p:cNvSpPr>
          <p:nvPr/>
        </p:nvSpPr>
        <p:spPr bwMode="auto">
          <a:xfrm>
            <a:off x="228600" y="1295400"/>
            <a:ext cx="3657600" cy="1664207"/>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07414"/>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07414"/>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07414"/>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07414"/>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07414"/>
            <a:ext cx="623888" cy="217361"/>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850136"/>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379536"/>
            <a:ext cx="623888" cy="217361"/>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711577"/>
            <a:ext cx="541338" cy="188024"/>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711577"/>
            <a:ext cx="539750" cy="188024"/>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16761"/>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37865" y="1649095"/>
            <a:ext cx="32670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1958150"/>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1958150"/>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36231" y="1832864"/>
            <a:ext cx="112014"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41197" y="2487676"/>
            <a:ext cx="114681"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50685" y="2528951"/>
            <a:ext cx="114681"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263521"/>
            <a:ext cx="1497013" cy="665417"/>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16761"/>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16761"/>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16761"/>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26071"/>
            <a:ext cx="2827338" cy="362712"/>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574102"/>
            <a:ext cx="147098" cy="11232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03929"/>
            <a:ext cx="174625" cy="180866"/>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570101"/>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06259"/>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06259"/>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010156"/>
            <a:ext cx="147708" cy="112114"/>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031692"/>
            <a:ext cx="176213" cy="181156"/>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003489"/>
            <a:ext cx="148909" cy="111938"/>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003489"/>
            <a:ext cx="149772" cy="111804"/>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1958150"/>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748790"/>
            <a:ext cx="2992438" cy="402717"/>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2971800"/>
            <a:ext cx="0" cy="18288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67" name="AutoShape 109"/>
          <p:cNvSpPr>
            <a:spLocks noChangeArrowheads="1"/>
          </p:cNvSpPr>
          <p:nvPr/>
        </p:nvSpPr>
        <p:spPr bwMode="auto">
          <a:xfrm>
            <a:off x="4038600" y="1325880"/>
            <a:ext cx="4800600" cy="454152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spcBef>
                <a:spcPct val="20000"/>
              </a:spcBef>
              <a:spcAft>
                <a:spcPct val="20000"/>
              </a:spcAft>
            </a:pPr>
            <a:r>
              <a:rPr lang="en-US" sz="1100" b="1" dirty="0" smtClean="0">
                <a:solidFill>
                  <a:srgbClr val="646464"/>
                </a:solidFill>
                <a:latin typeface="EYInterstate" pitchFamily="2" charset="0"/>
                <a:ea typeface="굴림" charset="-127"/>
              </a:rPr>
              <a:t>Collections</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Collections drive the cash flow of a telecom operator. The key activities under collection can be summarized as below:</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Arrangement for different modes of collections like internet, direct debit facility, drop boxes for cheque collections, cash receipt  etc</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Updating subscriber’s balance in various systems after payment has been duly </a:t>
            </a:r>
            <a:r>
              <a:rPr lang="en-US" sz="1100" dirty="0" smtClean="0">
                <a:solidFill>
                  <a:srgbClr val="646464"/>
                </a:solidFill>
                <a:latin typeface="EYInterstate" pitchFamily="2" charset="0"/>
                <a:ea typeface="굴림" charset="-127"/>
              </a:rPr>
              <a:t>realized/collected</a:t>
            </a:r>
            <a:r>
              <a:rPr lang="en-US" sz="1100" dirty="0" smtClean="0">
                <a:solidFill>
                  <a:srgbClr val="646464"/>
                </a:solidFill>
                <a:latin typeface="EYInterstate" pitchFamily="2" charset="0"/>
                <a:ea typeface="굴림" charset="-127"/>
              </a:rPr>
              <a:t>.</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Every subscriber is given a due date within which payment should be made, else late payment charges are applied. </a:t>
            </a:r>
            <a:r>
              <a:rPr lang="en-US" sz="1100" i="1" dirty="0" smtClean="0">
                <a:solidFill>
                  <a:srgbClr val="646464"/>
                </a:solidFill>
                <a:latin typeface="EYInterstate" pitchFamily="2" charset="0"/>
                <a:ea typeface="굴림" charset="-127"/>
              </a:rPr>
              <a:t>Generally, operators allow a period of 15-30 days for subscribers to make payments.</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However, they might be certain subscribers who do not pay within the due date. This triggers the process of ‘dunning’.</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Dunning refers to the process of restricting service level of subscribers in case of non-payment based on ageing of outstanding amount. </a:t>
            </a:r>
          </a:p>
        </p:txBody>
      </p:sp>
      <p:grpSp>
        <p:nvGrpSpPr>
          <p:cNvPr id="72" name="Group 71"/>
          <p:cNvGrpSpPr/>
          <p:nvPr/>
        </p:nvGrpSpPr>
        <p:grpSpPr>
          <a:xfrm>
            <a:off x="304800" y="3124200"/>
            <a:ext cx="3017520" cy="1371600"/>
            <a:chOff x="304800" y="3276600"/>
            <a:chExt cx="3048000" cy="1600200"/>
          </a:xfrm>
        </p:grpSpPr>
        <p:sp>
          <p:nvSpPr>
            <p:cNvPr id="55" name="Rectangle 119">
              <a:hlinkClick r:id="rId2" action="ppaction://hlinksldjump"/>
            </p:cNvPr>
            <p:cNvSpPr>
              <a:spLocks noChangeArrowheads="1"/>
            </p:cNvSpPr>
            <p:nvPr/>
          </p:nvSpPr>
          <p:spPr bwMode="auto">
            <a:xfrm>
              <a:off x="1269784" y="3703342"/>
              <a:ext cx="1016216" cy="366707"/>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900" b="1" dirty="0" smtClean="0"/>
                <a:t>Collection</a:t>
              </a:r>
              <a:endParaRPr lang="en-US" sz="900" b="1" dirty="0"/>
            </a:p>
          </p:txBody>
        </p:sp>
        <p:sp>
          <p:nvSpPr>
            <p:cNvPr id="59" name="Rectangle 120">
              <a:hlinkClick r:id="rId2" action="ppaction://hlinksldjump"/>
            </p:cNvPr>
            <p:cNvSpPr>
              <a:spLocks noChangeArrowheads="1"/>
            </p:cNvSpPr>
            <p:nvPr/>
          </p:nvSpPr>
          <p:spPr bwMode="auto">
            <a:xfrm>
              <a:off x="794645" y="4263525"/>
              <a:ext cx="881755" cy="31721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smtClean="0">
                  <a:solidFill>
                    <a:schemeClr val="bg1"/>
                  </a:solidFill>
                </a:rPr>
                <a:t>Dunning</a:t>
              </a:r>
            </a:p>
          </p:txBody>
        </p:sp>
        <p:sp>
          <p:nvSpPr>
            <p:cNvPr id="61" name="Rectangle 121">
              <a:hlinkClick r:id="rId2" action="ppaction://hlinksldjump"/>
            </p:cNvPr>
            <p:cNvSpPr>
              <a:spLocks noChangeArrowheads="1"/>
            </p:cNvSpPr>
            <p:nvPr/>
          </p:nvSpPr>
          <p:spPr bwMode="auto">
            <a:xfrm>
              <a:off x="1864032" y="4263525"/>
              <a:ext cx="879168" cy="31721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smtClean="0">
                  <a:solidFill>
                    <a:schemeClr val="bg1"/>
                  </a:solidFill>
                </a:rPr>
                <a:t>Credit Limit Revision</a:t>
              </a:r>
              <a:endParaRPr lang="en-US" sz="900" b="1" dirty="0">
                <a:solidFill>
                  <a:schemeClr val="bg1"/>
                </a:solidFill>
              </a:endParaRPr>
            </a:p>
          </p:txBody>
        </p:sp>
        <p:cxnSp>
          <p:nvCxnSpPr>
            <p:cNvPr id="63" name="AutoShape 127"/>
            <p:cNvCxnSpPr>
              <a:cxnSpLocks noChangeShapeType="1"/>
              <a:stCxn id="55" idx="2"/>
              <a:endCxn id="61" idx="0"/>
            </p:cNvCxnSpPr>
            <p:nvPr/>
          </p:nvCxnSpPr>
          <p:spPr bwMode="auto">
            <a:xfrm rot="16200000" flipH="1">
              <a:off x="1944016" y="3903925"/>
              <a:ext cx="193476" cy="525724"/>
            </a:xfrm>
            <a:prstGeom prst="bentConnector3">
              <a:avLst>
                <a:gd name="adj1" fmla="val 50000"/>
              </a:avLst>
            </a:prstGeom>
            <a:noFill/>
            <a:ln w="19050">
              <a:solidFill>
                <a:schemeClr val="bg1">
                  <a:lumMod val="50000"/>
                </a:schemeClr>
              </a:solidFill>
              <a:miter lim="800000"/>
              <a:headEnd/>
              <a:tailEnd type="triangle" w="med" len="med"/>
            </a:ln>
            <a:effectLst/>
          </p:spPr>
        </p:cxnSp>
        <p:cxnSp>
          <p:nvCxnSpPr>
            <p:cNvPr id="66" name="AutoShape 128"/>
            <p:cNvCxnSpPr>
              <a:cxnSpLocks noChangeShapeType="1"/>
              <a:stCxn id="55" idx="2"/>
              <a:endCxn id="59" idx="0"/>
            </p:cNvCxnSpPr>
            <p:nvPr/>
          </p:nvCxnSpPr>
          <p:spPr bwMode="auto">
            <a:xfrm rot="5400000">
              <a:off x="1409970" y="3895603"/>
              <a:ext cx="193476" cy="542369"/>
            </a:xfrm>
            <a:prstGeom prst="bentConnector3">
              <a:avLst>
                <a:gd name="adj1" fmla="val 50000"/>
              </a:avLst>
            </a:prstGeom>
            <a:noFill/>
            <a:ln w="19050">
              <a:solidFill>
                <a:schemeClr val="bg1">
                  <a:lumMod val="50000"/>
                </a:schemeClr>
              </a:solidFill>
              <a:miter lim="800000"/>
              <a:headEnd/>
              <a:tailEnd type="triangle" w="med" len="med"/>
            </a:ln>
            <a:effectLst/>
          </p:spPr>
        </p:cxnSp>
        <p:sp>
          <p:nvSpPr>
            <p:cNvPr id="68" name="Rectangle 132"/>
            <p:cNvSpPr>
              <a:spLocks noChangeArrowheads="1"/>
            </p:cNvSpPr>
            <p:nvPr/>
          </p:nvSpPr>
          <p:spPr bwMode="auto">
            <a:xfrm>
              <a:off x="609600" y="3601783"/>
              <a:ext cx="2438400" cy="1122617"/>
            </a:xfrm>
            <a:prstGeom prst="rect">
              <a:avLst/>
            </a:prstGeom>
            <a:noFill/>
            <a:ln w="9525">
              <a:noFill/>
              <a:prstDash val="sysDot"/>
              <a:miter lim="800000"/>
              <a:headEnd/>
              <a:tailEnd/>
            </a:ln>
            <a:effectLst/>
          </p:spPr>
          <p:txBody>
            <a:bodyPr wrap="none" anchor="ctr"/>
            <a:lstStyle/>
            <a:p>
              <a:endParaRPr lang="en-US"/>
            </a:p>
          </p:txBody>
        </p:sp>
        <p:sp>
          <p:nvSpPr>
            <p:cNvPr id="70" name="Rectangle 110"/>
            <p:cNvSpPr>
              <a:spLocks noChangeArrowheads="1"/>
            </p:cNvSpPr>
            <p:nvPr/>
          </p:nvSpPr>
          <p:spPr bwMode="auto">
            <a:xfrm>
              <a:off x="304800" y="3276600"/>
              <a:ext cx="3048000" cy="16002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1" name="Rectangle 70"/>
            <p:cNvSpPr/>
            <p:nvPr/>
          </p:nvSpPr>
          <p:spPr>
            <a:xfrm>
              <a:off x="381000" y="3319790"/>
              <a:ext cx="2834640" cy="261610"/>
            </a:xfrm>
            <a:prstGeom prst="rect">
              <a:avLst/>
            </a:prstGeom>
          </p:spPr>
          <p:txBody>
            <a:bodyPr>
              <a:spAutoFit/>
            </a:bodyPr>
            <a:lstStyle/>
            <a:p>
              <a:r>
                <a:rPr lang="en-US" sz="1050" b="1" i="1" dirty="0" smtClean="0"/>
                <a:t>Collections and Credit Risk Management</a:t>
              </a:r>
              <a:endParaRPr lang="en-US" sz="1050" b="1" i="1" dirty="0"/>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lnSpc>
                <a:spcPct val="85000"/>
              </a:lnSpc>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Dunning</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20" name="Rectangle 112"/>
          <p:cNvSpPr>
            <a:spLocks noChangeArrowheads="1"/>
          </p:cNvSpPr>
          <p:nvPr/>
        </p:nvSpPr>
        <p:spPr bwMode="auto">
          <a:xfrm>
            <a:off x="228600" y="1295400"/>
            <a:ext cx="3657600" cy="1664207"/>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07414"/>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07414"/>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07414"/>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07414"/>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07414"/>
            <a:ext cx="623888" cy="217361"/>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850136"/>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379536"/>
            <a:ext cx="623888" cy="217361"/>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711577"/>
            <a:ext cx="541338" cy="188024"/>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711577"/>
            <a:ext cx="539750" cy="188024"/>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16761"/>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37865" y="1649095"/>
            <a:ext cx="32670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1958150"/>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1958150"/>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36231" y="1832864"/>
            <a:ext cx="112014"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41197" y="2487676"/>
            <a:ext cx="114681"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50685" y="2528951"/>
            <a:ext cx="114681"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263521"/>
            <a:ext cx="1497013" cy="665417"/>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16761"/>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16761"/>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16761"/>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26071"/>
            <a:ext cx="2827338" cy="362712"/>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574102"/>
            <a:ext cx="147098" cy="11232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03929"/>
            <a:ext cx="174625" cy="180866"/>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570101"/>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06259"/>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06259"/>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010156"/>
            <a:ext cx="147708" cy="112114"/>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031692"/>
            <a:ext cx="176213" cy="181156"/>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003489"/>
            <a:ext cx="148909" cy="111938"/>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003489"/>
            <a:ext cx="149772" cy="111804"/>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1958150"/>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748790"/>
            <a:ext cx="2992438" cy="402717"/>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2971800"/>
            <a:ext cx="0" cy="18288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67" name="AutoShape 109"/>
          <p:cNvSpPr>
            <a:spLocks noChangeArrowheads="1"/>
          </p:cNvSpPr>
          <p:nvPr/>
        </p:nvSpPr>
        <p:spPr bwMode="auto">
          <a:xfrm>
            <a:off x="4038600" y="1325880"/>
            <a:ext cx="4800600" cy="454152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spcBef>
                <a:spcPct val="20000"/>
              </a:spcBef>
              <a:spcAft>
                <a:spcPct val="20000"/>
              </a:spcAft>
            </a:pPr>
            <a:r>
              <a:rPr lang="en-US" sz="1100" b="1" dirty="0" smtClean="0">
                <a:solidFill>
                  <a:srgbClr val="646464"/>
                </a:solidFill>
                <a:latin typeface="EYInterstate" pitchFamily="2" charset="0"/>
                <a:ea typeface="굴림" charset="-127"/>
              </a:rPr>
              <a:t>Dunning</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Dunning refers to the process of reminders for payment &amp; restricting service level of subscribers in case of non-payment based on ageing of outstanding amount. </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Various steps involved in dunning can be listed as follows:</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Generation of ageing lists for subscriber accounts.</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Sending notifications and personal call reminders to the subscribers within due date.</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If payment is not received by due date plus x days, outgoing calls are barred for the subscriber.</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If payment is not received even after barring of outgoing calls, incoming calls are barred after a certain period. This refers to </a:t>
            </a:r>
            <a:r>
              <a:rPr lang="en-US" sz="1100" b="1" dirty="0" smtClean="0">
                <a:solidFill>
                  <a:srgbClr val="646464"/>
                </a:solidFill>
                <a:latin typeface="EYInterstate" pitchFamily="2" charset="0"/>
                <a:ea typeface="굴림" charset="-127"/>
              </a:rPr>
              <a:t>suspension of subscriber account</a:t>
            </a:r>
            <a:r>
              <a:rPr lang="en-US" sz="1100" dirty="0" smtClean="0">
                <a:solidFill>
                  <a:srgbClr val="646464"/>
                </a:solidFill>
                <a:latin typeface="EYInterstate" pitchFamily="2" charset="0"/>
                <a:ea typeface="굴림" charset="-127"/>
              </a:rPr>
              <a:t>. </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After suspension of the account, the operator may hand over a listing of such accounts to third party collections agencies.</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Also, an operator may initiate legal action if required - for example, where the subscriber debt has a large amount and outstanding is overdue for an extended period of time.</a:t>
            </a:r>
          </a:p>
          <a:p>
            <a:pPr marL="342900" indent="-342900">
              <a:spcBef>
                <a:spcPct val="20000"/>
              </a:spcBef>
              <a:spcAft>
                <a:spcPct val="20000"/>
              </a:spcAft>
              <a:buClr>
                <a:srgbClr val="FFD200"/>
              </a:buClr>
              <a:buSzPct val="75000"/>
              <a:buFont typeface="Arial" pitchFamily="34" charset="0"/>
              <a:buChar char="►"/>
            </a:pPr>
            <a:endParaRPr lang="en-US" sz="1100" dirty="0" smtClean="0">
              <a:solidFill>
                <a:srgbClr val="646464"/>
              </a:solidFill>
              <a:latin typeface="EYInterstate" pitchFamily="2" charset="0"/>
              <a:ea typeface="굴림" charset="-127"/>
            </a:endParaRPr>
          </a:p>
        </p:txBody>
      </p:sp>
      <p:grpSp>
        <p:nvGrpSpPr>
          <p:cNvPr id="2" name="Group 71"/>
          <p:cNvGrpSpPr/>
          <p:nvPr/>
        </p:nvGrpSpPr>
        <p:grpSpPr>
          <a:xfrm>
            <a:off x="304800" y="3124200"/>
            <a:ext cx="3017520" cy="1371600"/>
            <a:chOff x="304800" y="3276600"/>
            <a:chExt cx="3048000" cy="1600200"/>
          </a:xfrm>
        </p:grpSpPr>
        <p:sp>
          <p:nvSpPr>
            <p:cNvPr id="55" name="Rectangle 119">
              <a:hlinkClick r:id="rId2" action="ppaction://hlinksldjump"/>
            </p:cNvPr>
            <p:cNvSpPr>
              <a:spLocks noChangeArrowheads="1"/>
            </p:cNvSpPr>
            <p:nvPr/>
          </p:nvSpPr>
          <p:spPr bwMode="auto">
            <a:xfrm>
              <a:off x="1269784" y="3703342"/>
              <a:ext cx="1016216" cy="366707"/>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smtClean="0">
                  <a:solidFill>
                    <a:schemeClr val="bg1"/>
                  </a:solidFill>
                </a:rPr>
                <a:t>Collection</a:t>
              </a:r>
            </a:p>
          </p:txBody>
        </p:sp>
        <p:sp>
          <p:nvSpPr>
            <p:cNvPr id="59" name="Rectangle 120">
              <a:hlinkClick r:id="rId2" action="ppaction://hlinksldjump"/>
            </p:cNvPr>
            <p:cNvSpPr>
              <a:spLocks noChangeArrowheads="1"/>
            </p:cNvSpPr>
            <p:nvPr/>
          </p:nvSpPr>
          <p:spPr bwMode="auto">
            <a:xfrm>
              <a:off x="794645" y="4263525"/>
              <a:ext cx="881755" cy="31721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900" b="1" dirty="0" smtClean="0"/>
                <a:t>Dunning</a:t>
              </a:r>
            </a:p>
          </p:txBody>
        </p:sp>
        <p:sp>
          <p:nvSpPr>
            <p:cNvPr id="61" name="Rectangle 121">
              <a:hlinkClick r:id="rId2" action="ppaction://hlinksldjump"/>
            </p:cNvPr>
            <p:cNvSpPr>
              <a:spLocks noChangeArrowheads="1"/>
            </p:cNvSpPr>
            <p:nvPr/>
          </p:nvSpPr>
          <p:spPr bwMode="auto">
            <a:xfrm>
              <a:off x="1864032" y="4263525"/>
              <a:ext cx="879168" cy="31721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smtClean="0">
                  <a:solidFill>
                    <a:schemeClr val="bg1"/>
                  </a:solidFill>
                </a:rPr>
                <a:t>Credit Limit Revision</a:t>
              </a:r>
              <a:endParaRPr lang="en-US" sz="900" b="1" dirty="0">
                <a:solidFill>
                  <a:schemeClr val="bg1"/>
                </a:solidFill>
              </a:endParaRPr>
            </a:p>
          </p:txBody>
        </p:sp>
        <p:cxnSp>
          <p:nvCxnSpPr>
            <p:cNvPr id="63" name="AutoShape 127"/>
            <p:cNvCxnSpPr>
              <a:cxnSpLocks noChangeShapeType="1"/>
              <a:stCxn id="55" idx="2"/>
              <a:endCxn id="61" idx="0"/>
            </p:cNvCxnSpPr>
            <p:nvPr/>
          </p:nvCxnSpPr>
          <p:spPr bwMode="auto">
            <a:xfrm rot="16200000" flipH="1">
              <a:off x="1944016" y="3903925"/>
              <a:ext cx="193476" cy="525724"/>
            </a:xfrm>
            <a:prstGeom prst="bentConnector3">
              <a:avLst>
                <a:gd name="adj1" fmla="val 50000"/>
              </a:avLst>
            </a:prstGeom>
            <a:noFill/>
            <a:ln w="19050">
              <a:solidFill>
                <a:schemeClr val="bg1">
                  <a:lumMod val="50000"/>
                </a:schemeClr>
              </a:solidFill>
              <a:miter lim="800000"/>
              <a:headEnd/>
              <a:tailEnd type="triangle" w="med" len="med"/>
            </a:ln>
            <a:effectLst/>
          </p:spPr>
        </p:cxnSp>
        <p:cxnSp>
          <p:nvCxnSpPr>
            <p:cNvPr id="66" name="AutoShape 128"/>
            <p:cNvCxnSpPr>
              <a:cxnSpLocks noChangeShapeType="1"/>
              <a:stCxn id="55" idx="2"/>
              <a:endCxn id="59" idx="0"/>
            </p:cNvCxnSpPr>
            <p:nvPr/>
          </p:nvCxnSpPr>
          <p:spPr bwMode="auto">
            <a:xfrm rot="5400000">
              <a:off x="1409970" y="3895603"/>
              <a:ext cx="193476" cy="542369"/>
            </a:xfrm>
            <a:prstGeom prst="bentConnector3">
              <a:avLst>
                <a:gd name="adj1" fmla="val 50000"/>
              </a:avLst>
            </a:prstGeom>
            <a:noFill/>
            <a:ln w="19050">
              <a:solidFill>
                <a:schemeClr val="bg1">
                  <a:lumMod val="50000"/>
                </a:schemeClr>
              </a:solidFill>
              <a:miter lim="800000"/>
              <a:headEnd/>
              <a:tailEnd type="triangle" w="med" len="med"/>
            </a:ln>
            <a:effectLst/>
          </p:spPr>
        </p:cxnSp>
        <p:sp>
          <p:nvSpPr>
            <p:cNvPr id="68" name="Rectangle 132"/>
            <p:cNvSpPr>
              <a:spLocks noChangeArrowheads="1"/>
            </p:cNvSpPr>
            <p:nvPr/>
          </p:nvSpPr>
          <p:spPr bwMode="auto">
            <a:xfrm>
              <a:off x="609600" y="3601783"/>
              <a:ext cx="2438400" cy="1122617"/>
            </a:xfrm>
            <a:prstGeom prst="rect">
              <a:avLst/>
            </a:prstGeom>
            <a:noFill/>
            <a:ln w="9525">
              <a:noFill/>
              <a:prstDash val="sysDot"/>
              <a:miter lim="800000"/>
              <a:headEnd/>
              <a:tailEnd/>
            </a:ln>
            <a:effectLst/>
          </p:spPr>
          <p:txBody>
            <a:bodyPr wrap="none" anchor="ctr"/>
            <a:lstStyle/>
            <a:p>
              <a:endParaRPr lang="en-US"/>
            </a:p>
          </p:txBody>
        </p:sp>
        <p:sp>
          <p:nvSpPr>
            <p:cNvPr id="70" name="Rectangle 110"/>
            <p:cNvSpPr>
              <a:spLocks noChangeArrowheads="1"/>
            </p:cNvSpPr>
            <p:nvPr/>
          </p:nvSpPr>
          <p:spPr bwMode="auto">
            <a:xfrm>
              <a:off x="304800" y="3276600"/>
              <a:ext cx="3048000" cy="16002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1" name="Rectangle 70"/>
            <p:cNvSpPr/>
            <p:nvPr/>
          </p:nvSpPr>
          <p:spPr>
            <a:xfrm>
              <a:off x="381000" y="3319790"/>
              <a:ext cx="2834640" cy="261610"/>
            </a:xfrm>
            <a:prstGeom prst="rect">
              <a:avLst/>
            </a:prstGeom>
          </p:spPr>
          <p:txBody>
            <a:bodyPr>
              <a:spAutoFit/>
            </a:bodyPr>
            <a:lstStyle/>
            <a:p>
              <a:r>
                <a:rPr lang="en-US" sz="1050" b="1" i="1" dirty="0" smtClean="0"/>
                <a:t>Collections and Credit Risk Management</a:t>
              </a:r>
              <a:endParaRPr lang="en-US" sz="1050" b="1" i="1" dirty="0"/>
            </a:p>
          </p:txBody>
        </p:sp>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81000" y="228600"/>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lnSpc>
                <a:spcPct val="85000"/>
              </a:lnSpc>
              <a:defRPr/>
            </a:pPr>
            <a:r>
              <a:rPr kumimoji="0" lang="en-US" sz="3000" b="1" i="0" u="none" strike="noStrike" kern="0" cap="none" spc="0" normalizeH="0" baseline="0" noProof="0" dirty="0" smtClean="0">
                <a:ln>
                  <a:noFill/>
                </a:ln>
                <a:solidFill>
                  <a:srgbClr val="646464"/>
                </a:solidFill>
                <a:effectLst/>
                <a:uLnTx/>
                <a:uFillTx/>
                <a:latin typeface="+mj-lt"/>
                <a:ea typeface="+mj-ea"/>
                <a:cs typeface="+mj-cs"/>
              </a:rPr>
              <a:t>Credit Limit Revision</a:t>
            </a:r>
            <a:endParaRPr kumimoji="0" lang="en-US" sz="3000" b="1" i="0" u="none" strike="noStrike" kern="0" cap="none" spc="0" normalizeH="0" baseline="0" noProof="0" dirty="0">
              <a:ln>
                <a:noFill/>
              </a:ln>
              <a:solidFill>
                <a:srgbClr val="646464"/>
              </a:solidFill>
              <a:effectLst/>
              <a:uLnTx/>
              <a:uFillTx/>
              <a:latin typeface="+mj-lt"/>
              <a:ea typeface="+mj-ea"/>
              <a:cs typeface="+mj-cs"/>
            </a:endParaRPr>
          </a:p>
        </p:txBody>
      </p:sp>
      <p:sp>
        <p:nvSpPr>
          <p:cNvPr id="20" name="Rectangle 112"/>
          <p:cNvSpPr>
            <a:spLocks noChangeArrowheads="1"/>
          </p:cNvSpPr>
          <p:nvPr/>
        </p:nvSpPr>
        <p:spPr bwMode="auto">
          <a:xfrm>
            <a:off x="228600" y="1295400"/>
            <a:ext cx="3657600" cy="1664207"/>
          </a:xfrm>
          <a:prstGeom prst="rect">
            <a:avLst/>
          </a:prstGeom>
          <a:noFill/>
          <a:ln w="9525">
            <a:solidFill>
              <a:schemeClr val="bg2"/>
            </a:solidFill>
            <a:miter lim="800000"/>
            <a:headEnd/>
            <a:tailEnd/>
          </a:ln>
          <a:effectLst/>
        </p:spPr>
        <p:txBody>
          <a:bodyPr wrap="none" anchor="ctr"/>
          <a:lstStyle/>
          <a:p>
            <a:endParaRPr lang="en-US"/>
          </a:p>
        </p:txBody>
      </p:sp>
      <p:sp>
        <p:nvSpPr>
          <p:cNvPr id="21" name="Rectangle 113">
            <a:hlinkClick r:id="rId2" action="ppaction://hlinksldjump"/>
          </p:cNvPr>
          <p:cNvSpPr>
            <a:spLocks noChangeArrowheads="1"/>
          </p:cNvSpPr>
          <p:nvPr/>
        </p:nvSpPr>
        <p:spPr bwMode="auto">
          <a:xfrm>
            <a:off x="1725613" y="1407414"/>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2" name="Rectangle 114">
            <a:hlinkClick r:id="rId2" action="ppaction://hlinksldjump"/>
          </p:cNvPr>
          <p:cNvSpPr>
            <a:spLocks noChangeArrowheads="1"/>
          </p:cNvSpPr>
          <p:nvPr/>
        </p:nvSpPr>
        <p:spPr bwMode="auto">
          <a:xfrm>
            <a:off x="311150" y="1407414"/>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3" name="Rectangle 115">
            <a:hlinkClick r:id="rId2" action="ppaction://hlinksldjump"/>
          </p:cNvPr>
          <p:cNvSpPr>
            <a:spLocks noChangeArrowheads="1"/>
          </p:cNvSpPr>
          <p:nvPr/>
        </p:nvSpPr>
        <p:spPr bwMode="auto">
          <a:xfrm>
            <a:off x="2432050" y="1407414"/>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4" name="Rectangle 116">
            <a:hlinkClick r:id="rId2" action="ppaction://hlinksldjump"/>
          </p:cNvPr>
          <p:cNvSpPr>
            <a:spLocks noChangeArrowheads="1"/>
          </p:cNvSpPr>
          <p:nvPr/>
        </p:nvSpPr>
        <p:spPr bwMode="auto">
          <a:xfrm>
            <a:off x="1017588" y="1407414"/>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5" name="Oval 117">
            <a:hlinkClick r:id="rId2" action="ppaction://hlinksldjump"/>
          </p:cNvPr>
          <p:cNvSpPr>
            <a:spLocks noChangeArrowheads="1"/>
          </p:cNvSpPr>
          <p:nvPr/>
        </p:nvSpPr>
        <p:spPr bwMode="auto">
          <a:xfrm>
            <a:off x="3230563" y="1407414"/>
            <a:ext cx="623888" cy="217361"/>
          </a:xfrm>
          <a:prstGeom prst="ellipse">
            <a:avLst/>
          </a:prstGeom>
          <a:noFill/>
          <a:ln w="9525" algn="ctr">
            <a:solidFill>
              <a:schemeClr val="bg2"/>
            </a:solidFill>
            <a:prstDash val="sysDot"/>
            <a:round/>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6" name="Rectangle 118">
            <a:hlinkClick r:id="rId2" action="ppaction://hlinksldjump"/>
          </p:cNvPr>
          <p:cNvSpPr>
            <a:spLocks noChangeArrowheads="1"/>
          </p:cNvSpPr>
          <p:nvPr/>
        </p:nvSpPr>
        <p:spPr bwMode="auto">
          <a:xfrm>
            <a:off x="395288" y="1850136"/>
            <a:ext cx="622300"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27" name="Rectangle 119">
            <a:hlinkClick r:id="rId2" action="ppaction://hlinksldjump"/>
          </p:cNvPr>
          <p:cNvSpPr>
            <a:spLocks noChangeArrowheads="1"/>
          </p:cNvSpPr>
          <p:nvPr/>
        </p:nvSpPr>
        <p:spPr bwMode="auto">
          <a:xfrm>
            <a:off x="519113" y="2379536"/>
            <a:ext cx="623888" cy="217361"/>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8" name="Rectangle 120">
            <a:hlinkClick r:id="rId2" action="ppaction://hlinksldjump"/>
          </p:cNvPr>
          <p:cNvSpPr>
            <a:spLocks noChangeArrowheads="1"/>
          </p:cNvSpPr>
          <p:nvPr/>
        </p:nvSpPr>
        <p:spPr bwMode="auto">
          <a:xfrm>
            <a:off x="311150" y="2711577"/>
            <a:ext cx="541338" cy="188024"/>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sp>
        <p:nvSpPr>
          <p:cNvPr id="29" name="Rectangle 121">
            <a:hlinkClick r:id="rId2" action="ppaction://hlinksldjump"/>
          </p:cNvPr>
          <p:cNvSpPr>
            <a:spLocks noChangeArrowheads="1"/>
          </p:cNvSpPr>
          <p:nvPr/>
        </p:nvSpPr>
        <p:spPr bwMode="auto">
          <a:xfrm>
            <a:off x="893763" y="2711577"/>
            <a:ext cx="539750" cy="188024"/>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endParaRPr lang="en-US" sz="900" b="1"/>
          </a:p>
        </p:txBody>
      </p:sp>
      <p:cxnSp>
        <p:nvCxnSpPr>
          <p:cNvPr id="30" name="AutoShape 122"/>
          <p:cNvCxnSpPr>
            <a:cxnSpLocks noChangeShapeType="1"/>
            <a:stCxn id="23" idx="3"/>
            <a:endCxn id="25" idx="2"/>
          </p:cNvCxnSpPr>
          <p:nvPr/>
        </p:nvCxnSpPr>
        <p:spPr bwMode="auto">
          <a:xfrm>
            <a:off x="3054350" y="1516761"/>
            <a:ext cx="176213" cy="0"/>
          </a:xfrm>
          <a:prstGeom prst="straightConnector1">
            <a:avLst/>
          </a:prstGeom>
          <a:noFill/>
          <a:ln w="19050">
            <a:solidFill>
              <a:schemeClr val="bg1">
                <a:lumMod val="50000"/>
              </a:schemeClr>
            </a:solidFill>
            <a:round/>
            <a:headEnd/>
            <a:tailEnd type="triangle" w="med" len="med"/>
          </a:ln>
          <a:effectLst/>
        </p:spPr>
      </p:cxnSp>
      <p:cxnSp>
        <p:nvCxnSpPr>
          <p:cNvPr id="31" name="AutoShape 123"/>
          <p:cNvCxnSpPr>
            <a:cxnSpLocks noChangeShapeType="1"/>
            <a:stCxn id="25" idx="4"/>
            <a:endCxn id="51" idx="3"/>
          </p:cNvCxnSpPr>
          <p:nvPr/>
        </p:nvCxnSpPr>
        <p:spPr bwMode="auto">
          <a:xfrm rot="5400000">
            <a:off x="3237865" y="1649095"/>
            <a:ext cx="326708" cy="279400"/>
          </a:xfrm>
          <a:prstGeom prst="bentConnector2">
            <a:avLst/>
          </a:prstGeom>
          <a:noFill/>
          <a:ln w="19050">
            <a:solidFill>
              <a:schemeClr val="bg1">
                <a:lumMod val="50000"/>
              </a:schemeClr>
            </a:solidFill>
            <a:miter lim="800000"/>
            <a:headEnd/>
            <a:tailEnd type="triangle" w="med" len="med"/>
          </a:ln>
          <a:effectLst/>
        </p:spPr>
      </p:cxnSp>
      <p:cxnSp>
        <p:nvCxnSpPr>
          <p:cNvPr id="32" name="AutoShape 124"/>
          <p:cNvCxnSpPr>
            <a:cxnSpLocks noChangeShapeType="1"/>
            <a:stCxn id="37" idx="1"/>
            <a:endCxn id="38" idx="3"/>
          </p:cNvCxnSpPr>
          <p:nvPr/>
        </p:nvCxnSpPr>
        <p:spPr bwMode="auto">
          <a:xfrm rot="10800000">
            <a:off x="2473325" y="1958150"/>
            <a:ext cx="82550" cy="0"/>
          </a:xfrm>
          <a:prstGeom prst="straightConnector1">
            <a:avLst/>
          </a:prstGeom>
          <a:noFill/>
          <a:ln w="19050">
            <a:solidFill>
              <a:schemeClr val="bg1">
                <a:lumMod val="50000"/>
              </a:schemeClr>
            </a:solidFill>
            <a:round/>
            <a:headEnd/>
            <a:tailEnd type="triangle" w="med" len="med"/>
          </a:ln>
          <a:effectLst/>
        </p:spPr>
      </p:cxnSp>
      <p:cxnSp>
        <p:nvCxnSpPr>
          <p:cNvPr id="33" name="AutoShape 125"/>
          <p:cNvCxnSpPr>
            <a:cxnSpLocks noChangeShapeType="1"/>
            <a:stCxn id="39" idx="1"/>
            <a:endCxn id="26" idx="3"/>
          </p:cNvCxnSpPr>
          <p:nvPr/>
        </p:nvCxnSpPr>
        <p:spPr bwMode="auto">
          <a:xfrm rot="10800000">
            <a:off x="1017588" y="1958150"/>
            <a:ext cx="125413" cy="0"/>
          </a:xfrm>
          <a:prstGeom prst="straightConnector1">
            <a:avLst/>
          </a:prstGeom>
          <a:noFill/>
          <a:ln w="19050">
            <a:solidFill>
              <a:schemeClr val="bg1">
                <a:lumMod val="50000"/>
              </a:schemeClr>
            </a:solidFill>
            <a:round/>
            <a:headEnd/>
            <a:tailEnd type="triangle" w="med" len="med"/>
          </a:ln>
          <a:effectLst/>
        </p:spPr>
      </p:cxnSp>
      <p:cxnSp>
        <p:nvCxnSpPr>
          <p:cNvPr id="34" name="AutoShape 126"/>
          <p:cNvCxnSpPr>
            <a:cxnSpLocks noChangeShapeType="1"/>
            <a:stCxn id="51" idx="2"/>
            <a:endCxn id="40" idx="0"/>
          </p:cNvCxnSpPr>
          <p:nvPr/>
        </p:nvCxnSpPr>
        <p:spPr bwMode="auto">
          <a:xfrm rot="5400000">
            <a:off x="1336231" y="1832864"/>
            <a:ext cx="112014" cy="749300"/>
          </a:xfrm>
          <a:prstGeom prst="bentConnector3">
            <a:avLst>
              <a:gd name="adj1" fmla="val 49718"/>
            </a:avLst>
          </a:prstGeom>
          <a:noFill/>
          <a:ln w="19050">
            <a:solidFill>
              <a:schemeClr val="bg1">
                <a:lumMod val="50000"/>
              </a:schemeClr>
            </a:solidFill>
            <a:miter lim="800000"/>
            <a:headEnd/>
            <a:tailEnd type="triangle" w="med" len="med"/>
          </a:ln>
          <a:effectLst/>
        </p:spPr>
      </p:cxnSp>
      <p:cxnSp>
        <p:nvCxnSpPr>
          <p:cNvPr id="35" name="AutoShape 127"/>
          <p:cNvCxnSpPr>
            <a:cxnSpLocks noChangeShapeType="1"/>
            <a:stCxn id="27" idx="2"/>
            <a:endCxn id="29" idx="0"/>
          </p:cNvCxnSpPr>
          <p:nvPr/>
        </p:nvCxnSpPr>
        <p:spPr bwMode="auto">
          <a:xfrm rot="16200000" flipH="1">
            <a:off x="941197" y="2487676"/>
            <a:ext cx="114681" cy="331788"/>
          </a:xfrm>
          <a:prstGeom prst="bentConnector3">
            <a:avLst>
              <a:gd name="adj1" fmla="val 49727"/>
            </a:avLst>
          </a:prstGeom>
          <a:noFill/>
          <a:ln w="19050">
            <a:solidFill>
              <a:schemeClr val="bg1">
                <a:lumMod val="50000"/>
              </a:schemeClr>
            </a:solidFill>
            <a:miter lim="800000"/>
            <a:headEnd/>
            <a:tailEnd type="triangle" w="med" len="med"/>
          </a:ln>
          <a:effectLst/>
        </p:spPr>
      </p:cxnSp>
      <p:cxnSp>
        <p:nvCxnSpPr>
          <p:cNvPr id="36" name="AutoShape 128"/>
          <p:cNvCxnSpPr>
            <a:cxnSpLocks noChangeShapeType="1"/>
            <a:stCxn id="27" idx="2"/>
            <a:endCxn id="28" idx="0"/>
          </p:cNvCxnSpPr>
          <p:nvPr/>
        </p:nvCxnSpPr>
        <p:spPr bwMode="auto">
          <a:xfrm rot="5400000">
            <a:off x="650685" y="2528951"/>
            <a:ext cx="114681" cy="249238"/>
          </a:xfrm>
          <a:prstGeom prst="bentConnector3">
            <a:avLst>
              <a:gd name="adj1" fmla="val 49727"/>
            </a:avLst>
          </a:prstGeom>
          <a:noFill/>
          <a:ln w="19050">
            <a:solidFill>
              <a:schemeClr val="bg1">
                <a:lumMod val="50000"/>
              </a:schemeClr>
            </a:solidFill>
            <a:miter lim="800000"/>
            <a:headEnd/>
            <a:tailEnd type="triangle" w="med" len="med"/>
          </a:ln>
          <a:effectLst/>
        </p:spPr>
      </p:cxnSp>
      <p:sp>
        <p:nvSpPr>
          <p:cNvPr id="37" name="Rectangle 129">
            <a:hlinkClick r:id="rId2" action="ppaction://hlinksldjump"/>
          </p:cNvPr>
          <p:cNvSpPr>
            <a:spLocks noChangeArrowheads="1"/>
          </p:cNvSpPr>
          <p:nvPr/>
        </p:nvSpPr>
        <p:spPr bwMode="auto">
          <a:xfrm>
            <a:off x="2555875"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8" name="Rectangle 130">
            <a:hlinkClick r:id="rId2" action="ppaction://hlinksldjump"/>
          </p:cNvPr>
          <p:cNvSpPr>
            <a:spLocks noChangeArrowheads="1"/>
          </p:cNvSpPr>
          <p:nvPr/>
        </p:nvSpPr>
        <p:spPr bwMode="auto">
          <a:xfrm>
            <a:off x="1849438"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39" name="Rectangle 131">
            <a:hlinkClick r:id="rId2" action="ppaction://hlinksldjump"/>
          </p:cNvPr>
          <p:cNvSpPr>
            <a:spLocks noChangeArrowheads="1"/>
          </p:cNvSpPr>
          <p:nvPr/>
        </p:nvSpPr>
        <p:spPr bwMode="auto">
          <a:xfrm>
            <a:off x="1143000" y="1850136"/>
            <a:ext cx="623888" cy="217361"/>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endParaRPr lang="en-US" sz="900" b="1"/>
          </a:p>
        </p:txBody>
      </p:sp>
      <p:sp>
        <p:nvSpPr>
          <p:cNvPr id="40" name="Rectangle 132"/>
          <p:cNvSpPr>
            <a:spLocks noChangeArrowheads="1"/>
          </p:cNvSpPr>
          <p:nvPr/>
        </p:nvSpPr>
        <p:spPr bwMode="auto">
          <a:xfrm>
            <a:off x="269875" y="2263521"/>
            <a:ext cx="1497013" cy="665417"/>
          </a:xfrm>
          <a:prstGeom prst="rect">
            <a:avLst/>
          </a:prstGeom>
          <a:noFill/>
          <a:ln w="9525">
            <a:solidFill>
              <a:schemeClr val="bg2"/>
            </a:solidFill>
            <a:prstDash val="sysDot"/>
            <a:miter lim="800000"/>
            <a:headEnd/>
            <a:tailEnd/>
          </a:ln>
          <a:effectLst/>
        </p:spPr>
        <p:txBody>
          <a:bodyPr wrap="none" anchor="ctr"/>
          <a:lstStyle/>
          <a:p>
            <a:endParaRPr lang="en-US"/>
          </a:p>
        </p:txBody>
      </p:sp>
      <p:cxnSp>
        <p:nvCxnSpPr>
          <p:cNvPr id="41" name="AutoShape 133"/>
          <p:cNvCxnSpPr>
            <a:cxnSpLocks noChangeShapeType="1"/>
            <a:stCxn id="22" idx="3"/>
            <a:endCxn id="24" idx="1"/>
          </p:cNvCxnSpPr>
          <p:nvPr/>
        </p:nvCxnSpPr>
        <p:spPr bwMode="auto">
          <a:xfrm>
            <a:off x="935038" y="1516761"/>
            <a:ext cx="82550" cy="0"/>
          </a:xfrm>
          <a:prstGeom prst="straightConnector1">
            <a:avLst/>
          </a:prstGeom>
          <a:noFill/>
          <a:ln w="9525">
            <a:solidFill>
              <a:schemeClr val="bg1">
                <a:lumMod val="50000"/>
              </a:schemeClr>
            </a:solidFill>
            <a:round/>
            <a:headEnd/>
            <a:tailEnd type="triangle" w="med" len="med"/>
          </a:ln>
          <a:effectLst/>
        </p:spPr>
      </p:cxnSp>
      <p:cxnSp>
        <p:nvCxnSpPr>
          <p:cNvPr id="42" name="AutoShape 134"/>
          <p:cNvCxnSpPr>
            <a:cxnSpLocks noChangeShapeType="1"/>
            <a:stCxn id="24" idx="3"/>
            <a:endCxn id="21" idx="1"/>
          </p:cNvCxnSpPr>
          <p:nvPr/>
        </p:nvCxnSpPr>
        <p:spPr bwMode="auto">
          <a:xfrm>
            <a:off x="1641475" y="1516761"/>
            <a:ext cx="84138" cy="0"/>
          </a:xfrm>
          <a:prstGeom prst="straightConnector1">
            <a:avLst/>
          </a:prstGeom>
          <a:noFill/>
          <a:ln w="9525">
            <a:solidFill>
              <a:schemeClr val="bg1">
                <a:lumMod val="50000"/>
              </a:schemeClr>
            </a:solidFill>
            <a:round/>
            <a:headEnd/>
            <a:tailEnd type="triangle" w="med" len="med"/>
          </a:ln>
          <a:effectLst/>
        </p:spPr>
      </p:cxnSp>
      <p:cxnSp>
        <p:nvCxnSpPr>
          <p:cNvPr id="43" name="AutoShape 135"/>
          <p:cNvCxnSpPr>
            <a:cxnSpLocks noChangeShapeType="1"/>
            <a:stCxn id="21" idx="3"/>
            <a:endCxn id="23" idx="1"/>
          </p:cNvCxnSpPr>
          <p:nvPr/>
        </p:nvCxnSpPr>
        <p:spPr bwMode="auto">
          <a:xfrm>
            <a:off x="2347913" y="1516761"/>
            <a:ext cx="84138" cy="0"/>
          </a:xfrm>
          <a:prstGeom prst="straightConnector1">
            <a:avLst/>
          </a:prstGeom>
          <a:noFill/>
          <a:ln w="9525">
            <a:solidFill>
              <a:schemeClr val="bg1">
                <a:lumMod val="50000"/>
              </a:schemeClr>
            </a:solidFill>
            <a:round/>
            <a:headEnd/>
            <a:tailEnd type="triangle" w="med" len="med"/>
          </a:ln>
          <a:effectLst/>
        </p:spPr>
      </p:cxnSp>
      <p:sp>
        <p:nvSpPr>
          <p:cNvPr id="44" name="Rectangle 136"/>
          <p:cNvSpPr>
            <a:spLocks noChangeArrowheads="1"/>
          </p:cNvSpPr>
          <p:nvPr/>
        </p:nvSpPr>
        <p:spPr bwMode="auto">
          <a:xfrm>
            <a:off x="269875" y="1326071"/>
            <a:ext cx="2827338" cy="362712"/>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64" name="AutoShape 138"/>
          <p:cNvSpPr>
            <a:spLocks noChangeArrowheads="1"/>
          </p:cNvSpPr>
          <p:nvPr/>
        </p:nvSpPr>
        <p:spPr bwMode="auto">
          <a:xfrm>
            <a:off x="288730" y="1574102"/>
            <a:ext cx="147098" cy="112327"/>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solidFill>
                <a:schemeClr val="tx1"/>
              </a:solidFill>
            </a:endParaRPr>
          </a:p>
        </p:txBody>
      </p:sp>
      <p:sp>
        <p:nvSpPr>
          <p:cNvPr id="65" name="Text Box 139"/>
          <p:cNvSpPr txBox="1">
            <a:spLocks noChangeArrowheads="1"/>
          </p:cNvSpPr>
          <p:nvPr/>
        </p:nvSpPr>
        <p:spPr bwMode="auto">
          <a:xfrm>
            <a:off x="280988" y="1603929"/>
            <a:ext cx="174625" cy="180866"/>
          </a:xfrm>
          <a:prstGeom prst="rect">
            <a:avLst/>
          </a:prstGeom>
          <a:noFill/>
          <a:ln w="9525" algn="ctr">
            <a:noFill/>
            <a:miter lim="800000"/>
            <a:headEnd/>
            <a:tailEnd/>
          </a:ln>
          <a:effectLst/>
        </p:spPr>
        <p:txBody>
          <a:bodyPr wrap="none">
            <a:spAutoFit/>
          </a:bodyPr>
          <a:lstStyle/>
          <a:p>
            <a:endParaRPr lang="en-US" sz="800" b="1"/>
          </a:p>
        </p:txBody>
      </p:sp>
      <p:sp>
        <p:nvSpPr>
          <p:cNvPr id="58" name="AutoShape 141"/>
          <p:cNvSpPr>
            <a:spLocks noChangeArrowheads="1"/>
          </p:cNvSpPr>
          <p:nvPr/>
        </p:nvSpPr>
        <p:spPr bwMode="auto">
          <a:xfrm>
            <a:off x="2930377" y="1570101"/>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0" name="AutoShape 143"/>
          <p:cNvSpPr>
            <a:spLocks noChangeArrowheads="1"/>
          </p:cNvSpPr>
          <p:nvPr/>
        </p:nvSpPr>
        <p:spPr bwMode="auto">
          <a:xfrm>
            <a:off x="2791091" y="1606259"/>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62" name="AutoShape 145"/>
          <p:cNvSpPr>
            <a:spLocks noChangeArrowheads="1"/>
          </p:cNvSpPr>
          <p:nvPr/>
        </p:nvSpPr>
        <p:spPr bwMode="auto">
          <a:xfrm>
            <a:off x="2624986" y="1606259"/>
            <a:ext cx="147937" cy="112280"/>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6" name="AutoShape 148"/>
          <p:cNvSpPr>
            <a:spLocks noChangeArrowheads="1"/>
          </p:cNvSpPr>
          <p:nvPr/>
        </p:nvSpPr>
        <p:spPr bwMode="auto">
          <a:xfrm>
            <a:off x="3096303" y="2010156"/>
            <a:ext cx="147708" cy="112114"/>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7" name="Text Box 149"/>
          <p:cNvSpPr txBox="1">
            <a:spLocks noChangeArrowheads="1"/>
          </p:cNvSpPr>
          <p:nvPr/>
        </p:nvSpPr>
        <p:spPr bwMode="auto">
          <a:xfrm>
            <a:off x="3078163" y="2031692"/>
            <a:ext cx="176213" cy="181156"/>
          </a:xfrm>
          <a:prstGeom prst="rect">
            <a:avLst/>
          </a:prstGeom>
          <a:noFill/>
          <a:ln w="9525" algn="ctr">
            <a:noFill/>
            <a:miter lim="800000"/>
            <a:headEnd/>
            <a:tailEnd/>
          </a:ln>
          <a:effectLst/>
        </p:spPr>
        <p:txBody>
          <a:bodyPr wrap="none">
            <a:spAutoFit/>
          </a:bodyPr>
          <a:lstStyle/>
          <a:p>
            <a:endParaRPr lang="en-US" sz="800" b="1"/>
          </a:p>
        </p:txBody>
      </p:sp>
      <p:sp>
        <p:nvSpPr>
          <p:cNvPr id="54" name="AutoShape 151"/>
          <p:cNvSpPr>
            <a:spLocks noChangeArrowheads="1"/>
          </p:cNvSpPr>
          <p:nvPr/>
        </p:nvSpPr>
        <p:spPr bwMode="auto">
          <a:xfrm>
            <a:off x="1807400" y="2003489"/>
            <a:ext cx="148909" cy="111938"/>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sp>
        <p:nvSpPr>
          <p:cNvPr id="52" name="AutoShape 154"/>
          <p:cNvSpPr>
            <a:spLocks noChangeArrowheads="1"/>
          </p:cNvSpPr>
          <p:nvPr/>
        </p:nvSpPr>
        <p:spPr bwMode="auto">
          <a:xfrm>
            <a:off x="1137745" y="2003489"/>
            <a:ext cx="149772" cy="111804"/>
          </a:xfrm>
          <a:prstGeom prst="can">
            <a:avLst>
              <a:gd name="adj" fmla="val 25877"/>
            </a:avLst>
          </a:prstGeom>
          <a:solidFill>
            <a:schemeClr val="accent2">
              <a:lumMod val="60000"/>
              <a:lumOff val="40000"/>
            </a:schemeClr>
          </a:solidFill>
          <a:ln w="9525">
            <a:solidFill>
              <a:schemeClr val="tx1"/>
            </a:solidFill>
            <a:round/>
            <a:headEnd/>
            <a:tailEnd/>
          </a:ln>
          <a:effectLst/>
        </p:spPr>
        <p:txBody>
          <a:bodyPr wrap="none" anchor="ctr"/>
          <a:lstStyle/>
          <a:p>
            <a:endParaRPr lang="en-US"/>
          </a:p>
        </p:txBody>
      </p:sp>
      <p:cxnSp>
        <p:nvCxnSpPr>
          <p:cNvPr id="50" name="AutoShape 156"/>
          <p:cNvCxnSpPr>
            <a:cxnSpLocks noChangeShapeType="1"/>
            <a:stCxn id="38" idx="1"/>
            <a:endCxn id="39" idx="3"/>
          </p:cNvCxnSpPr>
          <p:nvPr/>
        </p:nvCxnSpPr>
        <p:spPr bwMode="auto">
          <a:xfrm rot="10800000">
            <a:off x="1766888" y="1958150"/>
            <a:ext cx="82550" cy="0"/>
          </a:xfrm>
          <a:prstGeom prst="straightConnector1">
            <a:avLst/>
          </a:prstGeom>
          <a:noFill/>
          <a:ln w="19050">
            <a:solidFill>
              <a:schemeClr val="bg1">
                <a:lumMod val="50000"/>
              </a:schemeClr>
            </a:solidFill>
            <a:round/>
            <a:headEnd/>
            <a:tailEnd type="triangle" w="med" len="med"/>
          </a:ln>
          <a:effectLst/>
        </p:spPr>
      </p:cxnSp>
      <p:sp>
        <p:nvSpPr>
          <p:cNvPr id="51" name="Rectangle 157"/>
          <p:cNvSpPr>
            <a:spLocks noChangeArrowheads="1"/>
          </p:cNvSpPr>
          <p:nvPr/>
        </p:nvSpPr>
        <p:spPr bwMode="auto">
          <a:xfrm>
            <a:off x="269875" y="1748790"/>
            <a:ext cx="2992438" cy="402717"/>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 name="Line 158"/>
          <p:cNvSpPr>
            <a:spLocks noChangeShapeType="1"/>
          </p:cNvSpPr>
          <p:nvPr/>
        </p:nvSpPr>
        <p:spPr bwMode="auto">
          <a:xfrm>
            <a:off x="1905000" y="2971800"/>
            <a:ext cx="0" cy="182880"/>
          </a:xfrm>
          <a:prstGeom prst="line">
            <a:avLst/>
          </a:prstGeom>
          <a:noFill/>
          <a:ln w="9525">
            <a:solidFill>
              <a:schemeClr val="bg1">
                <a:lumMod val="50000"/>
              </a:schemeClr>
            </a:solidFill>
            <a:round/>
            <a:headEnd/>
            <a:tailEnd/>
          </a:ln>
          <a:effectLst/>
        </p:spPr>
        <p:txBody>
          <a:bodyPr wrap="none" anchor="ctr"/>
          <a:lstStyle/>
          <a:p>
            <a:endParaRPr lang="en-US"/>
          </a:p>
        </p:txBody>
      </p:sp>
      <p:sp>
        <p:nvSpPr>
          <p:cNvPr id="67" name="AutoShape 109"/>
          <p:cNvSpPr>
            <a:spLocks noChangeArrowheads="1"/>
          </p:cNvSpPr>
          <p:nvPr/>
        </p:nvSpPr>
        <p:spPr bwMode="auto">
          <a:xfrm>
            <a:off x="4038600" y="1295400"/>
            <a:ext cx="4800600" cy="4541520"/>
          </a:xfrm>
          <a:prstGeom prst="roundRect">
            <a:avLst>
              <a:gd name="adj" fmla="val 0"/>
            </a:avLst>
          </a:prstGeom>
          <a:solidFill>
            <a:schemeClr val="bg1">
              <a:lumMod val="95000"/>
            </a:schemeClr>
          </a:solidFill>
          <a:ln w="3175" algn="ctr">
            <a:solidFill>
              <a:schemeClr val="bg1">
                <a:lumMod val="95000"/>
              </a:schemeClr>
            </a:solidFill>
            <a:prstDash val="sysDot"/>
            <a:round/>
            <a:headEnd/>
            <a:tailEnd/>
          </a:ln>
          <a:effectLst/>
        </p:spPr>
        <p:txBody>
          <a:bodyPr/>
          <a:lstStyle/>
          <a:p>
            <a:pPr marL="342900" indent="-342900">
              <a:spcBef>
                <a:spcPct val="20000"/>
              </a:spcBef>
              <a:spcAft>
                <a:spcPct val="20000"/>
              </a:spcAft>
            </a:pPr>
            <a:r>
              <a:rPr lang="en-US" sz="1100" b="1" dirty="0" smtClean="0">
                <a:solidFill>
                  <a:srgbClr val="646464"/>
                </a:solidFill>
                <a:latin typeface="EYInterstate" pitchFamily="2" charset="0"/>
                <a:ea typeface="굴림" charset="-127"/>
              </a:rPr>
              <a:t>Credit Lint Revision</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Subscriber credit limits reflect the maximum unbilled usage allowed to a subscriber without requesting for an interim payment.</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In the event of credit limit breach, the subscriber is notified and an interim payment is requested to cover the credit risk.</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Subscriber credit limits are reviewed periodically and revised if necessary based on following parameters:</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Age on network;</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 Average monthly usage;</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 Payment history; and</a:t>
            </a:r>
          </a:p>
          <a:p>
            <a:pPr marL="800100" lvl="1"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 Number of late payments; etc</a:t>
            </a:r>
          </a:p>
          <a:p>
            <a:pPr marL="342900" indent="-342900">
              <a:spcBef>
                <a:spcPct val="20000"/>
              </a:spcBef>
              <a:spcAft>
                <a:spcPct val="20000"/>
              </a:spcAft>
              <a:buClr>
                <a:srgbClr val="FFD200"/>
              </a:buClr>
              <a:buSzPct val="75000"/>
              <a:buFont typeface="Arial" pitchFamily="34" charset="0"/>
              <a:buChar char="►"/>
            </a:pPr>
            <a:r>
              <a:rPr lang="en-US" sz="1100" dirty="0" smtClean="0">
                <a:solidFill>
                  <a:srgbClr val="646464"/>
                </a:solidFill>
                <a:latin typeface="EYInterstate" pitchFamily="2" charset="0"/>
                <a:ea typeface="굴림" charset="-127"/>
              </a:rPr>
              <a:t>Weightages are assigned to each parameter and based on subscriber payment and usage information, revised credit limit is calculated. The revision of Credit Limit is an automated process in some operators </a:t>
            </a:r>
          </a:p>
          <a:p>
            <a:pPr marL="342900" indent="-342900">
              <a:spcBef>
                <a:spcPct val="20000"/>
              </a:spcBef>
              <a:spcAft>
                <a:spcPct val="20000"/>
              </a:spcAft>
              <a:buFont typeface="EYInterstate" pitchFamily="2" charset="0"/>
              <a:buChar char="•"/>
            </a:pPr>
            <a:endParaRPr lang="en-US" sz="1100" dirty="0" smtClean="0">
              <a:solidFill>
                <a:srgbClr val="646464"/>
              </a:solidFill>
              <a:latin typeface="EYInterstate" pitchFamily="2" charset="0"/>
              <a:ea typeface="굴림" charset="-127"/>
            </a:endParaRPr>
          </a:p>
        </p:txBody>
      </p:sp>
      <p:grpSp>
        <p:nvGrpSpPr>
          <p:cNvPr id="2" name="Group 71"/>
          <p:cNvGrpSpPr/>
          <p:nvPr/>
        </p:nvGrpSpPr>
        <p:grpSpPr>
          <a:xfrm>
            <a:off x="304800" y="3124200"/>
            <a:ext cx="3017520" cy="1371600"/>
            <a:chOff x="304800" y="3276600"/>
            <a:chExt cx="3048000" cy="1600200"/>
          </a:xfrm>
        </p:grpSpPr>
        <p:sp>
          <p:nvSpPr>
            <p:cNvPr id="55" name="Rectangle 119">
              <a:hlinkClick r:id="rId2" action="ppaction://hlinksldjump"/>
            </p:cNvPr>
            <p:cNvSpPr>
              <a:spLocks noChangeArrowheads="1"/>
            </p:cNvSpPr>
            <p:nvPr/>
          </p:nvSpPr>
          <p:spPr bwMode="auto">
            <a:xfrm>
              <a:off x="1269784" y="3703342"/>
              <a:ext cx="1016216" cy="366707"/>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smtClean="0">
                  <a:solidFill>
                    <a:schemeClr val="bg1"/>
                  </a:solidFill>
                </a:rPr>
                <a:t>Collection</a:t>
              </a:r>
            </a:p>
          </p:txBody>
        </p:sp>
        <p:sp>
          <p:nvSpPr>
            <p:cNvPr id="59" name="Rectangle 120">
              <a:hlinkClick r:id="rId2" action="ppaction://hlinksldjump"/>
            </p:cNvPr>
            <p:cNvSpPr>
              <a:spLocks noChangeArrowheads="1"/>
            </p:cNvSpPr>
            <p:nvPr/>
          </p:nvSpPr>
          <p:spPr bwMode="auto">
            <a:xfrm>
              <a:off x="794645" y="4263525"/>
              <a:ext cx="881755" cy="317213"/>
            </a:xfrm>
            <a:prstGeom prst="rect">
              <a:avLst/>
            </a:prstGeom>
            <a:solidFill>
              <a:schemeClr val="bg2"/>
            </a:solidFill>
            <a:ln w="9525" algn="ctr">
              <a:noFill/>
              <a:miter lim="800000"/>
              <a:headEnd/>
              <a:tailEnd/>
            </a:ln>
            <a:effectLst>
              <a:prstShdw prst="shdw18" dist="17961" dir="13500000">
                <a:schemeClr val="bg2">
                  <a:gamma/>
                  <a:shade val="60000"/>
                  <a:invGamma/>
                </a:schemeClr>
              </a:prstShdw>
            </a:effectLst>
          </p:spPr>
          <p:txBody>
            <a:bodyPr anchor="ctr"/>
            <a:lstStyle/>
            <a:p>
              <a:pPr eaLnBrk="0" hangingPunct="0">
                <a:lnSpc>
                  <a:spcPct val="90000"/>
                </a:lnSpc>
              </a:pPr>
              <a:r>
                <a:rPr lang="en-US" sz="900" b="1" dirty="0" smtClean="0">
                  <a:solidFill>
                    <a:schemeClr val="bg1"/>
                  </a:solidFill>
                </a:rPr>
                <a:t>Dunning</a:t>
              </a:r>
            </a:p>
          </p:txBody>
        </p:sp>
        <p:sp>
          <p:nvSpPr>
            <p:cNvPr id="61" name="Rectangle 121">
              <a:hlinkClick r:id="rId2" action="ppaction://hlinksldjump"/>
            </p:cNvPr>
            <p:cNvSpPr>
              <a:spLocks noChangeArrowheads="1"/>
            </p:cNvSpPr>
            <p:nvPr/>
          </p:nvSpPr>
          <p:spPr bwMode="auto">
            <a:xfrm>
              <a:off x="1864032" y="4263525"/>
              <a:ext cx="879168" cy="317213"/>
            </a:xfrm>
            <a:prstGeom prst="rect">
              <a:avLst/>
            </a:prstGeom>
            <a:solidFill>
              <a:srgbClr val="FFCC66"/>
            </a:solidFill>
            <a:ln w="9525" algn="ctr">
              <a:noFill/>
              <a:miter lim="800000"/>
              <a:headEnd/>
              <a:tailEnd/>
            </a:ln>
            <a:effectLst>
              <a:prstShdw prst="shdw18" dist="17961" dir="13500000">
                <a:srgbClr val="FFCC66">
                  <a:gamma/>
                  <a:shade val="60000"/>
                  <a:invGamma/>
                </a:srgbClr>
              </a:prstShdw>
            </a:effectLst>
          </p:spPr>
          <p:txBody>
            <a:bodyPr anchor="ctr"/>
            <a:lstStyle/>
            <a:p>
              <a:pPr eaLnBrk="0" hangingPunct="0">
                <a:lnSpc>
                  <a:spcPct val="90000"/>
                </a:lnSpc>
              </a:pPr>
              <a:r>
                <a:rPr lang="en-US" sz="900" b="1" dirty="0" smtClean="0"/>
                <a:t>Credit Limit Revision</a:t>
              </a:r>
            </a:p>
          </p:txBody>
        </p:sp>
        <p:cxnSp>
          <p:nvCxnSpPr>
            <p:cNvPr id="63" name="AutoShape 127"/>
            <p:cNvCxnSpPr>
              <a:cxnSpLocks noChangeShapeType="1"/>
              <a:stCxn id="55" idx="2"/>
              <a:endCxn id="61" idx="0"/>
            </p:cNvCxnSpPr>
            <p:nvPr/>
          </p:nvCxnSpPr>
          <p:spPr bwMode="auto">
            <a:xfrm rot="16200000" flipH="1">
              <a:off x="1944016" y="3903925"/>
              <a:ext cx="193476" cy="525724"/>
            </a:xfrm>
            <a:prstGeom prst="bentConnector3">
              <a:avLst>
                <a:gd name="adj1" fmla="val 50000"/>
              </a:avLst>
            </a:prstGeom>
            <a:noFill/>
            <a:ln w="19050">
              <a:solidFill>
                <a:schemeClr val="bg1">
                  <a:lumMod val="50000"/>
                </a:schemeClr>
              </a:solidFill>
              <a:miter lim="800000"/>
              <a:headEnd/>
              <a:tailEnd type="triangle" w="med" len="med"/>
            </a:ln>
            <a:effectLst/>
          </p:spPr>
        </p:cxnSp>
        <p:cxnSp>
          <p:nvCxnSpPr>
            <p:cNvPr id="66" name="AutoShape 128"/>
            <p:cNvCxnSpPr>
              <a:cxnSpLocks noChangeShapeType="1"/>
              <a:stCxn id="55" idx="2"/>
              <a:endCxn id="59" idx="0"/>
            </p:cNvCxnSpPr>
            <p:nvPr/>
          </p:nvCxnSpPr>
          <p:spPr bwMode="auto">
            <a:xfrm rot="5400000">
              <a:off x="1409970" y="3895603"/>
              <a:ext cx="193476" cy="542369"/>
            </a:xfrm>
            <a:prstGeom prst="bentConnector3">
              <a:avLst>
                <a:gd name="adj1" fmla="val 50000"/>
              </a:avLst>
            </a:prstGeom>
            <a:noFill/>
            <a:ln w="19050">
              <a:solidFill>
                <a:schemeClr val="bg1">
                  <a:lumMod val="50000"/>
                </a:schemeClr>
              </a:solidFill>
              <a:miter lim="800000"/>
              <a:headEnd/>
              <a:tailEnd type="triangle" w="med" len="med"/>
            </a:ln>
            <a:effectLst/>
          </p:spPr>
        </p:cxnSp>
        <p:sp>
          <p:nvSpPr>
            <p:cNvPr id="68" name="Rectangle 132"/>
            <p:cNvSpPr>
              <a:spLocks noChangeArrowheads="1"/>
            </p:cNvSpPr>
            <p:nvPr/>
          </p:nvSpPr>
          <p:spPr bwMode="auto">
            <a:xfrm>
              <a:off x="609600" y="3601783"/>
              <a:ext cx="2438400" cy="1122617"/>
            </a:xfrm>
            <a:prstGeom prst="rect">
              <a:avLst/>
            </a:prstGeom>
            <a:noFill/>
            <a:ln w="9525">
              <a:noFill/>
              <a:prstDash val="sysDot"/>
              <a:miter lim="800000"/>
              <a:headEnd/>
              <a:tailEnd/>
            </a:ln>
            <a:effectLst/>
          </p:spPr>
          <p:txBody>
            <a:bodyPr wrap="none" anchor="ctr"/>
            <a:lstStyle/>
            <a:p>
              <a:endParaRPr lang="en-US"/>
            </a:p>
          </p:txBody>
        </p:sp>
        <p:sp>
          <p:nvSpPr>
            <p:cNvPr id="70" name="Rectangle 110"/>
            <p:cNvSpPr>
              <a:spLocks noChangeArrowheads="1"/>
            </p:cNvSpPr>
            <p:nvPr/>
          </p:nvSpPr>
          <p:spPr bwMode="auto">
            <a:xfrm>
              <a:off x="304800" y="3276600"/>
              <a:ext cx="3048000" cy="1600200"/>
            </a:xfrm>
            <a:prstGeom prst="rect">
              <a:avLst/>
            </a:prstGeom>
            <a:noFill/>
            <a:ln w="9525">
              <a:solidFill>
                <a:schemeClr val="bg2"/>
              </a:solidFill>
              <a:prstDash val="sysDot"/>
              <a:miter lim="800000"/>
              <a:headEnd/>
              <a:tailEnd/>
            </a:ln>
            <a:effectLst/>
          </p:spPr>
          <p:txBody>
            <a:bodyPr wrap="none" anchor="ctr"/>
            <a:lstStyle/>
            <a:p>
              <a:endParaRPr lang="en-US"/>
            </a:p>
          </p:txBody>
        </p:sp>
        <p:sp>
          <p:nvSpPr>
            <p:cNvPr id="71" name="Rectangle 70"/>
            <p:cNvSpPr/>
            <p:nvPr/>
          </p:nvSpPr>
          <p:spPr>
            <a:xfrm>
              <a:off x="381000" y="3319790"/>
              <a:ext cx="2834640" cy="261610"/>
            </a:xfrm>
            <a:prstGeom prst="rect">
              <a:avLst/>
            </a:prstGeom>
          </p:spPr>
          <p:txBody>
            <a:bodyPr>
              <a:spAutoFit/>
            </a:bodyPr>
            <a:lstStyle/>
            <a:p>
              <a:r>
                <a:rPr lang="en-US" sz="1050" b="1" i="1" dirty="0" smtClean="0"/>
                <a:t>Collections and Credit Risk Management</a:t>
              </a:r>
              <a:endParaRPr lang="en-US" sz="1050" b="1" i="1" dirty="0"/>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5600"/>
            <a:ext cx="8232775" cy="863600"/>
          </a:xfrm>
        </p:spPr>
        <p:txBody>
          <a:bodyPr/>
          <a:lstStyle/>
          <a:p>
            <a:pPr>
              <a:lnSpc>
                <a:spcPts val="1500"/>
              </a:lnSpc>
              <a:tabLst>
                <a:tab pos="400050" algn="l"/>
              </a:tabLst>
              <a:defRPr/>
            </a:pPr>
            <a:r>
              <a:rPr lang="en-US" sz="2400" dirty="0" smtClean="0">
                <a:latin typeface="EYInterstate" pitchFamily="2" charset="0"/>
              </a:rPr>
              <a:t>Provisioning and Billing System Interfaces</a:t>
            </a:r>
          </a:p>
        </p:txBody>
      </p:sp>
      <p:sp>
        <p:nvSpPr>
          <p:cNvPr id="60" name="Isosceles Triangle 59"/>
          <p:cNvSpPr/>
          <p:nvPr/>
        </p:nvSpPr>
        <p:spPr>
          <a:xfrm rot="5400000">
            <a:off x="1600200" y="6111320"/>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4" name="Isosceles Triangle 63"/>
          <p:cNvSpPr/>
          <p:nvPr/>
        </p:nvSpPr>
        <p:spPr>
          <a:xfrm rot="5400000">
            <a:off x="4308792" y="6075188"/>
            <a:ext cx="161925"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81"/>
          <p:cNvSpPr/>
          <p:nvPr/>
        </p:nvSpPr>
        <p:spPr>
          <a:xfrm>
            <a:off x="446913" y="5614432"/>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3" name="Rectangle 82"/>
          <p:cNvSpPr/>
          <p:nvPr/>
        </p:nvSpPr>
        <p:spPr>
          <a:xfrm>
            <a:off x="3151632" y="5623576"/>
            <a:ext cx="457200"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8.</a:t>
            </a:r>
            <a:endParaRPr lang="en-US" sz="4800" spc="-800" dirty="0">
              <a:solidFill>
                <a:schemeClr val="bg1"/>
              </a:solidFill>
              <a:latin typeface="EYInterstate Light" pitchFamily="2" charset="0"/>
            </a:endParaRPr>
          </a:p>
        </p:txBody>
      </p:sp>
      <p:grpSp>
        <p:nvGrpSpPr>
          <p:cNvPr id="39" name="Group 38"/>
          <p:cNvGrpSpPr/>
          <p:nvPr/>
        </p:nvGrpSpPr>
        <p:grpSpPr>
          <a:xfrm>
            <a:off x="304800" y="1981200"/>
            <a:ext cx="8467344" cy="2877681"/>
            <a:chOff x="304800" y="1981200"/>
            <a:chExt cx="8467344" cy="2877681"/>
          </a:xfrm>
        </p:grpSpPr>
        <p:sp>
          <p:nvSpPr>
            <p:cNvPr id="41" name="Rectangle 40"/>
            <p:cNvSpPr/>
            <p:nvPr/>
          </p:nvSpPr>
          <p:spPr>
            <a:xfrm>
              <a:off x="3990187" y="3432381"/>
              <a:ext cx="1185681" cy="140176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2" name="Rectangle 41"/>
            <p:cNvSpPr/>
            <p:nvPr/>
          </p:nvSpPr>
          <p:spPr>
            <a:xfrm>
              <a:off x="1531449" y="3438477"/>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3"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44"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97" name="Rectangle 96"/>
              <p:cNvSpPr/>
              <p:nvPr/>
            </p:nvSpPr>
            <p:spPr>
              <a:xfrm>
                <a:off x="4599803" y="2102667"/>
                <a:ext cx="1329095"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8" name="Rectangle 23"/>
              <p:cNvSpPr>
                <a:spLocks noChangeArrowheads="1"/>
              </p:cNvSpPr>
              <p:nvPr/>
            </p:nvSpPr>
            <p:spPr bwMode="auto">
              <a:xfrm>
                <a:off x="4633035" y="2162263"/>
                <a:ext cx="1136666" cy="373599"/>
              </a:xfrm>
              <a:prstGeom prst="rect">
                <a:avLst/>
              </a:prstGeom>
              <a:grp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45" name="Rectangle 22"/>
            <p:cNvSpPr>
              <a:spLocks noChangeArrowheads="1"/>
            </p:cNvSpPr>
            <p:nvPr/>
          </p:nvSpPr>
          <p:spPr bwMode="auto">
            <a:xfrm>
              <a:off x="4027182" y="4038600"/>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46"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95" name="Rectangle 94"/>
              <p:cNvSpPr/>
              <p:nvPr/>
            </p:nvSpPr>
            <p:spPr>
              <a:xfrm>
                <a:off x="5972094" y="3483677"/>
                <a:ext cx="1329077"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6" name="Rectangle 24"/>
              <p:cNvSpPr>
                <a:spLocks noChangeArrowheads="1"/>
              </p:cNvSpPr>
              <p:nvPr/>
            </p:nvSpPr>
            <p:spPr bwMode="auto">
              <a:xfrm>
                <a:off x="6011147" y="4464152"/>
                <a:ext cx="1136650" cy="384691"/>
              </a:xfrm>
              <a:prstGeom prst="rect">
                <a:avLst/>
              </a:prstGeom>
              <a:grp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7"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48"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49" name="Group 44"/>
            <p:cNvGrpSpPr/>
            <p:nvPr/>
          </p:nvGrpSpPr>
          <p:grpSpPr>
            <a:xfrm>
              <a:off x="304800" y="1993408"/>
              <a:ext cx="1185681" cy="1479901"/>
              <a:chOff x="402336" y="1993408"/>
              <a:chExt cx="1185681" cy="1479901"/>
            </a:xfrm>
          </p:grpSpPr>
          <p:sp>
            <p:nvSpPr>
              <p:cNvPr id="91" name="Rectangle 90"/>
              <p:cNvSpPr/>
              <p:nvPr/>
            </p:nvSpPr>
            <p:spPr>
              <a:xfrm>
                <a:off x="402336" y="1993408"/>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2"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93"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4"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50" name="Isosceles Triangle 49"/>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1" name="Isosceles Triangle 50"/>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2" name="Isosceles Triangle 51"/>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53" name="Group 97"/>
            <p:cNvGrpSpPr/>
            <p:nvPr/>
          </p:nvGrpSpPr>
          <p:grpSpPr>
            <a:xfrm>
              <a:off x="2544987" y="1993408"/>
              <a:ext cx="1402929" cy="1563815"/>
              <a:chOff x="2544987" y="1993408"/>
              <a:chExt cx="1402929" cy="1563815"/>
            </a:xfrm>
          </p:grpSpPr>
          <p:sp>
            <p:nvSpPr>
              <p:cNvPr id="86" name="Rectangle 85"/>
              <p:cNvSpPr/>
              <p:nvPr/>
            </p:nvSpPr>
            <p:spPr>
              <a:xfrm>
                <a:off x="2762235" y="1993408"/>
                <a:ext cx="1185681"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7" name="Rectangle 86"/>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88" name="Isosceles Triangle 87"/>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9" name="Isosceles Triangle 88"/>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0" name="Rectangle 89"/>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54" name="Rectangle 53"/>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55" name="Rectangle 54"/>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56" name="Rectangle 55"/>
            <p:cNvSpPr/>
            <p:nvPr/>
          </p:nvSpPr>
          <p:spPr>
            <a:xfrm>
              <a:off x="4022825" y="33528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59" name="Rectangle 58"/>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61"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62"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63"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70" name="Picture 5"/>
            <p:cNvPicPr>
              <a:picLocks noChangeArrowheads="1"/>
            </p:cNvPicPr>
            <p:nvPr/>
          </p:nvPicPr>
          <p:blipFill>
            <a:blip r:embed="rId7" cstate="print"/>
            <a:srcRect/>
            <a:stretch>
              <a:fillRect/>
            </a:stretch>
          </p:blipFill>
          <p:spPr bwMode="auto">
            <a:xfrm>
              <a:off x="6436868" y="2013039"/>
              <a:ext cx="1183132" cy="1399032"/>
            </a:xfrm>
            <a:prstGeom prst="rect">
              <a:avLst/>
            </a:prstGeom>
            <a:solidFill>
              <a:schemeClr val="tx1">
                <a:lumMod val="20000"/>
                <a:lumOff val="80000"/>
              </a:schemeClr>
            </a:solidFill>
            <a:ln>
              <a:noFill/>
            </a:ln>
          </p:spPr>
        </p:pic>
        <p:pic>
          <p:nvPicPr>
            <p:cNvPr id="73" name="Picture 2"/>
            <p:cNvPicPr>
              <a:picLocks noChangeAspect="1" noChangeArrowheads="1"/>
            </p:cNvPicPr>
            <p:nvPr/>
          </p:nvPicPr>
          <p:blipFill>
            <a:blip r:embed="rId8" cstate="print"/>
            <a:srcRect/>
            <a:stretch>
              <a:fillRect/>
            </a:stretch>
          </p:blipFill>
          <p:spPr bwMode="auto">
            <a:xfrm>
              <a:off x="7674863" y="3429000"/>
              <a:ext cx="1097280" cy="1429881"/>
            </a:xfrm>
            <a:prstGeom prst="rect">
              <a:avLst/>
            </a:prstGeom>
            <a:solidFill>
              <a:schemeClr val="tx1">
                <a:lumMod val="20000"/>
                <a:lumOff val="80000"/>
              </a:schemeClr>
            </a:solidFill>
            <a:ln>
              <a:noFill/>
            </a:ln>
          </p:spPr>
        </p:pic>
        <p:grpSp>
          <p:nvGrpSpPr>
            <p:cNvPr id="74" name="Group 45"/>
            <p:cNvGrpSpPr/>
            <p:nvPr/>
          </p:nvGrpSpPr>
          <p:grpSpPr>
            <a:xfrm>
              <a:off x="7674864" y="1981200"/>
              <a:ext cx="1097280" cy="1479901"/>
              <a:chOff x="402336" y="1993408"/>
              <a:chExt cx="1185681" cy="1479901"/>
            </a:xfrm>
          </p:grpSpPr>
          <p:sp>
            <p:nvSpPr>
              <p:cNvPr id="75" name="Rectangle 74"/>
              <p:cNvSpPr/>
              <p:nvPr/>
            </p:nvSpPr>
            <p:spPr>
              <a:xfrm>
                <a:off x="402336" y="1993408"/>
                <a:ext cx="1185681" cy="1401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6" name="Rectangle 75"/>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84" name="Isosceles Triangle 83"/>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5"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Postpaid Billing System Interfaces</a:t>
            </a:r>
          </a:p>
        </p:txBody>
      </p:sp>
      <p:sp>
        <p:nvSpPr>
          <p:cNvPr id="39" name="Rounded Rectangle 38"/>
          <p:cNvSpPr/>
          <p:nvPr/>
        </p:nvSpPr>
        <p:spPr>
          <a:xfrm>
            <a:off x="1371600" y="1371600"/>
            <a:ext cx="62484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50000"/>
                  </a:schemeClr>
                </a:solidFill>
                <a:latin typeface="EYInterstate" pitchFamily="2" charset="0"/>
              </a:rPr>
              <a:t>CRM/OM</a:t>
            </a:r>
            <a:endParaRPr lang="en-US" dirty="0">
              <a:solidFill>
                <a:schemeClr val="tx1">
                  <a:lumMod val="50000"/>
                </a:schemeClr>
              </a:solidFill>
              <a:latin typeface="EYInterstate" pitchFamily="2" charset="0"/>
            </a:endParaRPr>
          </a:p>
        </p:txBody>
      </p:sp>
      <p:sp>
        <p:nvSpPr>
          <p:cNvPr id="42" name="Rounded Rectangle 41"/>
          <p:cNvSpPr/>
          <p:nvPr/>
        </p:nvSpPr>
        <p:spPr>
          <a:xfrm>
            <a:off x="5791200" y="2133600"/>
            <a:ext cx="1600200" cy="381000"/>
          </a:xfrm>
          <a:prstGeom prst="round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chemeClr val="tx1">
                    <a:lumMod val="50000"/>
                  </a:schemeClr>
                </a:solidFill>
                <a:latin typeface="EYInterstate" pitchFamily="2" charset="0"/>
              </a:rPr>
              <a:t>Network Inventory System</a:t>
            </a:r>
            <a:endParaRPr lang="en-US" sz="1050" dirty="0">
              <a:solidFill>
                <a:schemeClr val="tx1">
                  <a:lumMod val="50000"/>
                </a:schemeClr>
              </a:solidFill>
              <a:latin typeface="EYInterstate" pitchFamily="2" charset="0"/>
            </a:endParaRPr>
          </a:p>
        </p:txBody>
      </p:sp>
      <p:sp>
        <p:nvSpPr>
          <p:cNvPr id="43" name="Rounded Rectangle 42"/>
          <p:cNvSpPr/>
          <p:nvPr/>
        </p:nvSpPr>
        <p:spPr>
          <a:xfrm>
            <a:off x="1447800" y="2819400"/>
            <a:ext cx="6096000" cy="1828800"/>
          </a:xfrm>
          <a:prstGeom prst="roundRect">
            <a:avLst/>
          </a:prstGeom>
          <a:solidFill>
            <a:srgbClr val="FFD2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smtClean="0">
              <a:solidFill>
                <a:schemeClr val="tx1">
                  <a:lumMod val="50000"/>
                </a:schemeClr>
              </a:solidFill>
              <a:latin typeface="EYInterstate" pitchFamily="2" charset="0"/>
            </a:endParaRPr>
          </a:p>
        </p:txBody>
      </p:sp>
      <p:sp>
        <p:nvSpPr>
          <p:cNvPr id="44" name="Oval 43"/>
          <p:cNvSpPr/>
          <p:nvPr/>
        </p:nvSpPr>
        <p:spPr>
          <a:xfrm>
            <a:off x="1905000" y="3352800"/>
            <a:ext cx="1143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tx1">
                    <a:lumMod val="50000"/>
                  </a:schemeClr>
                </a:solidFill>
                <a:latin typeface="EYInterstate" pitchFamily="2" charset="0"/>
              </a:rPr>
              <a:t>Billing Engine</a:t>
            </a:r>
            <a:endParaRPr lang="en-US" sz="1100" dirty="0">
              <a:solidFill>
                <a:schemeClr val="tx1">
                  <a:lumMod val="50000"/>
                </a:schemeClr>
              </a:solidFill>
              <a:latin typeface="EYInterstate" pitchFamily="2" charset="0"/>
            </a:endParaRPr>
          </a:p>
        </p:txBody>
      </p:sp>
      <p:sp>
        <p:nvSpPr>
          <p:cNvPr id="45" name="Rounded Rectangle 44"/>
          <p:cNvSpPr/>
          <p:nvPr/>
        </p:nvSpPr>
        <p:spPr>
          <a:xfrm>
            <a:off x="1371600" y="5715000"/>
            <a:ext cx="6248400"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50000"/>
                  </a:schemeClr>
                </a:solidFill>
                <a:latin typeface="EYInterstate" pitchFamily="2" charset="0"/>
              </a:rPr>
              <a:t>Network Switches</a:t>
            </a:r>
            <a:endParaRPr lang="en-US" dirty="0">
              <a:solidFill>
                <a:schemeClr val="tx1">
                  <a:lumMod val="50000"/>
                </a:schemeClr>
              </a:solidFill>
              <a:latin typeface="EYInterstate" pitchFamily="2" charset="0"/>
            </a:endParaRPr>
          </a:p>
        </p:txBody>
      </p:sp>
      <p:sp>
        <p:nvSpPr>
          <p:cNvPr id="46" name="Oval 45"/>
          <p:cNvSpPr/>
          <p:nvPr/>
        </p:nvSpPr>
        <p:spPr>
          <a:xfrm>
            <a:off x="3200400" y="3352800"/>
            <a:ext cx="1143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tx1">
                    <a:lumMod val="50000"/>
                  </a:schemeClr>
                </a:solidFill>
                <a:latin typeface="EYInterstate" pitchFamily="2" charset="0"/>
              </a:rPr>
              <a:t>Rating Engine</a:t>
            </a:r>
            <a:endParaRPr lang="en-US" sz="1100" dirty="0">
              <a:solidFill>
                <a:schemeClr val="tx1">
                  <a:lumMod val="50000"/>
                </a:schemeClr>
              </a:solidFill>
              <a:latin typeface="EYInterstate" pitchFamily="2" charset="0"/>
            </a:endParaRPr>
          </a:p>
        </p:txBody>
      </p:sp>
      <p:sp>
        <p:nvSpPr>
          <p:cNvPr id="47" name="Oval 46"/>
          <p:cNvSpPr/>
          <p:nvPr/>
        </p:nvSpPr>
        <p:spPr>
          <a:xfrm>
            <a:off x="4495800" y="3352800"/>
            <a:ext cx="1143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tx1">
                    <a:lumMod val="50000"/>
                  </a:schemeClr>
                </a:solidFill>
                <a:latin typeface="EYInterstate" pitchFamily="2" charset="0"/>
              </a:rPr>
              <a:t>Discount Process</a:t>
            </a:r>
            <a:endParaRPr lang="en-US" sz="1100" dirty="0">
              <a:solidFill>
                <a:schemeClr val="tx1">
                  <a:lumMod val="50000"/>
                </a:schemeClr>
              </a:solidFill>
              <a:latin typeface="EYInterstate" pitchFamily="2" charset="0"/>
            </a:endParaRPr>
          </a:p>
        </p:txBody>
      </p:sp>
      <p:sp>
        <p:nvSpPr>
          <p:cNvPr id="48" name="Oval 47"/>
          <p:cNvSpPr/>
          <p:nvPr/>
        </p:nvSpPr>
        <p:spPr>
          <a:xfrm>
            <a:off x="5791200" y="3352800"/>
            <a:ext cx="1143000" cy="381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solidFill>
                  <a:schemeClr val="tx1">
                    <a:lumMod val="50000"/>
                  </a:schemeClr>
                </a:solidFill>
                <a:latin typeface="EYInterstate" pitchFamily="2" charset="0"/>
              </a:rPr>
              <a:t>Credit Control</a:t>
            </a:r>
            <a:endParaRPr lang="en-US" sz="1100" dirty="0">
              <a:solidFill>
                <a:schemeClr val="tx1">
                  <a:lumMod val="50000"/>
                </a:schemeClr>
              </a:solidFill>
              <a:latin typeface="EYInterstate" pitchFamily="2" charset="0"/>
            </a:endParaRPr>
          </a:p>
        </p:txBody>
      </p:sp>
      <p:sp>
        <p:nvSpPr>
          <p:cNvPr id="49" name="Oval 48"/>
          <p:cNvSpPr/>
          <p:nvPr/>
        </p:nvSpPr>
        <p:spPr>
          <a:xfrm>
            <a:off x="2209800" y="4038600"/>
            <a:ext cx="1600200" cy="5334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lumMod val="50000"/>
                  </a:schemeClr>
                </a:solidFill>
                <a:latin typeface="EYInterstate" pitchFamily="2" charset="0"/>
              </a:rPr>
              <a:t>Report Generation</a:t>
            </a:r>
            <a:endParaRPr lang="en-US" sz="1200" dirty="0">
              <a:solidFill>
                <a:schemeClr val="tx1">
                  <a:lumMod val="50000"/>
                </a:schemeClr>
              </a:solidFill>
              <a:latin typeface="EYInterstate" pitchFamily="2" charset="0"/>
            </a:endParaRPr>
          </a:p>
        </p:txBody>
      </p:sp>
      <p:sp>
        <p:nvSpPr>
          <p:cNvPr id="50" name="Rounded Rectangle 49"/>
          <p:cNvSpPr/>
          <p:nvPr/>
        </p:nvSpPr>
        <p:spPr>
          <a:xfrm>
            <a:off x="1752600" y="2133600"/>
            <a:ext cx="1371600" cy="381000"/>
          </a:xfrm>
          <a:prstGeom prst="round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chemeClr val="tx1">
                    <a:lumMod val="50000"/>
                  </a:schemeClr>
                </a:solidFill>
                <a:latin typeface="EYInterstate" pitchFamily="2" charset="0"/>
              </a:rPr>
              <a:t>Provisioning System</a:t>
            </a:r>
            <a:endParaRPr lang="en-US" sz="1050" dirty="0">
              <a:solidFill>
                <a:schemeClr val="tx1">
                  <a:lumMod val="50000"/>
                </a:schemeClr>
              </a:solidFill>
              <a:latin typeface="EYInterstate" pitchFamily="2" charset="0"/>
            </a:endParaRPr>
          </a:p>
        </p:txBody>
      </p:sp>
      <p:sp>
        <p:nvSpPr>
          <p:cNvPr id="51" name="Oval 50"/>
          <p:cNvSpPr/>
          <p:nvPr/>
        </p:nvSpPr>
        <p:spPr>
          <a:xfrm>
            <a:off x="4724400" y="4038600"/>
            <a:ext cx="1600200" cy="5334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lumMod val="50000"/>
                  </a:schemeClr>
                </a:solidFill>
                <a:latin typeface="EYInterstate" pitchFamily="2" charset="0"/>
              </a:rPr>
              <a:t>Payment Processing</a:t>
            </a:r>
            <a:endParaRPr lang="en-US" sz="1200" dirty="0">
              <a:solidFill>
                <a:schemeClr val="tx1">
                  <a:lumMod val="50000"/>
                </a:schemeClr>
              </a:solidFill>
              <a:latin typeface="EYInterstate" pitchFamily="2" charset="0"/>
            </a:endParaRPr>
          </a:p>
        </p:txBody>
      </p:sp>
      <p:sp>
        <p:nvSpPr>
          <p:cNvPr id="52" name="Rounded Rectangle 51"/>
          <p:cNvSpPr/>
          <p:nvPr/>
        </p:nvSpPr>
        <p:spPr>
          <a:xfrm>
            <a:off x="2514600" y="5029200"/>
            <a:ext cx="914400" cy="381000"/>
          </a:xfrm>
          <a:prstGeom prst="round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chemeClr val="tx1">
                    <a:lumMod val="50000"/>
                  </a:schemeClr>
                </a:solidFill>
                <a:latin typeface="EYInterstate" pitchFamily="2" charset="0"/>
              </a:rPr>
              <a:t>Mediation</a:t>
            </a:r>
            <a:endParaRPr lang="en-US" sz="1050" dirty="0">
              <a:solidFill>
                <a:schemeClr val="tx1">
                  <a:lumMod val="50000"/>
                </a:schemeClr>
              </a:solidFill>
              <a:latin typeface="EYInterstate" pitchFamily="2" charset="0"/>
            </a:endParaRPr>
          </a:p>
        </p:txBody>
      </p:sp>
      <p:sp>
        <p:nvSpPr>
          <p:cNvPr id="53" name="Rounded Rectangle 52"/>
          <p:cNvSpPr/>
          <p:nvPr/>
        </p:nvSpPr>
        <p:spPr>
          <a:xfrm>
            <a:off x="3581400" y="5029200"/>
            <a:ext cx="914400" cy="381000"/>
          </a:xfrm>
          <a:prstGeom prst="round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chemeClr val="tx1">
                    <a:lumMod val="50000"/>
                  </a:schemeClr>
                </a:solidFill>
                <a:latin typeface="EYInterstate" pitchFamily="2" charset="0"/>
              </a:rPr>
              <a:t>Data Ware House</a:t>
            </a:r>
            <a:endParaRPr lang="en-US" sz="1050" dirty="0">
              <a:solidFill>
                <a:schemeClr val="tx1">
                  <a:lumMod val="50000"/>
                </a:schemeClr>
              </a:solidFill>
              <a:latin typeface="EYInterstate" pitchFamily="2" charset="0"/>
            </a:endParaRPr>
          </a:p>
        </p:txBody>
      </p:sp>
      <p:sp>
        <p:nvSpPr>
          <p:cNvPr id="54" name="Rounded Rectangle 53"/>
          <p:cNvSpPr/>
          <p:nvPr/>
        </p:nvSpPr>
        <p:spPr>
          <a:xfrm>
            <a:off x="4648200" y="5029200"/>
            <a:ext cx="914400" cy="381000"/>
          </a:xfrm>
          <a:prstGeom prst="round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chemeClr val="tx1">
                    <a:lumMod val="50000"/>
                  </a:schemeClr>
                </a:solidFill>
                <a:latin typeface="EYInterstate" pitchFamily="2" charset="0"/>
              </a:rPr>
              <a:t>ERP</a:t>
            </a:r>
            <a:endParaRPr lang="en-US" sz="1050" dirty="0">
              <a:solidFill>
                <a:schemeClr val="tx1">
                  <a:lumMod val="50000"/>
                </a:schemeClr>
              </a:solidFill>
              <a:latin typeface="EYInterstate" pitchFamily="2" charset="0"/>
            </a:endParaRPr>
          </a:p>
        </p:txBody>
      </p:sp>
      <p:sp>
        <p:nvSpPr>
          <p:cNvPr id="55" name="Rounded Rectangle 54"/>
          <p:cNvSpPr/>
          <p:nvPr/>
        </p:nvSpPr>
        <p:spPr>
          <a:xfrm>
            <a:off x="5715000" y="5029200"/>
            <a:ext cx="914400" cy="381000"/>
          </a:xfrm>
          <a:prstGeom prst="roundRect">
            <a:avLst/>
          </a:prstGeom>
          <a:solidFill>
            <a:srgbClr val="D9D9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solidFill>
                  <a:schemeClr val="tx1">
                    <a:lumMod val="50000"/>
                  </a:schemeClr>
                </a:solidFill>
                <a:latin typeface="EYInterstate" pitchFamily="2" charset="0"/>
              </a:rPr>
              <a:t>Payment Gateway</a:t>
            </a:r>
            <a:endParaRPr lang="en-US" sz="1050" dirty="0">
              <a:solidFill>
                <a:schemeClr val="tx1">
                  <a:lumMod val="50000"/>
                </a:schemeClr>
              </a:solidFill>
              <a:latin typeface="EYInterstate" pitchFamily="2" charset="0"/>
            </a:endParaRPr>
          </a:p>
        </p:txBody>
      </p:sp>
      <p:cxnSp>
        <p:nvCxnSpPr>
          <p:cNvPr id="57" name="Straight Arrow Connector 56"/>
          <p:cNvCxnSpPr>
            <a:endCxn id="50" idx="0"/>
          </p:cNvCxnSpPr>
          <p:nvPr/>
        </p:nvCxnSpPr>
        <p:spPr>
          <a:xfrm>
            <a:off x="2438400" y="1752600"/>
            <a:ext cx="0" cy="381000"/>
          </a:xfrm>
          <a:prstGeom prst="straightConnector1">
            <a:avLst/>
          </a:prstGeom>
          <a:ln w="19050" cmpd="sng">
            <a:solidFill>
              <a:schemeClr val="tx1">
                <a:lumMod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2133600" y="2514600"/>
            <a:ext cx="0" cy="304800"/>
          </a:xfrm>
          <a:prstGeom prst="line">
            <a:avLst/>
          </a:prstGeom>
          <a:ln w="1905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endCxn id="50" idx="2"/>
          </p:cNvCxnSpPr>
          <p:nvPr/>
        </p:nvCxnSpPr>
        <p:spPr>
          <a:xfrm flipV="1">
            <a:off x="2438400" y="2514600"/>
            <a:ext cx="0" cy="304800"/>
          </a:xfrm>
          <a:prstGeom prst="straightConnector1">
            <a:avLst/>
          </a:prstGeom>
          <a:ln w="19050" cmpd="sng">
            <a:solidFill>
              <a:schemeClr val="tx1">
                <a:lumMod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9" idx="2"/>
            <a:endCxn id="43" idx="0"/>
          </p:cNvCxnSpPr>
          <p:nvPr/>
        </p:nvCxnSpPr>
        <p:spPr>
          <a:xfrm>
            <a:off x="4495800" y="1752600"/>
            <a:ext cx="0" cy="1066800"/>
          </a:xfrm>
          <a:prstGeom prst="straightConnector1">
            <a:avLst/>
          </a:prstGeom>
          <a:ln w="28575">
            <a:solidFill>
              <a:schemeClr val="tx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6553200" y="1752600"/>
            <a:ext cx="0" cy="381000"/>
          </a:xfrm>
          <a:prstGeom prst="straightConnector1">
            <a:avLst/>
          </a:prstGeom>
          <a:ln w="19050" cmpd="sng">
            <a:solidFill>
              <a:schemeClr val="tx1">
                <a:lumMod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2971800" y="2895600"/>
            <a:ext cx="1905000" cy="369332"/>
          </a:xfrm>
          <a:prstGeom prst="rect">
            <a:avLst/>
          </a:prstGeom>
          <a:noFill/>
        </p:spPr>
        <p:txBody>
          <a:bodyPr wrap="square" rtlCol="0">
            <a:spAutoFit/>
          </a:bodyPr>
          <a:lstStyle/>
          <a:p>
            <a:r>
              <a:rPr lang="en-US" dirty="0" smtClean="0"/>
              <a:t>Billing System</a:t>
            </a:r>
            <a:endParaRPr lang="en-US" dirty="0"/>
          </a:p>
        </p:txBody>
      </p:sp>
      <p:cxnSp>
        <p:nvCxnSpPr>
          <p:cNvPr id="69" name="Straight Arrow Connector 68"/>
          <p:cNvCxnSpPr/>
          <p:nvPr/>
        </p:nvCxnSpPr>
        <p:spPr>
          <a:xfrm>
            <a:off x="2057400" y="4648200"/>
            <a:ext cx="0" cy="1066800"/>
          </a:xfrm>
          <a:prstGeom prst="straightConnector1">
            <a:avLst/>
          </a:prstGeom>
          <a:ln w="28575">
            <a:solidFill>
              <a:schemeClr val="tx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2971800" y="5410200"/>
            <a:ext cx="0" cy="304800"/>
          </a:xfrm>
          <a:prstGeom prst="straightConnector1">
            <a:avLst/>
          </a:prstGeom>
          <a:ln w="19050" cmpd="sng">
            <a:solidFill>
              <a:schemeClr val="tx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4038600" y="4648200"/>
            <a:ext cx="0" cy="381000"/>
          </a:xfrm>
          <a:prstGeom prst="straightConnector1">
            <a:avLst/>
          </a:prstGeom>
          <a:ln w="19050" cmpd="sng">
            <a:solidFill>
              <a:schemeClr val="tx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5105400" y="4648200"/>
            <a:ext cx="0" cy="381000"/>
          </a:xfrm>
          <a:prstGeom prst="straightConnector1">
            <a:avLst/>
          </a:prstGeom>
          <a:ln w="19050" cmpd="sng">
            <a:solidFill>
              <a:schemeClr val="tx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V="1">
            <a:off x="6172200" y="4648200"/>
            <a:ext cx="0" cy="381000"/>
          </a:xfrm>
          <a:prstGeom prst="straightConnector1">
            <a:avLst/>
          </a:prstGeom>
          <a:ln w="19050" cmpd="sng">
            <a:solidFill>
              <a:schemeClr val="tx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endCxn id="42" idx="2"/>
          </p:cNvCxnSpPr>
          <p:nvPr/>
        </p:nvCxnSpPr>
        <p:spPr>
          <a:xfrm flipH="1" flipV="1">
            <a:off x="6591300" y="2514600"/>
            <a:ext cx="0" cy="304800"/>
          </a:xfrm>
          <a:prstGeom prst="straightConnector1">
            <a:avLst/>
          </a:prstGeom>
          <a:ln w="19050">
            <a:solidFill>
              <a:schemeClr val="tx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flipV="1">
            <a:off x="2971800" y="4648200"/>
            <a:ext cx="0" cy="381000"/>
          </a:xfrm>
          <a:prstGeom prst="straightConnector1">
            <a:avLst/>
          </a:prstGeom>
          <a:ln w="19050" cmpd="sng">
            <a:solidFill>
              <a:schemeClr val="tx1">
                <a:lumMod val="50000"/>
              </a:schemeClr>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457200" y="1143000"/>
            <a:ext cx="8229600" cy="5029200"/>
          </a:xfrm>
          <a:prstGeom prst="rect">
            <a:avLst/>
          </a:prstGeom>
          <a:no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Billing System Interfaces</a:t>
            </a:r>
          </a:p>
        </p:txBody>
      </p:sp>
      <p:sp>
        <p:nvSpPr>
          <p:cNvPr id="34" name="Rectangle 3"/>
          <p:cNvSpPr txBox="1">
            <a:spLocks noChangeArrowheads="1"/>
          </p:cNvSpPr>
          <p:nvPr/>
        </p:nvSpPr>
        <p:spPr>
          <a:xfrm>
            <a:off x="381000" y="1108075"/>
            <a:ext cx="8412480" cy="4911725"/>
          </a:xfrm>
          <a:prstGeom prst="rect">
            <a:avLst/>
          </a:prstGeom>
          <a:solidFill>
            <a:schemeClr val="bg1">
              <a:lumMod val="95000"/>
            </a:schemeClr>
          </a:solidFill>
          <a:ln>
            <a:solidFill>
              <a:schemeClr val="bg1">
                <a:lumMod val="95000"/>
              </a:schemeClr>
            </a:solidFill>
          </a:ln>
        </p:spPr>
        <p:txBody>
          <a:bodyPr/>
          <a:lstStyle/>
          <a:p>
            <a:pPr marL="338328" lvl="0" indent="-360363">
              <a:spcBef>
                <a:spcPct val="20000"/>
              </a:spcBef>
              <a:buClr>
                <a:srgbClr val="FFD200"/>
              </a:buClr>
              <a:buSzPct val="75000"/>
              <a:buFont typeface="Arial" charset="0"/>
              <a:buChar char="►"/>
              <a:defRPr/>
            </a:pPr>
            <a:r>
              <a:rPr lang="en-US" sz="1400" b="1" kern="0" dirty="0" smtClean="0">
                <a:solidFill>
                  <a:srgbClr val="646464"/>
                </a:solidFill>
                <a:latin typeface="EYInterstate" pitchFamily="2" charset="0"/>
              </a:rPr>
              <a:t>There are various systems involved in subscriber configuration in billing:</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CRM/OM System</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Provisioning System</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Network Inventory system</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Network switches</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Mediation System</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Data warehouse</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Enterprise resource planning</a:t>
            </a:r>
          </a:p>
          <a:p>
            <a:pPr marL="817563" lvl="1" indent="-360363">
              <a:spcBef>
                <a:spcPct val="20000"/>
              </a:spcBef>
              <a:buClr>
                <a:srgbClr val="FFD200"/>
              </a:buClr>
              <a:buSzPct val="75000"/>
              <a:buFont typeface="Arial" charset="0"/>
              <a:buChar char="►"/>
              <a:defRPr/>
            </a:pPr>
            <a:r>
              <a:rPr lang="en-US" sz="1200" b="1" kern="0" dirty="0" smtClean="0">
                <a:solidFill>
                  <a:srgbClr val="646464"/>
                </a:solidFill>
                <a:latin typeface="EYInterstate Light" pitchFamily="2" charset="0"/>
              </a:rPr>
              <a:t>Payment gateway</a:t>
            </a:r>
          </a:p>
          <a:p>
            <a:pPr marL="817563" lvl="1" indent="-360363">
              <a:spcBef>
                <a:spcPct val="20000"/>
              </a:spcBef>
              <a:buClr>
                <a:srgbClr val="FFD200"/>
              </a:buClr>
              <a:buSzPct val="75000"/>
              <a:buFont typeface="Arial" charset="0"/>
              <a:buChar char="►"/>
              <a:defRPr/>
            </a:pPr>
            <a:endParaRPr lang="en-US" sz="1200" b="1" kern="0" dirty="0" smtClean="0">
              <a:solidFill>
                <a:srgbClr val="646464"/>
              </a:solidFill>
              <a:latin typeface="EYInterstate Light" pitchFamily="2" charset="0"/>
            </a:endParaRPr>
          </a:p>
          <a:p>
            <a:pPr marL="360363" lvl="0" indent="-360363">
              <a:spcBef>
                <a:spcPct val="20000"/>
              </a:spcBef>
              <a:buClr>
                <a:srgbClr val="FFD200"/>
              </a:buClr>
              <a:buSzPct val="75000"/>
              <a:buFont typeface="Arial" charset="0"/>
              <a:buChar char="►"/>
              <a:defRPr/>
            </a:pPr>
            <a:r>
              <a:rPr lang="en-US" sz="1400" b="1" kern="0" dirty="0" smtClean="0">
                <a:solidFill>
                  <a:srgbClr val="646464"/>
                </a:solidFill>
                <a:latin typeface="EYInterstate" pitchFamily="2" charset="0"/>
              </a:rPr>
              <a:t>CRM/OM System - </a:t>
            </a:r>
            <a:r>
              <a:rPr lang="en-US" sz="1100" kern="0" dirty="0" smtClean="0">
                <a:solidFill>
                  <a:srgbClr val="646464"/>
                </a:solidFill>
                <a:latin typeface="EYInterstate" pitchFamily="2" charset="0"/>
              </a:rPr>
              <a:t>CRM/OM system contacts with provisioning system to provision the services in the network inventory system </a:t>
            </a:r>
            <a:r>
              <a:rPr lang="en-US" sz="1200" b="1" kern="0" dirty="0" smtClean="0">
                <a:solidFill>
                  <a:srgbClr val="646464"/>
                </a:solidFill>
                <a:latin typeface="EYInterstate Light" pitchFamily="2" charset="0"/>
              </a:rPr>
              <a:t>. </a:t>
            </a:r>
          </a:p>
          <a:p>
            <a:pPr marL="360363" lvl="0" indent="-360363">
              <a:spcBef>
                <a:spcPct val="20000"/>
              </a:spcBef>
              <a:buClr>
                <a:srgbClr val="FFD200"/>
              </a:buClr>
              <a:buSzPct val="75000"/>
              <a:defRPr/>
            </a:pPr>
            <a:endParaRPr lang="en-US" sz="1200" b="1" kern="0" dirty="0" smtClean="0">
              <a:solidFill>
                <a:srgbClr val="646464"/>
              </a:solidFill>
              <a:latin typeface="EYInterstate Light" pitchFamily="2" charset="0"/>
            </a:endParaRPr>
          </a:p>
          <a:p>
            <a:pPr marL="360363" indent="-360363">
              <a:spcBef>
                <a:spcPct val="20000"/>
              </a:spcBef>
              <a:buClr>
                <a:srgbClr val="FFD200"/>
              </a:buClr>
              <a:buSzPct val="75000"/>
              <a:buFont typeface="Arial" charset="0"/>
              <a:buChar char="►"/>
              <a:defRPr/>
            </a:pPr>
            <a:r>
              <a:rPr lang="en-US" sz="1400" b="1" kern="0" dirty="0" smtClean="0">
                <a:solidFill>
                  <a:srgbClr val="646464"/>
                </a:solidFill>
                <a:latin typeface="EYInterstate" pitchFamily="2" charset="0"/>
              </a:rPr>
              <a:t>Provisioning System – </a:t>
            </a:r>
            <a:r>
              <a:rPr lang="en-US" sz="1100" kern="0" dirty="0" smtClean="0">
                <a:solidFill>
                  <a:srgbClr val="646464"/>
                </a:solidFill>
                <a:latin typeface="EYInterstate" pitchFamily="2" charset="0"/>
              </a:rPr>
              <a:t>This system takes commands either from the CRM/OM System to activate, de-activate and suspend the services in Billing and </a:t>
            </a:r>
            <a:r>
              <a:rPr lang="en-US" sz="1100" dirty="0" smtClean="0"/>
              <a:t>core network system </a:t>
            </a:r>
          </a:p>
          <a:p>
            <a:pPr marL="360363" indent="-360363">
              <a:spcBef>
                <a:spcPct val="20000"/>
              </a:spcBef>
              <a:buClr>
                <a:srgbClr val="FFD200"/>
              </a:buClr>
              <a:buSzPct val="75000"/>
              <a:defRPr/>
            </a:pPr>
            <a:endParaRPr lang="en-US" sz="1100" dirty="0" smtClean="0"/>
          </a:p>
          <a:p>
            <a:pPr marL="360363" indent="-360363">
              <a:spcBef>
                <a:spcPct val="20000"/>
              </a:spcBef>
              <a:buClr>
                <a:srgbClr val="FFD200"/>
              </a:buClr>
              <a:buSzPct val="75000"/>
              <a:buFont typeface="Arial" charset="0"/>
              <a:buChar char="►"/>
              <a:defRPr/>
            </a:pPr>
            <a:r>
              <a:rPr lang="en-US" sz="1400" b="1" kern="0" dirty="0" smtClean="0">
                <a:solidFill>
                  <a:srgbClr val="646464"/>
                </a:solidFill>
                <a:latin typeface="EYInterstate" pitchFamily="2" charset="0"/>
              </a:rPr>
              <a:t>Network Inventory System - </a:t>
            </a:r>
            <a:r>
              <a:rPr lang="en-US" sz="1100" kern="0" dirty="0" smtClean="0">
                <a:solidFill>
                  <a:srgbClr val="646464"/>
                </a:solidFill>
                <a:latin typeface="EYInterstate" pitchFamily="2" charset="0"/>
              </a:rPr>
              <a:t>This system is responsible to maintain the life cycle of network identifiers which starts with available and then flows through different stages like activation, suspension and termination.</a:t>
            </a:r>
          </a:p>
          <a:p>
            <a:pPr marL="360363" indent="-360363">
              <a:spcBef>
                <a:spcPct val="20000"/>
              </a:spcBef>
              <a:buClr>
                <a:srgbClr val="FFD200"/>
              </a:buClr>
              <a:buSzPct val="75000"/>
              <a:buFont typeface="Arial" charset="0"/>
              <a:buChar char="►"/>
              <a:defRPr/>
            </a:pPr>
            <a:endParaRPr lang="en-US" sz="1100" kern="0" dirty="0" smtClean="0">
              <a:solidFill>
                <a:srgbClr val="646464"/>
              </a:solidFill>
              <a:latin typeface="EYInterstate" pitchFamily="2" charset="0"/>
            </a:endParaRPr>
          </a:p>
          <a:p>
            <a:pPr marL="360363" indent="-360363">
              <a:spcBef>
                <a:spcPct val="20000"/>
              </a:spcBef>
              <a:buClr>
                <a:srgbClr val="FFD200"/>
              </a:buClr>
              <a:buSzPct val="75000"/>
              <a:buFont typeface="Arial" charset="0"/>
              <a:buChar char="►"/>
              <a:defRPr/>
            </a:pPr>
            <a:r>
              <a:rPr lang="en-US" sz="1400" b="1" kern="0" dirty="0" smtClean="0">
                <a:solidFill>
                  <a:srgbClr val="646464"/>
                </a:solidFill>
                <a:latin typeface="EYInterstate" pitchFamily="2" charset="0"/>
              </a:rPr>
              <a:t>Network Switches:</a:t>
            </a:r>
            <a:r>
              <a:rPr lang="en-US" sz="1400" kern="0" dirty="0" smtClean="0">
                <a:solidFill>
                  <a:srgbClr val="646464"/>
                </a:solidFill>
                <a:latin typeface="EYInterstate" pitchFamily="2" charset="0"/>
              </a:rPr>
              <a:t> </a:t>
            </a:r>
            <a:r>
              <a:rPr lang="en-US" sz="1100" kern="0" dirty="0" smtClean="0">
                <a:solidFill>
                  <a:srgbClr val="646464"/>
                </a:solidFill>
                <a:latin typeface="EYInterstate" pitchFamily="2" charset="0"/>
              </a:rPr>
              <a:t>These systems are responsible of controlling calls, data download, SMS transfer etc and finally generating Call Detail Records Network Switches includes MSC, SMSC, GGSN and MMSC</a:t>
            </a:r>
            <a:endParaRPr lang="en-US" sz="1400" kern="0" dirty="0" smtClean="0">
              <a:solidFill>
                <a:srgbClr val="646464"/>
              </a:solidFill>
              <a:latin typeface="EYInterstate" pitchFamily="2" charset="0"/>
            </a:endParaRPr>
          </a:p>
          <a:p>
            <a:pPr marL="360363" indent="-360363">
              <a:spcBef>
                <a:spcPct val="20000"/>
              </a:spcBef>
              <a:buClr>
                <a:srgbClr val="FFD200"/>
              </a:buClr>
              <a:buSzPct val="75000"/>
              <a:buFont typeface="Arial" charset="0"/>
              <a:buChar char="►"/>
              <a:defRPr/>
            </a:pPr>
            <a:endParaRPr lang="en-US" sz="1400" kern="0" dirty="0" smtClean="0">
              <a:solidFill>
                <a:srgbClr val="646464"/>
              </a:solidFill>
              <a:latin typeface="EYInterstate" pitchFamily="2" charset="0"/>
            </a:endParaRPr>
          </a:p>
          <a:p>
            <a:pPr marL="360363" indent="-360363">
              <a:spcBef>
                <a:spcPct val="20000"/>
              </a:spcBef>
              <a:buClr>
                <a:srgbClr val="FFD200"/>
              </a:buClr>
              <a:buSzPct val="75000"/>
              <a:buFont typeface="EYInterstate" pitchFamily="2" charset="0"/>
              <a:buChar char="•"/>
              <a:defRPr/>
            </a:pPr>
            <a:endParaRPr lang="en-US" sz="1400" b="1" kern="0" dirty="0" smtClean="0">
              <a:solidFill>
                <a:srgbClr val="646464"/>
              </a:solidFill>
              <a:latin typeface="EYInterstate" pitchFamily="2"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Billing System Interfaces</a:t>
            </a:r>
          </a:p>
        </p:txBody>
      </p:sp>
      <p:sp>
        <p:nvSpPr>
          <p:cNvPr id="4" name="Rectangle 3"/>
          <p:cNvSpPr txBox="1">
            <a:spLocks noChangeArrowheads="1"/>
          </p:cNvSpPr>
          <p:nvPr/>
        </p:nvSpPr>
        <p:spPr>
          <a:xfrm>
            <a:off x="441960" y="1143000"/>
            <a:ext cx="8321040" cy="3383280"/>
          </a:xfrm>
          <a:prstGeom prst="rect">
            <a:avLst/>
          </a:prstGeom>
          <a:solidFill>
            <a:schemeClr val="bg1">
              <a:lumMod val="95000"/>
            </a:schemeClr>
          </a:solidFill>
          <a:ln>
            <a:solidFill>
              <a:schemeClr val="bg1">
                <a:lumMod val="95000"/>
              </a:schemeClr>
            </a:solidFill>
          </a:ln>
        </p:spPr>
        <p:txBody>
          <a:bodyPr/>
          <a:lstStyle/>
          <a:p>
            <a:pPr marL="817563" lvl="1" indent="-360363">
              <a:spcBef>
                <a:spcPts val="0"/>
              </a:spcBef>
              <a:buClr>
                <a:srgbClr val="FFD200"/>
              </a:buClr>
              <a:buSzPct val="75000"/>
              <a:buFont typeface="Arial" charset="0"/>
              <a:buChar char="►"/>
              <a:defRPr/>
            </a:pPr>
            <a:endParaRPr lang="en-US" sz="1200" b="1" kern="0" dirty="0" smtClean="0">
              <a:solidFill>
                <a:srgbClr val="646464"/>
              </a:solidFill>
              <a:latin typeface="EYInterstate Light" pitchFamily="2" charset="0"/>
            </a:endParaRPr>
          </a:p>
          <a:p>
            <a:pPr marL="360363" lvl="0"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Mediation System- </a:t>
            </a:r>
            <a:r>
              <a:rPr lang="en-US" sz="1100" kern="0" dirty="0" smtClean="0">
                <a:solidFill>
                  <a:srgbClr val="646464"/>
                </a:solidFill>
                <a:latin typeface="EYInterstate" pitchFamily="2" charset="0"/>
              </a:rPr>
              <a:t>The Mediation System process all the CDRs and convert them into a format compatible to the downstream system which is usually a Billing System. The Mediation System applies various rules on CDRs to process them, for example mediation system marks the international calls based on the dialed number (B-Number), same way mediation system marks the on-net calls based on A-Number and B-Number.</a:t>
            </a:r>
          </a:p>
          <a:p>
            <a:pPr marL="360363" lvl="0" indent="-360363">
              <a:spcBef>
                <a:spcPts val="0"/>
              </a:spcBef>
              <a:buClr>
                <a:srgbClr val="FFD200"/>
              </a:buClr>
              <a:buSzPct val="75000"/>
              <a:defRPr/>
            </a:pPr>
            <a:endParaRPr lang="en-US" sz="1400" kern="0" dirty="0" smtClean="0">
              <a:solidFill>
                <a:srgbClr val="646464"/>
              </a:solidFill>
              <a:latin typeface="EYInterstate" pitchFamily="2" charset="0"/>
            </a:endParaRPr>
          </a:p>
          <a:p>
            <a:pPr marL="360363" lvl="0"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Data Ware House (DWH) System -</a:t>
            </a:r>
            <a:r>
              <a:rPr lang="en-US" sz="1100" kern="0" dirty="0" smtClean="0">
                <a:solidFill>
                  <a:srgbClr val="646464"/>
                </a:solidFill>
                <a:latin typeface="EYInterstate" pitchFamily="2" charset="0"/>
              </a:rPr>
              <a:t> This is a downstream system for the Billing System and usually keeps tons of historical data related to the customers. Billing System dumps various customer information into the DWH system. This information includes service usage, invoices, payments, discounts and adjustments etc.</a:t>
            </a:r>
            <a:endParaRPr lang="en-US" sz="1400" kern="0" dirty="0" smtClean="0">
              <a:solidFill>
                <a:srgbClr val="646464"/>
              </a:solidFill>
              <a:latin typeface="EYInterstate" pitchFamily="2" charset="0"/>
            </a:endParaRPr>
          </a:p>
          <a:p>
            <a:pPr marL="360363" indent="-360363">
              <a:spcBef>
                <a:spcPts val="0"/>
              </a:spcBef>
              <a:buClr>
                <a:srgbClr val="FFD200"/>
              </a:buClr>
              <a:buSzPct val="75000"/>
              <a:buFont typeface="Arial" charset="0"/>
              <a:buChar char="►"/>
              <a:defRPr/>
            </a:pPr>
            <a:endParaRPr lang="en-US" sz="1400" b="1" kern="0" dirty="0" smtClean="0">
              <a:solidFill>
                <a:srgbClr val="646464"/>
              </a:solidFill>
              <a:latin typeface="EYInterstate" pitchFamily="2" charset="0"/>
            </a:endParaRPr>
          </a:p>
          <a:p>
            <a:pPr marL="360363"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Enterprise resource planning </a:t>
            </a:r>
            <a:r>
              <a:rPr lang="en-US" sz="1400" b="1" dirty="0" smtClean="0"/>
              <a:t>(ERP) </a:t>
            </a:r>
            <a:r>
              <a:rPr lang="en-US" sz="1400" b="1" kern="0" dirty="0" smtClean="0">
                <a:solidFill>
                  <a:srgbClr val="646464"/>
                </a:solidFill>
                <a:latin typeface="EYInterstate" pitchFamily="2" charset="0"/>
              </a:rPr>
              <a:t>- </a:t>
            </a:r>
            <a:r>
              <a:rPr lang="en-US" sz="1100" kern="0" dirty="0" smtClean="0">
                <a:solidFill>
                  <a:srgbClr val="646464"/>
                </a:solidFill>
                <a:latin typeface="EYInterstate" pitchFamily="2" charset="0"/>
              </a:rPr>
              <a:t>Billing System interface with this system is used to post all the financial transactions like invoices, payments, adjustments. This system works like a general ledger for the finance department and  gives complete revenue information at any point in time it is required.</a:t>
            </a:r>
          </a:p>
          <a:p>
            <a:pPr marL="360363" indent="-360363">
              <a:spcBef>
                <a:spcPts val="0"/>
              </a:spcBef>
              <a:buClr>
                <a:srgbClr val="FFD200"/>
              </a:buClr>
              <a:buSzPct val="75000"/>
              <a:buFont typeface="Arial" charset="0"/>
              <a:buChar char="►"/>
              <a:defRPr/>
            </a:pPr>
            <a:endParaRPr lang="en-US" sz="1400" b="1" kern="0" dirty="0" smtClean="0">
              <a:solidFill>
                <a:srgbClr val="646464"/>
              </a:solidFill>
              <a:latin typeface="EYInterstate" pitchFamily="2" charset="0"/>
            </a:endParaRPr>
          </a:p>
          <a:p>
            <a:pPr marL="360363"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Payment Gateway - </a:t>
            </a:r>
            <a:r>
              <a:rPr lang="en-US" sz="1100" kern="0" dirty="0" smtClean="0">
                <a:solidFill>
                  <a:srgbClr val="646464"/>
                </a:solidFill>
                <a:latin typeface="EYInterstate" pitchFamily="2" charset="0"/>
              </a:rPr>
              <a:t>All the payment channels use payment gateway to post payments to the billing system to settle down customer invoices</a:t>
            </a:r>
            <a:endParaRPr lang="en-US" sz="1400" kern="0" dirty="0" smtClean="0">
              <a:solidFill>
                <a:srgbClr val="646464"/>
              </a:solidFill>
              <a:latin typeface="EYInterstate" pitchFamily="2" charset="0"/>
            </a:endParaRPr>
          </a:p>
          <a:p>
            <a:pPr marL="360363" indent="-360363">
              <a:spcBef>
                <a:spcPts val="0"/>
              </a:spcBef>
              <a:buClr>
                <a:srgbClr val="FFD200"/>
              </a:buClr>
              <a:buSzPct val="75000"/>
              <a:defRPr/>
            </a:pPr>
            <a:endParaRPr lang="en-US" sz="1100" kern="0" dirty="0" smtClean="0">
              <a:solidFill>
                <a:srgbClr val="646464"/>
              </a:solidFill>
              <a:latin typeface="EYInterstate" pitchFamily="2" charset="0"/>
            </a:endParaRPr>
          </a:p>
          <a:p>
            <a:pPr marL="360363" indent="-360363">
              <a:spcBef>
                <a:spcPts val="0"/>
              </a:spcBef>
              <a:buClr>
                <a:srgbClr val="FFD200"/>
              </a:buClr>
              <a:buSzPct val="75000"/>
              <a:defRPr/>
            </a:pPr>
            <a:endParaRPr lang="en-US" sz="1400" kern="0" dirty="0" smtClean="0">
              <a:solidFill>
                <a:srgbClr val="646464"/>
              </a:solidFill>
              <a:latin typeface="EYInterstate" pitchFamily="2" charset="0"/>
            </a:endParaRPr>
          </a:p>
          <a:p>
            <a:pPr marL="360363" indent="-360363">
              <a:spcBef>
                <a:spcPct val="20000"/>
              </a:spcBef>
              <a:buClr>
                <a:srgbClr val="FFD200"/>
              </a:buClr>
              <a:buSzPct val="75000"/>
              <a:buFont typeface="Arial" charset="0"/>
              <a:buChar char="►"/>
              <a:defRPr/>
            </a:pPr>
            <a:endParaRPr lang="en-US" sz="1400" b="1" kern="0" dirty="0" smtClean="0">
              <a:solidFill>
                <a:srgbClr val="646464"/>
              </a:solidFill>
              <a:latin typeface="EYInterstate" pitchFamily="2" charset="0"/>
            </a:endParaRPr>
          </a:p>
          <a:p>
            <a:pPr marL="360363" indent="-360363">
              <a:spcBef>
                <a:spcPct val="20000"/>
              </a:spcBef>
              <a:buClr>
                <a:srgbClr val="FFD200"/>
              </a:buClr>
              <a:buSzPct val="75000"/>
              <a:buFont typeface="Arial" charset="0"/>
              <a:buChar char="►"/>
              <a:defRPr/>
            </a:pPr>
            <a:endParaRPr lang="en-US" sz="1400" b="1" kern="0" dirty="0" smtClean="0">
              <a:solidFill>
                <a:srgbClr val="646464"/>
              </a:solidFill>
              <a:latin typeface="EYInterstate" pitchFamily="2" charset="0"/>
            </a:endParaRPr>
          </a:p>
          <a:p>
            <a:pPr marL="360363" indent="-360363">
              <a:spcBef>
                <a:spcPct val="20000"/>
              </a:spcBef>
              <a:buClr>
                <a:srgbClr val="FFD200"/>
              </a:buClr>
              <a:buSzPct val="75000"/>
              <a:buFont typeface="Arial" charset="0"/>
              <a:buChar char="►"/>
              <a:defRPr/>
            </a:pPr>
            <a:endParaRPr lang="en-US" sz="1400" kern="0" dirty="0" smtClean="0">
              <a:solidFill>
                <a:srgbClr val="646464"/>
              </a:solidFill>
              <a:latin typeface="EYInterstate" pitchFamily="2" charset="0"/>
            </a:endParaRPr>
          </a:p>
          <a:p>
            <a:pPr marL="360363" indent="-360363">
              <a:spcBef>
                <a:spcPct val="20000"/>
              </a:spcBef>
              <a:buClr>
                <a:srgbClr val="FFD200"/>
              </a:buClr>
              <a:buSzPct val="75000"/>
              <a:buFont typeface="EYInterstate" pitchFamily="2" charset="0"/>
              <a:buChar char="•"/>
              <a:defRPr/>
            </a:pPr>
            <a:endParaRPr lang="en-US" sz="1400" b="1" kern="0" dirty="0" smtClean="0">
              <a:solidFill>
                <a:srgbClr val="646464"/>
              </a:solidFill>
              <a:latin typeface="EYInterstate" pitchFamily="2"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2400" b="1" dirty="0" smtClean="0">
                <a:solidFill>
                  <a:srgbClr val="646464"/>
                </a:solidFill>
                <a:latin typeface="EYInterstate" pitchFamily="2" charset="0"/>
                <a:ea typeface="+mj-ea"/>
                <a:cs typeface="+mj-cs"/>
              </a:rPr>
              <a:t>Customer Life Cycle - Postpaid</a:t>
            </a:r>
          </a:p>
        </p:txBody>
      </p:sp>
      <p:sp>
        <p:nvSpPr>
          <p:cNvPr id="3" name="Rectangle 3"/>
          <p:cNvSpPr txBox="1">
            <a:spLocks noChangeArrowheads="1"/>
          </p:cNvSpPr>
          <p:nvPr/>
        </p:nvSpPr>
        <p:spPr>
          <a:xfrm>
            <a:off x="142875" y="1143000"/>
            <a:ext cx="8801100" cy="4911725"/>
          </a:xfrm>
          <a:prstGeom prst="rect">
            <a:avLst/>
          </a:prstGeom>
        </p:spPr>
        <p:txBody>
          <a:bodyPr/>
          <a:lstStyle/>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kern="0" dirty="0" smtClean="0">
              <a:solidFill>
                <a:srgbClr val="646464"/>
              </a:solidFill>
              <a:latin typeface="+mn-lt"/>
            </a:endParaRPr>
          </a:p>
          <a:p>
            <a:pPr marL="817563" lvl="1" indent="-360363">
              <a:spcBef>
                <a:spcPct val="20000"/>
              </a:spcBef>
              <a:buClr>
                <a:srgbClr val="FFD200"/>
              </a:buClr>
              <a:buSzPct val="75000"/>
              <a:buFont typeface="Arial" charset="0"/>
              <a:buChar char="►"/>
              <a:defRPr/>
            </a:pPr>
            <a:endParaRPr lang="en-GB" sz="1400" i="1"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b="1" kern="0" dirty="0" smtClean="0">
              <a:solidFill>
                <a:srgbClr val="646464"/>
              </a:solidFill>
              <a:latin typeface="+mn-lt"/>
            </a:endParaRPr>
          </a:p>
          <a:p>
            <a:pPr marL="360363" indent="-360363">
              <a:spcBef>
                <a:spcPct val="20000"/>
              </a:spcBef>
              <a:buClr>
                <a:srgbClr val="FFD200"/>
              </a:buClr>
              <a:buSzPct val="75000"/>
              <a:buFont typeface="Arial" charset="0"/>
              <a:buChar char="►"/>
              <a:defRPr/>
            </a:pPr>
            <a:endParaRPr lang="en-GB" sz="1400" b="1" kern="0" dirty="0" smtClean="0">
              <a:solidFill>
                <a:srgbClr val="646464"/>
              </a:solidFill>
              <a:latin typeface="+mn-lt"/>
            </a:endParaRPr>
          </a:p>
        </p:txBody>
      </p:sp>
      <p:grpSp>
        <p:nvGrpSpPr>
          <p:cNvPr id="4" name="Group 4"/>
          <p:cNvGrpSpPr/>
          <p:nvPr/>
        </p:nvGrpSpPr>
        <p:grpSpPr>
          <a:xfrm>
            <a:off x="663048" y="1763976"/>
            <a:ext cx="7473288" cy="3581400"/>
            <a:chOff x="228600" y="1295400"/>
            <a:chExt cx="8243730" cy="4267200"/>
          </a:xfrm>
        </p:grpSpPr>
        <p:sp>
          <p:nvSpPr>
            <p:cNvPr id="6" name="AutoShape 3"/>
            <p:cNvSpPr>
              <a:spLocks noChangeArrowheads="1"/>
            </p:cNvSpPr>
            <p:nvPr/>
          </p:nvSpPr>
          <p:spPr bwMode="auto">
            <a:xfrm rot="5400000">
              <a:off x="647700" y="876300"/>
              <a:ext cx="990600" cy="1828800"/>
            </a:xfrm>
            <a:prstGeom prst="chevron">
              <a:avLst>
                <a:gd name="adj" fmla="val 12681"/>
              </a:avLst>
            </a:prstGeom>
            <a:solidFill>
              <a:srgbClr val="FFD200"/>
            </a:solidFill>
            <a:ln w="9525">
              <a:solidFill>
                <a:srgbClr val="FFFFFF"/>
              </a:solidFill>
              <a:miter lim="800000"/>
              <a:headEnd/>
              <a:tailEnd/>
            </a:ln>
          </p:spPr>
          <p:txBody>
            <a:bodyPr rot="10800000" vert="eaVert" anchor="ctr"/>
            <a:lstStyle/>
            <a:p>
              <a:pPr algn="ctr">
                <a:spcBef>
                  <a:spcPct val="20000"/>
                </a:spcBef>
                <a:buClr>
                  <a:srgbClr val="E40000"/>
                </a:buClr>
                <a:buSzPct val="135000"/>
                <a:buFont typeface="Wingdings" pitchFamily="2" charset="2"/>
                <a:buNone/>
              </a:pPr>
              <a:r>
                <a:rPr lang="en-GB" sz="1200" b="1" kern="0" dirty="0" smtClean="0">
                  <a:solidFill>
                    <a:srgbClr val="646464"/>
                  </a:solidFill>
                  <a:latin typeface="EYInterstate" pitchFamily="2" charset="0"/>
                </a:rPr>
                <a:t>Activation Date</a:t>
              </a:r>
              <a:endParaRPr lang="en-US" sz="1200" b="1" kern="0" dirty="0" smtClean="0">
                <a:solidFill>
                  <a:srgbClr val="646464"/>
                </a:solidFill>
                <a:latin typeface="EYInterstate" pitchFamily="2" charset="0"/>
              </a:endParaRPr>
            </a:p>
          </p:txBody>
        </p:sp>
        <p:sp>
          <p:nvSpPr>
            <p:cNvPr id="7" name="AutoShape 4"/>
            <p:cNvSpPr>
              <a:spLocks noChangeArrowheads="1"/>
            </p:cNvSpPr>
            <p:nvPr/>
          </p:nvSpPr>
          <p:spPr bwMode="auto">
            <a:xfrm rot="5400000">
              <a:off x="647700" y="1638300"/>
              <a:ext cx="990600" cy="1828800"/>
            </a:xfrm>
            <a:prstGeom prst="chevron">
              <a:avLst>
                <a:gd name="adj" fmla="val 16819"/>
              </a:avLst>
            </a:prstGeom>
            <a:solidFill>
              <a:srgbClr val="FFD200"/>
            </a:solidFill>
            <a:ln w="9525" algn="ctr">
              <a:solidFill>
                <a:srgbClr val="FFFFFF"/>
              </a:solidFill>
              <a:miter lim="800000"/>
              <a:headEnd/>
              <a:tailEnd/>
            </a:ln>
          </p:spPr>
          <p:txBody>
            <a:bodyPr rot="10800000" vert="eaVert" anchor="ctr"/>
            <a:lstStyle/>
            <a:p>
              <a:pPr algn="ctr" eaLnBrk="0" hangingPunct="0">
                <a:spcBef>
                  <a:spcPct val="20000"/>
                </a:spcBef>
                <a:buClr>
                  <a:srgbClr val="E40000"/>
                </a:buClr>
                <a:buSzPct val="135000"/>
              </a:pPr>
              <a:r>
                <a:rPr lang="en-GB" sz="1200" b="1" kern="0" dirty="0" smtClean="0">
                  <a:solidFill>
                    <a:srgbClr val="646464"/>
                  </a:solidFill>
                  <a:latin typeface="EYInterstate" pitchFamily="2" charset="0"/>
                </a:rPr>
                <a:t>Bill Cycle Date</a:t>
              </a:r>
              <a:endParaRPr lang="en-US" sz="1200" b="1" kern="0" dirty="0" smtClean="0">
                <a:solidFill>
                  <a:srgbClr val="646464"/>
                </a:solidFill>
                <a:latin typeface="EYInterstate" pitchFamily="2" charset="0"/>
              </a:endParaRPr>
            </a:p>
          </p:txBody>
        </p:sp>
        <p:sp>
          <p:nvSpPr>
            <p:cNvPr id="8" name="AutoShape 5"/>
            <p:cNvSpPr>
              <a:spLocks noChangeArrowheads="1"/>
            </p:cNvSpPr>
            <p:nvPr/>
          </p:nvSpPr>
          <p:spPr bwMode="auto">
            <a:xfrm rot="5400000">
              <a:off x="647700" y="2400300"/>
              <a:ext cx="990600" cy="1828800"/>
            </a:xfrm>
            <a:prstGeom prst="chevron">
              <a:avLst>
                <a:gd name="adj" fmla="val 14815"/>
              </a:avLst>
            </a:prstGeom>
            <a:solidFill>
              <a:srgbClr val="FFD200"/>
            </a:solidFill>
            <a:ln w="9525" algn="ctr">
              <a:solidFill>
                <a:srgbClr val="FFFFFF"/>
              </a:solidFill>
              <a:miter lim="800000"/>
              <a:headEnd/>
              <a:tailEnd/>
            </a:ln>
          </p:spPr>
          <p:txBody>
            <a:bodyPr rot="10800000" vert="eaVert" anchor="ctr"/>
            <a:lstStyle/>
            <a:p>
              <a:pPr algn="ctr" eaLnBrk="0" hangingPunct="0">
                <a:spcBef>
                  <a:spcPct val="20000"/>
                </a:spcBef>
                <a:buClr>
                  <a:srgbClr val="E40000"/>
                </a:buClr>
                <a:buSzPct val="135000"/>
              </a:pPr>
              <a:r>
                <a:rPr lang="en-GB" sz="1200" b="1" kern="0" dirty="0" smtClean="0">
                  <a:solidFill>
                    <a:srgbClr val="646464"/>
                  </a:solidFill>
                  <a:latin typeface="EYInterstate" pitchFamily="2" charset="0"/>
                </a:rPr>
                <a:t>Payment date</a:t>
              </a:r>
              <a:endParaRPr lang="en-US" sz="1200" b="1" kern="0" dirty="0" smtClean="0">
                <a:solidFill>
                  <a:srgbClr val="646464"/>
                </a:solidFill>
                <a:latin typeface="EYInterstate" pitchFamily="2" charset="0"/>
              </a:endParaRPr>
            </a:p>
          </p:txBody>
        </p:sp>
        <p:sp>
          <p:nvSpPr>
            <p:cNvPr id="9" name="AutoShape 7"/>
            <p:cNvSpPr>
              <a:spLocks noChangeArrowheads="1"/>
            </p:cNvSpPr>
            <p:nvPr/>
          </p:nvSpPr>
          <p:spPr bwMode="auto">
            <a:xfrm rot="5400000">
              <a:off x="647700" y="3238500"/>
              <a:ext cx="990600" cy="1828800"/>
            </a:xfrm>
            <a:prstGeom prst="chevron">
              <a:avLst>
                <a:gd name="adj" fmla="val 13074"/>
              </a:avLst>
            </a:prstGeom>
            <a:solidFill>
              <a:srgbClr val="FFD200"/>
            </a:solidFill>
            <a:ln w="9525" algn="ctr">
              <a:solidFill>
                <a:srgbClr val="FFFFFF"/>
              </a:solidFill>
              <a:miter lim="800000"/>
              <a:headEnd/>
              <a:tailEnd/>
            </a:ln>
          </p:spPr>
          <p:txBody>
            <a:bodyPr rot="10800000" vert="eaVert" anchor="ctr"/>
            <a:lstStyle/>
            <a:p>
              <a:pPr algn="ctr" eaLnBrk="0" hangingPunct="0">
                <a:spcBef>
                  <a:spcPct val="20000"/>
                </a:spcBef>
                <a:buClr>
                  <a:srgbClr val="E40000"/>
                </a:buClr>
                <a:buSzPct val="135000"/>
              </a:pPr>
              <a:r>
                <a:rPr lang="en-GB" sz="1200" b="1" kern="0" dirty="0" smtClean="0">
                  <a:solidFill>
                    <a:srgbClr val="646464"/>
                  </a:solidFill>
                  <a:latin typeface="EYInterstate" pitchFamily="2" charset="0"/>
                </a:rPr>
                <a:t>Service Suspension  Date</a:t>
              </a:r>
              <a:endParaRPr lang="en-US" sz="1200" b="1" kern="0" dirty="0" smtClean="0">
                <a:solidFill>
                  <a:srgbClr val="646464"/>
                </a:solidFill>
                <a:latin typeface="EYInterstate" pitchFamily="2" charset="0"/>
              </a:endParaRPr>
            </a:p>
          </p:txBody>
        </p:sp>
        <p:sp>
          <p:nvSpPr>
            <p:cNvPr id="10" name="AutoShape 31"/>
            <p:cNvSpPr>
              <a:spLocks noChangeArrowheads="1"/>
            </p:cNvSpPr>
            <p:nvPr/>
          </p:nvSpPr>
          <p:spPr bwMode="auto">
            <a:xfrm rot="5400000">
              <a:off x="609600" y="4114800"/>
              <a:ext cx="1066800" cy="1828800"/>
            </a:xfrm>
            <a:prstGeom prst="chevron">
              <a:avLst>
                <a:gd name="adj" fmla="val 13074"/>
              </a:avLst>
            </a:prstGeom>
            <a:solidFill>
              <a:srgbClr val="FFD200"/>
            </a:solidFill>
            <a:ln w="9525" algn="ctr">
              <a:solidFill>
                <a:srgbClr val="FFFFFF"/>
              </a:solidFill>
              <a:miter lim="800000"/>
              <a:headEnd/>
              <a:tailEnd/>
            </a:ln>
          </p:spPr>
          <p:txBody>
            <a:bodyPr rot="10800000" vert="eaVert" anchor="ctr"/>
            <a:lstStyle/>
            <a:p>
              <a:pPr algn="ctr" eaLnBrk="0" hangingPunct="0">
                <a:spcBef>
                  <a:spcPct val="20000"/>
                </a:spcBef>
                <a:buClr>
                  <a:srgbClr val="E40000"/>
                </a:buClr>
                <a:buSzPct val="135000"/>
              </a:pPr>
              <a:r>
                <a:rPr lang="en-US" sz="1200" b="1" kern="0" dirty="0" smtClean="0">
                  <a:solidFill>
                    <a:srgbClr val="646464"/>
                  </a:solidFill>
                  <a:latin typeface="EYInterstate" pitchFamily="2" charset="0"/>
                </a:rPr>
                <a:t>Deletion date</a:t>
              </a:r>
            </a:p>
          </p:txBody>
        </p:sp>
        <p:sp>
          <p:nvSpPr>
            <p:cNvPr id="11" name="Line 9"/>
            <p:cNvSpPr>
              <a:spLocks noChangeShapeType="1"/>
            </p:cNvSpPr>
            <p:nvPr/>
          </p:nvSpPr>
          <p:spPr bwMode="auto">
            <a:xfrm flipV="1">
              <a:off x="2071048" y="2057400"/>
              <a:ext cx="6096000" cy="35256"/>
            </a:xfrm>
            <a:prstGeom prst="line">
              <a:avLst/>
            </a:prstGeom>
            <a:noFill/>
            <a:ln w="9525">
              <a:solidFill>
                <a:schemeClr val="tx1"/>
              </a:solidFill>
              <a:prstDash val="dash"/>
              <a:round/>
              <a:headEnd/>
              <a:tailEnd/>
            </a:ln>
          </p:spPr>
          <p:txBody>
            <a:bodyPr/>
            <a:lstStyle/>
            <a:p>
              <a:endParaRPr lang="en-US"/>
            </a:p>
          </p:txBody>
        </p:sp>
        <p:sp>
          <p:nvSpPr>
            <p:cNvPr id="12" name="Rectangle 11"/>
            <p:cNvSpPr/>
            <p:nvPr/>
          </p:nvSpPr>
          <p:spPr>
            <a:xfrm>
              <a:off x="1825866" y="1578592"/>
              <a:ext cx="6646464" cy="330041"/>
            </a:xfrm>
            <a:prstGeom prst="rect">
              <a:avLst/>
            </a:prstGeom>
          </p:spPr>
          <p:txBody>
            <a:bodyPr wrap="square">
              <a:spAutoFit/>
            </a:bodyPr>
            <a:lstStyle/>
            <a:p>
              <a:pPr marL="860425" lvl="1" indent="-341313">
                <a:spcBef>
                  <a:spcPct val="20000"/>
                </a:spcBef>
                <a:buClr>
                  <a:srgbClr val="FFD200"/>
                </a:buClr>
                <a:buSzPct val="75000"/>
                <a:buFont typeface="Arial" charset="0"/>
                <a:buChar char="►"/>
                <a:defRPr/>
              </a:pPr>
              <a:r>
                <a:rPr lang="en-GB" sz="1200" i="1" kern="0" dirty="0" smtClean="0">
                  <a:solidFill>
                    <a:srgbClr val="646464"/>
                  </a:solidFill>
                  <a:latin typeface="EYInterstate Light" pitchFamily="2" charset="0"/>
                </a:rPr>
                <a:t>Date on which </a:t>
              </a:r>
              <a:r>
                <a:rPr lang="en-GB" sz="1200" i="1" kern="0" dirty="0" err="1" smtClean="0">
                  <a:solidFill>
                    <a:srgbClr val="646464"/>
                  </a:solidFill>
                  <a:latin typeface="EYInterstate Light" pitchFamily="2" charset="0"/>
                </a:rPr>
                <a:t>Postpaid</a:t>
              </a:r>
              <a:r>
                <a:rPr lang="en-GB" sz="1200" i="1" kern="0" dirty="0" smtClean="0">
                  <a:solidFill>
                    <a:srgbClr val="646464"/>
                  </a:solidFill>
                  <a:latin typeface="EYInterstate Light" pitchFamily="2" charset="0"/>
                </a:rPr>
                <a:t> number has been Provisioned in billing system</a:t>
              </a:r>
            </a:p>
          </p:txBody>
        </p:sp>
        <p:sp>
          <p:nvSpPr>
            <p:cNvPr id="13" name="Rectangle 12"/>
            <p:cNvSpPr/>
            <p:nvPr/>
          </p:nvSpPr>
          <p:spPr>
            <a:xfrm>
              <a:off x="1982427" y="2215488"/>
              <a:ext cx="6477000" cy="550069"/>
            </a:xfrm>
            <a:prstGeom prst="rect">
              <a:avLst/>
            </a:prstGeom>
          </p:spPr>
          <p:txBody>
            <a:bodyPr wrap="square">
              <a:spAutoFit/>
            </a:bodyPr>
            <a:lstStyle/>
            <a:p>
              <a:pPr marL="735013" lvl="1" indent="-360363">
                <a:spcBef>
                  <a:spcPct val="20000"/>
                </a:spcBef>
                <a:buClr>
                  <a:srgbClr val="FFD200"/>
                </a:buClr>
                <a:buSzPct val="75000"/>
                <a:buFont typeface="Arial" charset="0"/>
                <a:buChar char="►"/>
                <a:defRPr/>
              </a:pPr>
              <a:r>
                <a:rPr lang="en-GB" sz="1200" i="1" kern="0" dirty="0" smtClean="0">
                  <a:solidFill>
                    <a:srgbClr val="646464"/>
                  </a:solidFill>
                  <a:latin typeface="EYInterstate Light" pitchFamily="2" charset="0"/>
                </a:rPr>
                <a:t>Date on which </a:t>
              </a:r>
              <a:r>
                <a:rPr lang="en-GB" sz="1200" i="1" kern="0" dirty="0" err="1" smtClean="0">
                  <a:solidFill>
                    <a:srgbClr val="646464"/>
                  </a:solidFill>
                  <a:latin typeface="EYInterstate Light" pitchFamily="2" charset="0"/>
                </a:rPr>
                <a:t>Postpaid</a:t>
              </a:r>
              <a:r>
                <a:rPr lang="en-GB" sz="1200" i="1" kern="0" dirty="0" smtClean="0">
                  <a:solidFill>
                    <a:srgbClr val="646464"/>
                  </a:solidFill>
                  <a:latin typeface="EYInterstate Light" pitchFamily="2" charset="0"/>
                </a:rPr>
                <a:t> number will get billed for the usage done during the month.</a:t>
              </a:r>
              <a:endParaRPr lang="en-US" sz="1200" i="1" kern="0" dirty="0" smtClean="0">
                <a:solidFill>
                  <a:srgbClr val="646464"/>
                </a:solidFill>
                <a:latin typeface="EYInterstate Light" pitchFamily="2" charset="0"/>
              </a:endParaRPr>
            </a:p>
          </p:txBody>
        </p:sp>
        <p:sp>
          <p:nvSpPr>
            <p:cNvPr id="14" name="Line 9"/>
            <p:cNvSpPr>
              <a:spLocks noChangeShapeType="1"/>
            </p:cNvSpPr>
            <p:nvPr/>
          </p:nvSpPr>
          <p:spPr bwMode="auto">
            <a:xfrm>
              <a:off x="2057400" y="2819400"/>
              <a:ext cx="6096000" cy="0"/>
            </a:xfrm>
            <a:prstGeom prst="line">
              <a:avLst/>
            </a:prstGeom>
            <a:noFill/>
            <a:ln w="9525">
              <a:solidFill>
                <a:schemeClr val="tx1"/>
              </a:solidFill>
              <a:prstDash val="dash"/>
              <a:round/>
              <a:headEnd/>
              <a:tailEnd/>
            </a:ln>
          </p:spPr>
          <p:txBody>
            <a:bodyPr/>
            <a:lstStyle/>
            <a:p>
              <a:endParaRPr lang="en-US"/>
            </a:p>
          </p:txBody>
        </p:sp>
        <p:sp>
          <p:nvSpPr>
            <p:cNvPr id="15" name="Rectangle 14"/>
            <p:cNvSpPr/>
            <p:nvPr/>
          </p:nvSpPr>
          <p:spPr>
            <a:xfrm>
              <a:off x="1889020" y="3091232"/>
              <a:ext cx="6477000" cy="550069"/>
            </a:xfrm>
            <a:prstGeom prst="rect">
              <a:avLst/>
            </a:prstGeom>
          </p:spPr>
          <p:txBody>
            <a:bodyPr wrap="square">
              <a:spAutoFit/>
            </a:bodyPr>
            <a:lstStyle/>
            <a:p>
              <a:pPr marL="735013" lvl="1" indent="-360363">
                <a:spcBef>
                  <a:spcPct val="20000"/>
                </a:spcBef>
                <a:buClr>
                  <a:srgbClr val="FFD200"/>
                </a:buClr>
                <a:buSzPct val="75000"/>
                <a:buFont typeface="Arial" charset="0"/>
                <a:buChar char="►"/>
                <a:defRPr/>
              </a:pPr>
              <a:r>
                <a:rPr lang="en-GB" sz="1200" i="1" kern="0" dirty="0" smtClean="0">
                  <a:solidFill>
                    <a:srgbClr val="646464"/>
                  </a:solidFill>
                  <a:latin typeface="EYInterstate Light" pitchFamily="2" charset="0"/>
                </a:rPr>
                <a:t>Date on which </a:t>
              </a:r>
              <a:r>
                <a:rPr lang="en-GB" sz="1200" i="1" kern="0" dirty="0" err="1" smtClean="0">
                  <a:solidFill>
                    <a:srgbClr val="646464"/>
                  </a:solidFill>
                  <a:latin typeface="EYInterstate Light" pitchFamily="2" charset="0"/>
                </a:rPr>
                <a:t>Postpaid</a:t>
              </a:r>
              <a:r>
                <a:rPr lang="en-GB" sz="1200" i="1" kern="0" dirty="0" smtClean="0">
                  <a:solidFill>
                    <a:srgbClr val="646464"/>
                  </a:solidFill>
                  <a:latin typeface="EYInterstate Light" pitchFamily="2" charset="0"/>
                </a:rPr>
                <a:t> number will need to make payments for amount outstanding against the current/previous invoice outstanding</a:t>
              </a:r>
              <a:endParaRPr lang="en-US" sz="1200" i="1" kern="0" dirty="0" smtClean="0">
                <a:solidFill>
                  <a:srgbClr val="646464"/>
                </a:solidFill>
                <a:latin typeface="EYInterstate Light" pitchFamily="2" charset="0"/>
              </a:endParaRPr>
            </a:p>
          </p:txBody>
        </p:sp>
        <p:sp>
          <p:nvSpPr>
            <p:cNvPr id="16" name="Line 9"/>
            <p:cNvSpPr>
              <a:spLocks noChangeShapeType="1"/>
            </p:cNvSpPr>
            <p:nvPr/>
          </p:nvSpPr>
          <p:spPr bwMode="auto">
            <a:xfrm>
              <a:off x="2099488" y="3695144"/>
              <a:ext cx="6096000" cy="0"/>
            </a:xfrm>
            <a:prstGeom prst="line">
              <a:avLst/>
            </a:prstGeom>
            <a:noFill/>
            <a:ln w="9525">
              <a:solidFill>
                <a:schemeClr val="tx1"/>
              </a:solidFill>
              <a:prstDash val="dash"/>
              <a:round/>
              <a:headEnd/>
              <a:tailEnd/>
            </a:ln>
          </p:spPr>
          <p:txBody>
            <a:bodyPr/>
            <a:lstStyle/>
            <a:p>
              <a:endParaRPr lang="en-US"/>
            </a:p>
          </p:txBody>
        </p:sp>
        <p:sp>
          <p:nvSpPr>
            <p:cNvPr id="17" name="Rectangle 16"/>
            <p:cNvSpPr/>
            <p:nvPr/>
          </p:nvSpPr>
          <p:spPr>
            <a:xfrm>
              <a:off x="1877644" y="3732927"/>
              <a:ext cx="6477000" cy="550069"/>
            </a:xfrm>
            <a:prstGeom prst="rect">
              <a:avLst/>
            </a:prstGeom>
          </p:spPr>
          <p:txBody>
            <a:bodyPr wrap="square">
              <a:spAutoFit/>
            </a:bodyPr>
            <a:lstStyle/>
            <a:p>
              <a:pPr marL="735013" lvl="1" indent="-360363">
                <a:spcBef>
                  <a:spcPct val="20000"/>
                </a:spcBef>
                <a:buClr>
                  <a:srgbClr val="FFD200"/>
                </a:buClr>
                <a:buSzPct val="75000"/>
                <a:buFont typeface="Arial" charset="0"/>
                <a:buChar char="►"/>
                <a:defRPr/>
              </a:pPr>
              <a:r>
                <a:rPr lang="en-GB" sz="1200" i="1" kern="0" dirty="0" smtClean="0">
                  <a:solidFill>
                    <a:srgbClr val="646464"/>
                  </a:solidFill>
                  <a:latin typeface="EYInterstate Light" pitchFamily="2" charset="0"/>
                </a:rPr>
                <a:t>Date on which </a:t>
              </a:r>
              <a:r>
                <a:rPr lang="en-GB" sz="1200" i="1" kern="0" dirty="0" err="1" smtClean="0">
                  <a:solidFill>
                    <a:srgbClr val="646464"/>
                  </a:solidFill>
                  <a:latin typeface="EYInterstate Light" pitchFamily="2" charset="0"/>
                </a:rPr>
                <a:t>Postpaid</a:t>
              </a:r>
              <a:r>
                <a:rPr lang="en-GB" sz="1200" i="1" kern="0" dirty="0" smtClean="0">
                  <a:solidFill>
                    <a:srgbClr val="646464"/>
                  </a:solidFill>
                  <a:latin typeface="EYInterstate Light" pitchFamily="2" charset="0"/>
                </a:rPr>
                <a:t> number will move from active status to grace status where customer will not able to make or receive calls. </a:t>
              </a:r>
              <a:endParaRPr lang="en-US" sz="1200" i="1" kern="0" dirty="0" smtClean="0">
                <a:solidFill>
                  <a:srgbClr val="646464"/>
                </a:solidFill>
                <a:latin typeface="EYInterstate Light" pitchFamily="2" charset="0"/>
              </a:endParaRPr>
            </a:p>
          </p:txBody>
        </p:sp>
        <p:sp>
          <p:nvSpPr>
            <p:cNvPr id="18" name="Line 9"/>
            <p:cNvSpPr>
              <a:spLocks noChangeShapeType="1"/>
            </p:cNvSpPr>
            <p:nvPr/>
          </p:nvSpPr>
          <p:spPr bwMode="auto">
            <a:xfrm>
              <a:off x="2129056" y="4502648"/>
              <a:ext cx="6096000" cy="0"/>
            </a:xfrm>
            <a:prstGeom prst="line">
              <a:avLst/>
            </a:prstGeom>
            <a:noFill/>
            <a:ln w="9525">
              <a:solidFill>
                <a:schemeClr val="tx1"/>
              </a:solidFill>
              <a:prstDash val="dash"/>
              <a:round/>
              <a:headEnd/>
              <a:tailEnd/>
            </a:ln>
          </p:spPr>
          <p:txBody>
            <a:bodyPr/>
            <a:lstStyle/>
            <a:p>
              <a:endParaRPr lang="en-US"/>
            </a:p>
          </p:txBody>
        </p:sp>
        <p:sp>
          <p:nvSpPr>
            <p:cNvPr id="19" name="Rectangle 18"/>
            <p:cNvSpPr/>
            <p:nvPr/>
          </p:nvSpPr>
          <p:spPr>
            <a:xfrm>
              <a:off x="1887071" y="4823352"/>
              <a:ext cx="6477000" cy="550069"/>
            </a:xfrm>
            <a:prstGeom prst="rect">
              <a:avLst/>
            </a:prstGeom>
          </p:spPr>
          <p:txBody>
            <a:bodyPr wrap="square">
              <a:spAutoFit/>
            </a:bodyPr>
            <a:lstStyle/>
            <a:p>
              <a:pPr marL="817563" lvl="1" indent="-360363">
                <a:spcBef>
                  <a:spcPct val="20000"/>
                </a:spcBef>
                <a:buClr>
                  <a:srgbClr val="FFD200"/>
                </a:buClr>
                <a:buSzPct val="75000"/>
                <a:buFont typeface="Arial" charset="0"/>
                <a:buChar char="►"/>
                <a:defRPr/>
              </a:pPr>
              <a:r>
                <a:rPr lang="en-GB" sz="1200" i="1" kern="0" dirty="0" smtClean="0">
                  <a:solidFill>
                    <a:srgbClr val="646464"/>
                  </a:solidFill>
                  <a:latin typeface="EYInterstate Light" pitchFamily="2" charset="0"/>
                </a:rPr>
                <a:t>Date on which the subscriber is deleted from the billing/Network system </a:t>
              </a:r>
              <a:endParaRPr lang="en-US" sz="1200" i="1" kern="0" dirty="0" smtClean="0">
                <a:solidFill>
                  <a:srgbClr val="646464"/>
                </a:solidFill>
                <a:latin typeface="EYInterstate Light" pitchFamily="2" charset="0"/>
              </a:endParaRPr>
            </a:p>
          </p:txBody>
        </p:sp>
        <p:sp>
          <p:nvSpPr>
            <p:cNvPr id="20" name="Line 9"/>
            <p:cNvSpPr>
              <a:spLocks noChangeShapeType="1"/>
            </p:cNvSpPr>
            <p:nvPr/>
          </p:nvSpPr>
          <p:spPr bwMode="auto">
            <a:xfrm>
              <a:off x="2101760" y="5367463"/>
              <a:ext cx="6096000" cy="0"/>
            </a:xfrm>
            <a:prstGeom prst="line">
              <a:avLst/>
            </a:prstGeom>
            <a:noFill/>
            <a:ln w="9525">
              <a:solidFill>
                <a:schemeClr val="tx1"/>
              </a:solidFill>
              <a:prstDash val="dash"/>
              <a:round/>
              <a:headEnd/>
              <a:tailEnd/>
            </a:ln>
          </p:spPr>
          <p:txBody>
            <a:bodyPr/>
            <a:lstStyle/>
            <a:p>
              <a:endParaRPr lang="en-US"/>
            </a:p>
          </p:txBody>
        </p:sp>
      </p:grpSp>
      <p:sp>
        <p:nvSpPr>
          <p:cNvPr id="21" name="Text Box 17"/>
          <p:cNvSpPr txBox="1">
            <a:spLocks noChangeArrowheads="1"/>
          </p:cNvSpPr>
          <p:nvPr/>
        </p:nvSpPr>
        <p:spPr bwMode="auto">
          <a:xfrm>
            <a:off x="367352" y="1143000"/>
            <a:ext cx="8305800" cy="517525"/>
          </a:xfrm>
          <a:prstGeom prst="rect">
            <a:avLst/>
          </a:prstGeom>
          <a:solidFill>
            <a:schemeClr val="bg1">
              <a:lumMod val="50000"/>
            </a:schemeClr>
          </a:solidFill>
          <a:ln w="12700">
            <a:solidFill>
              <a:schemeClr val="bg1">
                <a:lumMod val="50000"/>
              </a:schemeClr>
            </a:solidFill>
            <a:miter lim="800000"/>
            <a:headEnd type="none" w="sm" len="sm"/>
            <a:tailEnd type="none" w="sm" len="sm"/>
          </a:ln>
          <a:effectLst/>
        </p:spPr>
        <p:txBody>
          <a:bodyPr anchor="ctr"/>
          <a:lstStyle/>
          <a:p>
            <a:pPr marL="341313" marR="0" lvl="0" indent="-287338" defTabSz="914400" eaLnBrk="1" fontAlgn="auto" latinLnBrk="0" hangingPunct="1">
              <a:lnSpc>
                <a:spcPct val="120000"/>
              </a:lnSpc>
              <a:spcBef>
                <a:spcPct val="75000"/>
              </a:spcBef>
              <a:spcAft>
                <a:spcPts val="0"/>
              </a:spcAft>
              <a:buClr>
                <a:srgbClr val="FFC000"/>
              </a:buClr>
              <a:buSzPct val="100000"/>
              <a:buFont typeface="Arial" pitchFamily="34" charset="0"/>
              <a:buChar char="►"/>
              <a:tabLst/>
              <a:defRPr/>
            </a:pPr>
            <a:r>
              <a:rPr lang="en-US" sz="1400" kern="0" dirty="0" smtClean="0">
                <a:solidFill>
                  <a:srgbClr val="FFFFFF"/>
                </a:solidFill>
                <a:latin typeface="EYInterstate" pitchFamily="2" charset="0"/>
              </a:rPr>
              <a:t>Customer Life Cycle Configuration – </a:t>
            </a:r>
            <a:r>
              <a:rPr lang="en-US" sz="1200" kern="0" dirty="0" smtClean="0">
                <a:solidFill>
                  <a:srgbClr val="FFFFFF"/>
                </a:solidFill>
                <a:latin typeface="EYInterstate" pitchFamily="2" charset="0"/>
              </a:rPr>
              <a:t>There are various stages which are configured in Billing for controlling the customer lifecycle.</a:t>
            </a:r>
          </a:p>
        </p:txBody>
      </p:sp>
      <p:sp>
        <p:nvSpPr>
          <p:cNvPr id="22" name="Text Box 17"/>
          <p:cNvSpPr txBox="1">
            <a:spLocks noChangeArrowheads="1"/>
          </p:cNvSpPr>
          <p:nvPr/>
        </p:nvSpPr>
        <p:spPr bwMode="auto">
          <a:xfrm>
            <a:off x="381000" y="5410200"/>
            <a:ext cx="8305800" cy="762001"/>
          </a:xfrm>
          <a:prstGeom prst="rect">
            <a:avLst/>
          </a:prstGeom>
          <a:solidFill>
            <a:schemeClr val="bg1">
              <a:lumMod val="50000"/>
            </a:schemeClr>
          </a:solidFill>
          <a:ln w="12700">
            <a:solidFill>
              <a:schemeClr val="bg1">
                <a:lumMod val="50000"/>
              </a:schemeClr>
            </a:solidFill>
            <a:miter lim="800000"/>
            <a:headEnd type="none" w="sm" len="sm"/>
            <a:tailEnd type="none" w="sm" len="sm"/>
          </a:ln>
          <a:effectLst/>
        </p:spPr>
        <p:txBody>
          <a:bodyPr anchor="ctr"/>
          <a:lstStyle/>
          <a:p>
            <a:pPr marL="341313" indent="-287338" fontAlgn="auto">
              <a:lnSpc>
                <a:spcPct val="120000"/>
              </a:lnSpc>
              <a:spcBef>
                <a:spcPct val="75000"/>
              </a:spcBef>
              <a:spcAft>
                <a:spcPts val="0"/>
              </a:spcAft>
              <a:buClr>
                <a:srgbClr val="FFC000"/>
              </a:buClr>
              <a:buSzPct val="100000"/>
              <a:buFont typeface="Arial" pitchFamily="34" charset="0"/>
              <a:buChar char="►"/>
              <a:defRPr/>
            </a:pPr>
            <a:r>
              <a:rPr lang="en-US" sz="1400" kern="0" dirty="0" smtClean="0">
                <a:solidFill>
                  <a:srgbClr val="FFFFFF"/>
                </a:solidFill>
                <a:latin typeface="EYInterstate" pitchFamily="2" charset="0"/>
              </a:rPr>
              <a:t>Dunning - The process of methodically communicating with customers to ensure the collection of accounts receivable. It follows the process that progresses from gentle to strict reminders (through calls, letters/ calls/ SMSs) as accounts become more past due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828800" y="1294927"/>
          <a:ext cx="6248400" cy="1554480"/>
        </p:xfrm>
        <a:graphic>
          <a:graphicData uri="http://schemas.openxmlformats.org/drawingml/2006/table">
            <a:tbl>
              <a:tblPr firstRow="1" bandRow="1">
                <a:tableStyleId>{073A0DAA-6AF3-43AB-8588-CEC1D06C72B9}</a:tableStyleId>
              </a:tblPr>
              <a:tblGrid>
                <a:gridCol w="694267"/>
                <a:gridCol w="3471333"/>
                <a:gridCol w="2082800"/>
              </a:tblGrid>
              <a:tr h="385030">
                <a:tc>
                  <a:txBody>
                    <a:bodyPr/>
                    <a:lstStyle/>
                    <a:p>
                      <a:pPr algn="ctr">
                        <a:spcAft>
                          <a:spcPts val="0"/>
                        </a:spcAft>
                      </a:pPr>
                      <a:r>
                        <a:rPr lang="en-GB" sz="1100" dirty="0" err="1" smtClean="0">
                          <a:latin typeface="EYInterstate" pitchFamily="2" charset="0"/>
                        </a:rPr>
                        <a:t>S.No</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Risk Description</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RA</a:t>
                      </a:r>
                      <a:r>
                        <a:rPr lang="en-GB" sz="1100" baseline="0" dirty="0" smtClean="0">
                          <a:latin typeface="EYInterstate" pitchFamily="2" charset="0"/>
                        </a:rPr>
                        <a:t> Control activity</a:t>
                      </a:r>
                      <a:endParaRPr lang="en-US" sz="1100" dirty="0">
                        <a:latin typeface="EYInterstate" pitchFamily="2" charset="0"/>
                        <a:ea typeface="Times New Roman"/>
                      </a:endParaRPr>
                    </a:p>
                  </a:txBody>
                  <a:tcPr marL="68580" marR="68580" marT="0" marB="0" anchor="ctr"/>
                </a:tc>
              </a:tr>
              <a:tr h="406615">
                <a:tc>
                  <a:txBody>
                    <a:bodyPr/>
                    <a:lstStyle/>
                    <a:p>
                      <a:pPr>
                        <a:spcAft>
                          <a:spcPts val="0"/>
                        </a:spcAft>
                      </a:pPr>
                      <a:r>
                        <a:rPr lang="en-US" sz="1100" dirty="0" smtClean="0">
                          <a:latin typeface="EYInterstate" pitchFamily="2" charset="0"/>
                          <a:ea typeface="Times New Roman"/>
                        </a:rPr>
                        <a:t>1</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Postpaid customer provisioned in billing system but not present in HLR and</a:t>
                      </a:r>
                      <a:r>
                        <a:rPr lang="en-US" sz="1100" baseline="0" dirty="0" smtClean="0">
                          <a:latin typeface="EYInterstate" pitchFamily="2" charset="0"/>
                          <a:ea typeface="Times New Roman"/>
                        </a:rPr>
                        <a:t> vice-versa</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Subscriber Count and Profile Validation</a:t>
                      </a:r>
                      <a:endParaRPr lang="en-US" sz="1100" dirty="0">
                        <a:latin typeface="EYInterstate" pitchFamily="2" charset="0"/>
                        <a:ea typeface="Times New Roman"/>
                      </a:endParaRPr>
                    </a:p>
                  </a:txBody>
                  <a:tcPr marL="68580" marR="68580" marT="0" marB="0" anchor="ctr"/>
                </a:tc>
              </a:tr>
              <a:tr h="406615">
                <a:tc>
                  <a:txBody>
                    <a:bodyPr/>
                    <a:lstStyle/>
                    <a:p>
                      <a:pPr>
                        <a:spcAft>
                          <a:spcPts val="0"/>
                        </a:spcAft>
                      </a:pPr>
                      <a:r>
                        <a:rPr lang="en-US" sz="1100" dirty="0" smtClean="0">
                          <a:latin typeface="EYInterstate" pitchFamily="2" charset="0"/>
                          <a:ea typeface="Times New Roman"/>
                        </a:rPr>
                        <a:t>2</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Customer Profile mismatch between HLR &amp; Billing System</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Subscriber Count and Profile Validation</a:t>
                      </a:r>
                      <a:endParaRPr lang="en-US" sz="1100" dirty="0">
                        <a:latin typeface="EYInterstate" pitchFamily="2" charset="0"/>
                        <a:ea typeface="Times New Roman"/>
                      </a:endParaRPr>
                    </a:p>
                  </a:txBody>
                  <a:tcPr marL="68580" marR="68580" marT="0" marB="0" anchor="ctr"/>
                </a:tc>
              </a:tr>
              <a:tr h="356220">
                <a:tc>
                  <a:txBody>
                    <a:bodyPr/>
                    <a:lstStyle/>
                    <a:p>
                      <a:pPr>
                        <a:spcAft>
                          <a:spcPts val="0"/>
                        </a:spcAft>
                      </a:pPr>
                      <a:r>
                        <a:rPr lang="en-US" sz="1100" dirty="0" smtClean="0">
                          <a:latin typeface="EYInterstate" pitchFamily="2" charset="0"/>
                          <a:ea typeface="Times New Roman"/>
                        </a:rPr>
                        <a:t>3</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Customer Profile (</a:t>
                      </a:r>
                      <a:r>
                        <a:rPr lang="en-US" sz="1100" b="1" dirty="0" smtClean="0">
                          <a:latin typeface="EYInterstate" pitchFamily="2" charset="0"/>
                          <a:ea typeface="Times New Roman"/>
                        </a:rPr>
                        <a:t>Closed</a:t>
                      </a:r>
                      <a:r>
                        <a:rPr lang="en-US" sz="1100" b="1" baseline="0" dirty="0" smtClean="0">
                          <a:latin typeface="EYInterstate" pitchFamily="2" charset="0"/>
                          <a:ea typeface="Times New Roman"/>
                        </a:rPr>
                        <a:t> User Group</a:t>
                      </a:r>
                      <a:r>
                        <a:rPr lang="en-US" sz="1100" baseline="0" dirty="0" smtClean="0">
                          <a:latin typeface="EYInterstate" pitchFamily="2" charset="0"/>
                          <a:ea typeface="Times New Roman"/>
                        </a:rPr>
                        <a:t>) </a:t>
                      </a:r>
                      <a:r>
                        <a:rPr lang="en-US" sz="1100" dirty="0" smtClean="0">
                          <a:latin typeface="EYInterstate" pitchFamily="2" charset="0"/>
                          <a:ea typeface="Times New Roman"/>
                        </a:rPr>
                        <a:t>mismatch between HLR &amp; Billing System</a:t>
                      </a: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CUG Interlock Reconciliation</a:t>
                      </a:r>
                    </a:p>
                  </a:txBody>
                  <a:tcPr marL="68580" marR="68580" marT="0" marB="0" anchor="ctr"/>
                </a:tc>
              </a:tr>
            </a:tbl>
          </a:graphicData>
        </a:graphic>
      </p:graphicFrame>
      <p:sp>
        <p:nvSpPr>
          <p:cNvPr id="3" name="Rectangle 2"/>
          <p:cNvSpPr/>
          <p:nvPr/>
        </p:nvSpPr>
        <p:spPr>
          <a:xfrm>
            <a:off x="457200" y="1295400"/>
            <a:ext cx="1295400" cy="1554480"/>
          </a:xfrm>
          <a:prstGeom prst="rect">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lumMod val="50000"/>
                  </a:schemeClr>
                </a:solidFill>
                <a:latin typeface="EYInterstate" pitchFamily="2" charset="0"/>
              </a:rPr>
              <a:t>Subscriber Provisioning and Activation</a:t>
            </a:r>
          </a:p>
        </p:txBody>
      </p:sp>
      <p:sp>
        <p:nvSpPr>
          <p:cNvPr id="4" name="Rectangle 2"/>
          <p:cNvSpPr txBox="1">
            <a:spLocks noChangeArrowheads="1"/>
          </p:cNvSpPr>
          <p:nvPr/>
        </p:nvSpPr>
        <p:spPr>
          <a:xfrm>
            <a:off x="266700" y="200025"/>
            <a:ext cx="8686800" cy="863600"/>
          </a:xfrm>
          <a:prstGeom prst="rect">
            <a:avLst/>
          </a:prstGeom>
        </p:spPr>
        <p:txBody>
          <a:bodyPr/>
          <a:lstStyle/>
          <a:p>
            <a:pPr marL="0" marR="0" lvl="0" indent="0" defTabSz="914400" eaLnBrk="1" latinLnBrk="0" hangingPunct="1">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Risks &amp; RA Control </a:t>
            </a:r>
          </a:p>
        </p:txBody>
      </p:sp>
      <p:graphicFrame>
        <p:nvGraphicFramePr>
          <p:cNvPr id="7" name="Table 6"/>
          <p:cNvGraphicFramePr>
            <a:graphicFrameLocks noGrp="1"/>
          </p:cNvGraphicFramePr>
          <p:nvPr/>
        </p:nvGraphicFramePr>
        <p:xfrm>
          <a:off x="1828800" y="2971327"/>
          <a:ext cx="6248400" cy="1371599"/>
        </p:xfrm>
        <a:graphic>
          <a:graphicData uri="http://schemas.openxmlformats.org/drawingml/2006/table">
            <a:tbl>
              <a:tblPr firstRow="1" bandRow="1">
                <a:tableStyleId>{073A0DAA-6AF3-43AB-8588-CEC1D06C72B9}</a:tableStyleId>
              </a:tblPr>
              <a:tblGrid>
                <a:gridCol w="694267"/>
                <a:gridCol w="3471333"/>
                <a:gridCol w="2082800"/>
              </a:tblGrid>
              <a:tr h="338849">
                <a:tc>
                  <a:txBody>
                    <a:bodyPr/>
                    <a:lstStyle/>
                    <a:p>
                      <a:pPr algn="ctr">
                        <a:spcAft>
                          <a:spcPts val="0"/>
                        </a:spcAft>
                      </a:pPr>
                      <a:r>
                        <a:rPr lang="en-GB" sz="1100" dirty="0" err="1" smtClean="0">
                          <a:latin typeface="EYInterstate" pitchFamily="2" charset="0"/>
                        </a:rPr>
                        <a:t>S.No</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Risk Description</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RA</a:t>
                      </a:r>
                      <a:r>
                        <a:rPr lang="en-GB" sz="1100" baseline="0" dirty="0" smtClean="0">
                          <a:latin typeface="EYInterstate" pitchFamily="2" charset="0"/>
                        </a:rPr>
                        <a:t> Control activity</a:t>
                      </a:r>
                      <a:endParaRPr lang="en-US" sz="1100" dirty="0">
                        <a:latin typeface="EYInterstate" pitchFamily="2" charset="0"/>
                        <a:ea typeface="Times New Roman"/>
                      </a:endParaRPr>
                    </a:p>
                  </a:txBody>
                  <a:tcPr marL="68580" marR="68580" marT="0" marB="0" anchor="ctr"/>
                </a:tc>
              </a:tr>
              <a:tr h="516375">
                <a:tc>
                  <a:txBody>
                    <a:bodyPr/>
                    <a:lstStyle/>
                    <a:p>
                      <a:pPr>
                        <a:spcAft>
                          <a:spcPts val="0"/>
                        </a:spcAft>
                      </a:pPr>
                      <a:r>
                        <a:rPr lang="en-US" sz="1100" dirty="0" smtClean="0">
                          <a:latin typeface="EYInterstate" pitchFamily="2" charset="0"/>
                          <a:ea typeface="Times New Roman"/>
                        </a:rPr>
                        <a:t>1</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B no Codes are not configured in mediation</a:t>
                      </a:r>
                      <a:r>
                        <a:rPr lang="en-US" sz="1100" baseline="0" dirty="0" smtClean="0">
                          <a:latin typeface="EYInterstate" pitchFamily="2" charset="0"/>
                          <a:ea typeface="Times New Roman"/>
                        </a:rPr>
                        <a:t> &amp; Billing system leading to CDR filtration</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CNP validation (Mediation Table and Billing Configuration)</a:t>
                      </a:r>
                      <a:endParaRPr lang="en-US" sz="1100" dirty="0">
                        <a:latin typeface="EYInterstate" pitchFamily="2" charset="0"/>
                        <a:ea typeface="Times New Roman"/>
                      </a:endParaRPr>
                    </a:p>
                  </a:txBody>
                  <a:tcPr marL="68580" marR="68580" marT="0" marB="0" anchor="ctr"/>
                </a:tc>
              </a:tr>
              <a:tr h="516375">
                <a:tc>
                  <a:txBody>
                    <a:bodyPr/>
                    <a:lstStyle/>
                    <a:p>
                      <a:pPr>
                        <a:spcAft>
                          <a:spcPts val="0"/>
                        </a:spcAft>
                      </a:pPr>
                      <a:r>
                        <a:rPr lang="en-US" sz="1100" dirty="0" smtClean="0">
                          <a:latin typeface="EYInterstate" pitchFamily="2" charset="0"/>
                          <a:ea typeface="Times New Roman"/>
                        </a:rPr>
                        <a:t>2</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Eligible</a:t>
                      </a:r>
                      <a:r>
                        <a:rPr lang="en-US" sz="1100" baseline="0" dirty="0" smtClean="0">
                          <a:latin typeface="EYInterstate" pitchFamily="2" charset="0"/>
                          <a:ea typeface="Times New Roman"/>
                        </a:rPr>
                        <a:t> </a:t>
                      </a:r>
                      <a:r>
                        <a:rPr lang="en-US" sz="1100" dirty="0" smtClean="0">
                          <a:latin typeface="EYInterstate" pitchFamily="2" charset="0"/>
                          <a:ea typeface="Times New Roman"/>
                        </a:rPr>
                        <a:t>CDR’s not passed to postpaid billing system from mediation due to logic</a:t>
                      </a:r>
                      <a:r>
                        <a:rPr lang="en-US" sz="1100" baseline="0" dirty="0" smtClean="0">
                          <a:latin typeface="EYInterstate" pitchFamily="2" charset="0"/>
                          <a:ea typeface="Times New Roman"/>
                        </a:rPr>
                        <a:t> issue at mediation</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Mediation Filtration Logic Validation</a:t>
                      </a:r>
                      <a:endParaRPr lang="en-US" sz="1100" dirty="0">
                        <a:latin typeface="EYInterstate" pitchFamily="2" charset="0"/>
                        <a:ea typeface="Times New Roman"/>
                      </a:endParaRPr>
                    </a:p>
                  </a:txBody>
                  <a:tcPr marL="68580" marR="68580" marT="0" marB="0" anchor="ctr"/>
                </a:tc>
              </a:tr>
            </a:tbl>
          </a:graphicData>
        </a:graphic>
      </p:graphicFrame>
      <p:sp>
        <p:nvSpPr>
          <p:cNvPr id="8" name="Rectangle 7"/>
          <p:cNvSpPr/>
          <p:nvPr/>
        </p:nvSpPr>
        <p:spPr>
          <a:xfrm>
            <a:off x="457200" y="2971800"/>
            <a:ext cx="1295400" cy="1371600"/>
          </a:xfrm>
          <a:prstGeom prst="rect">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lumMod val="50000"/>
                  </a:schemeClr>
                </a:solidFill>
                <a:latin typeface="EYInterstate" pitchFamily="2" charset="0"/>
              </a:rPr>
              <a:t>Configuration Validation</a:t>
            </a:r>
          </a:p>
        </p:txBody>
      </p:sp>
      <p:graphicFrame>
        <p:nvGraphicFramePr>
          <p:cNvPr id="9" name="Table 8"/>
          <p:cNvGraphicFramePr>
            <a:graphicFrameLocks noGrp="1"/>
          </p:cNvGraphicFramePr>
          <p:nvPr/>
        </p:nvGraphicFramePr>
        <p:xfrm>
          <a:off x="1828800" y="4419600"/>
          <a:ext cx="6248400" cy="1097280"/>
        </p:xfrm>
        <a:graphic>
          <a:graphicData uri="http://schemas.openxmlformats.org/drawingml/2006/table">
            <a:tbl>
              <a:tblPr firstRow="1" bandRow="1">
                <a:tableStyleId>{073A0DAA-6AF3-43AB-8588-CEC1D06C72B9}</a:tableStyleId>
              </a:tblPr>
              <a:tblGrid>
                <a:gridCol w="694267"/>
                <a:gridCol w="3471333"/>
                <a:gridCol w="2082800"/>
              </a:tblGrid>
              <a:tr h="522914">
                <a:tc>
                  <a:txBody>
                    <a:bodyPr/>
                    <a:lstStyle/>
                    <a:p>
                      <a:pPr algn="ctr">
                        <a:spcAft>
                          <a:spcPts val="0"/>
                        </a:spcAft>
                      </a:pPr>
                      <a:r>
                        <a:rPr lang="en-GB" sz="1100" dirty="0" err="1" smtClean="0">
                          <a:latin typeface="EYInterstate" pitchFamily="2" charset="0"/>
                        </a:rPr>
                        <a:t>S.No</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Risk Description</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RA</a:t>
                      </a:r>
                      <a:r>
                        <a:rPr lang="en-GB" sz="1100" baseline="0" dirty="0" smtClean="0">
                          <a:latin typeface="EYInterstate" pitchFamily="2" charset="0"/>
                        </a:rPr>
                        <a:t> Control activity</a:t>
                      </a:r>
                      <a:endParaRPr lang="en-US" sz="1100" dirty="0">
                        <a:latin typeface="EYInterstate" pitchFamily="2" charset="0"/>
                        <a:ea typeface="Times New Roman"/>
                      </a:endParaRPr>
                    </a:p>
                  </a:txBody>
                  <a:tcPr marL="68580" marR="68580" marT="0" marB="0" anchor="ctr"/>
                </a:tc>
              </a:tr>
              <a:tr h="574366">
                <a:tc>
                  <a:txBody>
                    <a:bodyPr/>
                    <a:lstStyle/>
                    <a:p>
                      <a:pPr>
                        <a:spcAft>
                          <a:spcPts val="0"/>
                        </a:spcAft>
                      </a:pPr>
                      <a:r>
                        <a:rPr lang="en-US" sz="1100" dirty="0" smtClean="0">
                          <a:latin typeface="EYInterstate" pitchFamily="2" charset="0"/>
                          <a:ea typeface="Times New Roman"/>
                        </a:rPr>
                        <a:t>1</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Incorrect</a:t>
                      </a:r>
                      <a:r>
                        <a:rPr lang="en-US" sz="1100" baseline="0" dirty="0" smtClean="0">
                          <a:latin typeface="EYInterstate" pitchFamily="2" charset="0"/>
                          <a:ea typeface="Times New Roman"/>
                        </a:rPr>
                        <a:t> configuration of new products leading to revenue loss or customer dissatisfaction</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New Product Testing and configuration validation</a:t>
                      </a:r>
                      <a:endParaRPr lang="en-US" sz="1100" dirty="0">
                        <a:latin typeface="EYInterstate" pitchFamily="2" charset="0"/>
                        <a:ea typeface="Times New Roman"/>
                      </a:endParaRPr>
                    </a:p>
                  </a:txBody>
                  <a:tcPr marL="68580" marR="68580" marT="0" marB="0" anchor="ctr"/>
                </a:tc>
              </a:tr>
            </a:tbl>
          </a:graphicData>
        </a:graphic>
      </p:graphicFrame>
      <p:sp>
        <p:nvSpPr>
          <p:cNvPr id="10" name="Rectangle 9"/>
          <p:cNvSpPr/>
          <p:nvPr/>
        </p:nvSpPr>
        <p:spPr>
          <a:xfrm>
            <a:off x="457200" y="4420073"/>
            <a:ext cx="1295400" cy="1097280"/>
          </a:xfrm>
          <a:prstGeom prst="rect">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lumMod val="50000"/>
                  </a:schemeClr>
                </a:solidFill>
                <a:latin typeface="EYInterstate" pitchFamily="2" charset="0"/>
              </a:rPr>
              <a:t>New Product Implementation</a:t>
            </a:r>
          </a:p>
        </p:txBody>
      </p:sp>
      <p:sp>
        <p:nvSpPr>
          <p:cNvPr id="11" name="Action Button: Forward or Next 10">
            <a:hlinkClick r:id="rId2" action="ppaction://hlinksldjump" highlightClick="1"/>
          </p:cNvPr>
          <p:cNvSpPr/>
          <p:nvPr/>
        </p:nvSpPr>
        <p:spPr>
          <a:xfrm>
            <a:off x="8153400" y="17526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2" name="Action Button: Forward or Next 11">
            <a:hlinkClick r:id="rId2" action="ppaction://hlinksldjump" highlightClick="1"/>
          </p:cNvPr>
          <p:cNvSpPr/>
          <p:nvPr/>
        </p:nvSpPr>
        <p:spPr>
          <a:xfrm>
            <a:off x="8153400" y="21336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3" name="Action Button: Forward or Next 12">
            <a:hlinkClick r:id="" action="ppaction://noaction" highlightClick="1"/>
          </p:cNvPr>
          <p:cNvSpPr/>
          <p:nvPr/>
        </p:nvSpPr>
        <p:spPr>
          <a:xfrm>
            <a:off x="8153400" y="25146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4" name="Action Button: Forward or Next 13">
            <a:hlinkClick r:id="" action="ppaction://noaction" highlightClick="1"/>
          </p:cNvPr>
          <p:cNvSpPr/>
          <p:nvPr/>
        </p:nvSpPr>
        <p:spPr>
          <a:xfrm>
            <a:off x="8153400" y="33528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5" name="Action Button: Forward or Next 14">
            <a:hlinkClick r:id="" action="ppaction://noaction" highlightClick="1"/>
          </p:cNvPr>
          <p:cNvSpPr/>
          <p:nvPr/>
        </p:nvSpPr>
        <p:spPr>
          <a:xfrm>
            <a:off x="8153400" y="38862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6" name="Action Button: Forward or Next 15">
            <a:hlinkClick r:id="" action="ppaction://noaction" highlightClick="1"/>
          </p:cNvPr>
          <p:cNvSpPr/>
          <p:nvPr/>
        </p:nvSpPr>
        <p:spPr>
          <a:xfrm>
            <a:off x="8153400" y="50292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00025"/>
            <a:ext cx="8232775" cy="863600"/>
          </a:xfrm>
          <a:prstGeom prst="rect">
            <a:avLst/>
          </a:prstGeom>
        </p:spPr>
        <p:txBody>
          <a:bodyPr/>
          <a:lstStyle/>
          <a:p>
            <a:pPr marL="0" marR="0" lvl="0" indent="0" algn="l" defTabSz="914400" rtl="0" eaLnBrk="1" fontAlgn="base" latinLnBrk="0" hangingPunct="1">
              <a:lnSpc>
                <a:spcPct val="85000"/>
              </a:lnSpc>
              <a:spcBef>
                <a:spcPct val="0"/>
              </a:spcBef>
              <a:spcAft>
                <a:spcPct val="0"/>
              </a:spcAft>
              <a:buClrTx/>
              <a:buSzTx/>
              <a:buFontTx/>
              <a:buNone/>
              <a:tabLst>
                <a:tab pos="400050" algn="l"/>
              </a:tabLst>
              <a:defRPr/>
            </a:pPr>
            <a:r>
              <a:rPr kumimoji="0" lang="en-US" sz="2400" b="1" i="0" u="none" strike="noStrike" kern="0" cap="none" spc="0" normalizeH="0" baseline="0" noProof="0" dirty="0" smtClean="0">
                <a:ln>
                  <a:noFill/>
                </a:ln>
                <a:solidFill>
                  <a:srgbClr val="646464"/>
                </a:solidFill>
                <a:effectLst/>
                <a:uLnTx/>
                <a:uFillTx/>
                <a:latin typeface="EYInterstate" pitchFamily="2" charset="0"/>
                <a:ea typeface="+mj-ea"/>
                <a:cs typeface="+mj-cs"/>
              </a:rPr>
              <a:t>Key Concept - Rating &amp; Billing </a:t>
            </a:r>
            <a:endParaRPr kumimoji="0" lang="en-US" sz="2400" b="1" i="0" u="none" strike="noStrike" kern="0" cap="none" spc="0" normalizeH="0" baseline="0" noProof="0" dirty="0">
              <a:ln>
                <a:noFill/>
              </a:ln>
              <a:solidFill>
                <a:srgbClr val="000000"/>
              </a:solidFill>
              <a:effectLst/>
              <a:uLnTx/>
              <a:uFillTx/>
              <a:latin typeface="EYInterstate Light" pitchFamily="2" charset="0"/>
              <a:ea typeface="+mj-ea"/>
              <a:cs typeface="+mj-cs"/>
            </a:endParaRPr>
          </a:p>
        </p:txBody>
      </p:sp>
      <p:grpSp>
        <p:nvGrpSpPr>
          <p:cNvPr id="79" name="Group 78"/>
          <p:cNvGrpSpPr/>
          <p:nvPr/>
        </p:nvGrpSpPr>
        <p:grpSpPr>
          <a:xfrm>
            <a:off x="304800" y="1981200"/>
            <a:ext cx="8467344" cy="2877681"/>
            <a:chOff x="304800" y="1981200"/>
            <a:chExt cx="8467344" cy="2877681"/>
          </a:xfrm>
        </p:grpSpPr>
        <p:sp>
          <p:nvSpPr>
            <p:cNvPr id="80" name="Rectangle 79"/>
            <p:cNvSpPr/>
            <p:nvPr/>
          </p:nvSpPr>
          <p:spPr>
            <a:xfrm>
              <a:off x="3990187" y="3432381"/>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1" name="Rectangle 80"/>
            <p:cNvSpPr/>
            <p:nvPr/>
          </p:nvSpPr>
          <p:spPr>
            <a:xfrm>
              <a:off x="1531449" y="3438477"/>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82"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83"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118" name="Rectangle 117"/>
              <p:cNvSpPr/>
              <p:nvPr/>
            </p:nvSpPr>
            <p:spPr>
              <a:xfrm>
                <a:off x="4599803" y="2102667"/>
                <a:ext cx="1329095"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9" name="Rectangle 23"/>
              <p:cNvSpPr>
                <a:spLocks noChangeArrowheads="1"/>
              </p:cNvSpPr>
              <p:nvPr/>
            </p:nvSpPr>
            <p:spPr bwMode="auto">
              <a:xfrm>
                <a:off x="4633035" y="2162263"/>
                <a:ext cx="1136666" cy="373599"/>
              </a:xfrm>
              <a:prstGeom prst="rect">
                <a:avLst/>
              </a:prstGeom>
              <a:solidFill>
                <a:srgbClr val="FFD200"/>
              </a:solid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84" name="Rectangle 22"/>
            <p:cNvSpPr>
              <a:spLocks noChangeArrowheads="1"/>
            </p:cNvSpPr>
            <p:nvPr/>
          </p:nvSpPr>
          <p:spPr bwMode="auto">
            <a:xfrm>
              <a:off x="4027182" y="4038600"/>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85"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116" name="Rectangle 115"/>
              <p:cNvSpPr/>
              <p:nvPr/>
            </p:nvSpPr>
            <p:spPr>
              <a:xfrm>
                <a:off x="5972094" y="3483677"/>
                <a:ext cx="1329077" cy="14016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7" name="Rectangle 24"/>
              <p:cNvSpPr>
                <a:spLocks noChangeArrowheads="1"/>
              </p:cNvSpPr>
              <p:nvPr/>
            </p:nvSpPr>
            <p:spPr bwMode="auto">
              <a:xfrm>
                <a:off x="6011147" y="4464152"/>
                <a:ext cx="1136650" cy="384691"/>
              </a:xfrm>
              <a:prstGeom prst="rect">
                <a:avLst/>
              </a:prstGeom>
              <a:grp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86"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87"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88" name="Group 44"/>
            <p:cNvGrpSpPr/>
            <p:nvPr/>
          </p:nvGrpSpPr>
          <p:grpSpPr>
            <a:xfrm>
              <a:off x="304800" y="1993408"/>
              <a:ext cx="1185681" cy="1479901"/>
              <a:chOff x="402336" y="1993408"/>
              <a:chExt cx="1185681" cy="1479901"/>
            </a:xfrm>
          </p:grpSpPr>
          <p:sp>
            <p:nvSpPr>
              <p:cNvPr id="112" name="Rectangle 111"/>
              <p:cNvSpPr/>
              <p:nvPr/>
            </p:nvSpPr>
            <p:spPr>
              <a:xfrm>
                <a:off x="402336" y="1993408"/>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3"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114"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5"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89" name="Isosceles Triangle 88"/>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0" name="Isosceles Triangle 89"/>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91" name="Isosceles Triangle 90"/>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92" name="Group 97"/>
            <p:cNvGrpSpPr/>
            <p:nvPr/>
          </p:nvGrpSpPr>
          <p:grpSpPr>
            <a:xfrm>
              <a:off x="2544987" y="1993408"/>
              <a:ext cx="1402929" cy="1563815"/>
              <a:chOff x="2544987" y="1993408"/>
              <a:chExt cx="1402929" cy="1563815"/>
            </a:xfrm>
          </p:grpSpPr>
          <p:sp>
            <p:nvSpPr>
              <p:cNvPr id="107" name="Rectangle 106"/>
              <p:cNvSpPr/>
              <p:nvPr/>
            </p:nvSpPr>
            <p:spPr>
              <a:xfrm>
                <a:off x="2762235" y="1993408"/>
                <a:ext cx="1185681"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8" name="Rectangle 107"/>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109" name="Isosceles Triangle 108"/>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0" name="Isosceles Triangle 109"/>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11" name="Rectangle 110"/>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93" name="Rectangle 92"/>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94" name="Rectangle 93"/>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95" name="Rectangle 94"/>
            <p:cNvSpPr/>
            <p:nvPr/>
          </p:nvSpPr>
          <p:spPr>
            <a:xfrm>
              <a:off x="4022825" y="33528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96" name="Rectangle 95"/>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97"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98"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99"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100" name="Picture 5"/>
            <p:cNvPicPr>
              <a:picLocks noChangeArrowheads="1"/>
            </p:cNvPicPr>
            <p:nvPr/>
          </p:nvPicPr>
          <p:blipFill>
            <a:blip r:embed="rId7" cstate="print"/>
            <a:srcRect/>
            <a:stretch>
              <a:fillRect/>
            </a:stretch>
          </p:blipFill>
          <p:spPr bwMode="auto">
            <a:xfrm>
              <a:off x="6436868" y="2013039"/>
              <a:ext cx="1183132" cy="1399032"/>
            </a:xfrm>
            <a:prstGeom prst="rect">
              <a:avLst/>
            </a:prstGeom>
            <a:solidFill>
              <a:schemeClr val="tx1">
                <a:lumMod val="20000"/>
                <a:lumOff val="80000"/>
              </a:schemeClr>
            </a:solidFill>
            <a:ln>
              <a:noFill/>
            </a:ln>
          </p:spPr>
        </p:pic>
        <p:pic>
          <p:nvPicPr>
            <p:cNvPr id="101" name="Picture 2"/>
            <p:cNvPicPr>
              <a:picLocks noChangeAspect="1" noChangeArrowheads="1"/>
            </p:cNvPicPr>
            <p:nvPr/>
          </p:nvPicPr>
          <p:blipFill>
            <a:blip r:embed="rId8" cstate="print"/>
            <a:srcRect/>
            <a:stretch>
              <a:fillRect/>
            </a:stretch>
          </p:blipFill>
          <p:spPr bwMode="auto">
            <a:xfrm>
              <a:off x="7674863" y="3429000"/>
              <a:ext cx="1097280" cy="1429881"/>
            </a:xfrm>
            <a:prstGeom prst="rect">
              <a:avLst/>
            </a:prstGeom>
            <a:solidFill>
              <a:schemeClr val="tx1">
                <a:lumMod val="20000"/>
                <a:lumOff val="80000"/>
              </a:schemeClr>
            </a:solidFill>
            <a:ln>
              <a:noFill/>
            </a:ln>
          </p:spPr>
        </p:pic>
        <p:grpSp>
          <p:nvGrpSpPr>
            <p:cNvPr id="102" name="Group 45"/>
            <p:cNvGrpSpPr/>
            <p:nvPr/>
          </p:nvGrpSpPr>
          <p:grpSpPr>
            <a:xfrm>
              <a:off x="7674864" y="1981200"/>
              <a:ext cx="1097280" cy="1479901"/>
              <a:chOff x="402336" y="1993408"/>
              <a:chExt cx="1185681" cy="1479901"/>
            </a:xfrm>
          </p:grpSpPr>
          <p:sp>
            <p:nvSpPr>
              <p:cNvPr id="103" name="Rectangle 102"/>
              <p:cNvSpPr/>
              <p:nvPr/>
            </p:nvSpPr>
            <p:spPr>
              <a:xfrm>
                <a:off x="402336" y="1993408"/>
                <a:ext cx="1185681" cy="1401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4" name="Rectangle 103"/>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105" name="Isosceles Triangle 104"/>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106"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Rating</a:t>
            </a:r>
          </a:p>
        </p:txBody>
      </p:sp>
      <p:sp>
        <p:nvSpPr>
          <p:cNvPr id="3" name="Text Box 17"/>
          <p:cNvSpPr txBox="1">
            <a:spLocks noChangeArrowheads="1"/>
          </p:cNvSpPr>
          <p:nvPr/>
        </p:nvSpPr>
        <p:spPr bwMode="auto">
          <a:xfrm>
            <a:off x="457200" y="1137312"/>
            <a:ext cx="8305800" cy="2215488"/>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1313" indent="-287338">
              <a:lnSpc>
                <a:spcPct val="120000"/>
              </a:lnSpc>
              <a:buClr>
                <a:srgbClr val="FFC000"/>
              </a:buClr>
              <a:buSzPct val="100000"/>
              <a:buFont typeface="Arial" pitchFamily="34" charset="0"/>
              <a:buChar char="►"/>
              <a:defRPr/>
            </a:pPr>
            <a:r>
              <a:rPr lang="en-US" sz="1100" dirty="0" smtClean="0">
                <a:solidFill>
                  <a:schemeClr val="bg1"/>
                </a:solidFill>
                <a:latin typeface="EYInterstate" pitchFamily="2" charset="0"/>
              </a:rPr>
              <a:t>There is a list of basic functions of Rating / Rating Engine:</a:t>
            </a:r>
          </a:p>
          <a:p>
            <a:pPr marL="798513" lvl="1" indent="-287338">
              <a:buClr>
                <a:srgbClr val="FFC000"/>
              </a:buClr>
              <a:buSzPct val="100000"/>
              <a:buFont typeface="Arial" pitchFamily="34" charset="0"/>
              <a:buChar char="►"/>
              <a:defRPr/>
            </a:pPr>
            <a:r>
              <a:rPr lang="en-US" sz="1100" dirty="0" smtClean="0">
                <a:solidFill>
                  <a:schemeClr val="bg1"/>
                </a:solidFill>
                <a:latin typeface="EYInterstate" pitchFamily="2" charset="0"/>
              </a:rPr>
              <a:t>Accepting CDRs from the Mediation System or other service providers or roaming partners in case of roaming usage. Validating the CDRs and eliminating any duplicate records. </a:t>
            </a:r>
          </a:p>
          <a:p>
            <a:pPr marL="798513" lvl="1" indent="-287338">
              <a:buClr>
                <a:srgbClr val="FFC000"/>
              </a:buClr>
              <a:buSzPct val="100000"/>
              <a:buFont typeface="Arial" pitchFamily="34" charset="0"/>
              <a:buChar char="►"/>
              <a:defRPr/>
            </a:pPr>
            <a:r>
              <a:rPr lang="en-US" sz="1100" dirty="0" smtClean="0">
                <a:solidFill>
                  <a:schemeClr val="bg1"/>
                </a:solidFill>
                <a:latin typeface="EYInterstate" pitchFamily="2" charset="0"/>
              </a:rPr>
              <a:t>To determine the customer account that has to be charged for the event. Here Rate process picks up the event source(MSISDN) and checks the database to verify if this event source is associated with any account. This step is called Event Guiding. </a:t>
            </a:r>
          </a:p>
          <a:p>
            <a:pPr marL="798513" lvl="1" indent="-287338">
              <a:buClr>
                <a:srgbClr val="FFC000"/>
              </a:buClr>
              <a:buSzPct val="100000"/>
              <a:buFont typeface="Arial" pitchFamily="34" charset="0"/>
              <a:buChar char="►"/>
              <a:defRPr/>
            </a:pPr>
            <a:r>
              <a:rPr lang="en-US" sz="1100" dirty="0" smtClean="0">
                <a:solidFill>
                  <a:schemeClr val="bg1"/>
                </a:solidFill>
                <a:latin typeface="EYInterstate" pitchFamily="2" charset="0"/>
              </a:rPr>
              <a:t>If the event can not be guided, then this event will be rejected and can be put in Reject category. These rejected events are stored in a database table for later verification.</a:t>
            </a:r>
          </a:p>
          <a:p>
            <a:pPr marL="798513" lvl="1" indent="-287338">
              <a:buClr>
                <a:srgbClr val="FFC000"/>
              </a:buClr>
              <a:buSzPct val="100000"/>
              <a:buFont typeface="Arial" pitchFamily="34" charset="0"/>
              <a:buChar char="►"/>
              <a:defRPr/>
            </a:pPr>
            <a:r>
              <a:rPr lang="en-US" sz="1100" dirty="0" smtClean="0">
                <a:solidFill>
                  <a:schemeClr val="bg1"/>
                </a:solidFill>
                <a:latin typeface="EYInterstate" pitchFamily="2" charset="0"/>
              </a:rPr>
              <a:t>To calculate the cost/price of the event as per the rating tariff.</a:t>
            </a:r>
          </a:p>
          <a:p>
            <a:pPr marL="798513" lvl="1" indent="-287338">
              <a:buClr>
                <a:srgbClr val="FFC000"/>
              </a:buClr>
              <a:buSzPct val="100000"/>
              <a:buFont typeface="Arial" pitchFamily="34" charset="0"/>
              <a:buChar char="►"/>
              <a:defRPr/>
            </a:pPr>
            <a:r>
              <a:rPr lang="en-US" sz="1100" dirty="0" smtClean="0">
                <a:solidFill>
                  <a:schemeClr val="bg1"/>
                </a:solidFill>
                <a:latin typeface="EYInterstate" pitchFamily="2" charset="0"/>
              </a:rPr>
              <a:t>To apply any applicable rating time discounts. This could be first five minutes free and after that call will be charged at normal rate. Such type of discounts are called rating time discounts. To store the rated event in the database for a billing purpose or send it to the external system for billing.</a:t>
            </a:r>
          </a:p>
          <a:p>
            <a:pPr marL="798513" lvl="1" indent="-287338">
              <a:buClr>
                <a:srgbClr val="FFC000"/>
              </a:buClr>
              <a:buSzPct val="100000"/>
              <a:buFont typeface="Arial" pitchFamily="34" charset="0"/>
              <a:buChar char="►"/>
              <a:defRPr/>
            </a:pPr>
            <a:endParaRPr lang="en-US" sz="1100" dirty="0" smtClean="0">
              <a:solidFill>
                <a:schemeClr val="bg1"/>
              </a:solidFill>
              <a:latin typeface="EYInterstate" pitchFamily="2" charset="0"/>
            </a:endParaRPr>
          </a:p>
        </p:txBody>
      </p:sp>
      <p:sp>
        <p:nvSpPr>
          <p:cNvPr id="23" name="Rounded Rectangle 22"/>
          <p:cNvSpPr/>
          <p:nvPr/>
        </p:nvSpPr>
        <p:spPr>
          <a:xfrm>
            <a:off x="457200" y="4419600"/>
            <a:ext cx="990600" cy="558969"/>
          </a:xfrm>
          <a:prstGeom prst="roundRec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Customer</a:t>
            </a:r>
          </a:p>
        </p:txBody>
      </p:sp>
      <p:cxnSp>
        <p:nvCxnSpPr>
          <p:cNvPr id="25" name="Straight Arrow Connector 24"/>
          <p:cNvCxnSpPr>
            <a:stCxn id="40" idx="3"/>
          </p:cNvCxnSpPr>
          <p:nvPr/>
        </p:nvCxnSpPr>
        <p:spPr>
          <a:xfrm>
            <a:off x="2286000" y="4114800"/>
            <a:ext cx="533400" cy="0"/>
          </a:xfrm>
          <a:prstGeom prst="straightConnector1">
            <a:avLst/>
          </a:prstGeom>
          <a:ln w="19050">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6" name="Shape 7"/>
          <p:cNvCxnSpPr>
            <a:endCxn id="40" idx="1"/>
          </p:cNvCxnSpPr>
          <p:nvPr/>
        </p:nvCxnSpPr>
        <p:spPr>
          <a:xfrm flipV="1">
            <a:off x="952501" y="4114800"/>
            <a:ext cx="342899" cy="330370"/>
          </a:xfrm>
          <a:prstGeom prst="bentConnector3">
            <a:avLst>
              <a:gd name="adj1" fmla="val -1948"/>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038600" y="4114800"/>
            <a:ext cx="533400" cy="0"/>
          </a:xfrm>
          <a:prstGeom prst="straightConnector1">
            <a:avLst/>
          </a:prstGeom>
          <a:ln w="19050">
            <a:prstDash val="sysDash"/>
            <a:tailEnd type="arrow"/>
          </a:ln>
        </p:spPr>
        <p:style>
          <a:lnRef idx="1">
            <a:schemeClr val="accent1"/>
          </a:lnRef>
          <a:fillRef idx="0">
            <a:schemeClr val="accent1"/>
          </a:fillRef>
          <a:effectRef idx="0">
            <a:schemeClr val="accent1"/>
          </a:effectRef>
          <a:fontRef idx="minor">
            <a:schemeClr val="tx1"/>
          </a:fontRef>
        </p:style>
      </p:cxnSp>
      <p:sp>
        <p:nvSpPr>
          <p:cNvPr id="40" name="Flowchart: Document 39"/>
          <p:cNvSpPr/>
          <p:nvPr/>
        </p:nvSpPr>
        <p:spPr>
          <a:xfrm>
            <a:off x="1295400" y="3886200"/>
            <a:ext cx="990600" cy="457200"/>
          </a:xfrm>
          <a:prstGeom prst="flowChartDocumen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Unformatted CDRs</a:t>
            </a:r>
          </a:p>
        </p:txBody>
      </p:sp>
      <p:sp>
        <p:nvSpPr>
          <p:cNvPr id="44" name="Cube 43"/>
          <p:cNvSpPr/>
          <p:nvPr/>
        </p:nvSpPr>
        <p:spPr>
          <a:xfrm>
            <a:off x="2819400" y="3581400"/>
            <a:ext cx="1219200" cy="914400"/>
          </a:xfrm>
          <a:prstGeom prst="cube">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Mediation system </a:t>
            </a:r>
          </a:p>
        </p:txBody>
      </p:sp>
      <p:sp>
        <p:nvSpPr>
          <p:cNvPr id="51" name="Flowchart: Document 50"/>
          <p:cNvSpPr/>
          <p:nvPr/>
        </p:nvSpPr>
        <p:spPr>
          <a:xfrm>
            <a:off x="4572000" y="3886200"/>
            <a:ext cx="990600" cy="457200"/>
          </a:xfrm>
          <a:prstGeom prst="flowChartDocumen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Formatted CDRs</a:t>
            </a:r>
          </a:p>
        </p:txBody>
      </p:sp>
      <p:sp>
        <p:nvSpPr>
          <p:cNvPr id="53" name="Rounded Rectangle 52"/>
          <p:cNvSpPr/>
          <p:nvPr/>
        </p:nvSpPr>
        <p:spPr>
          <a:xfrm>
            <a:off x="5867400" y="3505200"/>
            <a:ext cx="2743200" cy="2209800"/>
          </a:xfrm>
          <a:prstGeom prst="roundRec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endParaRPr lang="en-US" sz="900" b="1" dirty="0" smtClean="0">
              <a:solidFill>
                <a:schemeClr val="tx1"/>
              </a:solidFill>
            </a:endParaRPr>
          </a:p>
        </p:txBody>
      </p:sp>
      <p:sp>
        <p:nvSpPr>
          <p:cNvPr id="54" name="Oval 53"/>
          <p:cNvSpPr/>
          <p:nvPr/>
        </p:nvSpPr>
        <p:spPr>
          <a:xfrm>
            <a:off x="5943600" y="3962400"/>
            <a:ext cx="685800" cy="304800"/>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Rate Plan</a:t>
            </a:r>
            <a:endParaRPr lang="en-US" sz="800" b="1" dirty="0">
              <a:solidFill>
                <a:schemeClr val="tx1"/>
              </a:solidFill>
            </a:endParaRPr>
          </a:p>
        </p:txBody>
      </p:sp>
      <p:sp>
        <p:nvSpPr>
          <p:cNvPr id="63" name="Oval 62"/>
          <p:cNvSpPr/>
          <p:nvPr/>
        </p:nvSpPr>
        <p:spPr>
          <a:xfrm>
            <a:off x="6705600" y="3962400"/>
            <a:ext cx="914400" cy="304800"/>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Roaming usage </a:t>
            </a:r>
          </a:p>
        </p:txBody>
      </p:sp>
      <p:sp>
        <p:nvSpPr>
          <p:cNvPr id="64" name="Oval 63"/>
          <p:cNvSpPr/>
          <p:nvPr/>
        </p:nvSpPr>
        <p:spPr>
          <a:xfrm>
            <a:off x="7696200" y="3962400"/>
            <a:ext cx="838200" cy="304800"/>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Customer Info</a:t>
            </a:r>
          </a:p>
        </p:txBody>
      </p:sp>
      <p:cxnSp>
        <p:nvCxnSpPr>
          <p:cNvPr id="66" name="Straight Arrow Connector 65"/>
          <p:cNvCxnSpPr/>
          <p:nvPr/>
        </p:nvCxnSpPr>
        <p:spPr>
          <a:xfrm>
            <a:off x="5562600" y="4114800"/>
            <a:ext cx="304800" cy="0"/>
          </a:xfrm>
          <a:prstGeom prst="straightConnector1">
            <a:avLst/>
          </a:prstGeom>
          <a:ln w="19050">
            <a:prstDash val="sysDash"/>
            <a:tailEnd type="arrow"/>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6096000" y="4419600"/>
            <a:ext cx="2286000" cy="228600"/>
          </a:xfrm>
          <a:prstGeom prst="ellipse">
            <a:avLst/>
          </a:prstGeom>
          <a:solidFill>
            <a:schemeClr val="bg1">
              <a:lumMod val="85000"/>
            </a:schemeClr>
          </a:solidFill>
          <a:ln>
            <a:solidFill>
              <a:schemeClr val="bg1"/>
            </a:solidFill>
          </a:ln>
          <a:effectLst>
            <a:innerShdw blurRad="63500" dist="50800">
              <a:prstClr val="black">
                <a:alpha val="50000"/>
              </a:prstClr>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Rating Engine</a:t>
            </a:r>
          </a:p>
        </p:txBody>
      </p:sp>
      <p:sp>
        <p:nvSpPr>
          <p:cNvPr id="71" name="Flowchart: Magnetic Disk 70"/>
          <p:cNvSpPr/>
          <p:nvPr/>
        </p:nvSpPr>
        <p:spPr>
          <a:xfrm>
            <a:off x="5943600" y="4724400"/>
            <a:ext cx="1143000" cy="914400"/>
          </a:xfrm>
          <a:prstGeom prst="flowChartMagneticDisk">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800" b="1" dirty="0" smtClean="0">
                <a:solidFill>
                  <a:schemeClr val="tx1"/>
                </a:solidFill>
              </a:rPr>
              <a:t>Duplicate Events</a:t>
            </a:r>
          </a:p>
          <a:p>
            <a:pPr algn="ctr"/>
            <a:r>
              <a:rPr lang="en-US" sz="800" b="1" dirty="0" smtClean="0">
                <a:solidFill>
                  <a:schemeClr val="tx1"/>
                </a:solidFill>
              </a:rPr>
              <a:t>Rejected Events</a:t>
            </a:r>
          </a:p>
          <a:p>
            <a:pPr algn="ctr"/>
            <a:r>
              <a:rPr lang="en-US" sz="800" b="1" dirty="0" smtClean="0">
                <a:solidFill>
                  <a:schemeClr val="tx1"/>
                </a:solidFill>
              </a:rPr>
              <a:t>Partial Events</a:t>
            </a:r>
          </a:p>
        </p:txBody>
      </p:sp>
      <p:sp>
        <p:nvSpPr>
          <p:cNvPr id="74" name="Flowchart: Magnetic Disk 73"/>
          <p:cNvSpPr/>
          <p:nvPr/>
        </p:nvSpPr>
        <p:spPr>
          <a:xfrm>
            <a:off x="7315200" y="4724400"/>
            <a:ext cx="1143000" cy="914400"/>
          </a:xfrm>
          <a:prstGeom prst="flowChartMagneticDisk">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Rated Events</a:t>
            </a:r>
          </a:p>
          <a:p>
            <a:pPr algn="ctr"/>
            <a:r>
              <a:rPr lang="en-US" sz="800" b="1" dirty="0" smtClean="0">
                <a:solidFill>
                  <a:schemeClr val="tx1"/>
                </a:solidFill>
              </a:rPr>
              <a:t>Discount Info</a:t>
            </a:r>
          </a:p>
        </p:txBody>
      </p:sp>
      <p:sp>
        <p:nvSpPr>
          <p:cNvPr id="75" name="Freeform 42"/>
          <p:cNvSpPr>
            <a:spLocks/>
          </p:cNvSpPr>
          <p:nvPr/>
        </p:nvSpPr>
        <p:spPr bwMode="auto">
          <a:xfrm flipH="1" flipV="1">
            <a:off x="457200" y="5867399"/>
            <a:ext cx="8686800" cy="294766"/>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solidFill>
            <a:srgbClr val="FFD200">
              <a:alpha val="85001"/>
            </a:srgbClr>
          </a:solidFill>
          <a:ln w="9525">
            <a:noFill/>
            <a:round/>
            <a:headEnd/>
            <a:tailEnd/>
          </a:ln>
          <a:effectLst/>
        </p:spPr>
        <p:txBody>
          <a:bodyPr/>
          <a:lstStyle/>
          <a:p>
            <a:pPr eaLnBrk="1" fontAlgn="auto" hangingPunct="1">
              <a:spcBef>
                <a:spcPts val="0"/>
              </a:spcBef>
              <a:spcAft>
                <a:spcPts val="0"/>
              </a:spcAft>
              <a:defRPr/>
            </a:pPr>
            <a:endParaRPr lang="en-US" sz="1800" kern="0" dirty="0">
              <a:solidFill>
                <a:sysClr val="windowText" lastClr="000000"/>
              </a:solidFill>
            </a:endParaRPr>
          </a:p>
        </p:txBody>
      </p:sp>
      <p:sp>
        <p:nvSpPr>
          <p:cNvPr id="78" name="TextBox 77"/>
          <p:cNvSpPr txBox="1"/>
          <p:nvPr/>
        </p:nvSpPr>
        <p:spPr>
          <a:xfrm>
            <a:off x="1524000" y="5867400"/>
            <a:ext cx="7239000" cy="261610"/>
          </a:xfrm>
          <a:prstGeom prst="rect">
            <a:avLst/>
          </a:prstGeom>
          <a:noFill/>
        </p:spPr>
        <p:txBody>
          <a:bodyPr wrap="square" rtlCol="0">
            <a:spAutoFit/>
          </a:bodyPr>
          <a:lstStyle/>
          <a:p>
            <a:pPr algn="ctr"/>
            <a:r>
              <a:rPr lang="en-US" sz="1100" dirty="0" smtClean="0"/>
              <a:t>Rate is the charge/price for the occurrence of an event. </a:t>
            </a:r>
          </a:p>
        </p:txBody>
      </p:sp>
      <p:sp>
        <p:nvSpPr>
          <p:cNvPr id="79" name="TextBox 78"/>
          <p:cNvSpPr txBox="1"/>
          <p:nvPr/>
        </p:nvSpPr>
        <p:spPr>
          <a:xfrm>
            <a:off x="6400800" y="3581400"/>
            <a:ext cx="1828800" cy="261610"/>
          </a:xfrm>
          <a:prstGeom prst="rect">
            <a:avLst/>
          </a:prstGeom>
          <a:noFill/>
        </p:spPr>
        <p:txBody>
          <a:bodyPr wrap="square" rtlCol="0">
            <a:spAutoFit/>
          </a:bodyPr>
          <a:lstStyle/>
          <a:p>
            <a:pPr algn="ctr"/>
            <a:r>
              <a:rPr lang="en-US" sz="1100" b="1" dirty="0" smtClean="0"/>
              <a:t>Billing System</a:t>
            </a:r>
            <a:endParaRPr lang="en-US" sz="1100" b="1"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Rating</a:t>
            </a:r>
          </a:p>
        </p:txBody>
      </p:sp>
      <p:sp>
        <p:nvSpPr>
          <p:cNvPr id="6" name="Rectangle 3"/>
          <p:cNvSpPr txBox="1">
            <a:spLocks noChangeArrowheads="1"/>
          </p:cNvSpPr>
          <p:nvPr/>
        </p:nvSpPr>
        <p:spPr>
          <a:xfrm>
            <a:off x="350520" y="1108075"/>
            <a:ext cx="8412480" cy="4911725"/>
          </a:xfrm>
          <a:prstGeom prst="rect">
            <a:avLst/>
          </a:prstGeom>
          <a:solidFill>
            <a:schemeClr val="bg1">
              <a:lumMod val="95000"/>
            </a:schemeClr>
          </a:solidFill>
          <a:ln>
            <a:solidFill>
              <a:schemeClr val="bg1">
                <a:lumMod val="95000"/>
              </a:schemeClr>
            </a:solidFill>
          </a:ln>
        </p:spPr>
        <p:txBody>
          <a:bodyPr/>
          <a:lstStyle/>
          <a:p>
            <a:pPr marL="338328" lvl="0"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Duplicate Events: </a:t>
            </a:r>
            <a:r>
              <a:rPr lang="en-US" sz="1100" kern="0" dirty="0" smtClean="0">
                <a:solidFill>
                  <a:srgbClr val="646464"/>
                </a:solidFill>
                <a:latin typeface="EYInterstate" pitchFamily="2" charset="0"/>
              </a:rPr>
              <a:t>A duplicate event is defined as any unbilled event that relates to another unbilled event in all of the following :</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The account numbers are identical.</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The event sources are identical.</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The event type IDs are identical.</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The event dates and times are identical.</a:t>
            </a:r>
          </a:p>
          <a:p>
            <a:pPr marL="338328" indent="-360363">
              <a:spcBef>
                <a:spcPts val="200"/>
              </a:spcBef>
              <a:spcAft>
                <a:spcPts val="200"/>
              </a:spcAft>
              <a:buClr>
                <a:srgbClr val="FFD200"/>
              </a:buClr>
              <a:buSzPct val="75000"/>
              <a:buFont typeface="Arial" charset="0"/>
              <a:buChar char="►"/>
              <a:defRPr/>
            </a:pPr>
            <a:r>
              <a:rPr lang="en-US" sz="1400" b="1" kern="0" dirty="0" smtClean="0">
                <a:solidFill>
                  <a:srgbClr val="646464"/>
                </a:solidFill>
                <a:latin typeface="EYInterstate" pitchFamily="2" charset="0"/>
              </a:rPr>
              <a:t>Rejected Events : </a:t>
            </a:r>
            <a:r>
              <a:rPr lang="en-US" sz="1100" kern="0" dirty="0" smtClean="0">
                <a:solidFill>
                  <a:srgbClr val="646464"/>
                </a:solidFill>
                <a:latin typeface="EYInterstate" pitchFamily="2" charset="0"/>
              </a:rPr>
              <a:t>When Billing System encounters a problem with a particular event, the offending event is rejected. Rejection may be due to problems with any of the following :</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The rate plan.</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Customer and account data.</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Configuration data.</a:t>
            </a:r>
          </a:p>
          <a:p>
            <a:pPr marL="338328" indent="-360363">
              <a:spcBef>
                <a:spcPts val="200"/>
              </a:spcBef>
              <a:spcAft>
                <a:spcPts val="200"/>
              </a:spcAft>
              <a:buClr>
                <a:srgbClr val="FFD200"/>
              </a:buClr>
              <a:buSzPct val="75000"/>
              <a:buFont typeface="Arial" charset="0"/>
              <a:buChar char="►"/>
              <a:defRPr/>
            </a:pPr>
            <a:r>
              <a:rPr lang="en-US" sz="1400" b="1" kern="0" dirty="0" smtClean="0">
                <a:solidFill>
                  <a:srgbClr val="646464"/>
                </a:solidFill>
                <a:latin typeface="EYInterstate" pitchFamily="2" charset="0"/>
              </a:rPr>
              <a:t>Real-Time Rating : </a:t>
            </a:r>
            <a:r>
              <a:rPr lang="en-US" sz="1100" kern="0" dirty="0" smtClean="0">
                <a:solidFill>
                  <a:srgbClr val="646464"/>
                </a:solidFill>
                <a:latin typeface="EYInterstate" pitchFamily="2" charset="0"/>
              </a:rPr>
              <a:t>Real-time rating is the process of taking events as they occur and rating them immediately, with as little delay as possible between event generation and costing.</a:t>
            </a:r>
          </a:p>
          <a:p>
            <a:pPr marL="338328" indent="-360363">
              <a:spcBef>
                <a:spcPts val="200"/>
              </a:spcBef>
              <a:spcAft>
                <a:spcPts val="200"/>
              </a:spcAft>
              <a:buClr>
                <a:srgbClr val="FFD200"/>
              </a:buClr>
              <a:buSzPct val="75000"/>
              <a:buFont typeface="Arial" charset="0"/>
              <a:buChar char="►"/>
              <a:defRPr/>
            </a:pPr>
            <a:r>
              <a:rPr lang="en-US" sz="1400" b="1" kern="0" dirty="0" smtClean="0">
                <a:solidFill>
                  <a:srgbClr val="646464"/>
                </a:solidFill>
                <a:latin typeface="EYInterstate" pitchFamily="2" charset="0"/>
              </a:rPr>
              <a:t>Rerating Events: </a:t>
            </a:r>
            <a:r>
              <a:rPr lang="en-US" sz="1100" kern="0" dirty="0" smtClean="0">
                <a:solidFill>
                  <a:srgbClr val="646464"/>
                </a:solidFill>
                <a:latin typeface="EYInterstate" pitchFamily="2" charset="0"/>
              </a:rPr>
              <a:t>There are several situations in which it may be necessary to rerate events. For example, when; </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An error in the rate plan used resulted in incorrectly priced events</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An existing rate plan was replaced at some point between the last and the next billing dates.</a:t>
            </a:r>
          </a:p>
          <a:p>
            <a:pPr marL="795528" lvl="1" indent="-360363">
              <a:spcBef>
                <a:spcPts val="200"/>
              </a:spcBef>
              <a:spcAft>
                <a:spcPts val="200"/>
              </a:spcAft>
              <a:buClr>
                <a:srgbClr val="FFD200"/>
              </a:buClr>
              <a:buSzPct val="75000"/>
              <a:buFont typeface="Arial" charset="0"/>
              <a:buChar char="►"/>
              <a:defRPr/>
            </a:pPr>
            <a:r>
              <a:rPr lang="en-US" sz="1100" kern="0" dirty="0" smtClean="0">
                <a:solidFill>
                  <a:srgbClr val="646464"/>
                </a:solidFill>
                <a:latin typeface="EYInterstate" pitchFamily="2" charset="0"/>
              </a:rPr>
              <a:t>The rate plan, price plan, or event source for a product has been retrospectively changed</a:t>
            </a:r>
          </a:p>
          <a:p>
            <a:pPr marL="338328" indent="-360363">
              <a:spcBef>
                <a:spcPts val="200"/>
              </a:spcBef>
              <a:spcAft>
                <a:spcPts val="200"/>
              </a:spcAft>
              <a:buClr>
                <a:srgbClr val="FFD200"/>
              </a:buClr>
              <a:buSzPct val="75000"/>
              <a:buFont typeface="Arial" charset="0"/>
              <a:buChar char="►"/>
              <a:defRPr/>
            </a:pPr>
            <a:r>
              <a:rPr lang="en-US" sz="1400" b="1" kern="0" dirty="0" smtClean="0">
                <a:solidFill>
                  <a:srgbClr val="646464"/>
                </a:solidFill>
                <a:latin typeface="EYInterstate" pitchFamily="2" charset="0"/>
              </a:rPr>
              <a:t>Partial Events : </a:t>
            </a:r>
            <a:r>
              <a:rPr lang="en-US" sz="1100" kern="0" dirty="0" smtClean="0">
                <a:solidFill>
                  <a:srgbClr val="646464"/>
                </a:solidFill>
                <a:latin typeface="EYInterstate" pitchFamily="2" charset="0"/>
              </a:rPr>
              <a:t>Partial events allow a customer's balance to be maintained while an event is in progress.</a:t>
            </a:r>
          </a:p>
          <a:p>
            <a:pPr marL="795528" lvl="1" indent="-360363">
              <a:spcBef>
                <a:spcPts val="200"/>
              </a:spcBef>
              <a:spcAft>
                <a:spcPts val="200"/>
              </a:spcAft>
              <a:buClr>
                <a:srgbClr val="FFD200"/>
              </a:buClr>
              <a:buSzPct val="75000"/>
              <a:buFont typeface="Arial" charset="0"/>
              <a:buChar char="►"/>
              <a:defRPr/>
            </a:pPr>
            <a:r>
              <a:rPr lang="en-US" sz="1100" i="1" kern="0" dirty="0" smtClean="0">
                <a:solidFill>
                  <a:srgbClr val="646464"/>
                </a:solidFill>
                <a:latin typeface="EYInterstate" pitchFamily="2" charset="0"/>
              </a:rPr>
              <a:t>For example, in case of long data download, mediation system will keep sending partial events to the billing system so that billing system keep rating them instead of waiting of event completion and as soon as customer's credit limit breach, account will be barred and Network element will be informed to terminate the call.</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 Discounts</a:t>
            </a:r>
          </a:p>
        </p:txBody>
      </p:sp>
      <p:sp>
        <p:nvSpPr>
          <p:cNvPr id="4" name="Rectangle 3"/>
          <p:cNvSpPr/>
          <p:nvPr/>
        </p:nvSpPr>
        <p:spPr>
          <a:xfrm>
            <a:off x="457200" y="1219200"/>
            <a:ext cx="8229600" cy="46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5563" indent="1588" fontAlgn="auto">
              <a:lnSpc>
                <a:spcPct val="120000"/>
              </a:lnSpc>
              <a:spcBef>
                <a:spcPts val="0"/>
              </a:spcBef>
              <a:spcAft>
                <a:spcPts val="0"/>
              </a:spcAft>
              <a:buClr>
                <a:srgbClr val="FFC000"/>
              </a:buClr>
              <a:buSzPct val="100000"/>
              <a:defRPr/>
            </a:pPr>
            <a:r>
              <a:rPr lang="en-US" sz="1200" b="1" kern="0" dirty="0" smtClean="0">
                <a:solidFill>
                  <a:srgbClr val="FFFFFF"/>
                </a:solidFill>
                <a:latin typeface="EYInterstate" pitchFamily="2" charset="0"/>
              </a:rPr>
              <a:t>All discounts alter the price to be paid for a set of events and/or products. Discount defines a set amount of money (percentage or monetary) to be applied to products or usage that meet certain criteria</a:t>
            </a:r>
            <a:r>
              <a:rPr lang="en-US" sz="1200" kern="0" dirty="0" smtClean="0">
                <a:solidFill>
                  <a:srgbClr val="FFFFFF"/>
                </a:solidFill>
                <a:latin typeface="EYInterstate" pitchFamily="2" charset="0"/>
              </a:rPr>
              <a:t>. </a:t>
            </a:r>
          </a:p>
        </p:txBody>
      </p:sp>
      <p:sp>
        <p:nvSpPr>
          <p:cNvPr id="5" name="Rectangle 4"/>
          <p:cNvSpPr/>
          <p:nvPr/>
        </p:nvSpPr>
        <p:spPr>
          <a:xfrm>
            <a:off x="457200" y="1752600"/>
            <a:ext cx="8229600" cy="30480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61913" indent="-9525"/>
            <a:r>
              <a:rPr lang="en-US" sz="1200" dirty="0" smtClean="0">
                <a:solidFill>
                  <a:srgbClr val="646464"/>
                </a:solidFill>
                <a:latin typeface="EYInterstate Light" pitchFamily="2" charset="0"/>
              </a:rPr>
              <a:t>Discounts can be calculated either during the rating process or the billing process:</a:t>
            </a:r>
          </a:p>
          <a:p>
            <a:pPr marL="61913" indent="-9525"/>
            <a:endParaRPr lang="en-US" sz="1200" dirty="0" smtClean="0">
              <a:solidFill>
                <a:srgbClr val="646464"/>
              </a:solidFill>
              <a:latin typeface="EYInterstate Light" pitchFamily="2" charset="0"/>
            </a:endParaRPr>
          </a:p>
        </p:txBody>
      </p:sp>
      <p:sp>
        <p:nvSpPr>
          <p:cNvPr id="11" name="Rectangle 10"/>
          <p:cNvSpPr/>
          <p:nvPr/>
        </p:nvSpPr>
        <p:spPr>
          <a:xfrm>
            <a:off x="1447800" y="2133600"/>
            <a:ext cx="7240526" cy="533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dirty="0" smtClean="0">
                <a:solidFill>
                  <a:schemeClr val="bg1"/>
                </a:solidFill>
                <a:latin typeface="EYInterstate Light" pitchFamily="2" charset="0"/>
              </a:rPr>
              <a:t>All the discounts given at the time of rating process. These discounts can be given at usage only. An example of rating time discount is "5% off the first hour of all international calls".</a:t>
            </a:r>
          </a:p>
        </p:txBody>
      </p:sp>
      <p:sp>
        <p:nvSpPr>
          <p:cNvPr id="12" name="Rectangle 11"/>
          <p:cNvSpPr/>
          <p:nvPr/>
        </p:nvSpPr>
        <p:spPr>
          <a:xfrm>
            <a:off x="457200" y="2133600"/>
            <a:ext cx="914400" cy="533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dirty="0" smtClean="0">
                <a:solidFill>
                  <a:schemeClr val="bg1"/>
                </a:solidFill>
                <a:latin typeface="EYInterstate Light" pitchFamily="2" charset="0"/>
              </a:rPr>
              <a:t>Rating Time Discount</a:t>
            </a:r>
          </a:p>
        </p:txBody>
      </p:sp>
      <p:sp>
        <p:nvSpPr>
          <p:cNvPr id="13" name="Rectangle 12"/>
          <p:cNvSpPr/>
          <p:nvPr/>
        </p:nvSpPr>
        <p:spPr>
          <a:xfrm>
            <a:off x="1447800" y="2743200"/>
            <a:ext cx="7240526" cy="533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b="1" dirty="0" smtClean="0">
                <a:solidFill>
                  <a:schemeClr val="tx1">
                    <a:lumMod val="50000"/>
                  </a:schemeClr>
                </a:solidFill>
                <a:latin typeface="EYInterstate Light" pitchFamily="2" charset="0"/>
              </a:rPr>
              <a:t>All the discounts given at the time of billing process. These discounts can be given on rated usage as well as on product &amp; service charges. An example of billing time discount is "5% off if you spend over </a:t>
            </a:r>
            <a:r>
              <a:rPr lang="en-US" sz="1100" b="1" dirty="0" smtClean="0">
                <a:solidFill>
                  <a:schemeClr val="tx1">
                    <a:lumMod val="50000"/>
                  </a:schemeClr>
                </a:solidFill>
                <a:latin typeface="EYInterstate Light" pitchFamily="2" charset="0"/>
              </a:rPr>
              <a:t>PHP15O </a:t>
            </a:r>
            <a:r>
              <a:rPr lang="en-US" sz="1100" b="1" dirty="0" smtClean="0">
                <a:solidFill>
                  <a:schemeClr val="tx1">
                    <a:lumMod val="50000"/>
                  </a:schemeClr>
                </a:solidFill>
                <a:latin typeface="EYInterstate Light" pitchFamily="2" charset="0"/>
              </a:rPr>
              <a:t>within a month".</a:t>
            </a:r>
          </a:p>
        </p:txBody>
      </p:sp>
      <p:sp>
        <p:nvSpPr>
          <p:cNvPr id="14" name="Rectangle 13"/>
          <p:cNvSpPr/>
          <p:nvPr/>
        </p:nvSpPr>
        <p:spPr>
          <a:xfrm>
            <a:off x="457200" y="2743200"/>
            <a:ext cx="914400" cy="533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b="1" dirty="0" smtClean="0">
                <a:solidFill>
                  <a:schemeClr val="tx1">
                    <a:lumMod val="50000"/>
                  </a:schemeClr>
                </a:solidFill>
                <a:latin typeface="EYInterstate Light" pitchFamily="2" charset="0"/>
              </a:rPr>
              <a:t>Billing Time Discount</a:t>
            </a:r>
          </a:p>
        </p:txBody>
      </p:sp>
      <p:sp>
        <p:nvSpPr>
          <p:cNvPr id="15" name="Rectangle 14"/>
          <p:cNvSpPr/>
          <p:nvPr/>
        </p:nvSpPr>
        <p:spPr>
          <a:xfrm>
            <a:off x="457200" y="3352800"/>
            <a:ext cx="8229600" cy="46240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200" dirty="0" smtClean="0">
                <a:solidFill>
                  <a:srgbClr val="646464"/>
                </a:solidFill>
                <a:latin typeface="EYInterstate Light" pitchFamily="2" charset="0"/>
              </a:rPr>
              <a:t>There could be a infinite type of discounts given to the end customer but it depends on what your billing supports. There are following simple but very good type of discounts which can be offered</a:t>
            </a:r>
          </a:p>
        </p:txBody>
      </p:sp>
      <p:sp>
        <p:nvSpPr>
          <p:cNvPr id="22" name="Rectangle 21"/>
          <p:cNvSpPr/>
          <p:nvPr/>
        </p:nvSpPr>
        <p:spPr>
          <a:xfrm>
            <a:off x="1447800" y="3886200"/>
            <a:ext cx="7240526" cy="60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dirty="0" smtClean="0">
                <a:solidFill>
                  <a:schemeClr val="bg1"/>
                </a:solidFill>
                <a:latin typeface="EYInterstate Light" pitchFamily="2" charset="0"/>
              </a:rPr>
              <a:t>These are only applicable to the portion of the set of events or money spent that falls between the assigned discount thresholds. For example, 0% off for a spend of </a:t>
            </a:r>
            <a:r>
              <a:rPr lang="en-US" sz="1100" dirty="0" smtClean="0">
                <a:solidFill>
                  <a:schemeClr val="bg1"/>
                </a:solidFill>
                <a:latin typeface="EYInterstate Light" pitchFamily="2" charset="0"/>
              </a:rPr>
              <a:t>PHP0-PHP100 </a:t>
            </a:r>
            <a:r>
              <a:rPr lang="en-US" sz="1100" dirty="0" smtClean="0">
                <a:solidFill>
                  <a:schemeClr val="bg1"/>
                </a:solidFill>
                <a:latin typeface="EYInterstate Light" pitchFamily="2" charset="0"/>
              </a:rPr>
              <a:t>threshold or 0-100 events threshold, 5% off for a spend of </a:t>
            </a:r>
            <a:r>
              <a:rPr lang="en-US" sz="1100" dirty="0" smtClean="0">
                <a:solidFill>
                  <a:schemeClr val="bg1"/>
                </a:solidFill>
                <a:latin typeface="EYInterstate Light" pitchFamily="2" charset="0"/>
              </a:rPr>
              <a:t>PHP100-PHP200 </a:t>
            </a:r>
            <a:r>
              <a:rPr lang="en-US" sz="1100" dirty="0" smtClean="0">
                <a:solidFill>
                  <a:schemeClr val="bg1"/>
                </a:solidFill>
                <a:latin typeface="EYInterstate Light" pitchFamily="2" charset="0"/>
              </a:rPr>
              <a:t>threshold or 100-200 events threshold </a:t>
            </a:r>
          </a:p>
        </p:txBody>
      </p:sp>
      <p:sp>
        <p:nvSpPr>
          <p:cNvPr id="23" name="Rectangle 22"/>
          <p:cNvSpPr/>
          <p:nvPr/>
        </p:nvSpPr>
        <p:spPr>
          <a:xfrm>
            <a:off x="457200" y="3886200"/>
            <a:ext cx="914400" cy="60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dirty="0" smtClean="0">
                <a:solidFill>
                  <a:schemeClr val="bg1"/>
                </a:solidFill>
                <a:latin typeface="EYInterstate Light" pitchFamily="2" charset="0"/>
              </a:rPr>
              <a:t>Tier Discount</a:t>
            </a:r>
          </a:p>
        </p:txBody>
      </p:sp>
      <p:sp>
        <p:nvSpPr>
          <p:cNvPr id="28" name="Rectangle 27"/>
          <p:cNvSpPr/>
          <p:nvPr/>
        </p:nvSpPr>
        <p:spPr>
          <a:xfrm>
            <a:off x="1447800" y="4572000"/>
            <a:ext cx="7240526" cy="609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b="1" dirty="0" smtClean="0">
                <a:solidFill>
                  <a:schemeClr val="tx1">
                    <a:lumMod val="50000"/>
                  </a:schemeClr>
                </a:solidFill>
                <a:latin typeface="EYInterstate Light" pitchFamily="2" charset="0"/>
              </a:rPr>
              <a:t>These are the discounts based on the number of events or product charges that a certain product generates. For example, 5% off for a spend of </a:t>
            </a:r>
            <a:r>
              <a:rPr lang="en-US" sz="1100" b="1" dirty="0" smtClean="0">
                <a:solidFill>
                  <a:schemeClr val="tx1">
                    <a:lumMod val="50000"/>
                  </a:schemeClr>
                </a:solidFill>
                <a:latin typeface="EYInterstate Light" pitchFamily="2" charset="0"/>
              </a:rPr>
              <a:t>PHP100 </a:t>
            </a:r>
            <a:r>
              <a:rPr lang="en-US" sz="1100" b="1" dirty="0" smtClean="0">
                <a:solidFill>
                  <a:schemeClr val="tx1">
                    <a:lumMod val="50000"/>
                  </a:schemeClr>
                </a:solidFill>
                <a:latin typeface="EYInterstate Light" pitchFamily="2" charset="0"/>
              </a:rPr>
              <a:t>or 100 events etc., As seen the greater the spend, the more the discount</a:t>
            </a:r>
          </a:p>
        </p:txBody>
      </p:sp>
      <p:sp>
        <p:nvSpPr>
          <p:cNvPr id="29" name="Rectangle 28"/>
          <p:cNvSpPr/>
          <p:nvPr/>
        </p:nvSpPr>
        <p:spPr>
          <a:xfrm>
            <a:off x="457200" y="4572000"/>
            <a:ext cx="914400" cy="609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b="1" dirty="0" smtClean="0">
                <a:solidFill>
                  <a:schemeClr val="tx1">
                    <a:lumMod val="50000"/>
                  </a:schemeClr>
                </a:solidFill>
                <a:latin typeface="EYInterstate Light" pitchFamily="2" charset="0"/>
              </a:rPr>
              <a:t>Volume Discount</a:t>
            </a:r>
          </a:p>
        </p:txBody>
      </p:sp>
      <p:sp>
        <p:nvSpPr>
          <p:cNvPr id="30" name="Rectangle 29"/>
          <p:cNvSpPr/>
          <p:nvPr/>
        </p:nvSpPr>
        <p:spPr>
          <a:xfrm>
            <a:off x="1447800" y="5257800"/>
            <a:ext cx="7240526" cy="60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dirty="0" smtClean="0">
                <a:solidFill>
                  <a:schemeClr val="bg1"/>
                </a:solidFill>
                <a:latin typeface="EYInterstate Light" pitchFamily="2" charset="0"/>
              </a:rPr>
              <a:t>Tax discounts provide an alternative method for dealing with some tax exemptions. They are calculated and applied when the account is billed.</a:t>
            </a:r>
          </a:p>
        </p:txBody>
      </p:sp>
      <p:sp>
        <p:nvSpPr>
          <p:cNvPr id="31" name="Rectangle 30"/>
          <p:cNvSpPr/>
          <p:nvPr/>
        </p:nvSpPr>
        <p:spPr>
          <a:xfrm>
            <a:off x="457200" y="5257800"/>
            <a:ext cx="914400" cy="60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100" dirty="0" smtClean="0">
                <a:solidFill>
                  <a:schemeClr val="bg1"/>
                </a:solidFill>
                <a:latin typeface="EYInterstate Light" pitchFamily="2" charset="0"/>
              </a:rPr>
              <a:t>TAX Discount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Billing</a:t>
            </a:r>
          </a:p>
        </p:txBody>
      </p:sp>
      <p:sp>
        <p:nvSpPr>
          <p:cNvPr id="3" name="Text Box 17"/>
          <p:cNvSpPr txBox="1">
            <a:spLocks noChangeArrowheads="1"/>
          </p:cNvSpPr>
          <p:nvPr/>
        </p:nvSpPr>
        <p:spPr bwMode="auto">
          <a:xfrm>
            <a:off x="304800" y="1137313"/>
            <a:ext cx="8305800" cy="539087"/>
          </a:xfrm>
          <a:prstGeom prst="rect">
            <a:avLst/>
          </a:prstGeom>
          <a:solidFill>
            <a:srgbClr val="FFFFFF">
              <a:lumMod val="50000"/>
            </a:srgbClr>
          </a:solidFill>
          <a:ln w="12700">
            <a:solidFill>
              <a:schemeClr val="bg1">
                <a:lumMod val="50000"/>
              </a:schemeClr>
            </a:solidFill>
            <a:miter lim="800000"/>
            <a:headEnd type="none" w="sm" len="sm"/>
            <a:tailEnd type="none" w="sm" len="sm"/>
          </a:ln>
          <a:effectLst/>
        </p:spPr>
        <p:txBody>
          <a:bodyPr anchor="t"/>
          <a:lstStyle/>
          <a:p>
            <a:pPr marL="341313" indent="-287338" fontAlgn="auto">
              <a:lnSpc>
                <a:spcPct val="120000"/>
              </a:lnSpc>
              <a:spcBef>
                <a:spcPts val="0"/>
              </a:spcBef>
              <a:spcAft>
                <a:spcPts val="0"/>
              </a:spcAft>
              <a:buClr>
                <a:srgbClr val="FFC000"/>
              </a:buClr>
              <a:buSzPct val="100000"/>
              <a:buFont typeface="Arial" pitchFamily="34" charset="0"/>
              <a:buChar char="►"/>
              <a:defRPr/>
            </a:pPr>
            <a:r>
              <a:rPr lang="en-US" sz="1200" kern="0" dirty="0" smtClean="0">
                <a:solidFill>
                  <a:srgbClr val="FFFFFF"/>
                </a:solidFill>
                <a:latin typeface="EYInterstate" pitchFamily="2" charset="0"/>
              </a:rPr>
              <a:t>Billing is the aggregation of all non-recurring, periodic, and chargeable events, on an account by account basis. It is also the calculation of all outstanding charges and available discounts and bonuses.</a:t>
            </a:r>
          </a:p>
        </p:txBody>
      </p:sp>
      <p:sp>
        <p:nvSpPr>
          <p:cNvPr id="4" name="Rounded Rectangle 3"/>
          <p:cNvSpPr/>
          <p:nvPr/>
        </p:nvSpPr>
        <p:spPr>
          <a:xfrm>
            <a:off x="457200" y="2438400"/>
            <a:ext cx="2743200" cy="2590800"/>
          </a:xfrm>
          <a:prstGeom prst="roundRec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endParaRPr lang="en-US" sz="900" b="1" dirty="0" smtClean="0">
              <a:solidFill>
                <a:schemeClr val="tx1"/>
              </a:solidFill>
            </a:endParaRPr>
          </a:p>
        </p:txBody>
      </p:sp>
      <p:sp>
        <p:nvSpPr>
          <p:cNvPr id="5" name="Oval 4"/>
          <p:cNvSpPr/>
          <p:nvPr/>
        </p:nvSpPr>
        <p:spPr>
          <a:xfrm>
            <a:off x="533400" y="2895600"/>
            <a:ext cx="1143000" cy="304800"/>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Product Charges</a:t>
            </a:r>
            <a:endParaRPr lang="en-US" sz="800" b="1" dirty="0">
              <a:solidFill>
                <a:schemeClr val="tx1"/>
              </a:solidFill>
            </a:endParaRPr>
          </a:p>
        </p:txBody>
      </p:sp>
      <p:sp>
        <p:nvSpPr>
          <p:cNvPr id="7" name="Oval 6"/>
          <p:cNvSpPr/>
          <p:nvPr/>
        </p:nvSpPr>
        <p:spPr>
          <a:xfrm>
            <a:off x="1981200" y="2895600"/>
            <a:ext cx="1143000" cy="304800"/>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Customer account Info</a:t>
            </a:r>
          </a:p>
        </p:txBody>
      </p:sp>
      <p:sp>
        <p:nvSpPr>
          <p:cNvPr id="9" name="Oval 8"/>
          <p:cNvSpPr/>
          <p:nvPr/>
        </p:nvSpPr>
        <p:spPr>
          <a:xfrm>
            <a:off x="685800" y="3352800"/>
            <a:ext cx="2286000" cy="228600"/>
          </a:xfrm>
          <a:prstGeom prst="ellipse">
            <a:avLst/>
          </a:prstGeom>
          <a:solidFill>
            <a:schemeClr val="bg1">
              <a:lumMod val="85000"/>
            </a:schemeClr>
          </a:solidFill>
          <a:ln>
            <a:solidFill>
              <a:schemeClr val="bg1"/>
            </a:solidFill>
          </a:ln>
          <a:effectLst>
            <a:innerShdw blurRad="63500" dist="50800">
              <a:prstClr val="black">
                <a:alpha val="50000"/>
              </a:prstClr>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Billing Engine</a:t>
            </a:r>
          </a:p>
        </p:txBody>
      </p:sp>
      <p:sp>
        <p:nvSpPr>
          <p:cNvPr id="10" name="Flowchart: Magnetic Disk 9"/>
          <p:cNvSpPr/>
          <p:nvPr/>
        </p:nvSpPr>
        <p:spPr>
          <a:xfrm>
            <a:off x="533400" y="3657600"/>
            <a:ext cx="1143000" cy="1143000"/>
          </a:xfrm>
          <a:prstGeom prst="flowChartMagneticDisk">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800" b="1" dirty="0" smtClean="0">
                <a:solidFill>
                  <a:schemeClr val="tx1"/>
                </a:solidFill>
              </a:rPr>
              <a:t>Discount Info</a:t>
            </a:r>
          </a:p>
          <a:p>
            <a:pPr algn="ctr"/>
            <a:r>
              <a:rPr lang="en-US" sz="800" b="1" dirty="0" smtClean="0">
                <a:solidFill>
                  <a:schemeClr val="tx1"/>
                </a:solidFill>
              </a:rPr>
              <a:t>Adjustment</a:t>
            </a:r>
          </a:p>
          <a:p>
            <a:pPr algn="ctr"/>
            <a:r>
              <a:rPr lang="en-US" sz="800" b="1" dirty="0" smtClean="0">
                <a:solidFill>
                  <a:schemeClr val="tx1"/>
                </a:solidFill>
              </a:rPr>
              <a:t>Payment Info</a:t>
            </a:r>
          </a:p>
          <a:p>
            <a:pPr algn="ctr"/>
            <a:r>
              <a:rPr lang="en-US" sz="800" b="1" dirty="0" smtClean="0">
                <a:solidFill>
                  <a:schemeClr val="tx1"/>
                </a:solidFill>
              </a:rPr>
              <a:t>Rated Events</a:t>
            </a:r>
          </a:p>
        </p:txBody>
      </p:sp>
      <p:sp>
        <p:nvSpPr>
          <p:cNvPr id="11" name="Flowchart: Magnetic Disk 10"/>
          <p:cNvSpPr/>
          <p:nvPr/>
        </p:nvSpPr>
        <p:spPr>
          <a:xfrm>
            <a:off x="1905000" y="3657600"/>
            <a:ext cx="1143000" cy="1143000"/>
          </a:xfrm>
          <a:prstGeom prst="flowChartMagneticDisk">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smtClean="0">
                <a:solidFill>
                  <a:schemeClr val="tx1"/>
                </a:solidFill>
              </a:rPr>
              <a:t>Adjustments</a:t>
            </a:r>
          </a:p>
          <a:p>
            <a:pPr algn="ctr"/>
            <a:r>
              <a:rPr lang="en-US" sz="800" b="1" dirty="0" smtClean="0">
                <a:solidFill>
                  <a:schemeClr val="tx1"/>
                </a:solidFill>
              </a:rPr>
              <a:t>Tax Info</a:t>
            </a:r>
          </a:p>
          <a:p>
            <a:pPr algn="ctr"/>
            <a:r>
              <a:rPr lang="en-US" sz="800" b="1" dirty="0" smtClean="0">
                <a:solidFill>
                  <a:schemeClr val="tx1"/>
                </a:solidFill>
              </a:rPr>
              <a:t>Billing configuration</a:t>
            </a:r>
          </a:p>
        </p:txBody>
      </p:sp>
      <p:sp>
        <p:nvSpPr>
          <p:cNvPr id="12" name="TextBox 11"/>
          <p:cNvSpPr txBox="1"/>
          <p:nvPr/>
        </p:nvSpPr>
        <p:spPr>
          <a:xfrm>
            <a:off x="990600" y="2514600"/>
            <a:ext cx="1828800" cy="261610"/>
          </a:xfrm>
          <a:prstGeom prst="rect">
            <a:avLst/>
          </a:prstGeom>
          <a:noFill/>
        </p:spPr>
        <p:txBody>
          <a:bodyPr wrap="square" rtlCol="0">
            <a:spAutoFit/>
          </a:bodyPr>
          <a:lstStyle/>
          <a:p>
            <a:pPr algn="ctr"/>
            <a:r>
              <a:rPr lang="en-US" sz="1100" b="1" dirty="0" smtClean="0"/>
              <a:t>Billing System</a:t>
            </a:r>
            <a:endParaRPr lang="en-US" sz="1100" b="1" dirty="0"/>
          </a:p>
        </p:txBody>
      </p:sp>
      <p:sp>
        <p:nvSpPr>
          <p:cNvPr id="13" name="Flowchart: Document 12"/>
          <p:cNvSpPr/>
          <p:nvPr/>
        </p:nvSpPr>
        <p:spPr>
          <a:xfrm>
            <a:off x="3657600" y="3124200"/>
            <a:ext cx="990600" cy="457200"/>
          </a:xfrm>
          <a:prstGeom prst="flowChartDocumen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Unformatted Invoice Data</a:t>
            </a:r>
          </a:p>
        </p:txBody>
      </p:sp>
      <p:sp>
        <p:nvSpPr>
          <p:cNvPr id="14" name="Oval 13"/>
          <p:cNvSpPr/>
          <p:nvPr/>
        </p:nvSpPr>
        <p:spPr>
          <a:xfrm>
            <a:off x="4953000" y="3048000"/>
            <a:ext cx="1143000" cy="533400"/>
          </a:xfrm>
          <a:prstGeom prst="ellipse">
            <a:avLst/>
          </a:prstGeom>
          <a:noFill/>
          <a:ln>
            <a:prstDash val="dash"/>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Invoice Formatting</a:t>
            </a:r>
          </a:p>
        </p:txBody>
      </p:sp>
      <p:sp>
        <p:nvSpPr>
          <p:cNvPr id="15" name="Flowchart: Document 14"/>
          <p:cNvSpPr/>
          <p:nvPr/>
        </p:nvSpPr>
        <p:spPr>
          <a:xfrm>
            <a:off x="6400800" y="3124200"/>
            <a:ext cx="990600" cy="457200"/>
          </a:xfrm>
          <a:prstGeom prst="flowChartDocument">
            <a:avLst/>
          </a:prstGeom>
          <a:solidFill>
            <a:schemeClr val="accent2"/>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tx1"/>
                </a:solidFill>
              </a:rPr>
              <a:t>Formatted Invoice Data</a:t>
            </a:r>
          </a:p>
        </p:txBody>
      </p:sp>
      <p:sp>
        <p:nvSpPr>
          <p:cNvPr id="16" name="Oval 15"/>
          <p:cNvSpPr/>
          <p:nvPr/>
        </p:nvSpPr>
        <p:spPr>
          <a:xfrm>
            <a:off x="6324600" y="3886200"/>
            <a:ext cx="1143000" cy="533400"/>
          </a:xfrm>
          <a:prstGeom prst="ellipse">
            <a:avLst/>
          </a:prstGeom>
          <a:solidFill>
            <a:srgbClr val="808080"/>
          </a:solidFill>
          <a:ln>
            <a:prstDash val="dash"/>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900" b="1" dirty="0" smtClean="0">
                <a:solidFill>
                  <a:schemeClr val="bg1"/>
                </a:solidFill>
              </a:rPr>
              <a:t>Bill Print Company</a:t>
            </a:r>
          </a:p>
        </p:txBody>
      </p:sp>
      <p:cxnSp>
        <p:nvCxnSpPr>
          <p:cNvPr id="18" name="Straight Arrow Connector 17"/>
          <p:cNvCxnSpPr>
            <a:endCxn id="13" idx="1"/>
          </p:cNvCxnSpPr>
          <p:nvPr/>
        </p:nvCxnSpPr>
        <p:spPr>
          <a:xfrm>
            <a:off x="3200400" y="3352800"/>
            <a:ext cx="457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3" idx="3"/>
          </p:cNvCxnSpPr>
          <p:nvPr/>
        </p:nvCxnSpPr>
        <p:spPr>
          <a:xfrm>
            <a:off x="4648200" y="3352800"/>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096000" y="3352800"/>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6705600" y="3733800"/>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Text Box 17"/>
          <p:cNvSpPr txBox="1">
            <a:spLocks noChangeArrowheads="1"/>
          </p:cNvSpPr>
          <p:nvPr/>
        </p:nvSpPr>
        <p:spPr bwMode="auto">
          <a:xfrm>
            <a:off x="381000" y="5562600"/>
            <a:ext cx="8305800" cy="615288"/>
          </a:xfrm>
          <a:prstGeom prst="rect">
            <a:avLst/>
          </a:prstGeom>
          <a:solidFill>
            <a:srgbClr val="FFFFFF">
              <a:lumMod val="50000"/>
            </a:srgbClr>
          </a:solidFill>
          <a:ln w="12700">
            <a:solidFill>
              <a:schemeClr val="bg1">
                <a:lumMod val="50000"/>
              </a:schemeClr>
            </a:solidFill>
            <a:miter lim="800000"/>
            <a:headEnd type="none" w="sm" len="sm"/>
            <a:tailEnd type="none" w="sm" len="sm"/>
          </a:ln>
          <a:effectLst/>
        </p:spPr>
        <p:txBody>
          <a:bodyPr anchor="t"/>
          <a:lstStyle/>
          <a:p>
            <a:pPr marL="341313" indent="-287338" fontAlgn="auto">
              <a:lnSpc>
                <a:spcPct val="120000"/>
              </a:lnSpc>
              <a:spcBef>
                <a:spcPts val="0"/>
              </a:spcBef>
              <a:spcAft>
                <a:spcPts val="0"/>
              </a:spcAft>
              <a:buClr>
                <a:srgbClr val="FFC000"/>
              </a:buClr>
              <a:buSzPct val="100000"/>
              <a:buFont typeface="Arial" pitchFamily="34" charset="0"/>
              <a:buChar char="►"/>
              <a:defRPr/>
            </a:pPr>
            <a:r>
              <a:rPr lang="en-US" sz="1200" kern="0" dirty="0" smtClean="0">
                <a:solidFill>
                  <a:srgbClr val="FFFFFF"/>
                </a:solidFill>
                <a:latin typeface="EYInterstate" pitchFamily="2" charset="0"/>
              </a:rPr>
              <a:t>Billing Engine produce raw data having all the information required to generate a final bill and this raw data can be used to generate a final invoice to be sent to the end customer.</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 Billing</a:t>
            </a:r>
          </a:p>
        </p:txBody>
      </p:sp>
      <p:sp>
        <p:nvSpPr>
          <p:cNvPr id="4" name="Rectangle 3"/>
          <p:cNvSpPr txBox="1">
            <a:spLocks noChangeArrowheads="1"/>
          </p:cNvSpPr>
          <p:nvPr/>
        </p:nvSpPr>
        <p:spPr>
          <a:xfrm>
            <a:off x="441960" y="1143000"/>
            <a:ext cx="8321040" cy="4911725"/>
          </a:xfrm>
          <a:prstGeom prst="rect">
            <a:avLst/>
          </a:prstGeom>
          <a:solidFill>
            <a:schemeClr val="bg1">
              <a:lumMod val="95000"/>
            </a:schemeClr>
          </a:solidFill>
          <a:ln>
            <a:solidFill>
              <a:schemeClr val="bg1">
                <a:lumMod val="95000"/>
              </a:schemeClr>
            </a:solidFill>
          </a:ln>
        </p:spPr>
        <p:txBody>
          <a:bodyPr/>
          <a:lstStyle/>
          <a:p>
            <a:pPr marL="338328" lvl="0" indent="-360363">
              <a:spcBef>
                <a:spcPts val="0"/>
              </a:spcBef>
              <a:buClr>
                <a:srgbClr val="FFD200"/>
              </a:buClr>
              <a:buSzPct val="75000"/>
              <a:buFont typeface="Arial" charset="0"/>
              <a:buChar char="►"/>
              <a:defRPr/>
            </a:pPr>
            <a:endParaRPr lang="en-US" sz="1400" b="1" kern="0" dirty="0" smtClean="0">
              <a:solidFill>
                <a:srgbClr val="646464"/>
              </a:solidFill>
              <a:latin typeface="EYInterstate" pitchFamily="2" charset="0"/>
            </a:endParaRPr>
          </a:p>
          <a:p>
            <a:pPr marL="338328" lvl="0"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Bill Cycles : </a:t>
            </a:r>
            <a:r>
              <a:rPr lang="en-US" sz="1100" kern="0" dirty="0" smtClean="0">
                <a:solidFill>
                  <a:srgbClr val="646464"/>
                </a:solidFill>
                <a:latin typeface="EYInterstate" pitchFamily="2" charset="0"/>
              </a:rPr>
              <a:t>When a customer is added into the Billing System, system assigns the customer a predefined Bill Cycle. A bill cycle is a date on while Billing Engine runs and produces bill for a set of customers.</a:t>
            </a:r>
          </a:p>
          <a:p>
            <a:pPr marL="338328" lvl="0" indent="-360363">
              <a:spcBef>
                <a:spcPts val="0"/>
              </a:spcBef>
              <a:buClr>
                <a:srgbClr val="FFD200"/>
              </a:buClr>
              <a:buSzPct val="75000"/>
              <a:buFont typeface="Arial" charset="0"/>
              <a:buChar char="►"/>
              <a:defRPr/>
            </a:pPr>
            <a:endParaRPr lang="en-US" sz="1100" kern="0" dirty="0" smtClean="0">
              <a:solidFill>
                <a:srgbClr val="646464"/>
              </a:solidFill>
              <a:latin typeface="EYInterstate" pitchFamily="2" charset="0"/>
            </a:endParaRPr>
          </a:p>
          <a:p>
            <a:pPr marL="338328" lvl="0"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Bill Types : </a:t>
            </a:r>
            <a:r>
              <a:rPr lang="en-US" sz="1100" kern="0" dirty="0" smtClean="0">
                <a:solidFill>
                  <a:srgbClr val="646464"/>
                </a:solidFill>
                <a:latin typeface="EYInterstate" pitchFamily="2" charset="0"/>
              </a:rPr>
              <a:t>There could be various types of bill available for a user, Certain Samples are mentioned below :</a:t>
            </a:r>
          </a:p>
          <a:p>
            <a:pPr marL="338328" lvl="0" indent="-360363">
              <a:spcBef>
                <a:spcPts val="0"/>
              </a:spcBef>
              <a:buClr>
                <a:srgbClr val="FFD200"/>
              </a:buClr>
              <a:buSzPct val="75000"/>
              <a:defRPr/>
            </a:pPr>
            <a:endParaRPr lang="en-US" sz="1100" kern="0" dirty="0" smtClean="0">
              <a:solidFill>
                <a:srgbClr val="646464"/>
              </a:solidFill>
              <a:latin typeface="EYInterstate" pitchFamily="2" charset="0"/>
            </a:endParaRPr>
          </a:p>
          <a:p>
            <a:pPr marL="795528" lvl="1" indent="-360363">
              <a:spcBef>
                <a:spcPts val="0"/>
              </a:spcBef>
              <a:buClr>
                <a:srgbClr val="FFD200"/>
              </a:buClr>
              <a:buSzPct val="75000"/>
              <a:buFont typeface="Arial" charset="0"/>
              <a:buChar char="►"/>
              <a:defRPr/>
            </a:pPr>
            <a:r>
              <a:rPr lang="en-US" sz="1100" b="1" kern="0" dirty="0" smtClean="0">
                <a:solidFill>
                  <a:srgbClr val="646464"/>
                </a:solidFill>
                <a:latin typeface="EYInterstate" pitchFamily="2" charset="0"/>
              </a:rPr>
              <a:t>Periodic bill : </a:t>
            </a:r>
            <a:r>
              <a:rPr lang="en-US" sz="1100" kern="0" dirty="0" smtClean="0">
                <a:solidFill>
                  <a:srgbClr val="646464"/>
                </a:solidFill>
                <a:latin typeface="EYInterstate" pitchFamily="2" charset="0"/>
              </a:rPr>
              <a:t>Produced at regular intervals. Includes all periodic charges, events, and adjustments.</a:t>
            </a:r>
          </a:p>
          <a:p>
            <a:pPr marL="795528" lvl="1" indent="-360363">
              <a:spcBef>
                <a:spcPts val="0"/>
              </a:spcBef>
              <a:buClr>
                <a:srgbClr val="FFD200"/>
              </a:buClr>
              <a:buSzPct val="75000"/>
              <a:buFont typeface="Arial" charset="0"/>
              <a:buChar char="►"/>
              <a:defRPr/>
            </a:pPr>
            <a:r>
              <a:rPr lang="en-US" sz="1100" b="1" kern="0" dirty="0" smtClean="0">
                <a:solidFill>
                  <a:srgbClr val="646464"/>
                </a:solidFill>
                <a:latin typeface="EYInterstate" pitchFamily="2" charset="0"/>
              </a:rPr>
              <a:t>Interim bill : </a:t>
            </a:r>
            <a:r>
              <a:rPr lang="en-US" sz="1100" kern="0" dirty="0" smtClean="0">
                <a:solidFill>
                  <a:srgbClr val="646464"/>
                </a:solidFill>
                <a:latin typeface="EYInterstate" pitchFamily="2" charset="0"/>
              </a:rPr>
              <a:t>An extra bill that contains charges due of events processed for the account since the last bill. It Includes all events and adjustments, but no periodic charges.</a:t>
            </a:r>
          </a:p>
          <a:p>
            <a:pPr marL="795528" lvl="1" indent="-360363">
              <a:spcBef>
                <a:spcPts val="0"/>
              </a:spcBef>
              <a:buClr>
                <a:srgbClr val="FFD200"/>
              </a:buClr>
              <a:buSzPct val="75000"/>
              <a:buFont typeface="Arial" charset="0"/>
              <a:buChar char="►"/>
              <a:defRPr/>
            </a:pPr>
            <a:r>
              <a:rPr lang="en-US" sz="1100" b="1" kern="0" dirty="0" smtClean="0">
                <a:solidFill>
                  <a:srgbClr val="646464"/>
                </a:solidFill>
                <a:latin typeface="EYInterstate" pitchFamily="2" charset="0"/>
              </a:rPr>
              <a:t>Suspension bill : </a:t>
            </a:r>
            <a:r>
              <a:rPr lang="en-US" sz="1100" kern="0" dirty="0" smtClean="0">
                <a:solidFill>
                  <a:srgbClr val="646464"/>
                </a:solidFill>
                <a:latin typeface="EYInterstate" pitchFamily="2" charset="0"/>
              </a:rPr>
              <a:t>Sent when an account has been suspended. Includes all periodic charges, events, and adjustments.</a:t>
            </a:r>
          </a:p>
          <a:p>
            <a:pPr marL="795528" lvl="1" indent="-360363">
              <a:spcBef>
                <a:spcPts val="0"/>
              </a:spcBef>
              <a:buClr>
                <a:srgbClr val="FFD200"/>
              </a:buClr>
              <a:buSzPct val="75000"/>
              <a:buFont typeface="Arial" charset="0"/>
              <a:buChar char="►"/>
              <a:defRPr/>
            </a:pPr>
            <a:r>
              <a:rPr lang="en-US" sz="1100" b="1" kern="0" dirty="0" smtClean="0">
                <a:solidFill>
                  <a:srgbClr val="646464"/>
                </a:solidFill>
                <a:latin typeface="EYInterstate" pitchFamily="2" charset="0"/>
              </a:rPr>
              <a:t>Final bill : </a:t>
            </a:r>
            <a:r>
              <a:rPr lang="en-US" sz="1100" kern="0" dirty="0" smtClean="0">
                <a:solidFill>
                  <a:srgbClr val="646464"/>
                </a:solidFill>
                <a:latin typeface="EYInterstate" pitchFamily="2" charset="0"/>
              </a:rPr>
              <a:t>Invoice sent when an account has been terminated, this is done to bill all outstanding charges that are due. </a:t>
            </a:r>
          </a:p>
          <a:p>
            <a:pPr marL="795528" lvl="1" indent="-360363">
              <a:spcBef>
                <a:spcPts val="0"/>
              </a:spcBef>
              <a:buClr>
                <a:srgbClr val="FFD200"/>
              </a:buClr>
              <a:buSzPct val="75000"/>
              <a:buFont typeface="Arial" charset="0"/>
              <a:buChar char="►"/>
              <a:defRPr/>
            </a:pPr>
            <a:r>
              <a:rPr lang="en-US" sz="1100" b="1" kern="0" dirty="0" smtClean="0">
                <a:solidFill>
                  <a:srgbClr val="646464"/>
                </a:solidFill>
                <a:latin typeface="EYInterstate" pitchFamily="2" charset="0"/>
              </a:rPr>
              <a:t>Credit note : </a:t>
            </a:r>
            <a:r>
              <a:rPr lang="en-US" sz="1100" kern="0" dirty="0" smtClean="0">
                <a:solidFill>
                  <a:srgbClr val="646464"/>
                </a:solidFill>
                <a:latin typeface="EYInterstate" pitchFamily="2" charset="0"/>
              </a:rPr>
              <a:t>An extra bill that contains all adjustments in the customer’s favor generated since the last bill.</a:t>
            </a:r>
          </a:p>
          <a:p>
            <a:pPr marL="795528" lvl="1" indent="-360363">
              <a:spcBef>
                <a:spcPts val="0"/>
              </a:spcBef>
              <a:buClr>
                <a:srgbClr val="FFD200"/>
              </a:buClr>
              <a:buSzPct val="75000"/>
              <a:buFont typeface="Arial" charset="0"/>
              <a:buChar char="►"/>
              <a:defRPr/>
            </a:pPr>
            <a:endParaRPr lang="en-US" sz="1100" kern="0" dirty="0" smtClean="0">
              <a:solidFill>
                <a:srgbClr val="646464"/>
              </a:solidFill>
              <a:latin typeface="EYInterstate" pitchFamily="2" charset="0"/>
            </a:endParaRPr>
          </a:p>
          <a:p>
            <a:pPr marL="338328"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Bill Suppression: </a:t>
            </a:r>
            <a:r>
              <a:rPr lang="en-US" sz="1100" kern="0" dirty="0" smtClean="0">
                <a:solidFill>
                  <a:srgbClr val="646464"/>
                </a:solidFill>
                <a:latin typeface="EYInterstate" pitchFamily="2" charset="0"/>
              </a:rPr>
              <a:t>There may be a situation when it is not worth to generate a bill, and better to suppress the bill. Following are such type of situations :</a:t>
            </a:r>
          </a:p>
          <a:p>
            <a:pPr marL="795528" lvl="1" indent="-360363">
              <a:spcBef>
                <a:spcPts val="0"/>
              </a:spcBef>
              <a:buClr>
                <a:srgbClr val="FFD200"/>
              </a:buClr>
              <a:buSzPct val="75000"/>
              <a:buFont typeface="Arial" charset="0"/>
              <a:buChar char="►"/>
              <a:defRPr/>
            </a:pPr>
            <a:r>
              <a:rPr lang="en-US" sz="1100" kern="0" dirty="0" smtClean="0">
                <a:solidFill>
                  <a:srgbClr val="646464"/>
                </a:solidFill>
                <a:latin typeface="EYInterstate" pitchFamily="2" charset="0"/>
              </a:rPr>
              <a:t>Suppressing bills for accounts with zero (zero activity bills) or very little value (small bills).</a:t>
            </a:r>
          </a:p>
          <a:p>
            <a:pPr marL="795528" lvl="1" indent="-360363">
              <a:spcBef>
                <a:spcPts val="0"/>
              </a:spcBef>
              <a:buClr>
                <a:srgbClr val="FFD200"/>
              </a:buClr>
              <a:buSzPct val="75000"/>
              <a:buFont typeface="Arial" charset="0"/>
              <a:buChar char="►"/>
              <a:defRPr/>
            </a:pPr>
            <a:r>
              <a:rPr lang="en-US" sz="1100" kern="0" dirty="0" smtClean="0">
                <a:solidFill>
                  <a:srgbClr val="646464"/>
                </a:solidFill>
                <a:latin typeface="EYInterstate" pitchFamily="2" charset="0"/>
              </a:rPr>
              <a:t>A particular type of bill can also suppressed if multiple bill types are requested/scheduled at the same time and therefore preventing unnecessary bills from being sent to the customer.</a:t>
            </a:r>
          </a:p>
          <a:p>
            <a:pPr marL="795528" lvl="1" indent="-360363">
              <a:spcBef>
                <a:spcPts val="0"/>
              </a:spcBef>
              <a:buClr>
                <a:srgbClr val="FFD200"/>
              </a:buClr>
              <a:buSzPct val="75000"/>
              <a:buFont typeface="Arial" charset="0"/>
              <a:buChar char="►"/>
              <a:defRPr/>
            </a:pPr>
            <a:endParaRPr lang="en-US" sz="1100" kern="0" dirty="0" smtClean="0">
              <a:solidFill>
                <a:srgbClr val="646464"/>
              </a:solidFill>
              <a:latin typeface="EYInterstate" pitchFamily="2" charset="0"/>
            </a:endParaRPr>
          </a:p>
          <a:p>
            <a:pPr marL="338328" indent="-360363">
              <a:spcBef>
                <a:spcPts val="0"/>
              </a:spcBef>
              <a:buClr>
                <a:srgbClr val="FFD200"/>
              </a:buClr>
              <a:buSzPct val="75000"/>
              <a:buFont typeface="Arial" charset="0"/>
              <a:buChar char="►"/>
              <a:defRPr/>
            </a:pPr>
            <a:r>
              <a:rPr lang="en-US" sz="1400" b="1" kern="0" dirty="0" smtClean="0">
                <a:solidFill>
                  <a:srgbClr val="646464"/>
                </a:solidFill>
                <a:latin typeface="EYInterstate" pitchFamily="2" charset="0"/>
              </a:rPr>
              <a:t>Bill Itemization : </a:t>
            </a:r>
            <a:r>
              <a:rPr lang="en-US" sz="1100" kern="0" dirty="0" smtClean="0">
                <a:solidFill>
                  <a:srgbClr val="646464"/>
                </a:solidFill>
                <a:latin typeface="EYInterstate" pitchFamily="2" charset="0"/>
              </a:rPr>
              <a:t>By default, all the invoices provide a detail summary of product and services charges along with usage charges. But it does not provide a detail on all the calls made by the customer. An itemized bill means giving complete detail of all the calls made by the customer. This needs more number of papers to be printed. Recent trend is to send itemized bill through electronic email and summary statement is sent using a physical copy of the bill.</a:t>
            </a:r>
          </a:p>
          <a:p>
            <a:pPr marL="338328" indent="-360363">
              <a:spcBef>
                <a:spcPts val="0"/>
              </a:spcBef>
              <a:buClr>
                <a:srgbClr val="FFD200"/>
              </a:buClr>
              <a:buSzPct val="75000"/>
              <a:buFont typeface="Arial" charset="0"/>
              <a:buChar char="►"/>
              <a:defRPr/>
            </a:pPr>
            <a:endParaRPr lang="en-US" sz="1100" kern="0" dirty="0" smtClean="0">
              <a:solidFill>
                <a:srgbClr val="646464"/>
              </a:solidFill>
              <a:latin typeface="EYInterstate" pitchFamily="2" charset="0"/>
            </a:endParaRPr>
          </a:p>
          <a:p>
            <a:pPr marL="338328" indent="-360363">
              <a:spcBef>
                <a:spcPts val="0"/>
              </a:spcBef>
              <a:buClr>
                <a:srgbClr val="FFD200"/>
              </a:buClr>
              <a:buSzPct val="75000"/>
              <a:buFont typeface="Arial" charset="0"/>
              <a:buChar char="►"/>
              <a:defRPr/>
            </a:pPr>
            <a:endParaRPr lang="en-US" sz="1100" kern="0" dirty="0" smtClean="0">
              <a:solidFill>
                <a:srgbClr val="646464"/>
              </a:solidFill>
              <a:latin typeface="EYInterstate" pitchFamily="2" charset="0"/>
            </a:endParaRPr>
          </a:p>
          <a:p>
            <a:pPr marL="338328" indent="-360363">
              <a:spcBef>
                <a:spcPts val="0"/>
              </a:spcBef>
              <a:buClr>
                <a:srgbClr val="FFD200"/>
              </a:buClr>
              <a:buSzPct val="75000"/>
              <a:buFont typeface="Arial" charset="0"/>
              <a:buChar char="►"/>
              <a:defRPr/>
            </a:pPr>
            <a:endParaRPr lang="en-US" sz="1100" kern="0" dirty="0" smtClean="0">
              <a:solidFill>
                <a:srgbClr val="646464"/>
              </a:solidFill>
              <a:latin typeface="EYInterstate" pitchFamily="2"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00025"/>
            <a:ext cx="8232775" cy="863600"/>
          </a:xfrm>
          <a:prstGeom prst="rect">
            <a:avLst/>
          </a:prstGeom>
        </p:spPr>
        <p:txBody>
          <a:bodyPr/>
          <a:lstStyle/>
          <a:p>
            <a:pPr marL="0" marR="0" lvl="0" indent="0" algn="l" defTabSz="914400" rtl="0" eaLnBrk="1" fontAlgn="base" latinLnBrk="0" hangingPunct="1">
              <a:lnSpc>
                <a:spcPct val="85000"/>
              </a:lnSpc>
              <a:spcBef>
                <a:spcPct val="0"/>
              </a:spcBef>
              <a:spcAft>
                <a:spcPct val="0"/>
              </a:spcAft>
              <a:buClrTx/>
              <a:buSzTx/>
              <a:buFontTx/>
              <a:buNone/>
              <a:tabLst>
                <a:tab pos="400050" algn="l"/>
              </a:tabLst>
              <a:defRPr/>
            </a:pPr>
            <a:r>
              <a:rPr kumimoji="0" lang="en-US" sz="2400" b="1" i="0" u="none" strike="noStrike" kern="0" cap="none" spc="0" normalizeH="0" baseline="0" noProof="0" dirty="0" smtClean="0">
                <a:ln>
                  <a:noFill/>
                </a:ln>
                <a:solidFill>
                  <a:srgbClr val="646464"/>
                </a:solidFill>
                <a:effectLst/>
                <a:uLnTx/>
                <a:uFillTx/>
                <a:latin typeface="EYInterstate" pitchFamily="2" charset="0"/>
                <a:ea typeface="+mj-ea"/>
                <a:cs typeface="+mj-cs"/>
              </a:rPr>
              <a:t>Key Concept – Collection</a:t>
            </a:r>
            <a:r>
              <a:rPr kumimoji="0" lang="en-US" sz="2400" b="1" i="0" u="none" strike="noStrike" kern="0" cap="none" spc="0" normalizeH="0" noProof="0" dirty="0" smtClean="0">
                <a:ln>
                  <a:noFill/>
                </a:ln>
                <a:solidFill>
                  <a:srgbClr val="646464"/>
                </a:solidFill>
                <a:effectLst/>
                <a:uLnTx/>
                <a:uFillTx/>
                <a:latin typeface="EYInterstate" pitchFamily="2" charset="0"/>
                <a:ea typeface="+mj-ea"/>
                <a:cs typeface="+mj-cs"/>
              </a:rPr>
              <a:t> &amp; Dunning</a:t>
            </a:r>
            <a:endParaRPr kumimoji="0" lang="en-US" sz="2400" b="1" i="0" u="none" strike="noStrike" kern="0" cap="none" spc="0" normalizeH="0" baseline="0" noProof="0" dirty="0">
              <a:ln>
                <a:noFill/>
              </a:ln>
              <a:solidFill>
                <a:srgbClr val="000000"/>
              </a:solidFill>
              <a:effectLst/>
              <a:uLnTx/>
              <a:uFillTx/>
              <a:latin typeface="EYInterstate Light" pitchFamily="2" charset="0"/>
              <a:ea typeface="+mj-ea"/>
              <a:cs typeface="+mj-cs"/>
            </a:endParaRPr>
          </a:p>
        </p:txBody>
      </p:sp>
      <p:grpSp>
        <p:nvGrpSpPr>
          <p:cNvPr id="34" name="Group 33"/>
          <p:cNvGrpSpPr/>
          <p:nvPr/>
        </p:nvGrpSpPr>
        <p:grpSpPr>
          <a:xfrm>
            <a:off x="304800" y="1981200"/>
            <a:ext cx="8467344" cy="2877681"/>
            <a:chOff x="304800" y="1981200"/>
            <a:chExt cx="8467344" cy="2877681"/>
          </a:xfrm>
        </p:grpSpPr>
        <p:sp>
          <p:nvSpPr>
            <p:cNvPr id="35" name="Rectangle 34"/>
            <p:cNvSpPr/>
            <p:nvPr/>
          </p:nvSpPr>
          <p:spPr>
            <a:xfrm>
              <a:off x="3990187" y="3432381"/>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36" name="Rectangle 35"/>
            <p:cNvSpPr/>
            <p:nvPr/>
          </p:nvSpPr>
          <p:spPr>
            <a:xfrm>
              <a:off x="1531449" y="3438477"/>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37"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38"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73" name="Rectangle 72"/>
              <p:cNvSpPr/>
              <p:nvPr/>
            </p:nvSpPr>
            <p:spPr>
              <a:xfrm>
                <a:off x="4599803" y="2102667"/>
                <a:ext cx="1329095" cy="140165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4" name="Rectangle 23"/>
              <p:cNvSpPr>
                <a:spLocks noChangeArrowheads="1"/>
              </p:cNvSpPr>
              <p:nvPr/>
            </p:nvSpPr>
            <p:spPr bwMode="auto">
              <a:xfrm>
                <a:off x="4633035" y="2162263"/>
                <a:ext cx="1136666" cy="373599"/>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39" name="Rectangle 22"/>
            <p:cNvSpPr>
              <a:spLocks noChangeArrowheads="1"/>
            </p:cNvSpPr>
            <p:nvPr/>
          </p:nvSpPr>
          <p:spPr bwMode="auto">
            <a:xfrm>
              <a:off x="4027182" y="4038600"/>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40"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71" name="Rectangle 70"/>
              <p:cNvSpPr/>
              <p:nvPr/>
            </p:nvSpPr>
            <p:spPr>
              <a:xfrm>
                <a:off x="5972094" y="3483677"/>
                <a:ext cx="1329077" cy="1401653"/>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2" name="Rectangle 24"/>
              <p:cNvSpPr>
                <a:spLocks noChangeArrowheads="1"/>
              </p:cNvSpPr>
              <p:nvPr/>
            </p:nvSpPr>
            <p:spPr bwMode="auto">
              <a:xfrm>
                <a:off x="6011147" y="4464151"/>
                <a:ext cx="1136650" cy="384691"/>
              </a:xfrm>
              <a:prstGeom prst="rect">
                <a:avLst/>
              </a:prstGeom>
              <a:solidFill>
                <a:srgbClr val="FFD200"/>
              </a:solidFill>
              <a:ln w="9525">
                <a:noFill/>
                <a:miter lim="800000"/>
                <a:headEnd/>
                <a:tailEnd/>
              </a:ln>
            </p:spPr>
            <p:txBody>
              <a:bodyPr lIns="0" tIns="0" rIns="0" bIns="0">
                <a:spAutoFit/>
              </a:bodyPr>
              <a:lstStyle/>
              <a:p>
                <a:pPr>
                  <a:lnSpc>
                    <a:spcPts val="1500"/>
                  </a:lnSpc>
                  <a:buClr>
                    <a:srgbClr val="FFD200"/>
                  </a:buClr>
                  <a:buSzPct val="75000"/>
                  <a:buFont typeface="Arial" pitchFamily="34" charset="0"/>
                  <a:buNone/>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1"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42"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43" name="Group 44"/>
            <p:cNvGrpSpPr/>
            <p:nvPr/>
          </p:nvGrpSpPr>
          <p:grpSpPr>
            <a:xfrm>
              <a:off x="304800" y="1993408"/>
              <a:ext cx="1185681" cy="1479901"/>
              <a:chOff x="402336" y="1993408"/>
              <a:chExt cx="1185681" cy="1479901"/>
            </a:xfrm>
          </p:grpSpPr>
          <p:sp>
            <p:nvSpPr>
              <p:cNvPr id="67" name="Rectangle 66"/>
              <p:cNvSpPr/>
              <p:nvPr/>
            </p:nvSpPr>
            <p:spPr>
              <a:xfrm>
                <a:off x="402336" y="1993408"/>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8"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69"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0"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44" name="Isosceles Triangle 43"/>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5" name="Isosceles Triangle 44"/>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6" name="Isosceles Triangle 45"/>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47" name="Group 97"/>
            <p:cNvGrpSpPr/>
            <p:nvPr/>
          </p:nvGrpSpPr>
          <p:grpSpPr>
            <a:xfrm>
              <a:off x="2544987" y="1993408"/>
              <a:ext cx="1402929" cy="1563815"/>
              <a:chOff x="2544987" y="1993408"/>
              <a:chExt cx="1402929" cy="1563815"/>
            </a:xfrm>
          </p:grpSpPr>
          <p:sp>
            <p:nvSpPr>
              <p:cNvPr id="62" name="Rectangle 61"/>
              <p:cNvSpPr/>
              <p:nvPr/>
            </p:nvSpPr>
            <p:spPr>
              <a:xfrm>
                <a:off x="2762235" y="1993408"/>
                <a:ext cx="1185681"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3" name="Rectangle 62"/>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64" name="Isosceles Triangle 63"/>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5" name="Isosceles Triangle 64"/>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6" name="Rectangle 65"/>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48" name="Rectangle 47"/>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49" name="Rectangle 48"/>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50" name="Rectangle 49"/>
            <p:cNvSpPr/>
            <p:nvPr/>
          </p:nvSpPr>
          <p:spPr>
            <a:xfrm>
              <a:off x="4022825" y="33528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51" name="Rectangle 50"/>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52"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53"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54"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55" name="Picture 5"/>
            <p:cNvPicPr>
              <a:picLocks noChangeArrowheads="1"/>
            </p:cNvPicPr>
            <p:nvPr/>
          </p:nvPicPr>
          <p:blipFill>
            <a:blip r:embed="rId7" cstate="print"/>
            <a:srcRect/>
            <a:stretch>
              <a:fillRect/>
            </a:stretch>
          </p:blipFill>
          <p:spPr bwMode="auto">
            <a:xfrm>
              <a:off x="6436868" y="2013039"/>
              <a:ext cx="1183132" cy="1399032"/>
            </a:xfrm>
            <a:prstGeom prst="rect">
              <a:avLst/>
            </a:prstGeom>
            <a:solidFill>
              <a:schemeClr val="tx1">
                <a:lumMod val="20000"/>
                <a:lumOff val="80000"/>
              </a:schemeClr>
            </a:solidFill>
            <a:ln>
              <a:noFill/>
            </a:ln>
          </p:spPr>
        </p:pic>
        <p:pic>
          <p:nvPicPr>
            <p:cNvPr id="56" name="Picture 2"/>
            <p:cNvPicPr>
              <a:picLocks noChangeAspect="1" noChangeArrowheads="1"/>
            </p:cNvPicPr>
            <p:nvPr/>
          </p:nvPicPr>
          <p:blipFill>
            <a:blip r:embed="rId8" cstate="print"/>
            <a:srcRect/>
            <a:stretch>
              <a:fillRect/>
            </a:stretch>
          </p:blipFill>
          <p:spPr bwMode="auto">
            <a:xfrm>
              <a:off x="7674863" y="3429000"/>
              <a:ext cx="1097280" cy="1429881"/>
            </a:xfrm>
            <a:prstGeom prst="rect">
              <a:avLst/>
            </a:prstGeom>
            <a:solidFill>
              <a:schemeClr val="tx1">
                <a:lumMod val="20000"/>
                <a:lumOff val="80000"/>
              </a:schemeClr>
            </a:solidFill>
            <a:ln>
              <a:noFill/>
            </a:ln>
          </p:spPr>
        </p:pic>
        <p:grpSp>
          <p:nvGrpSpPr>
            <p:cNvPr id="57" name="Group 45"/>
            <p:cNvGrpSpPr/>
            <p:nvPr/>
          </p:nvGrpSpPr>
          <p:grpSpPr>
            <a:xfrm>
              <a:off x="7674864" y="1981200"/>
              <a:ext cx="1097280" cy="1479901"/>
              <a:chOff x="402336" y="1993408"/>
              <a:chExt cx="1185681" cy="1479901"/>
            </a:xfrm>
          </p:grpSpPr>
          <p:sp>
            <p:nvSpPr>
              <p:cNvPr id="58" name="Rectangle 57"/>
              <p:cNvSpPr/>
              <p:nvPr/>
            </p:nvSpPr>
            <p:spPr>
              <a:xfrm>
                <a:off x="402336" y="1993408"/>
                <a:ext cx="1185681" cy="14017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9" name="Rectangle 58"/>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60" name="Isosceles Triangle 59"/>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1"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a:lnSpc>
                <a:spcPct val="85000"/>
              </a:lnSpc>
              <a:tabLst>
                <a:tab pos="400050" algn="l"/>
              </a:tabLst>
              <a:defRPr/>
            </a:pPr>
            <a:r>
              <a:rPr lang="en-US" sz="3000" b="1" kern="0" dirty="0" smtClean="0">
                <a:solidFill>
                  <a:schemeClr val="accent1"/>
                </a:solidFill>
                <a:latin typeface="EYInterstate" pitchFamily="2" charset="0"/>
                <a:ea typeface="+mj-ea"/>
                <a:cs typeface="+mj-cs"/>
              </a:rPr>
              <a:t>Postpaid Flow – Collection and Dunning</a:t>
            </a:r>
          </a:p>
        </p:txBody>
      </p:sp>
      <p:graphicFrame>
        <p:nvGraphicFramePr>
          <p:cNvPr id="3" name="Object 3"/>
          <p:cNvGraphicFramePr>
            <a:graphicFrameLocks noChangeAspect="1"/>
          </p:cNvGraphicFramePr>
          <p:nvPr/>
        </p:nvGraphicFramePr>
        <p:xfrm>
          <a:off x="554038" y="3063875"/>
          <a:ext cx="403225" cy="525462"/>
        </p:xfrm>
        <a:graphic>
          <a:graphicData uri="http://schemas.openxmlformats.org/presentationml/2006/ole">
            <p:oleObj spid="_x0000_s47106" name="Visio" r:id="rId3" imgW="593588" imgH="774104" progId="">
              <p:embed/>
            </p:oleObj>
          </a:graphicData>
        </a:graphic>
      </p:graphicFrame>
      <p:sp>
        <p:nvSpPr>
          <p:cNvPr id="4" name="Rectangle 4"/>
          <p:cNvSpPr>
            <a:spLocks noChangeArrowheads="1"/>
          </p:cNvSpPr>
          <p:nvPr/>
        </p:nvSpPr>
        <p:spPr bwMode="auto">
          <a:xfrm>
            <a:off x="1228725" y="1600200"/>
            <a:ext cx="582613"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Order Entry</a:t>
            </a:r>
          </a:p>
        </p:txBody>
      </p:sp>
      <p:sp>
        <p:nvSpPr>
          <p:cNvPr id="5" name="Rectangle 5"/>
          <p:cNvSpPr>
            <a:spLocks noChangeArrowheads="1"/>
          </p:cNvSpPr>
          <p:nvPr/>
        </p:nvSpPr>
        <p:spPr bwMode="auto">
          <a:xfrm>
            <a:off x="2328863" y="1600200"/>
            <a:ext cx="582612"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Pro-visioning</a:t>
            </a:r>
          </a:p>
        </p:txBody>
      </p:sp>
      <p:sp>
        <p:nvSpPr>
          <p:cNvPr id="6" name="Rectangle 6"/>
          <p:cNvSpPr>
            <a:spLocks noChangeArrowheads="1"/>
          </p:cNvSpPr>
          <p:nvPr/>
        </p:nvSpPr>
        <p:spPr bwMode="auto">
          <a:xfrm>
            <a:off x="2328863" y="3035300"/>
            <a:ext cx="582612"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Traffic</a:t>
            </a:r>
          </a:p>
          <a:p>
            <a:pPr algn="ctr" eaLnBrk="0" hangingPunct="0">
              <a:spcBef>
                <a:spcPct val="0"/>
              </a:spcBef>
            </a:pPr>
            <a:r>
              <a:rPr lang="en-GB" sz="900">
                <a:latin typeface="EYInterstate" pitchFamily="2" charset="0"/>
              </a:rPr>
              <a:t>regis-tration</a:t>
            </a:r>
          </a:p>
        </p:txBody>
      </p:sp>
      <p:sp>
        <p:nvSpPr>
          <p:cNvPr id="7" name="Rectangle 7"/>
          <p:cNvSpPr>
            <a:spLocks noChangeArrowheads="1"/>
          </p:cNvSpPr>
          <p:nvPr/>
        </p:nvSpPr>
        <p:spPr bwMode="auto">
          <a:xfrm>
            <a:off x="3427413" y="3035300"/>
            <a:ext cx="582612"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Mediation</a:t>
            </a:r>
          </a:p>
        </p:txBody>
      </p:sp>
      <p:sp>
        <p:nvSpPr>
          <p:cNvPr id="8" name="Rectangle 8"/>
          <p:cNvSpPr>
            <a:spLocks noChangeArrowheads="1"/>
          </p:cNvSpPr>
          <p:nvPr/>
        </p:nvSpPr>
        <p:spPr bwMode="auto">
          <a:xfrm>
            <a:off x="4525963" y="3035300"/>
            <a:ext cx="582612"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dirty="0">
                <a:latin typeface="EYInterstate" pitchFamily="2" charset="0"/>
              </a:rPr>
              <a:t>Usage</a:t>
            </a:r>
          </a:p>
          <a:p>
            <a:pPr algn="ctr" eaLnBrk="0" hangingPunct="0">
              <a:spcBef>
                <a:spcPct val="0"/>
              </a:spcBef>
            </a:pPr>
            <a:r>
              <a:rPr lang="en-GB" sz="900" dirty="0" smtClean="0">
                <a:latin typeface="EYInterstate" pitchFamily="2" charset="0"/>
              </a:rPr>
              <a:t>processing</a:t>
            </a:r>
            <a:endParaRPr lang="en-GB" sz="900" dirty="0">
              <a:latin typeface="EYInterstate" pitchFamily="2" charset="0"/>
            </a:endParaRPr>
          </a:p>
        </p:txBody>
      </p:sp>
      <p:sp>
        <p:nvSpPr>
          <p:cNvPr id="9" name="Rectangle 9"/>
          <p:cNvSpPr>
            <a:spLocks noChangeArrowheads="1"/>
          </p:cNvSpPr>
          <p:nvPr/>
        </p:nvSpPr>
        <p:spPr bwMode="auto">
          <a:xfrm>
            <a:off x="6724650" y="3035300"/>
            <a:ext cx="582613"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Billing</a:t>
            </a:r>
          </a:p>
        </p:txBody>
      </p:sp>
      <p:sp>
        <p:nvSpPr>
          <p:cNvPr id="10" name="Rectangle 10"/>
          <p:cNvSpPr>
            <a:spLocks noChangeArrowheads="1"/>
          </p:cNvSpPr>
          <p:nvPr/>
        </p:nvSpPr>
        <p:spPr bwMode="auto">
          <a:xfrm>
            <a:off x="5626100" y="3035300"/>
            <a:ext cx="582613"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Rating</a:t>
            </a:r>
          </a:p>
        </p:txBody>
      </p:sp>
      <p:sp>
        <p:nvSpPr>
          <p:cNvPr id="11" name="Rectangle 11"/>
          <p:cNvSpPr>
            <a:spLocks noChangeArrowheads="1"/>
          </p:cNvSpPr>
          <p:nvPr/>
        </p:nvSpPr>
        <p:spPr bwMode="auto">
          <a:xfrm>
            <a:off x="7824788" y="3035300"/>
            <a:ext cx="709612"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dirty="0">
                <a:latin typeface="EYInterstate" pitchFamily="2" charset="0"/>
              </a:rPr>
              <a:t>Accounting</a:t>
            </a:r>
          </a:p>
        </p:txBody>
      </p:sp>
      <p:sp>
        <p:nvSpPr>
          <p:cNvPr id="12" name="Rectangle 12"/>
          <p:cNvSpPr>
            <a:spLocks noChangeArrowheads="1"/>
          </p:cNvSpPr>
          <p:nvPr/>
        </p:nvSpPr>
        <p:spPr bwMode="auto">
          <a:xfrm>
            <a:off x="7412038" y="4695825"/>
            <a:ext cx="582612" cy="582612"/>
          </a:xfrm>
          <a:prstGeom prst="rect">
            <a:avLst/>
          </a:prstGeom>
          <a:solidFill>
            <a:srgbClr val="DDDDDD"/>
          </a:solidFill>
          <a:ln w="38100">
            <a:solidFill>
              <a:schemeClr val="tx1"/>
            </a:solidFill>
            <a:miter lim="800000"/>
            <a:headEnd/>
            <a:tailEnd/>
          </a:ln>
          <a:effectLst/>
        </p:spPr>
        <p:txBody>
          <a:bodyPr lIns="18000" tIns="46800" rIns="18000" bIns="46800" anchor="ctr"/>
          <a:lstStyle/>
          <a:p>
            <a:pPr algn="ctr" eaLnBrk="0" hangingPunct="0">
              <a:spcBef>
                <a:spcPct val="0"/>
              </a:spcBef>
            </a:pPr>
            <a:r>
              <a:rPr lang="en-GB" sz="900">
                <a:latin typeface="EYInterstate" pitchFamily="2" charset="0"/>
              </a:rPr>
              <a:t>Collection</a:t>
            </a:r>
          </a:p>
        </p:txBody>
      </p:sp>
      <p:cxnSp>
        <p:nvCxnSpPr>
          <p:cNvPr id="13" name="AutoShape 13"/>
          <p:cNvCxnSpPr>
            <a:cxnSpLocks noChangeShapeType="1"/>
            <a:endCxn id="6" idx="1"/>
          </p:cNvCxnSpPr>
          <p:nvPr/>
        </p:nvCxnSpPr>
        <p:spPr bwMode="auto">
          <a:xfrm>
            <a:off x="957263" y="3327400"/>
            <a:ext cx="1352550" cy="0"/>
          </a:xfrm>
          <a:prstGeom prst="straightConnector1">
            <a:avLst/>
          </a:prstGeom>
          <a:noFill/>
          <a:ln w="19050">
            <a:solidFill>
              <a:schemeClr val="tx1"/>
            </a:solidFill>
            <a:round/>
            <a:headEnd/>
            <a:tailEnd type="triangle" w="med" len="med"/>
          </a:ln>
          <a:effectLst/>
        </p:spPr>
      </p:cxnSp>
      <p:cxnSp>
        <p:nvCxnSpPr>
          <p:cNvPr id="14" name="AutoShape 14"/>
          <p:cNvCxnSpPr>
            <a:cxnSpLocks noChangeShapeType="1"/>
            <a:stCxn id="6" idx="3"/>
            <a:endCxn id="7" idx="1"/>
          </p:cNvCxnSpPr>
          <p:nvPr/>
        </p:nvCxnSpPr>
        <p:spPr bwMode="auto">
          <a:xfrm>
            <a:off x="2930525" y="3327400"/>
            <a:ext cx="477838" cy="0"/>
          </a:xfrm>
          <a:prstGeom prst="straightConnector1">
            <a:avLst/>
          </a:prstGeom>
          <a:noFill/>
          <a:ln w="19050">
            <a:solidFill>
              <a:schemeClr val="tx1"/>
            </a:solidFill>
            <a:round/>
            <a:headEnd/>
            <a:tailEnd type="triangle" w="med" len="med"/>
          </a:ln>
          <a:effectLst/>
        </p:spPr>
      </p:cxnSp>
      <p:cxnSp>
        <p:nvCxnSpPr>
          <p:cNvPr id="15" name="AutoShape 15"/>
          <p:cNvCxnSpPr>
            <a:cxnSpLocks noChangeShapeType="1"/>
            <a:stCxn id="7" idx="3"/>
            <a:endCxn id="8" idx="1"/>
          </p:cNvCxnSpPr>
          <p:nvPr/>
        </p:nvCxnSpPr>
        <p:spPr bwMode="auto">
          <a:xfrm>
            <a:off x="4029075" y="3327400"/>
            <a:ext cx="477838" cy="0"/>
          </a:xfrm>
          <a:prstGeom prst="straightConnector1">
            <a:avLst/>
          </a:prstGeom>
          <a:noFill/>
          <a:ln w="19050">
            <a:solidFill>
              <a:schemeClr val="tx1"/>
            </a:solidFill>
            <a:round/>
            <a:headEnd/>
            <a:tailEnd type="triangle" w="med" len="med"/>
          </a:ln>
          <a:effectLst/>
        </p:spPr>
      </p:cxnSp>
      <p:cxnSp>
        <p:nvCxnSpPr>
          <p:cNvPr id="16" name="AutoShape 16"/>
          <p:cNvCxnSpPr>
            <a:cxnSpLocks noChangeShapeType="1"/>
            <a:stCxn id="8" idx="3"/>
            <a:endCxn id="10" idx="1"/>
          </p:cNvCxnSpPr>
          <p:nvPr/>
        </p:nvCxnSpPr>
        <p:spPr bwMode="auto">
          <a:xfrm>
            <a:off x="5127625" y="3327400"/>
            <a:ext cx="479425" cy="0"/>
          </a:xfrm>
          <a:prstGeom prst="straightConnector1">
            <a:avLst/>
          </a:prstGeom>
          <a:noFill/>
          <a:ln w="19050">
            <a:solidFill>
              <a:schemeClr val="tx1"/>
            </a:solidFill>
            <a:round/>
            <a:headEnd/>
            <a:tailEnd type="triangle" w="med" len="med"/>
          </a:ln>
          <a:effectLst/>
        </p:spPr>
      </p:cxnSp>
      <p:cxnSp>
        <p:nvCxnSpPr>
          <p:cNvPr id="17" name="AutoShape 17"/>
          <p:cNvCxnSpPr>
            <a:cxnSpLocks noChangeShapeType="1"/>
            <a:stCxn id="10" idx="3"/>
            <a:endCxn id="9" idx="1"/>
          </p:cNvCxnSpPr>
          <p:nvPr/>
        </p:nvCxnSpPr>
        <p:spPr bwMode="auto">
          <a:xfrm>
            <a:off x="6227763" y="3327400"/>
            <a:ext cx="477837" cy="0"/>
          </a:xfrm>
          <a:prstGeom prst="straightConnector1">
            <a:avLst/>
          </a:prstGeom>
          <a:noFill/>
          <a:ln w="19050">
            <a:solidFill>
              <a:schemeClr val="tx1"/>
            </a:solidFill>
            <a:round/>
            <a:headEnd/>
            <a:tailEnd type="triangle" w="med" len="med"/>
          </a:ln>
          <a:effectLst/>
        </p:spPr>
      </p:cxnSp>
      <p:cxnSp>
        <p:nvCxnSpPr>
          <p:cNvPr id="18" name="AutoShape 18"/>
          <p:cNvCxnSpPr>
            <a:cxnSpLocks noChangeShapeType="1"/>
            <a:stCxn id="9" idx="3"/>
            <a:endCxn id="11" idx="1"/>
          </p:cNvCxnSpPr>
          <p:nvPr/>
        </p:nvCxnSpPr>
        <p:spPr bwMode="auto">
          <a:xfrm>
            <a:off x="7307263" y="3326606"/>
            <a:ext cx="517525" cy="0"/>
          </a:xfrm>
          <a:prstGeom prst="straightConnector1">
            <a:avLst/>
          </a:prstGeom>
          <a:noFill/>
          <a:ln w="19050">
            <a:solidFill>
              <a:schemeClr val="tx1"/>
            </a:solidFill>
            <a:round/>
            <a:headEnd/>
            <a:tailEnd type="triangle" w="med" len="med"/>
          </a:ln>
          <a:effectLst/>
        </p:spPr>
      </p:cxnSp>
      <p:cxnSp>
        <p:nvCxnSpPr>
          <p:cNvPr id="19" name="AutoShape 19"/>
          <p:cNvCxnSpPr>
            <a:cxnSpLocks noChangeShapeType="1"/>
            <a:stCxn id="12" idx="3"/>
            <a:endCxn id="11" idx="2"/>
          </p:cNvCxnSpPr>
          <p:nvPr/>
        </p:nvCxnSpPr>
        <p:spPr bwMode="auto">
          <a:xfrm flipV="1">
            <a:off x="7994650" y="3617912"/>
            <a:ext cx="184944" cy="1369219"/>
          </a:xfrm>
          <a:prstGeom prst="bentConnector2">
            <a:avLst/>
          </a:prstGeom>
          <a:noFill/>
          <a:ln w="19050">
            <a:solidFill>
              <a:schemeClr val="tx1"/>
            </a:solidFill>
            <a:miter lim="800000"/>
            <a:headEnd/>
            <a:tailEnd type="triangle" w="med" len="med"/>
          </a:ln>
          <a:effectLst/>
        </p:spPr>
      </p:cxnSp>
      <p:cxnSp>
        <p:nvCxnSpPr>
          <p:cNvPr id="20" name="AutoShape 20"/>
          <p:cNvCxnSpPr>
            <a:cxnSpLocks noChangeShapeType="1"/>
            <a:stCxn id="4" idx="3"/>
            <a:endCxn id="5" idx="1"/>
          </p:cNvCxnSpPr>
          <p:nvPr/>
        </p:nvCxnSpPr>
        <p:spPr bwMode="auto">
          <a:xfrm>
            <a:off x="1830388" y="1892300"/>
            <a:ext cx="479425" cy="0"/>
          </a:xfrm>
          <a:prstGeom prst="straightConnector1">
            <a:avLst/>
          </a:prstGeom>
          <a:noFill/>
          <a:ln w="19050">
            <a:solidFill>
              <a:schemeClr val="tx1"/>
            </a:solidFill>
            <a:round/>
            <a:headEnd/>
            <a:tailEnd type="triangle" w="med" len="med"/>
          </a:ln>
          <a:effectLst/>
        </p:spPr>
      </p:cxnSp>
      <p:cxnSp>
        <p:nvCxnSpPr>
          <p:cNvPr id="21" name="AutoShape 21"/>
          <p:cNvCxnSpPr>
            <a:cxnSpLocks noChangeShapeType="1"/>
            <a:stCxn id="5" idx="2"/>
            <a:endCxn id="6" idx="0"/>
          </p:cNvCxnSpPr>
          <p:nvPr/>
        </p:nvCxnSpPr>
        <p:spPr bwMode="auto">
          <a:xfrm>
            <a:off x="2620963" y="2201862"/>
            <a:ext cx="0" cy="814388"/>
          </a:xfrm>
          <a:prstGeom prst="straightConnector1">
            <a:avLst/>
          </a:prstGeom>
          <a:noFill/>
          <a:ln w="19050">
            <a:solidFill>
              <a:schemeClr val="tx1"/>
            </a:solidFill>
            <a:round/>
            <a:headEnd/>
            <a:tailEnd type="triangle" w="med" len="med"/>
          </a:ln>
          <a:effectLst/>
        </p:spPr>
      </p:cxnSp>
      <p:sp>
        <p:nvSpPr>
          <p:cNvPr id="22" name="Text Box 22"/>
          <p:cNvSpPr txBox="1">
            <a:spLocks noChangeArrowheads="1"/>
          </p:cNvSpPr>
          <p:nvPr/>
        </p:nvSpPr>
        <p:spPr bwMode="auto">
          <a:xfrm>
            <a:off x="1647165" y="3167062"/>
            <a:ext cx="353746" cy="233014"/>
          </a:xfrm>
          <a:prstGeom prst="rect">
            <a:avLst/>
          </a:prstGeom>
          <a:solidFill>
            <a:schemeClr val="bg1"/>
          </a:solidFill>
          <a:ln w="19050">
            <a:noFill/>
            <a:miter lim="800000"/>
            <a:headEnd/>
            <a:tailEnd/>
          </a:ln>
          <a:effectLst/>
        </p:spPr>
        <p:txBody>
          <a:bodyPr wrap="none" lIns="18000" tIns="46800" rIns="18000" bIns="46800">
            <a:spAutoFit/>
          </a:bodyPr>
          <a:lstStyle/>
          <a:p>
            <a:pPr algn="ctr" eaLnBrk="0" hangingPunct="0">
              <a:spcBef>
                <a:spcPct val="0"/>
              </a:spcBef>
            </a:pPr>
            <a:r>
              <a:rPr lang="en-GB" sz="900">
                <a:latin typeface="EYInterstate" pitchFamily="2" charset="0"/>
              </a:rPr>
              <a:t>usage</a:t>
            </a:r>
          </a:p>
        </p:txBody>
      </p:sp>
      <p:sp>
        <p:nvSpPr>
          <p:cNvPr id="23" name="AutoShape 23"/>
          <p:cNvSpPr>
            <a:spLocks noChangeArrowheads="1"/>
          </p:cNvSpPr>
          <p:nvPr/>
        </p:nvSpPr>
        <p:spPr bwMode="auto">
          <a:xfrm>
            <a:off x="3835400" y="1827212"/>
            <a:ext cx="571500" cy="474663"/>
          </a:xfrm>
          <a:prstGeom prst="foldedCorner">
            <a:avLst>
              <a:gd name="adj" fmla="val 12500"/>
            </a:avLst>
          </a:prstGeom>
          <a:noFill/>
          <a:ln w="19050">
            <a:solidFill>
              <a:schemeClr val="tx1"/>
            </a:solidFill>
            <a:round/>
            <a:headEnd/>
            <a:tailEnd/>
          </a:ln>
          <a:effectLst/>
        </p:spPr>
        <p:txBody>
          <a:bodyPr lIns="18000" tIns="46800" rIns="18000" bIns="46800" anchor="ctr"/>
          <a:lstStyle/>
          <a:p>
            <a:pPr algn="ctr" eaLnBrk="0" hangingPunct="0">
              <a:spcBef>
                <a:spcPct val="0"/>
              </a:spcBef>
            </a:pPr>
            <a:r>
              <a:rPr lang="en-GB" sz="900">
                <a:latin typeface="EYInterstate" pitchFamily="2" charset="0"/>
              </a:rPr>
              <a:t>Rejected CDRs</a:t>
            </a:r>
          </a:p>
        </p:txBody>
      </p:sp>
      <p:sp>
        <p:nvSpPr>
          <p:cNvPr id="24" name="AutoShape 24"/>
          <p:cNvSpPr>
            <a:spLocks noChangeArrowheads="1"/>
          </p:cNvSpPr>
          <p:nvPr/>
        </p:nvSpPr>
        <p:spPr bwMode="auto">
          <a:xfrm>
            <a:off x="3832225" y="2346325"/>
            <a:ext cx="573088" cy="476250"/>
          </a:xfrm>
          <a:prstGeom prst="foldedCorner">
            <a:avLst>
              <a:gd name="adj" fmla="val 12500"/>
            </a:avLst>
          </a:prstGeom>
          <a:noFill/>
          <a:ln w="19050">
            <a:solidFill>
              <a:schemeClr val="tx1"/>
            </a:solidFill>
            <a:round/>
            <a:headEnd/>
            <a:tailEnd/>
          </a:ln>
          <a:effectLst/>
        </p:spPr>
        <p:txBody>
          <a:bodyPr lIns="18000" tIns="46800" rIns="18000" bIns="46800" anchor="ctr"/>
          <a:lstStyle/>
          <a:p>
            <a:pPr algn="ctr" eaLnBrk="0" hangingPunct="0">
              <a:spcBef>
                <a:spcPct val="0"/>
              </a:spcBef>
            </a:pPr>
            <a:r>
              <a:rPr lang="en-GB" sz="900">
                <a:latin typeface="EYInterstate" pitchFamily="2" charset="0"/>
              </a:rPr>
              <a:t>Filtered CDRs</a:t>
            </a:r>
          </a:p>
        </p:txBody>
      </p:sp>
      <p:cxnSp>
        <p:nvCxnSpPr>
          <p:cNvPr id="25" name="AutoShape 25"/>
          <p:cNvCxnSpPr>
            <a:cxnSpLocks noChangeShapeType="1"/>
            <a:stCxn id="7" idx="0"/>
            <a:endCxn id="23" idx="1"/>
          </p:cNvCxnSpPr>
          <p:nvPr/>
        </p:nvCxnSpPr>
        <p:spPr bwMode="auto">
          <a:xfrm rot="16200000">
            <a:off x="3297237" y="2487613"/>
            <a:ext cx="950913" cy="106362"/>
          </a:xfrm>
          <a:prstGeom prst="bentConnector2">
            <a:avLst/>
          </a:prstGeom>
          <a:noFill/>
          <a:ln w="19050">
            <a:solidFill>
              <a:schemeClr val="tx1"/>
            </a:solidFill>
            <a:miter lim="800000"/>
            <a:headEnd/>
            <a:tailEnd/>
          </a:ln>
          <a:effectLst/>
        </p:spPr>
      </p:cxnSp>
      <p:cxnSp>
        <p:nvCxnSpPr>
          <p:cNvPr id="26" name="AutoShape 26"/>
          <p:cNvCxnSpPr>
            <a:cxnSpLocks noChangeShapeType="1"/>
            <a:stCxn id="7" idx="0"/>
            <a:endCxn id="24" idx="1"/>
          </p:cNvCxnSpPr>
          <p:nvPr/>
        </p:nvCxnSpPr>
        <p:spPr bwMode="auto">
          <a:xfrm rot="16200000">
            <a:off x="3555207" y="2748756"/>
            <a:ext cx="431800" cy="103187"/>
          </a:xfrm>
          <a:prstGeom prst="bentConnector2">
            <a:avLst/>
          </a:prstGeom>
          <a:noFill/>
          <a:ln w="19050">
            <a:solidFill>
              <a:schemeClr val="tx1"/>
            </a:solidFill>
            <a:miter lim="800000"/>
            <a:headEnd/>
            <a:tailEnd/>
          </a:ln>
          <a:effectLst/>
        </p:spPr>
      </p:cxnSp>
      <p:sp>
        <p:nvSpPr>
          <p:cNvPr id="27" name="AutoShape 31"/>
          <p:cNvSpPr>
            <a:spLocks noChangeArrowheads="1"/>
          </p:cNvSpPr>
          <p:nvPr/>
        </p:nvSpPr>
        <p:spPr bwMode="auto">
          <a:xfrm>
            <a:off x="6022975" y="1824037"/>
            <a:ext cx="571500" cy="474663"/>
          </a:xfrm>
          <a:prstGeom prst="foldedCorner">
            <a:avLst>
              <a:gd name="adj" fmla="val 12500"/>
            </a:avLst>
          </a:prstGeom>
          <a:noFill/>
          <a:ln w="19050">
            <a:solidFill>
              <a:schemeClr val="tx1"/>
            </a:solidFill>
            <a:round/>
            <a:headEnd/>
            <a:tailEnd/>
          </a:ln>
          <a:effectLst/>
        </p:spPr>
        <p:txBody>
          <a:bodyPr lIns="18000" tIns="46800" rIns="18000" bIns="46800" anchor="ctr"/>
          <a:lstStyle/>
          <a:p>
            <a:pPr algn="ctr" eaLnBrk="0" hangingPunct="0">
              <a:spcBef>
                <a:spcPct val="0"/>
              </a:spcBef>
            </a:pPr>
            <a:r>
              <a:rPr lang="en-GB" sz="900">
                <a:latin typeface="EYInterstate" pitchFamily="2" charset="0"/>
              </a:rPr>
              <a:t>Rejected CDRs</a:t>
            </a:r>
          </a:p>
        </p:txBody>
      </p:sp>
      <p:sp>
        <p:nvSpPr>
          <p:cNvPr id="28" name="AutoShape 32"/>
          <p:cNvSpPr>
            <a:spLocks noChangeArrowheads="1"/>
          </p:cNvSpPr>
          <p:nvPr/>
        </p:nvSpPr>
        <p:spPr bwMode="auto">
          <a:xfrm>
            <a:off x="6019800" y="2343150"/>
            <a:ext cx="573088" cy="476250"/>
          </a:xfrm>
          <a:prstGeom prst="foldedCorner">
            <a:avLst>
              <a:gd name="adj" fmla="val 12500"/>
            </a:avLst>
          </a:prstGeom>
          <a:noFill/>
          <a:ln w="19050">
            <a:solidFill>
              <a:schemeClr val="tx1"/>
            </a:solidFill>
            <a:round/>
            <a:headEnd/>
            <a:tailEnd/>
          </a:ln>
          <a:effectLst/>
        </p:spPr>
        <p:txBody>
          <a:bodyPr lIns="18000" tIns="46800" rIns="18000" bIns="46800" anchor="ctr"/>
          <a:lstStyle/>
          <a:p>
            <a:pPr algn="ctr" eaLnBrk="0" hangingPunct="0">
              <a:spcBef>
                <a:spcPct val="0"/>
              </a:spcBef>
            </a:pPr>
            <a:r>
              <a:rPr lang="en-GB" sz="900">
                <a:latin typeface="EYInterstate" pitchFamily="2" charset="0"/>
              </a:rPr>
              <a:t>Filtered CDRs</a:t>
            </a:r>
          </a:p>
        </p:txBody>
      </p:sp>
      <p:cxnSp>
        <p:nvCxnSpPr>
          <p:cNvPr id="29" name="AutoShape 33"/>
          <p:cNvCxnSpPr>
            <a:cxnSpLocks noChangeShapeType="1"/>
            <a:stCxn id="10" idx="0"/>
            <a:endCxn id="27" idx="1"/>
          </p:cNvCxnSpPr>
          <p:nvPr/>
        </p:nvCxnSpPr>
        <p:spPr bwMode="auto">
          <a:xfrm rot="16200000">
            <a:off x="5488781" y="2491581"/>
            <a:ext cx="954088" cy="95250"/>
          </a:xfrm>
          <a:prstGeom prst="bentConnector2">
            <a:avLst/>
          </a:prstGeom>
          <a:noFill/>
          <a:ln w="19050">
            <a:solidFill>
              <a:schemeClr val="tx1"/>
            </a:solidFill>
            <a:miter lim="800000"/>
            <a:headEnd/>
            <a:tailEnd/>
          </a:ln>
          <a:effectLst/>
        </p:spPr>
      </p:cxnSp>
      <p:cxnSp>
        <p:nvCxnSpPr>
          <p:cNvPr id="30" name="AutoShape 34"/>
          <p:cNvCxnSpPr>
            <a:cxnSpLocks noChangeShapeType="1"/>
            <a:stCxn id="10" idx="0"/>
            <a:endCxn id="28" idx="1"/>
          </p:cNvCxnSpPr>
          <p:nvPr/>
        </p:nvCxnSpPr>
        <p:spPr bwMode="auto">
          <a:xfrm rot="16200000">
            <a:off x="5746750" y="2752725"/>
            <a:ext cx="434975" cy="92075"/>
          </a:xfrm>
          <a:prstGeom prst="bentConnector2">
            <a:avLst/>
          </a:prstGeom>
          <a:noFill/>
          <a:ln w="19050">
            <a:solidFill>
              <a:schemeClr val="tx1"/>
            </a:solidFill>
            <a:miter lim="800000"/>
            <a:headEnd/>
            <a:tailEnd/>
          </a:ln>
          <a:effectLst/>
        </p:spPr>
      </p:cxnSp>
      <p:cxnSp>
        <p:nvCxnSpPr>
          <p:cNvPr id="31" name="AutoShape 35"/>
          <p:cNvCxnSpPr>
            <a:cxnSpLocks noChangeShapeType="1"/>
            <a:endCxn id="4" idx="1"/>
          </p:cNvCxnSpPr>
          <p:nvPr/>
        </p:nvCxnSpPr>
        <p:spPr bwMode="auto">
          <a:xfrm rot="16200000">
            <a:off x="396875" y="2251075"/>
            <a:ext cx="1171575" cy="454025"/>
          </a:xfrm>
          <a:prstGeom prst="bentConnector2">
            <a:avLst/>
          </a:prstGeom>
          <a:noFill/>
          <a:ln w="19050">
            <a:solidFill>
              <a:schemeClr val="tx1"/>
            </a:solidFill>
            <a:miter lim="800000"/>
            <a:headEnd/>
            <a:tailEnd/>
          </a:ln>
          <a:effectLst/>
        </p:spPr>
      </p:cxnSp>
      <p:sp>
        <p:nvSpPr>
          <p:cNvPr id="32" name="Text Box 36"/>
          <p:cNvSpPr txBox="1">
            <a:spLocks noChangeArrowheads="1"/>
          </p:cNvSpPr>
          <p:nvPr/>
        </p:nvSpPr>
        <p:spPr bwMode="auto">
          <a:xfrm>
            <a:off x="563820" y="2114550"/>
            <a:ext cx="328098" cy="233014"/>
          </a:xfrm>
          <a:prstGeom prst="rect">
            <a:avLst/>
          </a:prstGeom>
          <a:solidFill>
            <a:schemeClr val="bg1"/>
          </a:solidFill>
          <a:ln w="19050">
            <a:noFill/>
            <a:miter lim="800000"/>
            <a:headEnd/>
            <a:tailEnd/>
          </a:ln>
          <a:effectLst/>
        </p:spPr>
        <p:txBody>
          <a:bodyPr wrap="none" lIns="18000" tIns="46800" rIns="18000" bIns="46800">
            <a:spAutoFit/>
          </a:bodyPr>
          <a:lstStyle/>
          <a:p>
            <a:pPr algn="ctr" eaLnBrk="0" hangingPunct="0">
              <a:spcBef>
                <a:spcPct val="0"/>
              </a:spcBef>
            </a:pPr>
            <a:r>
              <a:rPr lang="en-GB" sz="900">
                <a:latin typeface="EYInterstate" pitchFamily="2" charset="0"/>
              </a:rPr>
              <a:t>order</a:t>
            </a:r>
          </a:p>
        </p:txBody>
      </p:sp>
      <p:cxnSp>
        <p:nvCxnSpPr>
          <p:cNvPr id="33" name="AutoShape 37"/>
          <p:cNvCxnSpPr>
            <a:cxnSpLocks noChangeShapeType="1"/>
            <a:endCxn id="12" idx="1"/>
          </p:cNvCxnSpPr>
          <p:nvPr/>
        </p:nvCxnSpPr>
        <p:spPr bwMode="auto">
          <a:xfrm rot="16200000" flipH="1">
            <a:off x="3375025" y="969962"/>
            <a:ext cx="1398588" cy="6637338"/>
          </a:xfrm>
          <a:prstGeom prst="bentConnector2">
            <a:avLst/>
          </a:prstGeom>
          <a:noFill/>
          <a:ln w="19050">
            <a:solidFill>
              <a:schemeClr val="tx1"/>
            </a:solidFill>
            <a:miter lim="800000"/>
            <a:headEnd/>
            <a:tailEnd/>
          </a:ln>
          <a:effectLst/>
        </p:spPr>
      </p:cxnSp>
      <p:sp>
        <p:nvSpPr>
          <p:cNvPr id="34" name="Text Box 38"/>
          <p:cNvSpPr txBox="1">
            <a:spLocks noChangeArrowheads="1"/>
          </p:cNvSpPr>
          <p:nvPr/>
        </p:nvSpPr>
        <p:spPr bwMode="auto">
          <a:xfrm>
            <a:off x="3694024" y="4829175"/>
            <a:ext cx="563739" cy="233014"/>
          </a:xfrm>
          <a:prstGeom prst="rect">
            <a:avLst/>
          </a:prstGeom>
          <a:solidFill>
            <a:schemeClr val="bg1"/>
          </a:solidFill>
          <a:ln w="19050">
            <a:noFill/>
            <a:miter lim="800000"/>
            <a:headEnd/>
            <a:tailEnd/>
          </a:ln>
          <a:effectLst/>
        </p:spPr>
        <p:txBody>
          <a:bodyPr wrap="none" lIns="18000" tIns="46800" rIns="18000" bIns="46800">
            <a:spAutoFit/>
          </a:bodyPr>
          <a:lstStyle/>
          <a:p>
            <a:pPr algn="ctr" eaLnBrk="0" hangingPunct="0">
              <a:spcBef>
                <a:spcPct val="0"/>
              </a:spcBef>
            </a:pPr>
            <a:r>
              <a:rPr lang="en-GB" sz="900">
                <a:latin typeface="EYInterstate" pitchFamily="2" charset="0"/>
              </a:rPr>
              <a:t>payments</a:t>
            </a:r>
          </a:p>
        </p:txBody>
      </p:sp>
      <p:sp>
        <p:nvSpPr>
          <p:cNvPr id="35" name="AutoShape 39"/>
          <p:cNvSpPr>
            <a:spLocks noChangeArrowheads="1"/>
          </p:cNvSpPr>
          <p:nvPr/>
        </p:nvSpPr>
        <p:spPr bwMode="auto">
          <a:xfrm>
            <a:off x="6737350" y="3876675"/>
            <a:ext cx="573088" cy="476250"/>
          </a:xfrm>
          <a:prstGeom prst="foldedCorner">
            <a:avLst>
              <a:gd name="adj" fmla="val 12500"/>
            </a:avLst>
          </a:prstGeom>
          <a:noFill/>
          <a:ln w="19050">
            <a:solidFill>
              <a:schemeClr val="tx1"/>
            </a:solidFill>
            <a:round/>
            <a:headEnd/>
            <a:tailEnd/>
          </a:ln>
          <a:effectLst/>
        </p:spPr>
        <p:txBody>
          <a:bodyPr lIns="18000" tIns="46800" rIns="18000" bIns="46800" anchor="ctr"/>
          <a:lstStyle/>
          <a:p>
            <a:pPr algn="ctr" eaLnBrk="0" hangingPunct="0">
              <a:spcBef>
                <a:spcPct val="0"/>
              </a:spcBef>
            </a:pPr>
            <a:r>
              <a:rPr lang="en-GB" sz="900">
                <a:latin typeface="EYInterstate" pitchFamily="2" charset="0"/>
              </a:rPr>
              <a:t>Bills</a:t>
            </a:r>
          </a:p>
        </p:txBody>
      </p:sp>
      <p:cxnSp>
        <p:nvCxnSpPr>
          <p:cNvPr id="36" name="AutoShape 40"/>
          <p:cNvCxnSpPr>
            <a:cxnSpLocks noChangeShapeType="1"/>
            <a:stCxn id="9" idx="2"/>
            <a:endCxn id="35" idx="0"/>
          </p:cNvCxnSpPr>
          <p:nvPr/>
        </p:nvCxnSpPr>
        <p:spPr bwMode="auto">
          <a:xfrm>
            <a:off x="7016750" y="3636962"/>
            <a:ext cx="7938" cy="230188"/>
          </a:xfrm>
          <a:prstGeom prst="straightConnector1">
            <a:avLst/>
          </a:prstGeom>
          <a:noFill/>
          <a:ln w="19050">
            <a:solidFill>
              <a:schemeClr val="tx1"/>
            </a:solidFill>
            <a:round/>
            <a:headEnd/>
            <a:tailEnd/>
          </a:ln>
          <a:effectLst/>
        </p:spPr>
      </p:cxnSp>
      <p:cxnSp>
        <p:nvCxnSpPr>
          <p:cNvPr id="37" name="AutoShape 41"/>
          <p:cNvCxnSpPr>
            <a:cxnSpLocks noChangeShapeType="1"/>
            <a:stCxn id="35" idx="1"/>
          </p:cNvCxnSpPr>
          <p:nvPr/>
        </p:nvCxnSpPr>
        <p:spPr bwMode="auto">
          <a:xfrm rot="10800000">
            <a:off x="889000" y="3589337"/>
            <a:ext cx="5838825" cy="525463"/>
          </a:xfrm>
          <a:prstGeom prst="bentConnector3">
            <a:avLst>
              <a:gd name="adj1" fmla="val 100162"/>
            </a:avLst>
          </a:prstGeom>
          <a:noFill/>
          <a:ln w="19050">
            <a:solidFill>
              <a:schemeClr val="tx1"/>
            </a:solidFill>
            <a:miter lim="800000"/>
            <a:headEnd/>
            <a:tailEnd type="triangle" w="med" len="med"/>
          </a:ln>
          <a:effectLst/>
        </p:spPr>
      </p:cxnSp>
      <p:sp>
        <p:nvSpPr>
          <p:cNvPr id="38" name="Oval 42"/>
          <p:cNvSpPr>
            <a:spLocks noChangeArrowheads="1"/>
          </p:cNvSpPr>
          <p:nvPr/>
        </p:nvSpPr>
        <p:spPr bwMode="auto">
          <a:xfrm>
            <a:off x="619125" y="2600325"/>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1</a:t>
            </a:r>
          </a:p>
        </p:txBody>
      </p:sp>
      <p:sp>
        <p:nvSpPr>
          <p:cNvPr id="39" name="Oval 43"/>
          <p:cNvSpPr>
            <a:spLocks noChangeArrowheads="1"/>
          </p:cNvSpPr>
          <p:nvPr/>
        </p:nvSpPr>
        <p:spPr bwMode="auto">
          <a:xfrm>
            <a:off x="1930400" y="1751012"/>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2</a:t>
            </a:r>
          </a:p>
        </p:txBody>
      </p:sp>
      <p:sp>
        <p:nvSpPr>
          <p:cNvPr id="40" name="Oval 44"/>
          <p:cNvSpPr>
            <a:spLocks noChangeArrowheads="1"/>
          </p:cNvSpPr>
          <p:nvPr/>
        </p:nvSpPr>
        <p:spPr bwMode="auto">
          <a:xfrm>
            <a:off x="2497138" y="2368550"/>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3</a:t>
            </a:r>
          </a:p>
        </p:txBody>
      </p:sp>
      <p:sp>
        <p:nvSpPr>
          <p:cNvPr id="41" name="Oval 45"/>
          <p:cNvSpPr>
            <a:spLocks noChangeArrowheads="1"/>
          </p:cNvSpPr>
          <p:nvPr/>
        </p:nvSpPr>
        <p:spPr bwMode="auto">
          <a:xfrm>
            <a:off x="1176338" y="3197225"/>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4</a:t>
            </a:r>
          </a:p>
        </p:txBody>
      </p:sp>
      <p:sp>
        <p:nvSpPr>
          <p:cNvPr id="42" name="Oval 46"/>
          <p:cNvSpPr>
            <a:spLocks noChangeArrowheads="1"/>
          </p:cNvSpPr>
          <p:nvPr/>
        </p:nvSpPr>
        <p:spPr bwMode="auto">
          <a:xfrm>
            <a:off x="3009900" y="3190875"/>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5</a:t>
            </a:r>
          </a:p>
        </p:txBody>
      </p:sp>
      <p:sp>
        <p:nvSpPr>
          <p:cNvPr id="43" name="Oval 47"/>
          <p:cNvSpPr>
            <a:spLocks noChangeArrowheads="1"/>
          </p:cNvSpPr>
          <p:nvPr/>
        </p:nvSpPr>
        <p:spPr bwMode="auto">
          <a:xfrm>
            <a:off x="4110038" y="3197225"/>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6</a:t>
            </a:r>
          </a:p>
        </p:txBody>
      </p:sp>
      <p:sp>
        <p:nvSpPr>
          <p:cNvPr id="44" name="Oval 48"/>
          <p:cNvSpPr>
            <a:spLocks noChangeArrowheads="1"/>
          </p:cNvSpPr>
          <p:nvPr/>
        </p:nvSpPr>
        <p:spPr bwMode="auto">
          <a:xfrm>
            <a:off x="5210175" y="3190875"/>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7</a:t>
            </a:r>
          </a:p>
        </p:txBody>
      </p:sp>
      <p:sp>
        <p:nvSpPr>
          <p:cNvPr id="45" name="Oval 49"/>
          <p:cNvSpPr>
            <a:spLocks noChangeArrowheads="1"/>
          </p:cNvSpPr>
          <p:nvPr/>
        </p:nvSpPr>
        <p:spPr bwMode="auto">
          <a:xfrm>
            <a:off x="6300788" y="3195637"/>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8</a:t>
            </a:r>
          </a:p>
        </p:txBody>
      </p:sp>
      <p:sp>
        <p:nvSpPr>
          <p:cNvPr id="46" name="Oval 50"/>
          <p:cNvSpPr>
            <a:spLocks noChangeArrowheads="1"/>
          </p:cNvSpPr>
          <p:nvPr/>
        </p:nvSpPr>
        <p:spPr bwMode="auto">
          <a:xfrm>
            <a:off x="7410450" y="3200400"/>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10</a:t>
            </a:r>
          </a:p>
        </p:txBody>
      </p:sp>
      <p:sp>
        <p:nvSpPr>
          <p:cNvPr id="47" name="Oval 51"/>
          <p:cNvSpPr>
            <a:spLocks noChangeArrowheads="1"/>
          </p:cNvSpPr>
          <p:nvPr/>
        </p:nvSpPr>
        <p:spPr bwMode="auto">
          <a:xfrm>
            <a:off x="6300788" y="3978275"/>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9</a:t>
            </a:r>
          </a:p>
        </p:txBody>
      </p:sp>
      <p:sp>
        <p:nvSpPr>
          <p:cNvPr id="48" name="Oval 52"/>
          <p:cNvSpPr>
            <a:spLocks noChangeArrowheads="1"/>
          </p:cNvSpPr>
          <p:nvPr/>
        </p:nvSpPr>
        <p:spPr bwMode="auto">
          <a:xfrm>
            <a:off x="6300788" y="4857750"/>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11</a:t>
            </a:r>
          </a:p>
        </p:txBody>
      </p:sp>
      <p:sp>
        <p:nvSpPr>
          <p:cNvPr id="49" name="Oval 53"/>
          <p:cNvSpPr>
            <a:spLocks noChangeArrowheads="1"/>
          </p:cNvSpPr>
          <p:nvPr/>
        </p:nvSpPr>
        <p:spPr bwMode="auto">
          <a:xfrm>
            <a:off x="7986713" y="4089400"/>
            <a:ext cx="250825" cy="250825"/>
          </a:xfrm>
          <a:prstGeom prst="ellipse">
            <a:avLst/>
          </a:prstGeom>
          <a:solidFill>
            <a:srgbClr val="FFCD00"/>
          </a:solidFill>
          <a:ln w="19050">
            <a:solidFill>
              <a:schemeClr val="tx1"/>
            </a:solidFill>
            <a:round/>
            <a:headEnd/>
            <a:tailEnd/>
          </a:ln>
          <a:effectLst/>
        </p:spPr>
        <p:txBody>
          <a:bodyPr wrap="none" lIns="18000" tIns="46800" rIns="18000" bIns="46800" anchor="ctr"/>
          <a:lstStyle/>
          <a:p>
            <a:pPr algn="ctr" eaLnBrk="0" hangingPunct="0">
              <a:spcBef>
                <a:spcPct val="0"/>
              </a:spcBef>
            </a:pPr>
            <a:r>
              <a:rPr lang="en-GB" sz="900">
                <a:latin typeface="EYInterstate" pitchFamily="2" charset="0"/>
              </a:rPr>
              <a:t>12</a:t>
            </a:r>
          </a:p>
        </p:txBody>
      </p:sp>
      <p:sp>
        <p:nvSpPr>
          <p:cNvPr id="51" name="Oval 50"/>
          <p:cNvSpPr/>
          <p:nvPr/>
        </p:nvSpPr>
        <p:spPr>
          <a:xfrm>
            <a:off x="6172200" y="3733800"/>
            <a:ext cx="2438400" cy="1752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Collection</a:t>
            </a:r>
          </a:p>
        </p:txBody>
      </p:sp>
      <p:sp>
        <p:nvSpPr>
          <p:cNvPr id="3" name="Text Box 17"/>
          <p:cNvSpPr txBox="1">
            <a:spLocks noChangeArrowheads="1"/>
          </p:cNvSpPr>
          <p:nvPr/>
        </p:nvSpPr>
        <p:spPr bwMode="auto">
          <a:xfrm>
            <a:off x="304800" y="1289712"/>
            <a:ext cx="8305800" cy="691488"/>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5563" indent="1588">
              <a:lnSpc>
                <a:spcPct val="120000"/>
              </a:lnSpc>
              <a:buClr>
                <a:srgbClr val="FFC000"/>
              </a:buClr>
              <a:buSzPct val="100000"/>
              <a:defRPr/>
            </a:pPr>
            <a:r>
              <a:rPr lang="en-US" sz="1100" dirty="0" smtClean="0">
                <a:solidFill>
                  <a:schemeClr val="bg1"/>
                </a:solidFill>
                <a:latin typeface="EYInterstate" pitchFamily="2" charset="0"/>
              </a:rPr>
              <a:t>Collection is the process of chasing past due receivables on customer account. This usually involves sending notifications to the customer and taking appropriate actions in absence of due payments after the due date.</a:t>
            </a:r>
          </a:p>
          <a:p>
            <a:pPr marL="341313" indent="-287338">
              <a:lnSpc>
                <a:spcPct val="120000"/>
              </a:lnSpc>
              <a:buClr>
                <a:srgbClr val="FFC000"/>
              </a:buClr>
              <a:buSzPct val="100000"/>
              <a:buFont typeface="Arial" pitchFamily="34" charset="0"/>
              <a:buChar char="►"/>
              <a:defRPr/>
            </a:pPr>
            <a:r>
              <a:rPr lang="en-US" sz="1100" dirty="0" smtClean="0">
                <a:solidFill>
                  <a:schemeClr val="bg1"/>
                </a:solidFill>
                <a:latin typeface="EYInterstate" pitchFamily="2" charset="0"/>
              </a:rPr>
              <a:t>Examples of collections actions may include</a:t>
            </a:r>
          </a:p>
        </p:txBody>
      </p:sp>
      <p:sp>
        <p:nvSpPr>
          <p:cNvPr id="5" name="Text Box 17"/>
          <p:cNvSpPr txBox="1">
            <a:spLocks noChangeArrowheads="1"/>
          </p:cNvSpPr>
          <p:nvPr/>
        </p:nvSpPr>
        <p:spPr bwMode="auto">
          <a:xfrm>
            <a:off x="838200" y="2133600"/>
            <a:ext cx="7772400" cy="457200"/>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5563" indent="1588">
              <a:lnSpc>
                <a:spcPct val="120000"/>
              </a:lnSpc>
              <a:buClr>
                <a:srgbClr val="FFC000"/>
              </a:buClr>
              <a:buSzPct val="100000"/>
              <a:defRPr/>
            </a:pPr>
            <a:r>
              <a:rPr lang="en-US" sz="1200" b="1" dirty="0" smtClean="0">
                <a:solidFill>
                  <a:schemeClr val="bg1"/>
                </a:solidFill>
                <a:latin typeface="EYInterstate" pitchFamily="2" charset="0"/>
              </a:rPr>
              <a:t>Send reminder mail and / or call: </a:t>
            </a:r>
            <a:r>
              <a:rPr lang="en-US" sz="1100" dirty="0" smtClean="0">
                <a:solidFill>
                  <a:schemeClr val="bg1"/>
                </a:solidFill>
                <a:latin typeface="EYInterstate" pitchFamily="2" charset="0"/>
              </a:rPr>
              <a:t>The customer service department contacts the customer reminding the payment. Still if there is no payment received then proceed for the next action</a:t>
            </a:r>
          </a:p>
        </p:txBody>
      </p:sp>
      <p:sp>
        <p:nvSpPr>
          <p:cNvPr id="6" name="Text Box 17"/>
          <p:cNvSpPr txBox="1">
            <a:spLocks noChangeArrowheads="1"/>
          </p:cNvSpPr>
          <p:nvPr/>
        </p:nvSpPr>
        <p:spPr bwMode="auto">
          <a:xfrm>
            <a:off x="838200" y="2667000"/>
            <a:ext cx="7772400" cy="4572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1313" indent="-287338">
              <a:lnSpc>
                <a:spcPct val="120000"/>
              </a:lnSpc>
              <a:buClr>
                <a:srgbClr val="FFC000"/>
              </a:buClr>
              <a:buSzPct val="100000"/>
              <a:defRPr/>
            </a:pPr>
            <a:r>
              <a:rPr lang="en-US" sz="1100" b="1" dirty="0" smtClean="0">
                <a:solidFill>
                  <a:srgbClr val="646464"/>
                </a:solidFill>
                <a:latin typeface="EYInterstate" pitchFamily="2" charset="0"/>
              </a:rPr>
              <a:t>Send Red letter</a:t>
            </a:r>
            <a:r>
              <a:rPr lang="en-US" sz="1100" dirty="0" smtClean="0">
                <a:solidFill>
                  <a:srgbClr val="646464"/>
                </a:solidFill>
                <a:latin typeface="EYInterstate" pitchFamily="2" charset="0"/>
              </a:rPr>
              <a:t>: For example a "Pay in seven days" letter is issued, Still if the payment is not received then proceed for the next action.</a:t>
            </a:r>
          </a:p>
        </p:txBody>
      </p:sp>
      <p:sp>
        <p:nvSpPr>
          <p:cNvPr id="7" name="Text Box 17"/>
          <p:cNvSpPr txBox="1">
            <a:spLocks noChangeArrowheads="1"/>
          </p:cNvSpPr>
          <p:nvPr/>
        </p:nvSpPr>
        <p:spPr bwMode="auto">
          <a:xfrm>
            <a:off x="838200" y="3200400"/>
            <a:ext cx="7772400" cy="457200"/>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1313" indent="-287338">
              <a:lnSpc>
                <a:spcPct val="120000"/>
              </a:lnSpc>
              <a:buClr>
                <a:srgbClr val="FFC000"/>
              </a:buClr>
              <a:buSzPct val="100000"/>
              <a:defRPr/>
            </a:pPr>
            <a:r>
              <a:rPr lang="en-US" sz="1100" dirty="0" smtClean="0">
                <a:solidFill>
                  <a:schemeClr val="bg1"/>
                </a:solidFill>
                <a:latin typeface="EYInterstate" pitchFamily="2" charset="0"/>
              </a:rPr>
              <a:t>Disconnect the service of service: The network management department suspends the service</a:t>
            </a:r>
          </a:p>
        </p:txBody>
      </p:sp>
      <p:sp>
        <p:nvSpPr>
          <p:cNvPr id="8" name="Text Box 17"/>
          <p:cNvSpPr txBox="1">
            <a:spLocks noChangeArrowheads="1"/>
          </p:cNvSpPr>
          <p:nvPr/>
        </p:nvSpPr>
        <p:spPr bwMode="auto">
          <a:xfrm>
            <a:off x="304800" y="2133600"/>
            <a:ext cx="457200" cy="457200"/>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1313" indent="-287338">
              <a:lnSpc>
                <a:spcPct val="120000"/>
              </a:lnSpc>
              <a:buClr>
                <a:srgbClr val="FFC000"/>
              </a:buClr>
              <a:buSzPct val="100000"/>
              <a:defRPr/>
            </a:pPr>
            <a:r>
              <a:rPr lang="en-US" sz="1100" dirty="0" smtClean="0">
                <a:solidFill>
                  <a:schemeClr val="bg1"/>
                </a:solidFill>
                <a:latin typeface="EYInterstate" pitchFamily="2" charset="0"/>
              </a:rPr>
              <a:t>a</a:t>
            </a:r>
          </a:p>
        </p:txBody>
      </p:sp>
      <p:sp>
        <p:nvSpPr>
          <p:cNvPr id="9" name="Text Box 17"/>
          <p:cNvSpPr txBox="1">
            <a:spLocks noChangeArrowheads="1"/>
          </p:cNvSpPr>
          <p:nvPr/>
        </p:nvSpPr>
        <p:spPr bwMode="auto">
          <a:xfrm>
            <a:off x="304800" y="2667000"/>
            <a:ext cx="457200" cy="4572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1313" indent="-287338">
              <a:lnSpc>
                <a:spcPct val="120000"/>
              </a:lnSpc>
              <a:buClr>
                <a:srgbClr val="FFC000"/>
              </a:buClr>
              <a:buSzPct val="100000"/>
              <a:defRPr/>
            </a:pPr>
            <a:r>
              <a:rPr lang="en-US" sz="1100" dirty="0" smtClean="0">
                <a:solidFill>
                  <a:srgbClr val="646464"/>
                </a:solidFill>
                <a:latin typeface="EYInterstate" pitchFamily="2" charset="0"/>
              </a:rPr>
              <a:t>b</a:t>
            </a:r>
          </a:p>
        </p:txBody>
      </p:sp>
      <p:sp>
        <p:nvSpPr>
          <p:cNvPr id="10" name="Text Box 17"/>
          <p:cNvSpPr txBox="1">
            <a:spLocks noChangeArrowheads="1"/>
          </p:cNvSpPr>
          <p:nvPr/>
        </p:nvSpPr>
        <p:spPr bwMode="auto">
          <a:xfrm>
            <a:off x="304800" y="3200400"/>
            <a:ext cx="457200" cy="457200"/>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1313" indent="-287338">
              <a:lnSpc>
                <a:spcPct val="120000"/>
              </a:lnSpc>
              <a:buClr>
                <a:srgbClr val="FFC000"/>
              </a:buClr>
              <a:buSzPct val="100000"/>
              <a:defRPr/>
            </a:pPr>
            <a:r>
              <a:rPr lang="en-US" sz="1100" dirty="0" smtClean="0">
                <a:solidFill>
                  <a:schemeClr val="bg1"/>
                </a:solidFill>
                <a:latin typeface="EYInterstate" pitchFamily="2" charset="0"/>
              </a:rPr>
              <a:t>c</a:t>
            </a:r>
          </a:p>
        </p:txBody>
      </p:sp>
      <p:sp>
        <p:nvSpPr>
          <p:cNvPr id="11" name="Text Box 17"/>
          <p:cNvSpPr txBox="1">
            <a:spLocks noChangeArrowheads="1"/>
          </p:cNvSpPr>
          <p:nvPr/>
        </p:nvSpPr>
        <p:spPr bwMode="auto">
          <a:xfrm>
            <a:off x="304800" y="3733800"/>
            <a:ext cx="8305800" cy="19812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5563" indent="1588">
              <a:lnSpc>
                <a:spcPct val="120000"/>
              </a:lnSpc>
              <a:buClr>
                <a:srgbClr val="FFC000"/>
              </a:buClr>
              <a:buSzPct val="100000"/>
              <a:defRPr/>
            </a:pPr>
            <a:r>
              <a:rPr lang="en-US" sz="1200" b="1" dirty="0" smtClean="0">
                <a:solidFill>
                  <a:srgbClr val="646464"/>
                </a:solidFill>
                <a:latin typeface="EYInterstate" pitchFamily="2" charset="0"/>
              </a:rPr>
              <a:t>Soft Collection Actions </a:t>
            </a:r>
            <a:r>
              <a:rPr lang="en-US" sz="1100" dirty="0" smtClean="0">
                <a:solidFill>
                  <a:srgbClr val="646464"/>
                </a:solidFill>
                <a:latin typeface="EYInterstate" pitchFamily="2" charset="0"/>
              </a:rPr>
              <a:t>:</a:t>
            </a:r>
          </a:p>
          <a:p>
            <a:pPr marL="341313" indent="-287338">
              <a:lnSpc>
                <a:spcPct val="120000"/>
              </a:lnSpc>
              <a:buClr>
                <a:srgbClr val="FFC000"/>
              </a:buClr>
              <a:buSzPct val="100000"/>
              <a:buFont typeface="Arial" pitchFamily="34" charset="0"/>
              <a:buChar char="►"/>
              <a:defRPr/>
            </a:pPr>
            <a:r>
              <a:rPr lang="en-US" sz="1100" dirty="0" smtClean="0">
                <a:solidFill>
                  <a:srgbClr val="646464"/>
                </a:solidFill>
                <a:latin typeface="EYInterstate" pitchFamily="2" charset="0"/>
              </a:rPr>
              <a:t>In the early stages of the collections process, the soft collection action will typically be to send a number of dunning notices which are simple reminder letters and requests for payment.</a:t>
            </a:r>
          </a:p>
          <a:p>
            <a:pPr marL="341313" indent="-287338">
              <a:lnSpc>
                <a:spcPct val="120000"/>
              </a:lnSpc>
              <a:buClr>
                <a:srgbClr val="FFC000"/>
              </a:buClr>
              <a:buSzPct val="100000"/>
              <a:buFont typeface="Arial" pitchFamily="34" charset="0"/>
              <a:buChar char="►"/>
              <a:defRPr/>
            </a:pPr>
            <a:endParaRPr lang="en-US" sz="1100" dirty="0" smtClean="0">
              <a:solidFill>
                <a:srgbClr val="646464"/>
              </a:solidFill>
              <a:latin typeface="EYInterstate" pitchFamily="2" charset="0"/>
            </a:endParaRPr>
          </a:p>
          <a:p>
            <a:pPr marL="341313" indent="-287338">
              <a:lnSpc>
                <a:spcPct val="120000"/>
              </a:lnSpc>
              <a:buClr>
                <a:srgbClr val="FFC000"/>
              </a:buClr>
              <a:buSzPct val="100000"/>
              <a:defRPr/>
            </a:pPr>
            <a:r>
              <a:rPr lang="en-US" sz="1200" b="1" dirty="0" smtClean="0">
                <a:solidFill>
                  <a:srgbClr val="646464"/>
                </a:solidFill>
                <a:latin typeface="EYInterstate" pitchFamily="2" charset="0"/>
              </a:rPr>
              <a:t>Hard Collection Actions : </a:t>
            </a:r>
          </a:p>
          <a:p>
            <a:pPr marL="341313" indent="-287338">
              <a:lnSpc>
                <a:spcPct val="120000"/>
              </a:lnSpc>
              <a:buClr>
                <a:srgbClr val="FFC000"/>
              </a:buClr>
              <a:buSzPct val="100000"/>
              <a:buFont typeface="Arial" pitchFamily="34" charset="0"/>
              <a:buChar char="►"/>
              <a:defRPr/>
            </a:pPr>
            <a:r>
              <a:rPr lang="en-US" sz="1100" dirty="0" smtClean="0">
                <a:solidFill>
                  <a:srgbClr val="646464"/>
                </a:solidFill>
                <a:latin typeface="EYInterstate" pitchFamily="2" charset="0"/>
              </a:rPr>
              <a:t>If the initial attempts fail, then more aggressive actions can be taken like barring the services, or disconnecting the services or hot-lining (hot-lining is the process of re-directing all calls of delinquent customers to collections operator).</a:t>
            </a:r>
          </a:p>
          <a:p>
            <a:pPr marL="341313" indent="-287338">
              <a:lnSpc>
                <a:spcPct val="120000"/>
              </a:lnSpc>
              <a:buClr>
                <a:srgbClr val="FFC000"/>
              </a:buClr>
              <a:buSzPct val="100000"/>
              <a:buFont typeface="Arial" pitchFamily="34" charset="0"/>
              <a:buChar char="►"/>
              <a:defRPr/>
            </a:pPr>
            <a:r>
              <a:rPr lang="en-US" sz="1100" dirty="0" smtClean="0">
                <a:solidFill>
                  <a:srgbClr val="646464"/>
                </a:solidFill>
                <a:latin typeface="EYInterstate" pitchFamily="2" charset="0"/>
              </a:rPr>
              <a:t>The service provider maintains the history of the blacklisted accounts so that such subscribers are not re-activated again </a:t>
            </a:r>
          </a:p>
          <a:p>
            <a:pPr marL="341313" indent="-287338">
              <a:lnSpc>
                <a:spcPct val="120000"/>
              </a:lnSpc>
              <a:buClr>
                <a:srgbClr val="FFC000"/>
              </a:buClr>
              <a:buSzPct val="100000"/>
              <a:defRPr/>
            </a:pPr>
            <a:endParaRPr lang="en-US" sz="1100" dirty="0" smtClean="0">
              <a:solidFill>
                <a:srgbClr val="646464"/>
              </a:solidFill>
              <a:latin typeface="EYInterstate" pitchFamily="2" charset="0"/>
            </a:endParaRPr>
          </a:p>
          <a:p>
            <a:pPr marL="341313" indent="-287338">
              <a:lnSpc>
                <a:spcPct val="120000"/>
              </a:lnSpc>
              <a:buClr>
                <a:srgbClr val="FFC000"/>
              </a:buClr>
              <a:buSzPct val="100000"/>
              <a:defRPr/>
            </a:pPr>
            <a:endParaRPr lang="en-US" sz="1100" dirty="0" smtClean="0">
              <a:solidFill>
                <a:srgbClr val="646464"/>
              </a:solidFill>
              <a:latin typeface="EYInterstate" pitchFamily="2" charset="0"/>
            </a:endParaRPr>
          </a:p>
          <a:p>
            <a:pPr marL="341313" indent="-287338">
              <a:lnSpc>
                <a:spcPct val="120000"/>
              </a:lnSpc>
              <a:buClr>
                <a:srgbClr val="FFC000"/>
              </a:buClr>
              <a:buSzPct val="100000"/>
              <a:defRPr/>
            </a:pPr>
            <a:endParaRPr lang="en-US" sz="1100" dirty="0" smtClean="0">
              <a:solidFill>
                <a:srgbClr val="646464"/>
              </a:solidFill>
              <a:latin typeface="EYInterstate" pitchFamily="2"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66700" y="200025"/>
            <a:ext cx="8686800" cy="863600"/>
          </a:xfrm>
          <a:prstGeom prst="rect">
            <a:avLst/>
          </a:prstGeom>
        </p:spPr>
        <p:txBody>
          <a:bodyPr/>
          <a:lstStyle/>
          <a:p>
            <a:pPr marL="0" marR="0" lvl="0" indent="0" defTabSz="914400" latinLnBrk="0">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Concepts- Dunning</a:t>
            </a:r>
          </a:p>
        </p:txBody>
      </p:sp>
      <p:sp>
        <p:nvSpPr>
          <p:cNvPr id="3" name="Text Box 17"/>
          <p:cNvSpPr txBox="1">
            <a:spLocks noChangeArrowheads="1"/>
          </p:cNvSpPr>
          <p:nvPr/>
        </p:nvSpPr>
        <p:spPr bwMode="auto">
          <a:xfrm>
            <a:off x="457200" y="1143000"/>
            <a:ext cx="8229600" cy="762000"/>
          </a:xfrm>
          <a:prstGeom prst="rect">
            <a:avLst/>
          </a:prstGeom>
          <a:solidFill>
            <a:srgbClr val="7F7F7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5563" indent="1588">
              <a:lnSpc>
                <a:spcPct val="120000"/>
              </a:lnSpc>
              <a:buClr>
                <a:srgbClr val="FFC000"/>
              </a:buClr>
              <a:buSzPct val="100000"/>
              <a:defRPr/>
            </a:pPr>
            <a:r>
              <a:rPr lang="en-US" sz="1200" b="1" dirty="0" smtClean="0">
                <a:solidFill>
                  <a:schemeClr val="bg1"/>
                </a:solidFill>
                <a:latin typeface="EYInterstate" pitchFamily="2" charset="0"/>
              </a:rPr>
              <a:t>Dunning is the process of methodically communicating with customers to ensure the collection of accounts receivable. It follows the process that progresses from gentle to strict reminders (through calls, letters/ calls/ SMSs) as accounts become more past due. There are two types of dunning process, as follows :</a:t>
            </a:r>
          </a:p>
        </p:txBody>
      </p:sp>
      <p:sp>
        <p:nvSpPr>
          <p:cNvPr id="7" name="Rectangle 6"/>
          <p:cNvSpPr/>
          <p:nvPr/>
        </p:nvSpPr>
        <p:spPr>
          <a:xfrm>
            <a:off x="1600200" y="1981200"/>
            <a:ext cx="7088126" cy="533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200" dirty="0" smtClean="0">
                <a:solidFill>
                  <a:srgbClr val="646464"/>
                </a:solidFill>
                <a:latin typeface="EYInterstate Light" pitchFamily="2" charset="0"/>
              </a:rPr>
              <a:t>The customer is reminded about the payment of bill on the specified time, before the due date, on the due date and after the due date of the payment.</a:t>
            </a:r>
          </a:p>
        </p:txBody>
      </p:sp>
      <p:sp>
        <p:nvSpPr>
          <p:cNvPr id="8" name="Rectangle 7"/>
          <p:cNvSpPr/>
          <p:nvPr/>
        </p:nvSpPr>
        <p:spPr>
          <a:xfrm>
            <a:off x="457200" y="1981200"/>
            <a:ext cx="1066800" cy="5334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5563" indent="1588">
              <a:lnSpc>
                <a:spcPct val="120000"/>
              </a:lnSpc>
              <a:buClr>
                <a:srgbClr val="FFC000"/>
              </a:buClr>
              <a:buSzPct val="100000"/>
              <a:defRPr/>
            </a:pPr>
            <a:r>
              <a:rPr lang="en-US" sz="1200" dirty="0" smtClean="0">
                <a:solidFill>
                  <a:srgbClr val="646464"/>
                </a:solidFill>
                <a:latin typeface="EYInterstate" pitchFamily="2" charset="0"/>
              </a:rPr>
              <a:t>Time based Dunning</a:t>
            </a:r>
          </a:p>
        </p:txBody>
      </p:sp>
      <p:sp>
        <p:nvSpPr>
          <p:cNvPr id="9" name="Rectangle 8"/>
          <p:cNvSpPr/>
          <p:nvPr/>
        </p:nvSpPr>
        <p:spPr>
          <a:xfrm>
            <a:off x="1600200" y="2590800"/>
            <a:ext cx="7086600" cy="6096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200" b="1" dirty="0" smtClean="0">
                <a:solidFill>
                  <a:schemeClr val="bg1"/>
                </a:solidFill>
                <a:latin typeface="EYInterstate Light" pitchFamily="2" charset="0"/>
              </a:rPr>
              <a:t>When the customer’s unbilled amount approaches close to its predefined credit limit, telecom company reminds him about his exposure and advise him to make the payment for uninterrupted continuation of services.</a:t>
            </a:r>
          </a:p>
        </p:txBody>
      </p:sp>
      <p:sp>
        <p:nvSpPr>
          <p:cNvPr id="10" name="Rectangle 9"/>
          <p:cNvSpPr/>
          <p:nvPr/>
        </p:nvSpPr>
        <p:spPr>
          <a:xfrm>
            <a:off x="457200" y="2590800"/>
            <a:ext cx="1069848" cy="6096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200" b="1" dirty="0" smtClean="0">
                <a:solidFill>
                  <a:schemeClr val="bg1"/>
                </a:solidFill>
                <a:latin typeface="EYInterstate Light" pitchFamily="2" charset="0"/>
              </a:rPr>
              <a:t>Value based Dunning</a:t>
            </a:r>
          </a:p>
        </p:txBody>
      </p:sp>
      <p:sp>
        <p:nvSpPr>
          <p:cNvPr id="11" name="Rectangle 10"/>
          <p:cNvSpPr/>
          <p:nvPr/>
        </p:nvSpPr>
        <p:spPr>
          <a:xfrm>
            <a:off x="457200" y="3276600"/>
            <a:ext cx="4648200" cy="2667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913" indent="-9525"/>
            <a:r>
              <a:rPr lang="en-US" sz="1200" dirty="0" smtClean="0">
                <a:solidFill>
                  <a:srgbClr val="646464"/>
                </a:solidFill>
                <a:latin typeface="EYInterstate Light" pitchFamily="2" charset="0"/>
              </a:rPr>
              <a:t>Dunning process includes the termination of services of the</a:t>
            </a:r>
          </a:p>
          <a:p>
            <a:pPr marL="61913" indent="-9525"/>
            <a:r>
              <a:rPr lang="en-US" sz="1200" dirty="0" smtClean="0">
                <a:solidFill>
                  <a:srgbClr val="646464"/>
                </a:solidFill>
                <a:latin typeface="EYInterstate Light" pitchFamily="2" charset="0"/>
              </a:rPr>
              <a:t>defaulting subscribers step by step, e.g. initially, the outgoing ILD is</a:t>
            </a:r>
          </a:p>
          <a:p>
            <a:pPr marL="61913" indent="-9525"/>
            <a:r>
              <a:rPr lang="en-US" sz="1200" dirty="0" smtClean="0">
                <a:solidFill>
                  <a:srgbClr val="646464"/>
                </a:solidFill>
                <a:latin typeface="EYInterstate Light" pitchFamily="2" charset="0"/>
              </a:rPr>
              <a:t>barred, then outgoing NLD services are barred, and so on. Finally,</a:t>
            </a:r>
          </a:p>
          <a:p>
            <a:pPr marL="61913" indent="-9525"/>
            <a:r>
              <a:rPr lang="en-US" sz="1200" dirty="0" smtClean="0">
                <a:solidFill>
                  <a:srgbClr val="646464"/>
                </a:solidFill>
                <a:latin typeface="EYInterstate Light" pitchFamily="2" charset="0"/>
              </a:rPr>
              <a:t>all the services including incoming calls to the defaulting subscribers</a:t>
            </a:r>
          </a:p>
          <a:p>
            <a:pPr marL="61913" indent="-9525"/>
            <a:r>
              <a:rPr lang="en-US" sz="1200" dirty="0" smtClean="0">
                <a:solidFill>
                  <a:srgbClr val="646464"/>
                </a:solidFill>
                <a:latin typeface="EYInterstate Light" pitchFamily="2" charset="0"/>
              </a:rPr>
              <a:t>are barred. The internal auditor should verify that the telecom</a:t>
            </a:r>
          </a:p>
          <a:p>
            <a:pPr marL="61913" indent="-9525"/>
            <a:r>
              <a:rPr lang="en-US" sz="1200" dirty="0" smtClean="0">
                <a:solidFill>
                  <a:srgbClr val="646464"/>
                </a:solidFill>
                <a:latin typeface="EYInterstate Light" pitchFamily="2" charset="0"/>
              </a:rPr>
              <a:t>company has an effective dunning policy in place, the customers are</a:t>
            </a:r>
          </a:p>
          <a:p>
            <a:pPr marL="61913" indent="-9525"/>
            <a:r>
              <a:rPr lang="en-US" sz="1200" dirty="0" smtClean="0">
                <a:solidFill>
                  <a:srgbClr val="646464"/>
                </a:solidFill>
                <a:latin typeface="EYInterstate Light" pitchFamily="2" charset="0"/>
              </a:rPr>
              <a:t>terminated and recovery process is started as per the policy.</a:t>
            </a:r>
          </a:p>
        </p:txBody>
      </p:sp>
      <p:pic>
        <p:nvPicPr>
          <p:cNvPr id="150530" name="Picture 2" descr="http://www.balticerp.lv/html/img/pool/finance.jpg"/>
          <p:cNvPicPr>
            <a:picLocks noChangeAspect="1" noChangeArrowheads="1"/>
          </p:cNvPicPr>
          <p:nvPr/>
        </p:nvPicPr>
        <p:blipFill>
          <a:blip r:embed="rId2" cstate="print"/>
          <a:srcRect/>
          <a:stretch>
            <a:fillRect/>
          </a:stretch>
        </p:blipFill>
        <p:spPr bwMode="auto">
          <a:xfrm>
            <a:off x="5334478" y="3276600"/>
            <a:ext cx="3352322" cy="26670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752600" y="1294927"/>
          <a:ext cx="6477000" cy="4572001"/>
        </p:xfrm>
        <a:graphic>
          <a:graphicData uri="http://schemas.openxmlformats.org/drawingml/2006/table">
            <a:tbl>
              <a:tblPr firstRow="1" bandRow="1">
                <a:tableStyleId>{073A0DAA-6AF3-43AB-8588-CEC1D06C72B9}</a:tableStyleId>
              </a:tblPr>
              <a:tblGrid>
                <a:gridCol w="719667"/>
                <a:gridCol w="3598333"/>
                <a:gridCol w="2159000"/>
              </a:tblGrid>
              <a:tr h="434435">
                <a:tc>
                  <a:txBody>
                    <a:bodyPr/>
                    <a:lstStyle/>
                    <a:p>
                      <a:pPr algn="ctr">
                        <a:spcAft>
                          <a:spcPts val="0"/>
                        </a:spcAft>
                      </a:pPr>
                      <a:r>
                        <a:rPr lang="en-GB" sz="1100" dirty="0" err="1" smtClean="0">
                          <a:latin typeface="EYInterstate" pitchFamily="2" charset="0"/>
                        </a:rPr>
                        <a:t>S.No</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Risk Description</a:t>
                      </a:r>
                      <a:endParaRPr lang="en-US" sz="1100" dirty="0">
                        <a:latin typeface="EYInterstate" pitchFamily="2" charset="0"/>
                        <a:ea typeface="Times New Roman"/>
                      </a:endParaRPr>
                    </a:p>
                  </a:txBody>
                  <a:tcPr marL="68580" marR="68580" marT="0" marB="0" anchor="ctr"/>
                </a:tc>
                <a:tc>
                  <a:txBody>
                    <a:bodyPr/>
                    <a:lstStyle/>
                    <a:p>
                      <a:pPr algn="ctr">
                        <a:spcAft>
                          <a:spcPts val="0"/>
                        </a:spcAft>
                      </a:pPr>
                      <a:r>
                        <a:rPr lang="en-GB" sz="1100" dirty="0" smtClean="0">
                          <a:latin typeface="EYInterstate" pitchFamily="2" charset="0"/>
                        </a:rPr>
                        <a:t>RA</a:t>
                      </a:r>
                      <a:r>
                        <a:rPr lang="en-GB" sz="1100" baseline="0" dirty="0" smtClean="0">
                          <a:latin typeface="EYInterstate" pitchFamily="2" charset="0"/>
                        </a:rPr>
                        <a:t> Control activity</a:t>
                      </a:r>
                      <a:endParaRPr lang="en-US" sz="1100" dirty="0">
                        <a:latin typeface="EYInterstate" pitchFamily="2" charset="0"/>
                        <a:ea typeface="Times New Roman"/>
                      </a:endParaRPr>
                    </a:p>
                  </a:txBody>
                  <a:tcPr marL="68580" marR="68580" marT="0" marB="0" anchor="ctr"/>
                </a:tc>
              </a:tr>
              <a:tr h="567453">
                <a:tc>
                  <a:txBody>
                    <a:bodyPr/>
                    <a:lstStyle/>
                    <a:p>
                      <a:pPr>
                        <a:spcAft>
                          <a:spcPts val="0"/>
                        </a:spcAft>
                      </a:pPr>
                      <a:r>
                        <a:rPr lang="en-US" sz="1100" dirty="0" smtClean="0">
                          <a:latin typeface="EYInterstate" pitchFamily="2" charset="0"/>
                          <a:ea typeface="Times New Roman"/>
                        </a:rPr>
                        <a:t>1</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CDRs are not correctly processed at Mediation &amp; Billing leading</a:t>
                      </a:r>
                      <a:r>
                        <a:rPr lang="en-US" sz="1100" baseline="0" dirty="0" smtClean="0">
                          <a:latin typeface="EYInterstate" pitchFamily="2" charset="0"/>
                          <a:ea typeface="Times New Roman"/>
                        </a:rPr>
                        <a:t> to rejection of eligible CDRs for rating</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Review &amp; Analysis of Mediation &amp; Billing rejected CDRs</a:t>
                      </a:r>
                      <a:endParaRPr lang="en-US" sz="1100" dirty="0">
                        <a:latin typeface="EYInterstate" pitchFamily="2" charset="0"/>
                        <a:ea typeface="Times New Roman"/>
                      </a:endParaRPr>
                    </a:p>
                  </a:txBody>
                  <a:tcPr marL="68580" marR="68580" marT="0" marB="0" anchor="ctr"/>
                </a:tc>
              </a:tr>
              <a:tr h="756603">
                <a:tc>
                  <a:txBody>
                    <a:bodyPr/>
                    <a:lstStyle/>
                    <a:p>
                      <a:pPr>
                        <a:spcAft>
                          <a:spcPts val="0"/>
                        </a:spcAft>
                      </a:pPr>
                      <a:r>
                        <a:rPr lang="en-US" sz="1100" dirty="0" smtClean="0">
                          <a:latin typeface="EYInterstate" pitchFamily="2" charset="0"/>
                          <a:ea typeface="Times New Roman"/>
                        </a:rPr>
                        <a:t>2</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All CDR files are not received from switch via mediation to Billing System or duplicate files being processed </a:t>
                      </a:r>
                      <a:endParaRPr lang="en-US" sz="1100" dirty="0">
                        <a:latin typeface="EYInterstate" pitchFamily="2" charset="0"/>
                        <a:ea typeface="Times New Roman"/>
                      </a:endParaRPr>
                    </a:p>
                  </a:txBody>
                  <a:tcPr marL="68580" marR="68580" marT="0" marB="0" anchor="ctr"/>
                </a:tc>
                <a:tc>
                  <a:txBody>
                    <a:bodyPr/>
                    <a:lstStyle/>
                    <a:p>
                      <a:pPr>
                        <a:spcAft>
                          <a:spcPts val="0"/>
                        </a:spcAft>
                      </a:pPr>
                      <a:r>
                        <a:rPr lang="en-US" sz="1100" dirty="0" smtClean="0">
                          <a:latin typeface="EYInterstate" pitchFamily="2" charset="0"/>
                          <a:ea typeface="Times New Roman"/>
                        </a:rPr>
                        <a:t>File Reconciliation and Trending - Switch </a:t>
                      </a:r>
                      <a:r>
                        <a:rPr lang="en-US" sz="1100" dirty="0" err="1" smtClean="0">
                          <a:latin typeface="EYInterstate" pitchFamily="2" charset="0"/>
                          <a:ea typeface="Times New Roman"/>
                        </a:rPr>
                        <a:t>vs</a:t>
                      </a:r>
                      <a:r>
                        <a:rPr lang="en-US" sz="1100" dirty="0" smtClean="0">
                          <a:latin typeface="EYInterstate" pitchFamily="2" charset="0"/>
                          <a:ea typeface="Times New Roman"/>
                        </a:rPr>
                        <a:t> Mediation </a:t>
                      </a:r>
                      <a:r>
                        <a:rPr lang="en-US" sz="1100" dirty="0" err="1" smtClean="0">
                          <a:latin typeface="EYInterstate" pitchFamily="2" charset="0"/>
                          <a:ea typeface="Times New Roman"/>
                        </a:rPr>
                        <a:t>vs</a:t>
                      </a:r>
                      <a:r>
                        <a:rPr lang="en-US" sz="1100" dirty="0" smtClean="0">
                          <a:latin typeface="EYInterstate" pitchFamily="2" charset="0"/>
                          <a:ea typeface="Times New Roman"/>
                        </a:rPr>
                        <a:t> Billing System (Count Level)</a:t>
                      </a:r>
                      <a:endParaRPr lang="en-US" sz="1100" dirty="0">
                        <a:latin typeface="EYInterstate" pitchFamily="2" charset="0"/>
                        <a:ea typeface="Times New Roman"/>
                      </a:endParaRPr>
                    </a:p>
                  </a:txBody>
                  <a:tcPr marL="68580" marR="68580" marT="0" marB="0" anchor="ctr"/>
                </a:tc>
              </a:tr>
              <a:tr h="401930">
                <a:tc>
                  <a:txBody>
                    <a:bodyPr/>
                    <a:lstStyle/>
                    <a:p>
                      <a:pPr>
                        <a:spcAft>
                          <a:spcPts val="0"/>
                        </a:spcAft>
                      </a:pPr>
                      <a:r>
                        <a:rPr lang="en-US" sz="1100" dirty="0" smtClean="0">
                          <a:latin typeface="EYInterstate" pitchFamily="2" charset="0"/>
                          <a:ea typeface="Times New Roman"/>
                        </a:rPr>
                        <a:t>3</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CDR rating</a:t>
                      </a:r>
                      <a:r>
                        <a:rPr lang="en-US" sz="1100" baseline="0" dirty="0" smtClean="0">
                          <a:latin typeface="EYInterstate" pitchFamily="2" charset="0"/>
                          <a:ea typeface="Times New Roman"/>
                        </a:rPr>
                        <a:t> not happens as per the customer bill plan leading to revenue loss or customer dissatisfaction</a:t>
                      </a:r>
                      <a:endParaRPr lang="en-US" sz="1100" dirty="0" smtClean="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Billing CDR Rating verification </a:t>
                      </a:r>
                    </a:p>
                  </a:txBody>
                  <a:tcPr marL="68580" marR="68580" marT="0" marB="0" anchor="ctr"/>
                </a:tc>
              </a:tr>
              <a:tr h="401930">
                <a:tc>
                  <a:txBody>
                    <a:bodyPr/>
                    <a:lstStyle/>
                    <a:p>
                      <a:pPr>
                        <a:spcAft>
                          <a:spcPts val="0"/>
                        </a:spcAft>
                      </a:pPr>
                      <a:r>
                        <a:rPr lang="en-US" sz="1100" dirty="0" smtClean="0">
                          <a:latin typeface="EYInterstate" pitchFamily="2" charset="0"/>
                          <a:ea typeface="Times New Roman"/>
                        </a:rPr>
                        <a:t>4</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Unauthorized adjustments may be given to the customers resulting in revenue Leakage</a:t>
                      </a: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Adjustment and waiver validation analysis</a:t>
                      </a:r>
                    </a:p>
                  </a:txBody>
                  <a:tcPr marL="68580" marR="68580" marT="0" marB="0" anchor="ctr"/>
                </a:tc>
              </a:tr>
              <a:tr h="401930">
                <a:tc>
                  <a:txBody>
                    <a:bodyPr/>
                    <a:lstStyle/>
                    <a:p>
                      <a:pPr>
                        <a:spcAft>
                          <a:spcPts val="0"/>
                        </a:spcAft>
                      </a:pPr>
                      <a:r>
                        <a:rPr lang="en-US" sz="1100" dirty="0" smtClean="0">
                          <a:latin typeface="EYInterstate" pitchFamily="2" charset="0"/>
                          <a:ea typeface="Times New Roman"/>
                        </a:rPr>
                        <a:t>5</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All eligible postpaid CDR’s generated at switch</a:t>
                      </a:r>
                      <a:r>
                        <a:rPr lang="en-US" sz="1100" baseline="0" dirty="0" smtClean="0">
                          <a:latin typeface="EYInterstate" pitchFamily="2" charset="0"/>
                          <a:ea typeface="Times New Roman"/>
                        </a:rPr>
                        <a:t> </a:t>
                      </a:r>
                      <a:r>
                        <a:rPr lang="en-US" sz="1100" dirty="0" smtClean="0">
                          <a:latin typeface="EYInterstate" pitchFamily="2" charset="0"/>
                          <a:ea typeface="Times New Roman"/>
                        </a:rPr>
                        <a:t>not being rated at billing</a:t>
                      </a: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MSC </a:t>
                      </a:r>
                      <a:r>
                        <a:rPr lang="en-US" sz="1100" dirty="0" err="1" smtClean="0">
                          <a:latin typeface="EYInterstate" pitchFamily="2" charset="0"/>
                          <a:ea typeface="Times New Roman"/>
                        </a:rPr>
                        <a:t>vs</a:t>
                      </a:r>
                      <a:r>
                        <a:rPr lang="en-US" sz="1100" dirty="0" smtClean="0">
                          <a:latin typeface="EYInterstate" pitchFamily="2" charset="0"/>
                          <a:ea typeface="Times New Roman"/>
                        </a:rPr>
                        <a:t> Billing CDR Reconciliation</a:t>
                      </a:r>
                    </a:p>
                  </a:txBody>
                  <a:tcPr marL="68580" marR="68580" marT="0" marB="0" anchor="ctr"/>
                </a:tc>
              </a:tr>
              <a:tr h="401930">
                <a:tc>
                  <a:txBody>
                    <a:bodyPr/>
                    <a:lstStyle/>
                    <a:p>
                      <a:pPr>
                        <a:spcAft>
                          <a:spcPts val="0"/>
                        </a:spcAft>
                      </a:pPr>
                      <a:r>
                        <a:rPr lang="en-US" sz="1100" dirty="0" smtClean="0">
                          <a:latin typeface="EYInterstate" pitchFamily="2" charset="0"/>
                          <a:ea typeface="Times New Roman"/>
                        </a:rPr>
                        <a:t>6</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All eligible postpaid CDR’s generated at MMSC not being rated at billing</a:t>
                      </a: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MMSC </a:t>
                      </a:r>
                      <a:r>
                        <a:rPr lang="en-US" sz="1100" dirty="0" err="1" smtClean="0">
                          <a:latin typeface="EYInterstate" pitchFamily="2" charset="0"/>
                          <a:ea typeface="Times New Roman"/>
                        </a:rPr>
                        <a:t>vs</a:t>
                      </a:r>
                      <a:r>
                        <a:rPr lang="en-US" sz="1100" dirty="0" smtClean="0">
                          <a:latin typeface="EYInterstate" pitchFamily="2" charset="0"/>
                          <a:ea typeface="Times New Roman"/>
                        </a:rPr>
                        <a:t> Billing CDR Reconciliation</a:t>
                      </a:r>
                    </a:p>
                  </a:txBody>
                  <a:tcPr marL="68580" marR="68580" marT="0" marB="0" anchor="ctr"/>
                </a:tc>
              </a:tr>
              <a:tr h="401930">
                <a:tc>
                  <a:txBody>
                    <a:bodyPr/>
                    <a:lstStyle/>
                    <a:p>
                      <a:pPr>
                        <a:spcAft>
                          <a:spcPts val="0"/>
                        </a:spcAft>
                      </a:pPr>
                      <a:r>
                        <a:rPr lang="en-US" sz="1100" dirty="0" smtClean="0">
                          <a:latin typeface="EYInterstate" pitchFamily="2" charset="0"/>
                          <a:ea typeface="Times New Roman"/>
                        </a:rPr>
                        <a:t>7</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Unauthorized</a:t>
                      </a:r>
                      <a:r>
                        <a:rPr lang="en-US" sz="1100" baseline="0" dirty="0" smtClean="0">
                          <a:latin typeface="EYInterstate" pitchFamily="2" charset="0"/>
                          <a:ea typeface="Times New Roman"/>
                        </a:rPr>
                        <a:t> allocation of test cards &amp; test plan activated on commercial customers.</a:t>
                      </a:r>
                      <a:endParaRPr lang="en-US" sz="1100" dirty="0" smtClean="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Test SIM Usage Monitoring (Postpaid)</a:t>
                      </a:r>
                    </a:p>
                  </a:txBody>
                  <a:tcPr marL="68580" marR="68580" marT="0" marB="0" anchor="ctr"/>
                </a:tc>
              </a:tr>
              <a:tr h="401930">
                <a:tc>
                  <a:txBody>
                    <a:bodyPr/>
                    <a:lstStyle/>
                    <a:p>
                      <a:pPr>
                        <a:spcAft>
                          <a:spcPts val="0"/>
                        </a:spcAft>
                      </a:pPr>
                      <a:r>
                        <a:rPr lang="en-US" sz="1100" dirty="0" smtClean="0">
                          <a:latin typeface="EYInterstate" pitchFamily="2" charset="0"/>
                          <a:ea typeface="Times New Roman"/>
                        </a:rPr>
                        <a:t>8</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Wrong Bills may be send to the customers,</a:t>
                      </a:r>
                      <a:r>
                        <a:rPr lang="en-US" sz="1100" baseline="0" dirty="0" smtClean="0">
                          <a:latin typeface="EYInterstate" pitchFamily="2" charset="0"/>
                          <a:ea typeface="Times New Roman"/>
                        </a:rPr>
                        <a:t> leading to </a:t>
                      </a:r>
                      <a:r>
                        <a:rPr lang="en-US" sz="1100" dirty="0" smtClean="0">
                          <a:latin typeface="EYInterstate" pitchFamily="2" charset="0"/>
                          <a:ea typeface="Times New Roman"/>
                        </a:rPr>
                        <a:t>customer complaints and revenue</a:t>
                      </a:r>
                      <a:r>
                        <a:rPr lang="en-US" sz="1100" baseline="0" dirty="0" smtClean="0">
                          <a:latin typeface="EYInterstate" pitchFamily="2" charset="0"/>
                          <a:ea typeface="Times New Roman"/>
                        </a:rPr>
                        <a:t> loss</a:t>
                      </a:r>
                      <a:endParaRPr lang="en-US" sz="1100" dirty="0" smtClean="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Pre Billing Control</a:t>
                      </a:r>
                    </a:p>
                  </a:txBody>
                  <a:tcPr marL="68580" marR="68580" marT="0" marB="0" anchor="ctr"/>
                </a:tc>
              </a:tr>
              <a:tr h="401930">
                <a:tc>
                  <a:txBody>
                    <a:bodyPr/>
                    <a:lstStyle/>
                    <a:p>
                      <a:pPr>
                        <a:spcAft>
                          <a:spcPts val="0"/>
                        </a:spcAft>
                      </a:pPr>
                      <a:r>
                        <a:rPr lang="en-US" sz="1100" dirty="0" smtClean="0">
                          <a:latin typeface="EYInterstate" pitchFamily="2" charset="0"/>
                          <a:ea typeface="Times New Roman"/>
                        </a:rPr>
                        <a:t>9</a:t>
                      </a:r>
                      <a:endParaRPr lang="en-US" sz="1100" dirty="0">
                        <a:latin typeface="EYInterstate" pitchFamily="2" charset="0"/>
                        <a:ea typeface="Times New Roman"/>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In correct accounting of Revenue and all eligible customers not billed in the bill cycle</a:t>
                      </a: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latin typeface="EYInterstate" pitchFamily="2" charset="0"/>
                          <a:ea typeface="Times New Roman"/>
                        </a:rPr>
                        <a:t>Post Billing Control</a:t>
                      </a:r>
                    </a:p>
                  </a:txBody>
                  <a:tcPr marL="68580" marR="68580" marT="0" marB="0" anchor="ctr"/>
                </a:tc>
              </a:tr>
            </a:tbl>
          </a:graphicData>
        </a:graphic>
      </p:graphicFrame>
      <p:sp>
        <p:nvSpPr>
          <p:cNvPr id="3" name="Rectangle 2"/>
          <p:cNvSpPr/>
          <p:nvPr/>
        </p:nvSpPr>
        <p:spPr>
          <a:xfrm>
            <a:off x="381000" y="1295400"/>
            <a:ext cx="1295400" cy="4572000"/>
          </a:xfrm>
          <a:prstGeom prst="rect">
            <a:avLst/>
          </a:prstGeom>
          <a:solidFill>
            <a:schemeClr val="accent2"/>
          </a:solidFill>
          <a:ln>
            <a:solidFill>
              <a:srgbClr val="FFD2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lumMod val="50000"/>
                  </a:schemeClr>
                </a:solidFill>
                <a:latin typeface="EYInterstate" pitchFamily="2" charset="0"/>
              </a:rPr>
              <a:t>Billing &amp; Usage Reconciliation</a:t>
            </a:r>
          </a:p>
        </p:txBody>
      </p:sp>
      <p:sp>
        <p:nvSpPr>
          <p:cNvPr id="4" name="Rectangle 2"/>
          <p:cNvSpPr txBox="1">
            <a:spLocks noChangeArrowheads="1"/>
          </p:cNvSpPr>
          <p:nvPr/>
        </p:nvSpPr>
        <p:spPr>
          <a:xfrm>
            <a:off x="266700" y="200025"/>
            <a:ext cx="8686800" cy="863600"/>
          </a:xfrm>
          <a:prstGeom prst="rect">
            <a:avLst/>
          </a:prstGeom>
        </p:spPr>
        <p:txBody>
          <a:bodyPr/>
          <a:lstStyle/>
          <a:p>
            <a:pPr marL="0" marR="0" lvl="0" indent="0" defTabSz="914400" eaLnBrk="1" latinLnBrk="0" hangingPunct="1">
              <a:lnSpc>
                <a:spcPct val="85000"/>
              </a:lnSpc>
              <a:buClrTx/>
              <a:buSzTx/>
              <a:buFontTx/>
              <a:buNone/>
              <a:tabLst>
                <a:tab pos="400050" algn="l"/>
              </a:tabLst>
              <a:defRPr/>
            </a:pPr>
            <a:r>
              <a:rPr lang="en-US" sz="2400" b="1" dirty="0" smtClean="0">
                <a:solidFill>
                  <a:srgbClr val="646464"/>
                </a:solidFill>
                <a:latin typeface="EYInterstate" pitchFamily="2" charset="0"/>
                <a:ea typeface="+mj-ea"/>
                <a:cs typeface="+mj-cs"/>
              </a:rPr>
              <a:t>Key Risks &amp; RA Control </a:t>
            </a:r>
          </a:p>
        </p:txBody>
      </p:sp>
      <p:sp>
        <p:nvSpPr>
          <p:cNvPr id="5" name="Action Button: Forward or Next 4">
            <a:hlinkClick r:id="" action="ppaction://noaction" highlightClick="1"/>
          </p:cNvPr>
          <p:cNvSpPr/>
          <p:nvPr/>
        </p:nvSpPr>
        <p:spPr>
          <a:xfrm>
            <a:off x="8382000" y="18288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Action Button: Forward or Next 5">
            <a:hlinkClick r:id="" action="ppaction://noaction" highlightClick="1"/>
          </p:cNvPr>
          <p:cNvSpPr/>
          <p:nvPr/>
        </p:nvSpPr>
        <p:spPr>
          <a:xfrm>
            <a:off x="8382000" y="25146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Action Button: Forward or Next 6">
            <a:hlinkClick r:id="" action="ppaction://noaction" highlightClick="1"/>
          </p:cNvPr>
          <p:cNvSpPr/>
          <p:nvPr/>
        </p:nvSpPr>
        <p:spPr>
          <a:xfrm>
            <a:off x="8382000" y="31242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Action Button: Forward or Next 7">
            <a:hlinkClick r:id="" action="ppaction://noaction" highlightClick="1"/>
          </p:cNvPr>
          <p:cNvSpPr/>
          <p:nvPr/>
        </p:nvSpPr>
        <p:spPr>
          <a:xfrm>
            <a:off x="8382000" y="35052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Action Button: Forward or Next 8">
            <a:hlinkClick r:id="" action="ppaction://noaction" highlightClick="1"/>
          </p:cNvPr>
          <p:cNvSpPr/>
          <p:nvPr/>
        </p:nvSpPr>
        <p:spPr>
          <a:xfrm>
            <a:off x="8382000" y="38862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Action Button: Forward or Next 9">
            <a:hlinkClick r:id="" action="ppaction://noaction" highlightClick="1"/>
          </p:cNvPr>
          <p:cNvSpPr/>
          <p:nvPr/>
        </p:nvSpPr>
        <p:spPr>
          <a:xfrm>
            <a:off x="8382000" y="43434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Action Button: Forward or Next 10">
            <a:hlinkClick r:id="" action="ppaction://noaction" highlightClick="1"/>
          </p:cNvPr>
          <p:cNvSpPr/>
          <p:nvPr/>
        </p:nvSpPr>
        <p:spPr>
          <a:xfrm>
            <a:off x="8382000" y="47244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Action Button: Forward or Next 11">
            <a:hlinkClick r:id="" action="ppaction://noaction" highlightClick="1"/>
          </p:cNvPr>
          <p:cNvSpPr/>
          <p:nvPr/>
        </p:nvSpPr>
        <p:spPr>
          <a:xfrm>
            <a:off x="8382000" y="51054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Action Button: Forward or Next 12">
            <a:hlinkClick r:id="" action="ppaction://noaction" highlightClick="1"/>
          </p:cNvPr>
          <p:cNvSpPr/>
          <p:nvPr/>
        </p:nvSpPr>
        <p:spPr>
          <a:xfrm>
            <a:off x="8382000" y="5486400"/>
            <a:ext cx="533400" cy="304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00025"/>
            <a:ext cx="8232775" cy="863600"/>
          </a:xfrm>
          <a:prstGeom prst="rect">
            <a:avLst/>
          </a:prstGeom>
        </p:spPr>
        <p:txBody>
          <a:bodyPr/>
          <a:lstStyle/>
          <a:p>
            <a:pPr marL="0" marR="0" lvl="0" indent="0" algn="l" defTabSz="914400" rtl="0" eaLnBrk="1" fontAlgn="base" latinLnBrk="0" hangingPunct="1">
              <a:lnSpc>
                <a:spcPct val="85000"/>
              </a:lnSpc>
              <a:spcBef>
                <a:spcPct val="0"/>
              </a:spcBef>
              <a:spcAft>
                <a:spcPct val="0"/>
              </a:spcAft>
              <a:buClrTx/>
              <a:buSzTx/>
              <a:buFontTx/>
              <a:buNone/>
              <a:tabLst>
                <a:tab pos="400050" algn="l"/>
              </a:tabLst>
              <a:defRPr/>
            </a:pPr>
            <a:r>
              <a:rPr kumimoji="0" lang="en-US" sz="2400" b="1" i="0" u="none" strike="noStrike" kern="0" cap="none" spc="0" normalizeH="0" baseline="0" noProof="0" dirty="0" smtClean="0">
                <a:ln>
                  <a:noFill/>
                </a:ln>
                <a:solidFill>
                  <a:srgbClr val="646464"/>
                </a:solidFill>
                <a:effectLst/>
                <a:uLnTx/>
                <a:uFillTx/>
                <a:latin typeface="EYInterstate" pitchFamily="2" charset="0"/>
                <a:ea typeface="+mj-ea"/>
                <a:cs typeface="+mj-cs"/>
              </a:rPr>
              <a:t>Glossary</a:t>
            </a:r>
            <a:endParaRPr kumimoji="0" lang="en-US" sz="2400" b="1" i="0" u="none" strike="noStrike" kern="0" cap="none" spc="0" normalizeH="0" baseline="0" noProof="0" dirty="0">
              <a:ln>
                <a:noFill/>
              </a:ln>
              <a:solidFill>
                <a:srgbClr val="000000"/>
              </a:solidFill>
              <a:effectLst/>
              <a:uLnTx/>
              <a:uFillTx/>
              <a:latin typeface="EYInterstate Light" pitchFamily="2" charset="0"/>
              <a:ea typeface="+mj-ea"/>
              <a:cs typeface="+mj-cs"/>
            </a:endParaRPr>
          </a:p>
        </p:txBody>
      </p:sp>
      <p:grpSp>
        <p:nvGrpSpPr>
          <p:cNvPr id="34" name="Group 33"/>
          <p:cNvGrpSpPr/>
          <p:nvPr/>
        </p:nvGrpSpPr>
        <p:grpSpPr>
          <a:xfrm>
            <a:off x="304800" y="1981200"/>
            <a:ext cx="8467344" cy="2877681"/>
            <a:chOff x="304800" y="1981200"/>
            <a:chExt cx="8467344" cy="2877681"/>
          </a:xfrm>
        </p:grpSpPr>
        <p:sp>
          <p:nvSpPr>
            <p:cNvPr id="35" name="Rectangle 34"/>
            <p:cNvSpPr/>
            <p:nvPr/>
          </p:nvSpPr>
          <p:spPr>
            <a:xfrm>
              <a:off x="3990187" y="3432381"/>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36" name="Rectangle 35"/>
            <p:cNvSpPr/>
            <p:nvPr/>
          </p:nvSpPr>
          <p:spPr>
            <a:xfrm>
              <a:off x="1531449" y="3438477"/>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37" name="Rectangle 20"/>
            <p:cNvSpPr>
              <a:spLocks noChangeArrowheads="1"/>
            </p:cNvSpPr>
            <p:nvPr/>
          </p:nvSpPr>
          <p:spPr bwMode="auto">
            <a:xfrm>
              <a:off x="1568507" y="4094686"/>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General Postpaid Terminologies</a:t>
              </a:r>
              <a:endParaRPr lang="en-US" sz="1200" dirty="0">
                <a:solidFill>
                  <a:srgbClr val="000000"/>
                </a:solidFill>
                <a:latin typeface="EYInterstate Light" pitchFamily="2" charset="0"/>
              </a:endParaRPr>
            </a:p>
          </p:txBody>
        </p:sp>
        <p:grpSp>
          <p:nvGrpSpPr>
            <p:cNvPr id="38" name="Group 33"/>
            <p:cNvGrpSpPr>
              <a:grpSpLocks/>
            </p:cNvGrpSpPr>
            <p:nvPr/>
          </p:nvGrpSpPr>
          <p:grpSpPr bwMode="auto">
            <a:xfrm>
              <a:off x="5211001" y="2004145"/>
              <a:ext cx="1187098" cy="1401763"/>
              <a:chOff x="4599803" y="2102667"/>
              <a:chExt cx="1329095" cy="1401653"/>
            </a:xfrm>
            <a:solidFill>
              <a:schemeClr val="bg1">
                <a:lumMod val="95000"/>
              </a:schemeClr>
            </a:solidFill>
          </p:grpSpPr>
          <p:sp>
            <p:nvSpPr>
              <p:cNvPr id="73" name="Rectangle 72"/>
              <p:cNvSpPr/>
              <p:nvPr/>
            </p:nvSpPr>
            <p:spPr>
              <a:xfrm>
                <a:off x="4599803" y="2102667"/>
                <a:ext cx="1329095" cy="140165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4" name="Rectangle 23"/>
              <p:cNvSpPr>
                <a:spLocks noChangeArrowheads="1"/>
              </p:cNvSpPr>
              <p:nvPr/>
            </p:nvSpPr>
            <p:spPr bwMode="auto">
              <a:xfrm>
                <a:off x="4633035" y="2162263"/>
                <a:ext cx="1136666" cy="373599"/>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Rating &amp; Billing</a:t>
                </a:r>
                <a:endParaRPr lang="en-US" sz="1200" dirty="0">
                  <a:latin typeface="EYInterstate" pitchFamily="2" charset="0"/>
                </a:endParaRPr>
              </a:p>
            </p:txBody>
          </p:sp>
        </p:grpSp>
        <p:sp>
          <p:nvSpPr>
            <p:cNvPr id="39" name="Rectangle 22"/>
            <p:cNvSpPr>
              <a:spLocks noChangeArrowheads="1"/>
            </p:cNvSpPr>
            <p:nvPr/>
          </p:nvSpPr>
          <p:spPr bwMode="auto">
            <a:xfrm>
              <a:off x="4027182" y="4038600"/>
              <a:ext cx="1105972" cy="758349"/>
            </a:xfrm>
            <a:prstGeom prst="rect">
              <a:avLst/>
            </a:prstGeom>
            <a:noFill/>
            <a:ln w="9525">
              <a:noFill/>
              <a:miter lim="800000"/>
              <a:headEnd/>
              <a:tailEnd/>
            </a:ln>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Provisioning  and Billing  System Interfaces</a:t>
              </a:r>
              <a:endParaRPr lang="en-US" sz="1200" dirty="0">
                <a:latin typeface="EYInterstate" pitchFamily="2" charset="0"/>
              </a:endParaRPr>
            </a:p>
          </p:txBody>
        </p:sp>
        <p:grpSp>
          <p:nvGrpSpPr>
            <p:cNvPr id="40" name="Group 44"/>
            <p:cNvGrpSpPr>
              <a:grpSpLocks/>
            </p:cNvGrpSpPr>
            <p:nvPr/>
          </p:nvGrpSpPr>
          <p:grpSpPr bwMode="auto">
            <a:xfrm>
              <a:off x="6425928" y="3447686"/>
              <a:ext cx="1185683" cy="1401762"/>
              <a:chOff x="5972094" y="3483677"/>
              <a:chExt cx="1329077" cy="1401653"/>
            </a:xfrm>
            <a:solidFill>
              <a:schemeClr val="bg1">
                <a:lumMod val="95000"/>
              </a:schemeClr>
            </a:solidFill>
          </p:grpSpPr>
          <p:sp>
            <p:nvSpPr>
              <p:cNvPr id="71" name="Rectangle 70"/>
              <p:cNvSpPr/>
              <p:nvPr/>
            </p:nvSpPr>
            <p:spPr>
              <a:xfrm>
                <a:off x="5972094" y="3483677"/>
                <a:ext cx="1329077" cy="140165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2" name="Rectangle 24"/>
              <p:cNvSpPr>
                <a:spLocks noChangeArrowheads="1"/>
              </p:cNvSpPr>
              <p:nvPr/>
            </p:nvSpPr>
            <p:spPr bwMode="auto">
              <a:xfrm>
                <a:off x="6011147" y="4464151"/>
                <a:ext cx="1136650" cy="384691"/>
              </a:xfrm>
              <a:prstGeom prst="rect">
                <a:avLst/>
              </a:prstGeom>
              <a:noFill/>
              <a:ln w="9525">
                <a:noFill/>
                <a:miter lim="800000"/>
                <a:headEnd/>
                <a:tailEnd/>
              </a:ln>
            </p:spPr>
            <p:txBody>
              <a:bodyPr lIns="0" tIns="0" rIns="0" bIns="0">
                <a:spAutoFit/>
              </a:bodyPr>
              <a:lstStyle/>
              <a:p>
                <a:pPr>
                  <a:lnSpc>
                    <a:spcPts val="1500"/>
                  </a:lnSpc>
                  <a:buClr>
                    <a:srgbClr val="FFD200"/>
                  </a:buClr>
                  <a:buSzPct val="75000"/>
                  <a:tabLst>
                    <a:tab pos="400050" algn="l"/>
                  </a:tabLst>
                  <a:defRPr/>
                </a:pPr>
                <a:r>
                  <a:rPr lang="en-US" sz="1200" dirty="0" smtClean="0">
                    <a:latin typeface="EYInterstate" pitchFamily="2" charset="0"/>
                  </a:rPr>
                  <a:t>Collection &amp; Dunning</a:t>
                </a:r>
                <a:endParaRPr lang="en-US" sz="1200" dirty="0">
                  <a:latin typeface="EYInterstate" pitchFamily="2" charset="0"/>
                </a:endParaRPr>
              </a:p>
            </p:txBody>
          </p:sp>
        </p:grpSp>
        <p:pic>
          <p:nvPicPr>
            <p:cNvPr id="41" name="Picture 4" descr="investment"/>
            <p:cNvPicPr>
              <a:picLocks noChangeArrowheads="1"/>
            </p:cNvPicPr>
            <p:nvPr/>
          </p:nvPicPr>
          <p:blipFill>
            <a:blip r:embed="rId2" cstate="print"/>
            <a:srcRect/>
            <a:stretch>
              <a:fillRect/>
            </a:stretch>
          </p:blipFill>
          <p:spPr bwMode="auto">
            <a:xfrm>
              <a:off x="3979308" y="2005600"/>
              <a:ext cx="1183132" cy="1399032"/>
            </a:xfrm>
            <a:prstGeom prst="rect">
              <a:avLst/>
            </a:prstGeom>
            <a:solidFill>
              <a:schemeClr val="tx1">
                <a:lumMod val="20000"/>
                <a:lumOff val="80000"/>
              </a:schemeClr>
            </a:solidFill>
            <a:ln>
              <a:noFill/>
            </a:ln>
          </p:spPr>
        </p:pic>
        <p:pic>
          <p:nvPicPr>
            <p:cNvPr id="42" name="Picture 29" descr="14H02278_RF.jpg"/>
            <p:cNvPicPr>
              <a:picLocks noChangeAspect="1"/>
            </p:cNvPicPr>
            <p:nvPr/>
          </p:nvPicPr>
          <p:blipFill>
            <a:blip r:embed="rId3" cstate="print"/>
            <a:srcRect b="29448"/>
            <a:stretch>
              <a:fillRect/>
            </a:stretch>
          </p:blipFill>
          <p:spPr bwMode="auto">
            <a:xfrm>
              <a:off x="2766258" y="3432064"/>
              <a:ext cx="1182848" cy="1401763"/>
            </a:xfrm>
            <a:prstGeom prst="rect">
              <a:avLst/>
            </a:prstGeom>
            <a:solidFill>
              <a:schemeClr val="tx1">
                <a:lumMod val="20000"/>
                <a:lumOff val="80000"/>
              </a:schemeClr>
            </a:solidFill>
            <a:ln>
              <a:noFill/>
            </a:ln>
          </p:spPr>
        </p:pic>
        <p:grpSp>
          <p:nvGrpSpPr>
            <p:cNvPr id="43" name="Group 44"/>
            <p:cNvGrpSpPr/>
            <p:nvPr/>
          </p:nvGrpSpPr>
          <p:grpSpPr>
            <a:xfrm>
              <a:off x="304800" y="1993408"/>
              <a:ext cx="1185681" cy="1479901"/>
              <a:chOff x="402336" y="1993408"/>
              <a:chExt cx="1185681" cy="1479901"/>
            </a:xfrm>
          </p:grpSpPr>
          <p:sp>
            <p:nvSpPr>
              <p:cNvPr id="67" name="Rectangle 66"/>
              <p:cNvSpPr/>
              <p:nvPr/>
            </p:nvSpPr>
            <p:spPr>
              <a:xfrm>
                <a:off x="402336" y="1993408"/>
                <a:ext cx="1185681" cy="1401763"/>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8" name="Rectangle 9"/>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1.</a:t>
                </a:r>
                <a:endParaRPr lang="en-US" sz="4800" spc="-800" dirty="0">
                  <a:solidFill>
                    <a:schemeClr val="bg1"/>
                  </a:solidFill>
                  <a:latin typeface="EYInterstate Light" pitchFamily="2" charset="0"/>
                </a:endParaRPr>
              </a:p>
            </p:txBody>
          </p:sp>
          <p:sp>
            <p:nvSpPr>
              <p:cNvPr id="69" name="Isosceles Triangle 10"/>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70" name="Rectangle 20"/>
              <p:cNvSpPr>
                <a:spLocks noChangeArrowheads="1"/>
              </p:cNvSpPr>
              <p:nvPr/>
            </p:nvSpPr>
            <p:spPr bwMode="auto">
              <a:xfrm>
                <a:off x="429534" y="2022110"/>
                <a:ext cx="1014275" cy="553998"/>
              </a:xfrm>
              <a:prstGeom prst="rect">
                <a:avLst/>
              </a:prstGeom>
              <a:noFill/>
              <a:ln w="9525">
                <a:noFill/>
                <a:miter lim="800000"/>
                <a:headEnd/>
                <a:tailEnd/>
              </a:ln>
            </p:spPr>
            <p:txBody>
              <a:bodyPr lIns="0" tIns="0" rIns="0" bIns="0">
                <a:spAutoFit/>
              </a:bodyPr>
              <a:lstStyle/>
              <a:p>
                <a:pPr>
                  <a:buClr>
                    <a:srgbClr val="FFD200"/>
                  </a:buClr>
                  <a:buSzPct val="75000"/>
                  <a:buFont typeface="Arial" pitchFamily="34" charset="0"/>
                  <a:buNone/>
                  <a:tabLst>
                    <a:tab pos="400050" algn="l"/>
                  </a:tabLst>
                </a:pPr>
                <a:r>
                  <a:rPr lang="en-US" sz="1200" dirty="0" smtClean="0">
                    <a:latin typeface="EYInterstate" pitchFamily="2" charset="0"/>
                  </a:rPr>
                  <a:t>Introduction to Postpaid</a:t>
                </a:r>
              </a:p>
              <a:p>
                <a:pPr>
                  <a:buClr>
                    <a:srgbClr val="FFD200"/>
                  </a:buClr>
                  <a:buSzPct val="75000"/>
                  <a:buFont typeface="Arial" pitchFamily="34" charset="0"/>
                  <a:buNone/>
                  <a:tabLst>
                    <a:tab pos="400050" algn="l"/>
                  </a:tabLst>
                </a:pPr>
                <a:endParaRPr lang="en-US" sz="1200" dirty="0">
                  <a:solidFill>
                    <a:srgbClr val="000000"/>
                  </a:solidFill>
                  <a:latin typeface="EYInterstate Light" pitchFamily="2" charset="0"/>
                </a:endParaRPr>
              </a:p>
            </p:txBody>
          </p:sp>
        </p:grpSp>
        <p:sp>
          <p:nvSpPr>
            <p:cNvPr id="44" name="Isosceles Triangle 43"/>
            <p:cNvSpPr/>
            <p:nvPr/>
          </p:nvSpPr>
          <p:spPr bwMode="auto">
            <a:xfrm>
              <a:off x="4997493" y="3486928"/>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5" name="Isosceles Triangle 44"/>
            <p:cNvSpPr/>
            <p:nvPr/>
          </p:nvSpPr>
          <p:spPr>
            <a:xfrm rot="10800000">
              <a:off x="6214679" y="3315669"/>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46" name="Isosceles Triangle 45"/>
            <p:cNvSpPr/>
            <p:nvPr/>
          </p:nvSpPr>
          <p:spPr bwMode="auto">
            <a:xfrm>
              <a:off x="7418153" y="3493024"/>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grpSp>
          <p:nvGrpSpPr>
            <p:cNvPr id="47" name="Group 97"/>
            <p:cNvGrpSpPr/>
            <p:nvPr/>
          </p:nvGrpSpPr>
          <p:grpSpPr>
            <a:xfrm>
              <a:off x="2544987" y="1993408"/>
              <a:ext cx="1402929" cy="1563815"/>
              <a:chOff x="2544987" y="1993408"/>
              <a:chExt cx="1402929" cy="1563815"/>
            </a:xfrm>
          </p:grpSpPr>
          <p:sp>
            <p:nvSpPr>
              <p:cNvPr id="62" name="Rectangle 61"/>
              <p:cNvSpPr/>
              <p:nvPr/>
            </p:nvSpPr>
            <p:spPr>
              <a:xfrm>
                <a:off x="2762235" y="1993408"/>
                <a:ext cx="1185681" cy="140335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3" name="Rectangle 62"/>
              <p:cNvSpPr/>
              <p:nvPr/>
            </p:nvSpPr>
            <p:spPr>
              <a:xfrm>
                <a:off x="2808982" y="1998170"/>
                <a:ext cx="1090770" cy="577081"/>
              </a:xfrm>
              <a:prstGeom prst="rect">
                <a:avLst/>
              </a:prstGeom>
            </p:spPr>
            <p:txBody>
              <a:bodyPr lIns="0" tIns="0" rIns="0" bIns="0">
                <a:spAutoFit/>
              </a:bodyPr>
              <a:lstStyle/>
              <a:p>
                <a:pPr>
                  <a:lnSpc>
                    <a:spcPts val="1500"/>
                  </a:lnSpc>
                  <a:buClr>
                    <a:srgbClr val="FFD200"/>
                  </a:buClr>
                  <a:buSzPct val="75000"/>
                  <a:buFont typeface="Arial" charset="0"/>
                  <a:buNone/>
                  <a:tabLst>
                    <a:tab pos="400050" algn="l"/>
                  </a:tabLst>
                  <a:defRPr/>
                </a:pPr>
                <a:r>
                  <a:rPr lang="en-US" sz="1200" dirty="0" smtClean="0">
                    <a:latin typeface="EYInterstate" pitchFamily="2" charset="0"/>
                  </a:rPr>
                  <a:t>Postpaid Customer Life Cycle</a:t>
                </a:r>
                <a:endParaRPr lang="en-US" sz="1200" dirty="0">
                  <a:latin typeface="EYInterstate" pitchFamily="2" charset="0"/>
                </a:endParaRPr>
              </a:p>
            </p:txBody>
          </p:sp>
          <p:sp>
            <p:nvSpPr>
              <p:cNvPr id="64" name="Isosceles Triangle 63"/>
              <p:cNvSpPr/>
              <p:nvPr/>
            </p:nvSpPr>
            <p:spPr bwMode="auto">
              <a:xfrm>
                <a:off x="2544987" y="3474673"/>
                <a:ext cx="145908"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5" name="Isosceles Triangle 64"/>
              <p:cNvSpPr/>
              <p:nvPr/>
            </p:nvSpPr>
            <p:spPr>
              <a:xfrm rot="10800000">
                <a:off x="3764100" y="3297381"/>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6" name="Rectangle 65"/>
              <p:cNvSpPr/>
              <p:nvPr/>
            </p:nvSpPr>
            <p:spPr>
              <a:xfrm>
                <a:off x="2755379" y="2752933"/>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3.</a:t>
                </a:r>
                <a:endParaRPr lang="en-US" sz="4800" spc="-800" dirty="0">
                  <a:solidFill>
                    <a:schemeClr val="bg1"/>
                  </a:solidFill>
                  <a:latin typeface="EYInterstate Light" pitchFamily="2" charset="0"/>
                </a:endParaRPr>
              </a:p>
            </p:txBody>
          </p:sp>
        </p:grpSp>
        <p:sp>
          <p:nvSpPr>
            <p:cNvPr id="48" name="Rectangle 47"/>
            <p:cNvSpPr/>
            <p:nvPr/>
          </p:nvSpPr>
          <p:spPr>
            <a:xfrm>
              <a:off x="5192358" y="276976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5.</a:t>
              </a:r>
              <a:endParaRPr lang="en-US" sz="4800" spc="-800" dirty="0">
                <a:solidFill>
                  <a:schemeClr val="bg1"/>
                </a:solidFill>
                <a:latin typeface="EYInterstate Light" pitchFamily="2" charset="0"/>
              </a:endParaRPr>
            </a:p>
          </p:txBody>
        </p:sp>
        <p:sp>
          <p:nvSpPr>
            <p:cNvPr id="49" name="Rectangle 48"/>
            <p:cNvSpPr/>
            <p:nvPr/>
          </p:nvSpPr>
          <p:spPr>
            <a:xfrm>
              <a:off x="1545048" y="34534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2.</a:t>
              </a:r>
              <a:endParaRPr lang="en-US" sz="4800" spc="-800" dirty="0">
                <a:solidFill>
                  <a:schemeClr val="bg1"/>
                </a:solidFill>
                <a:latin typeface="EYInterstate Light" pitchFamily="2" charset="0"/>
              </a:endParaRPr>
            </a:p>
          </p:txBody>
        </p:sp>
        <p:sp>
          <p:nvSpPr>
            <p:cNvPr id="50" name="Rectangle 49"/>
            <p:cNvSpPr/>
            <p:nvPr/>
          </p:nvSpPr>
          <p:spPr>
            <a:xfrm>
              <a:off x="4022825" y="3352800"/>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4.</a:t>
              </a:r>
              <a:endParaRPr lang="en-US" sz="4800" spc="-800" dirty="0">
                <a:solidFill>
                  <a:schemeClr val="bg1"/>
                </a:solidFill>
                <a:latin typeface="EYInterstate Light" pitchFamily="2" charset="0"/>
              </a:endParaRPr>
            </a:p>
          </p:txBody>
        </p:sp>
        <p:sp>
          <p:nvSpPr>
            <p:cNvPr id="51" name="Rectangle 50"/>
            <p:cNvSpPr/>
            <p:nvPr/>
          </p:nvSpPr>
          <p:spPr>
            <a:xfrm>
              <a:off x="6454365" y="3461496"/>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6. </a:t>
              </a:r>
              <a:endParaRPr lang="en-US" sz="4800" spc="-800" dirty="0">
                <a:solidFill>
                  <a:schemeClr val="bg1"/>
                </a:solidFill>
                <a:latin typeface="EYInterstate Light" pitchFamily="2" charset="0"/>
              </a:endParaRPr>
            </a:p>
          </p:txBody>
        </p:sp>
        <p:pic>
          <p:nvPicPr>
            <p:cNvPr id="52" name="Picture 1" descr="C:\TechM Warehouse\Data 1\Useful Presentations\Useful Pics\Cong 1.jpg"/>
            <p:cNvPicPr>
              <a:picLocks noChangeArrowheads="1"/>
            </p:cNvPicPr>
            <p:nvPr/>
          </p:nvPicPr>
          <p:blipFill>
            <a:blip r:embed="rId4" cstate="print"/>
            <a:srcRect/>
            <a:stretch>
              <a:fillRect/>
            </a:stretch>
          </p:blipFill>
          <p:spPr bwMode="auto">
            <a:xfrm>
              <a:off x="310118" y="3429016"/>
              <a:ext cx="1183132" cy="1399032"/>
            </a:xfrm>
            <a:prstGeom prst="rect">
              <a:avLst/>
            </a:prstGeom>
            <a:solidFill>
              <a:schemeClr val="tx1">
                <a:lumMod val="20000"/>
                <a:lumOff val="80000"/>
              </a:schemeClr>
            </a:solidFill>
            <a:ln>
              <a:noFill/>
            </a:ln>
          </p:spPr>
        </p:pic>
        <p:pic>
          <p:nvPicPr>
            <p:cNvPr id="53" name="Picture 3"/>
            <p:cNvPicPr>
              <a:picLocks noChangeArrowheads="1"/>
            </p:cNvPicPr>
            <p:nvPr/>
          </p:nvPicPr>
          <p:blipFill>
            <a:blip r:embed="rId5" cstate="print"/>
            <a:srcRect/>
            <a:stretch>
              <a:fillRect/>
            </a:stretch>
          </p:blipFill>
          <p:spPr bwMode="auto">
            <a:xfrm>
              <a:off x="1536075" y="1994864"/>
              <a:ext cx="1183132" cy="1399032"/>
            </a:xfrm>
            <a:prstGeom prst="rect">
              <a:avLst/>
            </a:prstGeom>
            <a:solidFill>
              <a:schemeClr val="tx1">
                <a:lumMod val="20000"/>
                <a:lumOff val="80000"/>
              </a:schemeClr>
            </a:solidFill>
            <a:ln>
              <a:noFill/>
            </a:ln>
          </p:spPr>
        </p:pic>
        <p:pic>
          <p:nvPicPr>
            <p:cNvPr id="54" name="Picture 4"/>
            <p:cNvPicPr>
              <a:picLocks noChangeArrowheads="1"/>
            </p:cNvPicPr>
            <p:nvPr/>
          </p:nvPicPr>
          <p:blipFill>
            <a:blip r:embed="rId6" cstate="print"/>
            <a:srcRect/>
            <a:stretch>
              <a:fillRect/>
            </a:stretch>
          </p:blipFill>
          <p:spPr bwMode="auto">
            <a:xfrm>
              <a:off x="5200760" y="3444936"/>
              <a:ext cx="1183132" cy="1399032"/>
            </a:xfrm>
            <a:prstGeom prst="rect">
              <a:avLst/>
            </a:prstGeom>
            <a:solidFill>
              <a:schemeClr val="tx1">
                <a:lumMod val="20000"/>
                <a:lumOff val="80000"/>
              </a:schemeClr>
            </a:solidFill>
            <a:ln>
              <a:noFill/>
            </a:ln>
          </p:spPr>
        </p:pic>
        <p:pic>
          <p:nvPicPr>
            <p:cNvPr id="55" name="Picture 5"/>
            <p:cNvPicPr>
              <a:picLocks noChangeArrowheads="1"/>
            </p:cNvPicPr>
            <p:nvPr/>
          </p:nvPicPr>
          <p:blipFill>
            <a:blip r:embed="rId7" cstate="print"/>
            <a:srcRect/>
            <a:stretch>
              <a:fillRect/>
            </a:stretch>
          </p:blipFill>
          <p:spPr bwMode="auto">
            <a:xfrm>
              <a:off x="6436868" y="2013039"/>
              <a:ext cx="1183132" cy="1399032"/>
            </a:xfrm>
            <a:prstGeom prst="rect">
              <a:avLst/>
            </a:prstGeom>
            <a:solidFill>
              <a:schemeClr val="tx1">
                <a:lumMod val="20000"/>
                <a:lumOff val="80000"/>
              </a:schemeClr>
            </a:solidFill>
            <a:ln>
              <a:noFill/>
            </a:ln>
          </p:spPr>
        </p:pic>
        <p:pic>
          <p:nvPicPr>
            <p:cNvPr id="56" name="Picture 2"/>
            <p:cNvPicPr>
              <a:picLocks noChangeAspect="1" noChangeArrowheads="1"/>
            </p:cNvPicPr>
            <p:nvPr/>
          </p:nvPicPr>
          <p:blipFill>
            <a:blip r:embed="rId8" cstate="print"/>
            <a:srcRect/>
            <a:stretch>
              <a:fillRect/>
            </a:stretch>
          </p:blipFill>
          <p:spPr bwMode="auto">
            <a:xfrm>
              <a:off x="7674863" y="3429000"/>
              <a:ext cx="1097280" cy="1429881"/>
            </a:xfrm>
            <a:prstGeom prst="rect">
              <a:avLst/>
            </a:prstGeom>
            <a:solidFill>
              <a:schemeClr val="tx1">
                <a:lumMod val="20000"/>
                <a:lumOff val="80000"/>
              </a:schemeClr>
            </a:solidFill>
            <a:ln>
              <a:noFill/>
            </a:ln>
          </p:spPr>
        </p:pic>
        <p:grpSp>
          <p:nvGrpSpPr>
            <p:cNvPr id="57" name="Group 45"/>
            <p:cNvGrpSpPr/>
            <p:nvPr/>
          </p:nvGrpSpPr>
          <p:grpSpPr>
            <a:xfrm>
              <a:off x="7674864" y="1981200"/>
              <a:ext cx="1097280" cy="1479901"/>
              <a:chOff x="402336" y="1993408"/>
              <a:chExt cx="1185681" cy="1479901"/>
            </a:xfrm>
          </p:grpSpPr>
          <p:sp>
            <p:nvSpPr>
              <p:cNvPr id="58" name="Rectangle 57"/>
              <p:cNvSpPr/>
              <p:nvPr/>
            </p:nvSpPr>
            <p:spPr>
              <a:xfrm>
                <a:off x="402336" y="1993408"/>
                <a:ext cx="1185681" cy="1401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59" name="Rectangle 58"/>
              <p:cNvSpPr/>
              <p:nvPr/>
            </p:nvSpPr>
            <p:spPr>
              <a:xfrm>
                <a:off x="414915" y="2734645"/>
                <a:ext cx="407976" cy="738664"/>
              </a:xfrm>
              <a:prstGeom prst="rect">
                <a:avLst/>
              </a:prstGeom>
            </p:spPr>
            <p:txBody>
              <a:bodyPr wrap="square" lIns="0" tIns="0" rIns="0" bIns="0">
                <a:spAutoFit/>
              </a:bodyPr>
              <a:lstStyle/>
              <a:p>
                <a:pPr algn="ctr">
                  <a:spcBef>
                    <a:spcPts val="0"/>
                  </a:spcBef>
                  <a:buClr>
                    <a:srgbClr val="FFD200"/>
                  </a:buClr>
                  <a:buSzPct val="75000"/>
                  <a:buFont typeface="Arial" charset="0"/>
                  <a:buNone/>
                  <a:tabLst>
                    <a:tab pos="400050" algn="l"/>
                  </a:tabLst>
                  <a:defRPr/>
                </a:pPr>
                <a:r>
                  <a:rPr lang="en-US" sz="4800" spc="-800" dirty="0" smtClean="0">
                    <a:solidFill>
                      <a:schemeClr val="bg1"/>
                    </a:solidFill>
                    <a:latin typeface="EYInterstate Light" pitchFamily="2" charset="0"/>
                  </a:rPr>
                  <a:t>7.</a:t>
                </a:r>
                <a:endParaRPr lang="en-US" sz="4800" spc="-800" dirty="0">
                  <a:solidFill>
                    <a:schemeClr val="bg1"/>
                  </a:solidFill>
                  <a:latin typeface="EYInterstate Light" pitchFamily="2" charset="0"/>
                </a:endParaRPr>
              </a:p>
            </p:txBody>
          </p:sp>
          <p:sp>
            <p:nvSpPr>
              <p:cNvPr id="60" name="Isosceles Triangle 59"/>
              <p:cNvSpPr/>
              <p:nvPr/>
            </p:nvSpPr>
            <p:spPr>
              <a:xfrm rot="10800000">
                <a:off x="1427830" y="3303477"/>
                <a:ext cx="144492" cy="8255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FFFFFF"/>
                  </a:solidFill>
                  <a:latin typeface="EYInterstate Light" pitchFamily="2" charset="0"/>
                </a:endParaRPr>
              </a:p>
            </p:txBody>
          </p:sp>
          <p:sp>
            <p:nvSpPr>
              <p:cNvPr id="61" name="Rectangle 20"/>
              <p:cNvSpPr>
                <a:spLocks noChangeArrowheads="1"/>
              </p:cNvSpPr>
              <p:nvPr/>
            </p:nvSpPr>
            <p:spPr bwMode="auto">
              <a:xfrm>
                <a:off x="429534" y="2022110"/>
                <a:ext cx="1014275" cy="184666"/>
              </a:xfrm>
              <a:prstGeom prst="rect">
                <a:avLst/>
              </a:prstGeom>
              <a:noFill/>
              <a:ln w="9525">
                <a:noFill/>
                <a:miter lim="800000"/>
                <a:headEnd/>
                <a:tailEnd/>
              </a:ln>
            </p:spPr>
            <p:txBody>
              <a:bodyPr lIns="0" tIns="0" rIns="0" bIns="0">
                <a:spAutoFit/>
              </a:bodyPr>
              <a:lstStyle/>
              <a:p>
                <a:pPr>
                  <a:buClr>
                    <a:srgbClr val="FFD200"/>
                  </a:buClr>
                  <a:buSzPct val="75000"/>
                  <a:tabLst>
                    <a:tab pos="400050" algn="l"/>
                  </a:tabLst>
                </a:pPr>
                <a:r>
                  <a:rPr lang="en-US" sz="1200" dirty="0" smtClean="0">
                    <a:latin typeface="EYInterstate" pitchFamily="2" charset="0"/>
                  </a:rPr>
                  <a:t>Glossary </a:t>
                </a:r>
              </a:p>
            </p:txBody>
          </p:sp>
        </p:gr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00025"/>
            <a:ext cx="8232775" cy="863600"/>
          </a:xfrm>
          <a:prstGeom prst="rect">
            <a:avLst/>
          </a:prstGeom>
        </p:spPr>
        <p:txBody>
          <a:bodyPr/>
          <a:lstStyle/>
          <a:p>
            <a:pPr marL="0" marR="0" lvl="0" indent="0" algn="l" defTabSz="914400" rtl="0" eaLnBrk="1" fontAlgn="base" latinLnBrk="0" hangingPunct="1">
              <a:lnSpc>
                <a:spcPct val="85000"/>
              </a:lnSpc>
              <a:spcBef>
                <a:spcPct val="0"/>
              </a:spcBef>
              <a:spcAft>
                <a:spcPct val="0"/>
              </a:spcAft>
              <a:buClrTx/>
              <a:buSzTx/>
              <a:buFontTx/>
              <a:buNone/>
              <a:tabLst>
                <a:tab pos="400050" algn="l"/>
              </a:tabLst>
              <a:defRPr/>
            </a:pPr>
            <a:r>
              <a:rPr kumimoji="0" lang="en-US" sz="2400" b="1" i="0" u="none" strike="noStrike" kern="0" cap="none" spc="0" normalizeH="0" baseline="0" noProof="0" smtClean="0">
                <a:ln>
                  <a:noFill/>
                </a:ln>
                <a:solidFill>
                  <a:srgbClr val="646464"/>
                </a:solidFill>
                <a:effectLst/>
                <a:uLnTx/>
                <a:uFillTx/>
                <a:latin typeface="EYInterstate" pitchFamily="2" charset="0"/>
                <a:ea typeface="+mj-ea"/>
                <a:cs typeface="+mj-cs"/>
              </a:rPr>
              <a:t>Glossary</a:t>
            </a:r>
            <a:endParaRPr kumimoji="0" lang="en-US" sz="2400" b="1" i="0" u="none" strike="noStrike" kern="0" cap="none" spc="0" normalizeH="0" baseline="0" noProof="0" dirty="0">
              <a:ln>
                <a:noFill/>
              </a:ln>
              <a:solidFill>
                <a:srgbClr val="646464"/>
              </a:solidFill>
              <a:effectLst/>
              <a:uLnTx/>
              <a:uFillTx/>
              <a:latin typeface="EYInterstate" pitchFamily="2" charset="0"/>
              <a:ea typeface="+mj-ea"/>
              <a:cs typeface="+mj-cs"/>
            </a:endParaRPr>
          </a:p>
        </p:txBody>
      </p:sp>
      <p:graphicFrame>
        <p:nvGraphicFramePr>
          <p:cNvPr id="3" name="Group 349"/>
          <p:cNvGraphicFramePr>
            <a:graphicFrameLocks/>
          </p:cNvGraphicFramePr>
          <p:nvPr/>
        </p:nvGraphicFramePr>
        <p:xfrm>
          <a:off x="762000" y="1219200"/>
          <a:ext cx="7467600" cy="3183312"/>
        </p:xfrm>
        <a:graphic>
          <a:graphicData uri="http://schemas.openxmlformats.org/drawingml/2006/table">
            <a:tbl>
              <a:tblPr/>
              <a:tblGrid>
                <a:gridCol w="2286000"/>
                <a:gridCol w="5181600"/>
              </a:tblGrid>
              <a:tr h="289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50" b="1" i="0" u="none" strike="noStrike" cap="none" normalizeH="0" baseline="0" dirty="0" smtClean="0">
                          <a:ln>
                            <a:noFill/>
                          </a:ln>
                          <a:solidFill>
                            <a:srgbClr val="808080"/>
                          </a:solidFill>
                          <a:effectLst/>
                          <a:latin typeface="Arial" charset="0"/>
                        </a:rPr>
                        <a:t>Acronym</a:t>
                      </a:r>
                      <a:endParaRPr kumimoji="0" lang="en-US" sz="1050" b="1" i="0" u="none" strike="noStrike" cap="none" normalizeH="0" baseline="0" dirty="0">
                        <a:ln>
                          <a:noFill/>
                        </a:ln>
                        <a:solidFill>
                          <a:srgbClr val="808080"/>
                        </a:solidFill>
                        <a:effectLst/>
                        <a:latin typeface="Arial" charset="0"/>
                      </a:endParaRPr>
                    </a:p>
                  </a:txBody>
                  <a:tcPr marL="45720" marR="36576" marT="27432" marB="1828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D200"/>
                    </a:solidFill>
                  </a:tcPr>
                </a:tc>
                <a:tc>
                  <a:txBody>
                    <a:bodyPr/>
                    <a:lstStyle/>
                    <a:p>
                      <a:pPr marL="0" marR="0" lvl="0" indent="0" algn="ctr" defTabSz="914400" rtl="0" eaLnBrk="1" fontAlgn="base" latinLnBrk="0" hangingPunct="1">
                        <a:lnSpc>
                          <a:spcPct val="100000"/>
                        </a:lnSpc>
                        <a:spcBef>
                          <a:spcPct val="20000"/>
                        </a:spcBef>
                        <a:spcAft>
                          <a:spcPct val="0"/>
                        </a:spcAft>
                        <a:buClr>
                          <a:srgbClr val="FFD200"/>
                        </a:buClr>
                        <a:buSzPct val="75000"/>
                        <a:buFont typeface="Arial" charset="0"/>
                        <a:buNone/>
                        <a:tabLst/>
                      </a:pPr>
                      <a:r>
                        <a:rPr kumimoji="0" lang="en-US" sz="1050" b="1" i="0" u="none" strike="noStrike" cap="none" normalizeH="0" baseline="0" dirty="0" smtClean="0">
                          <a:ln>
                            <a:noFill/>
                          </a:ln>
                          <a:solidFill>
                            <a:srgbClr val="808080"/>
                          </a:solidFill>
                          <a:effectLst/>
                          <a:latin typeface="Arial" charset="0"/>
                        </a:rPr>
                        <a:t>Description</a:t>
                      </a:r>
                      <a:endParaRPr kumimoji="0" lang="en-US" sz="1050" b="1" i="0" u="none" strike="noStrike" cap="none" normalizeH="0" baseline="0" dirty="0">
                        <a:ln>
                          <a:noFill/>
                        </a:ln>
                        <a:solidFill>
                          <a:srgbClr val="808080"/>
                        </a:solidFill>
                        <a:effectLst/>
                        <a:latin typeface="Arial" charset="0"/>
                      </a:endParaRPr>
                    </a:p>
                  </a:txBody>
                  <a:tcPr marL="45720" marR="36576" marT="27432" marB="18288"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D200"/>
                    </a:solidFill>
                  </a:tcPr>
                </a:tc>
              </a:tr>
              <a:tr h="289392">
                <a:tc>
                  <a:txBody>
                    <a:bodyPr/>
                    <a:lstStyle/>
                    <a:p>
                      <a:pPr lvl="1" algn="l" rtl="0" fontAlgn="b"/>
                      <a:r>
                        <a:rPr lang="en-US" sz="1100" b="0" i="0" u="none" strike="noStrike" dirty="0" smtClean="0">
                          <a:solidFill>
                            <a:srgbClr val="0D0D0D"/>
                          </a:solidFill>
                          <a:latin typeface="Arial"/>
                        </a:rPr>
                        <a:t>AV</a:t>
                      </a:r>
                      <a:endParaRPr lang="en-US" sz="1100" b="0" i="0" u="none" strike="noStrike" dirty="0">
                        <a:solidFill>
                          <a:srgbClr val="0D0D0D"/>
                        </a:solidFill>
                        <a:latin typeface="Arial"/>
                      </a:endParaRP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smtClean="0">
                          <a:solidFill>
                            <a:srgbClr val="0D0D0D"/>
                          </a:solidFill>
                          <a:latin typeface="Arial"/>
                        </a:rPr>
                        <a:t>Address Verification</a:t>
                      </a:r>
                      <a:endParaRPr lang="en-US" sz="1100" b="0" i="0" u="none" strike="noStrike" dirty="0">
                        <a:solidFill>
                          <a:srgbClr val="0D0D0D"/>
                        </a:solidFill>
                        <a:latin typeface="Arial"/>
                      </a:endParaRP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smtClean="0">
                          <a:solidFill>
                            <a:srgbClr val="0D0D0D"/>
                          </a:solidFill>
                          <a:latin typeface="Arial"/>
                        </a:rPr>
                        <a:t>CRM</a:t>
                      </a:r>
                      <a:endParaRPr lang="en-US" sz="1100" b="0" i="0" u="none" strike="noStrike" dirty="0">
                        <a:solidFill>
                          <a:srgbClr val="0D0D0D"/>
                        </a:solidFill>
                        <a:latin typeface="Arial"/>
                      </a:endParaRP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smtClean="0">
                          <a:solidFill>
                            <a:srgbClr val="0D0D0D"/>
                          </a:solidFill>
                          <a:latin typeface="+mn-lt"/>
                        </a:rPr>
                        <a:t>– Customer Relationship Management system</a:t>
                      </a:r>
                      <a:endParaRPr lang="en-US" sz="1100" b="0" i="0" u="none" strike="noStrike" dirty="0">
                        <a:solidFill>
                          <a:srgbClr val="0D0D0D"/>
                        </a:solidFill>
                        <a:latin typeface="Arial"/>
                      </a:endParaRP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GPRS</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General Packet Radio Services</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CAF</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Customer Application Form</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CDR</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Call Detail Record</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CV</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Credit Verification</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MMS</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Multimedia Messaging Service</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smtClean="0">
                          <a:solidFill>
                            <a:srgbClr val="0D0D0D"/>
                          </a:solidFill>
                          <a:latin typeface="Arial"/>
                        </a:rPr>
                        <a:t>POS</a:t>
                      </a:r>
                      <a:endParaRPr lang="en-US" sz="1100" b="0" i="0" u="none" strike="noStrike" dirty="0">
                        <a:solidFill>
                          <a:srgbClr val="0D0D0D"/>
                        </a:solidFill>
                        <a:latin typeface="Arial"/>
                      </a:endParaRP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smtClean="0">
                          <a:solidFill>
                            <a:srgbClr val="0D0D0D"/>
                          </a:solidFill>
                          <a:latin typeface="Arial"/>
                        </a:rPr>
                        <a:t>Point of Sale</a:t>
                      </a:r>
                      <a:endParaRPr lang="en-US" sz="1100" b="0" i="0" u="none" strike="noStrike" dirty="0">
                        <a:solidFill>
                          <a:srgbClr val="0D0D0D"/>
                        </a:solidFill>
                        <a:latin typeface="Arial"/>
                      </a:endParaRP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SMS</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Short Messaging Service</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r h="289392">
                <a:tc>
                  <a:txBody>
                    <a:bodyPr/>
                    <a:lstStyle/>
                    <a:p>
                      <a:pPr lvl="1" algn="l" rtl="0" fontAlgn="b"/>
                      <a:r>
                        <a:rPr lang="en-US" sz="1100" b="0" i="0" u="none" strike="noStrike" dirty="0">
                          <a:solidFill>
                            <a:srgbClr val="0D0D0D"/>
                          </a:solidFill>
                          <a:latin typeface="Arial"/>
                        </a:rPr>
                        <a:t>TT</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p>
                      <a:pPr lvl="1" algn="l" rtl="0" fontAlgn="b"/>
                      <a:r>
                        <a:rPr lang="en-US" sz="1100" b="0" i="0" u="none" strike="noStrike" dirty="0">
                          <a:solidFill>
                            <a:srgbClr val="0D0D0D"/>
                          </a:solidFill>
                          <a:latin typeface="Arial"/>
                        </a:rPr>
                        <a:t>Toll Ticket</a:t>
                      </a:r>
                    </a:p>
                  </a:txBody>
                  <a:tcPr marL="9525" marR="9525" marT="9525" marB="0" anchor="ctr">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286000"/>
            <a:ext cx="2514600" cy="457200"/>
          </a:xfrm>
        </p:spPr>
        <p:txBody>
          <a:bodyPr/>
          <a:lstStyle/>
          <a:p>
            <a:r>
              <a:rPr lang="en-US" b="1" dirty="0"/>
              <a:t>Thank you</a:t>
            </a:r>
          </a:p>
        </p:txBody>
      </p:sp>
      <p:sp>
        <p:nvSpPr>
          <p:cNvPr id="3" name="Action Button: Back or Previous 2">
            <a:hlinkClick r:id="rId3" action="ppaction://hlinksldjump" highlightClick="1"/>
          </p:cNvPr>
          <p:cNvSpPr/>
          <p:nvPr/>
        </p:nvSpPr>
        <p:spPr>
          <a:xfrm>
            <a:off x="7543800" y="228600"/>
            <a:ext cx="838200" cy="457200"/>
          </a:xfrm>
          <a:prstGeom prst="actionButtonBackPreviou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42988" rtl="0" eaLnBrk="1" fontAlgn="base" latinLnBrk="0" hangingPunct="1">
          <a:lnSpc>
            <a:spcPct val="100000"/>
          </a:lnSpc>
          <a:spcBef>
            <a:spcPct val="0"/>
          </a:spcBef>
          <a:spcAft>
            <a:spcPct val="0"/>
          </a:spcAft>
          <a:buClrTx/>
          <a:buSzTx/>
          <a:buFontTx/>
          <a:buNone/>
          <a:tabLst/>
          <a:defRPr kumimoji="0" lang="en-US" sz="25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2502375</vt:lpwstr>
  </property>
  <property fmtid="{D5CDD505-2E9C-101B-9397-08002B2CF9AE}" pid="4" name="OptimizationTime">
    <vt:lpwstr>20221123_2053</vt:lpwstr>
  </property>
</Properties>
</file>

<file path=docProps/app.xml><?xml version="1.0" encoding="utf-8"?>
<Properties xmlns="http://schemas.openxmlformats.org/officeDocument/2006/extended-properties" xmlns:vt="http://schemas.openxmlformats.org/officeDocument/2006/docPropsVTypes">
  <Template>blank</Template>
  <TotalTime>12887</TotalTime>
  <Words>6618</Words>
  <Application>Microsoft Office PowerPoint</Application>
  <PresentationFormat>On-screen Show (4:3)</PresentationFormat>
  <Paragraphs>777</Paragraphs>
  <Slides>46</Slides>
  <Notes>4</Notes>
  <HiddenSlides>0</HiddenSlides>
  <MMClips>0</MMClips>
  <ScaleCrop>false</ScaleCrop>
  <HeadingPairs>
    <vt:vector size="6" baseType="variant">
      <vt:variant>
        <vt:lpstr>Theme</vt:lpstr>
      </vt:variant>
      <vt:variant>
        <vt:i4>2</vt:i4>
      </vt:variant>
      <vt:variant>
        <vt:lpstr>Embedded OLE Servers</vt:lpstr>
      </vt:variant>
      <vt:variant>
        <vt:i4>2</vt:i4>
      </vt:variant>
      <vt:variant>
        <vt:lpstr>Slide Titles</vt:lpstr>
      </vt:variant>
      <vt:variant>
        <vt:i4>46</vt:i4>
      </vt:variant>
    </vt:vector>
  </HeadingPairs>
  <TitlesOfParts>
    <vt:vector size="50" baseType="lpstr">
      <vt:lpstr>Blank</vt:lpstr>
      <vt:lpstr>Line 1 divider</vt:lpstr>
      <vt:lpstr>Clip</vt:lpstr>
      <vt:lpstr>Visio</vt:lpstr>
      <vt:lpstr>Postpaid Revenue Assurance</vt:lpstr>
      <vt:lpstr>Contents</vt:lpstr>
      <vt:lpstr>Introduction to Postpaid</vt:lpstr>
      <vt:lpstr>Slide 4</vt:lpstr>
      <vt:lpstr>Slide 5</vt:lpstr>
      <vt:lpstr>General Postpaid Terminologies</vt:lpstr>
      <vt:lpstr>Slide 7</vt:lpstr>
      <vt:lpstr>Slide 8</vt:lpstr>
      <vt:lpstr>Slide 9</vt:lpstr>
      <vt:lpstr>Postpaid Customer Life Cycle</vt:lpstr>
      <vt:lpstr>Slide 11</vt:lpstr>
      <vt:lpstr>Postpaid Customer Life Cycle – Sales &amp; Provisioning </vt:lpstr>
      <vt:lpstr>CAF Form Submission</vt:lpstr>
      <vt:lpstr>Slide 14</vt:lpstr>
      <vt:lpstr>Slide 15</vt:lpstr>
      <vt:lpstr>Slide 16</vt:lpstr>
      <vt:lpstr>Slide 17</vt:lpstr>
      <vt:lpstr>Postpaid Revenue Cycle</vt:lpstr>
      <vt:lpstr>Slide 19</vt:lpstr>
      <vt:lpstr>Slide 20</vt:lpstr>
      <vt:lpstr>Slide 21</vt:lpstr>
      <vt:lpstr>Slide 22</vt:lpstr>
      <vt:lpstr>Slide 23</vt:lpstr>
      <vt:lpstr>Slide 24</vt:lpstr>
      <vt:lpstr>Slide 25</vt:lpstr>
      <vt:lpstr>Slide 26</vt:lpstr>
      <vt:lpstr>Provisioning and Billing System Interfaces</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Thank you</vt:lpstr>
    </vt:vector>
  </TitlesOfParts>
  <Company>Ernst &amp; Young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(Arial bold 30 point) second line title</dc:title>
  <dc:creator>Ernst &amp; Young</dc:creator>
  <cp:lastModifiedBy>Simran Singh</cp:lastModifiedBy>
  <cp:revision>921</cp:revision>
  <dcterms:created xsi:type="dcterms:W3CDTF">2010-11-25T13:00:13Z</dcterms:created>
  <dcterms:modified xsi:type="dcterms:W3CDTF">2013-07-30T06:36:32Z</dcterms:modified>
</cp:coreProperties>
</file>